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実績（業界で最初の量産）</c:v>
                </c:pt>
              </c:strCache>
            </c:strRef>
          </c:tx>
          <c:spPr>
            <a:solidFill>
              <a:srgbClr val="2F5597"/>
            </a:solidFill>
            <a:effectLst/>
          </c:spPr>
          <c:invertIfNegative val="0"/>
          <c:dLbls>
            <c:numFmt formatCode="0;;;"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2017</c:v>
                  </c:pt>
                  <c:pt idx="1">
                    <c:v>2018</c:v>
                  </c:pt>
                  <c:pt idx="2">
                    <c:v>2019</c:v>
                  </c:pt>
                  <c:pt idx="3">
                    <c:v>2020</c:v>
                  </c:pt>
                  <c:pt idx="4">
                    <c:v>2022</c:v>
                  </c:pt>
                  <c:pt idx="5">
                    <c:v>2024</c:v>
                  </c:pt>
                  <c:pt idx="6">
                    <c:v>2026</c:v>
                  </c:pt>
                  <c:pt idx="7">
                    <c:v>2028</c:v>
                  </c:pt>
                  <c:pt idx="8">
                    <c:v>2030</c:v>
                  </c:pt>
                </c:lvl>
              </c:multiLvlStrCache>
            </c:multiLvlStrRef>
          </c:cat>
          <c:val>
            <c:numRef>
              <c:f>Sheet1!$B$2:$B$10</c:f>
              <c:numCache>
                <c:formatCode>General</c:formatCode>
                <c:ptCount val="9"/>
                <c:pt idx="0">
                  <c:v>64</c:v>
                </c:pt>
                <c:pt idx="1">
                  <c:v>96</c:v>
                </c:pt>
                <c:pt idx="2">
                  <c:v>128</c:v>
                </c:pt>
                <c:pt idx="3">
                  <c:v>176</c:v>
                </c:pt>
                <c:pt idx="4">
                  <c:v>232</c:v>
                </c:pt>
                <c:pt idx="5">
                  <c:v>321</c:v>
                </c:pt>
                <c:pt idx="6">
                  <c:v>400</c:v>
                </c:pt>
                <c:pt idx="7">
                  <c:v>0</c:v>
                </c:pt>
                <c:pt idx="8">
                  <c:v>0</c:v>
                </c:pt>
              </c:numCache>
            </c:numRef>
          </c:val>
        </c:ser>
        <c:ser>
          <c:idx val="1"/>
          <c:order val="1"/>
          <c:tx>
            <c:strRef>
              <c:f>Sheet1!$C$1</c:f>
              <c:strCache>
                <c:ptCount val="1"/>
                <c:pt idx="0">
                  <c:v>予想・目標</c:v>
                </c:pt>
              </c:strCache>
            </c:strRef>
          </c:tx>
          <c:spPr>
            <a:solidFill>
              <a:srgbClr val="ED7D31"/>
            </a:solidFill>
            <a:effectLst/>
          </c:spPr>
          <c:invertIfNegative val="0"/>
          <c:dLbls>
            <c:numFmt formatCode="0;;;"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2017</c:v>
                  </c:pt>
                  <c:pt idx="1">
                    <c:v>2018</c:v>
                  </c:pt>
                  <c:pt idx="2">
                    <c:v>2019</c:v>
                  </c:pt>
                  <c:pt idx="3">
                    <c:v>2020</c:v>
                  </c:pt>
                  <c:pt idx="4">
                    <c:v>2022</c:v>
                  </c:pt>
                  <c:pt idx="5">
                    <c:v>2024</c:v>
                  </c:pt>
                  <c:pt idx="6">
                    <c:v>2026</c:v>
                  </c:pt>
                  <c:pt idx="7">
                    <c:v>2028</c:v>
                  </c:pt>
                  <c:pt idx="8">
                    <c:v>2030</c:v>
                  </c:pt>
                </c:lvl>
              </c:multiLvlStrCache>
            </c:multiLvlStrRef>
          </c:cat>
          <c:val>
            <c:numRef>
              <c:f>Sheet1!$C$2:$C$10</c:f>
              <c:numCache>
                <c:formatCode>General</c:formatCode>
                <c:ptCount val="9"/>
                <c:pt idx="0">
                  <c:v>0</c:v>
                </c:pt>
                <c:pt idx="1">
                  <c:v>0</c:v>
                </c:pt>
                <c:pt idx="2">
                  <c:v>0</c:v>
                </c:pt>
                <c:pt idx="3">
                  <c:v>0</c:v>
                </c:pt>
                <c:pt idx="4">
                  <c:v>0</c:v>
                </c:pt>
                <c:pt idx="5">
                  <c:v>0</c:v>
                </c:pt>
                <c:pt idx="6">
                  <c:v>0</c:v>
                </c:pt>
                <c:pt idx="7">
                  <c:v>500</c:v>
                </c:pt>
                <c:pt idx="8">
                  <c:v>1000</c:v>
                </c:pt>
              </c:numCache>
            </c:numRef>
          </c:val>
        </c:ser>
        <c:dLbls>
          <c:numFmt formatCode="0;;;"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D4A"/>
                </a:solidFill>
                <a:latin typeface="Arial"/>
              </a:defRPr>
            </a:pPr>
            <a:endParaRPr lang="en-US"/>
          </a:p>
        </c:txPr>
        <c:crossAx val="2094734552"/>
        <c:crosses val="autoZero"/>
        <c:auto val="1"/>
        <c:lblAlgn val="ctr"/>
        <c:noMultiLvlLbl val="1"/>
      </c:catAx>
      <c:valAx>
        <c:axId val="2094734552"/>
        <c:scaling>
          <c:orientation val="minMax"/>
          <c:max val="1000"/>
        </c:scaling>
        <c:delete val="0"/>
        <c:axPos val="l"/>
        <c:majorGridlines>
          <c:spPr>
            <a:ln w="6350" cap="flat">
              <a:solidFill>
                <a:srgbClr val="E5E7EB"/>
              </a:solidFill>
              <a:prstDash val="solid"/>
              <a:round/>
            </a:ln>
          </c:spPr>
        </c:majorGridlines>
        <c:title>
          <c:tx>
            <c:rich>
              <a:bodyPr/>
              <a:lstStyle/>
              <a:p>
                <a:pPr>
                  <a:defRPr sz="1100" b="0" i="0" u="none" strike="noStrike">
                    <a:solidFill>
                      <a:srgbClr val="6A7380"/>
                    </a:solidFill>
                    <a:latin typeface="Arial"/>
                  </a:defRPr>
                </a:pPr>
                <a:r>
                  <a:rPr sz="1100" b="0" i="0" u="none" strike="noStrike">
                    <a:solidFill>
                      <a:srgbClr val="6A7380"/>
                    </a:solidFill>
                    <a:latin typeface="Arial"/>
                  </a:rPr>
                  <a:t>層数</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A7380"/>
                </a:solidFill>
                <a:latin typeface="Arial"/>
              </a:defRPr>
            </a:pPr>
            <a:endParaRPr lang="en-US"/>
          </a:p>
        </c:txPr>
        <c:crossAx val="2094734554"/>
        <c:crosses val="autoZero"/>
        <c:crossBetween val="between"/>
        <c:majorUnit val="200"/>
      </c:valAx>
      <c:spPr>
        <a:noFill/>
        <a:ln>
          <a:noFill/>
        </a:ln>
        <a:effectLst/>
      </c:spPr>
    </c:plotArea>
    <c:legend>
      <c:legendPos val="t"/>
      <c:overlay val="0"/>
      <c:txPr>
        <a:bodyPr/>
        <a:lstStyle/>
        <a:p>
          <a:pPr>
            <a:defRPr sz="1200">
              <a:solidFill>
                <a:srgbClr val="333D4A"/>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量産までの年数</c:v>
                </c:pt>
              </c:strCache>
            </c:strRef>
          </c:tx>
          <c:spPr>
            <a:solidFill>
              <a:srgbClr val="2F5597"/>
            </a:solidFill>
            <a:effectLst/>
          </c:spPr>
          <c:invertIfNegative val="0"/>
          <c:dLbls>
            <c:numFmt formatCode="General&quot;年&quot;;;;" sourceLinked="0"/>
            <c:txPr>
              <a:bodyPr/>
              <a:lstStyle/>
              <a:p>
                <a:pPr>
                  <a:defRPr b="1" i="0" strike="noStrike" sz="11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Xtacking（YMTC、NAND）</c:v>
                  </c:pt>
                  <c:pt idx="1">
                    <c:v>V-NAND（Samsung、NAND）</c:v>
                  </c:pt>
                  <c:pt idx="2">
                    <c:v>PUC（SK hynix、NAND）</c:v>
                  </c:pt>
                  <c:pt idx="3">
                    <c:v>貼り合わせCBA（Kioxia、NAND）</c:v>
                  </c:pt>
                  <c:pt idx="4">
                    <c:v>裏面電源（TSMC、ロジック）</c:v>
                  </c:pt>
                  <c:pt idx="5">
                    <c:v>裏面電源（Intel、ロジック）</c:v>
                  </c:pt>
                  <c:pt idx="6">
                    <c:v>GAA（Samsung、ロジック）</c:v>
                  </c:pt>
                  <c:pt idx="7">
                    <c:v>埋め込みワード線（DRAM）</c:v>
                  </c:pt>
                  <c:pt idx="8">
                    <c:v>BiCS（東芝、NAND）</c:v>
                  </c:pt>
                  <c:pt idx="9">
                    <c:v>極低温エッチ（TEL）</c:v>
                  </c:pt>
                  <c:pt idx="10">
                    <c:v>強誘電体NAND（未量産）</c:v>
                  </c:pt>
                </c:lvl>
              </c:multiLvlStrCache>
            </c:multiLvlStrRef>
          </c:cat>
          <c:val>
            <c:numRef>
              <c:f>Sheet1!$B$2:$B$12</c:f>
              <c:numCache>
                <c:formatCode>General</c:formatCode>
                <c:ptCount val="11"/>
                <c:pt idx="0">
                  <c:v>2</c:v>
                </c:pt>
                <c:pt idx="1">
                  <c:v>4.5</c:v>
                </c:pt>
                <c:pt idx="2">
                  <c:v>4.5</c:v>
                </c:pt>
                <c:pt idx="3">
                  <c:v>5</c:v>
                </c:pt>
                <c:pt idx="4">
                  <c:v>7.5</c:v>
                </c:pt>
                <c:pt idx="5">
                  <c:v>8</c:v>
                </c:pt>
                <c:pt idx="6">
                  <c:v>9</c:v>
                </c:pt>
                <c:pt idx="7">
                  <c:v>10</c:v>
                </c:pt>
                <c:pt idx="8">
                  <c:v>10.5</c:v>
                </c:pt>
                <c:pt idx="9">
                  <c:v>10.5</c:v>
                </c:pt>
                <c:pt idx="10">
                  <c:v>0</c:v>
                </c:pt>
              </c:numCache>
            </c:numRef>
          </c:val>
        </c:ser>
        <c:ser>
          <c:idx val="1"/>
          <c:order val="1"/>
          <c:tx>
            <c:strRef>
              <c:f>Sheet1!$C$1</c:f>
              <c:strCache>
                <c:ptCount val="1"/>
                <c:pt idx="0">
                  <c:v>まだ量産されていない（経過年数）</c:v>
                </c:pt>
              </c:strCache>
            </c:strRef>
          </c:tx>
          <c:spPr>
            <a:solidFill>
              <a:srgbClr val="C55A11"/>
            </a:solidFill>
            <a:effectLst/>
          </c:spPr>
          <c:invertIfNegative val="0"/>
          <c:dLbls>
            <c:numFmt formatCode="General&quot;年&quot;;;;" sourceLinked="0"/>
            <c:txPr>
              <a:bodyPr/>
              <a:lstStyle/>
              <a:p>
                <a:pPr>
                  <a:defRPr b="1" i="0" strike="noStrike" sz="11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Xtacking（YMTC、NAND）</c:v>
                  </c:pt>
                  <c:pt idx="1">
                    <c:v>V-NAND（Samsung、NAND）</c:v>
                  </c:pt>
                  <c:pt idx="2">
                    <c:v>PUC（SK hynix、NAND）</c:v>
                  </c:pt>
                  <c:pt idx="3">
                    <c:v>貼り合わせCBA（Kioxia、NAND）</c:v>
                  </c:pt>
                  <c:pt idx="4">
                    <c:v>裏面電源（TSMC、ロジック）</c:v>
                  </c:pt>
                  <c:pt idx="5">
                    <c:v>裏面電源（Intel、ロジック）</c:v>
                  </c:pt>
                  <c:pt idx="6">
                    <c:v>GAA（Samsung、ロジック）</c:v>
                  </c:pt>
                  <c:pt idx="7">
                    <c:v>埋め込みワード線（DRAM）</c:v>
                  </c:pt>
                  <c:pt idx="8">
                    <c:v>BiCS（東芝、NAND）</c:v>
                  </c:pt>
                  <c:pt idx="9">
                    <c:v>極低温エッチ（TEL）</c:v>
                  </c:pt>
                  <c:pt idx="10">
                    <c:v>強誘電体NAND（未量産）</c:v>
                  </c:pt>
                </c:lvl>
              </c:multiLvlStrCache>
            </c:multiLvlStrRef>
          </c:cat>
          <c:val>
            <c:numRef>
              <c:f>Sheet1!$C$2:$C$12</c:f>
              <c:numCache>
                <c:formatCode>General</c:formatCode>
                <c:ptCount val="11"/>
                <c:pt idx="0">
                  <c:v>0</c:v>
                </c:pt>
                <c:pt idx="1">
                  <c:v>0</c:v>
                </c:pt>
                <c:pt idx="2">
                  <c:v>0</c:v>
                </c:pt>
                <c:pt idx="3">
                  <c:v>0</c:v>
                </c:pt>
                <c:pt idx="4">
                  <c:v>0</c:v>
                </c:pt>
                <c:pt idx="5">
                  <c:v>0</c:v>
                </c:pt>
                <c:pt idx="6">
                  <c:v>0</c:v>
                </c:pt>
                <c:pt idx="7">
                  <c:v>0</c:v>
                </c:pt>
                <c:pt idx="8">
                  <c:v>0</c:v>
                </c:pt>
                <c:pt idx="9">
                  <c:v>0</c:v>
                </c:pt>
                <c:pt idx="10">
                  <c:v>16</c:v>
                </c:pt>
              </c:numCache>
            </c:numRef>
          </c:val>
        </c:ser>
        <c:dLbls>
          <c:numFmt formatCode="General&quot;年&quot;;;;" sourceLinked="0"/>
          <c:txPr>
            <a:bodyPr/>
            <a:lstStyle/>
            <a:p>
              <a:pPr>
                <a:defRPr b="1" i="0" strike="noStrike" sz="1100" u="none">
                  <a:solidFill>
                    <a:srgbClr val="FFFFFF"/>
                  </a:solidFill>
                  <a:latin typeface="Arial"/>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333D4A"/>
                </a:solidFill>
                <a:latin typeface="Arial"/>
              </a:defRPr>
            </a:pPr>
            <a:endParaRPr lang="en-US"/>
          </a:p>
        </c:txPr>
        <c:crossAx val="2094734552"/>
        <c:crosses val="autoZero"/>
        <c:auto val="1"/>
        <c:lblAlgn val="ctr"/>
        <c:noMultiLvlLbl val="1"/>
      </c:catAx>
      <c:valAx>
        <c:axId val="2094734552"/>
        <c:scaling>
          <c:orientation val="minMax"/>
          <c:max val="17"/>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333D4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では、計算用のロジック、作業用メモリのDRAM、保存用メモリのNANDの3つについて、2030年代までのロードマップを説明します。最初に結論、次に1枚で全体像、そのあと分野ごとに詳しく見ていきます。数字は2026年10月時点の会社発表・報道・第三者の分解解析・学会発表・特許に基づ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説明します。3分野とも、平面の上で寸法を縮める方法が限界に近づき、縦に積む、別々に作って貼り合わせる方向に移ります。ロジックは2033年頃にnとpのトランジスタを縦に積むCFET、DRAMは2028年頃からセルを縦型にし2030年代に積層、NANDは2030〜31年に1000層級です。共通の鍵は、より細かい線を描けるHigh-NA EUVと、ウェハの貼り合わせです。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野の主な転換点を1枚にまとめました。青は実績、オレンジは計画・見通し、破線は報道だけ、または確度の低い予想です。赤の縦線が現在です。ロジックは2033年頃のCFET、DRAMは2028年頃からの4F²、NANDは2030年以降の1000層級が大きな節目です。下段を見ると、2028〜30年に3分野ともHigh-NA EUVや貼り合わせといった共通の技術が入ってくることが分かります。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野で世代の数え方が違うので、最初に読み方をそろえます。ロジックの2nmやA14は世代の呼び名で、実際のゲートの間隔は40nm台です。DRAMの1a・1b・1cは10nm台の世代名で、線の幅（ハーフピッチ）が少しずつ細くなります。NANDは記憶セルを縦に積んだ段数で数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ロジックのトランジスタの変化です。図はチャネルを横に切った断面で、橙がゲート、灰がチャネルです。FinFETは3方向、GAAは4方向からゲートで囲み、漏れ電流を抑えてきました。今の2nmはGAAです。次は、nとpの2種類のトランジスタを縦に積むCFETで、imecは2033年頃と見ています。その間のフォークシートは、採用を表明した会社がまだありません。さらに先は、チャネルを原子数層の2D材料にする構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各社の計画です。TSMCは毎年の新ノードをほぼ予定どおり出しており、裏面電源は2027年のA16から入ります。SamsungはGAAを最初に量産しましたが、1.4nmを2年延期しました。Intelは裏面電源とHigh-NA EUVを他社より先に量産に使います。SMICはEUVなしで5nm級に近づいていますが、計画を公表していません。Rapidusは2027年度下期の2nm量産が目標です。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社の公式計画は2029〜30年で止まるので、その先は業界全体の予想です。imecの2026年版ロードマップでは、A7世代の2033年にCFETが入ります。学会ではすでに3社がCFETを試作しており、特許の出願時期と、出願から量産までの年数の目安を合わせても2032〜34年になります。2D材料は2040年前後とさらに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2027〜30年の鍵は2つです。1つ目は裏面電源で、電源の配線をウェハの裏に移し、表側を信号に使えるようにします。Intelが2025年に、TSMCが2027年に量産に入れます。2つ目はHigh-NA EUVで、レンズの開口数を0.33から0.55に上げ、約8nmの線を一度で描けます。Intelは2026年から一部の層で使っており、DRAMは2028年、TSMCは2030年から量産に使う計画です。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Mの1ビットは、スイッチのトランジスタ1個と、電荷をためるキャパシタ1個でできています。電荷が少なすぎると読み出せないので、セルが小さくなってもキャパシタの容量を保つ必要があり、細く高い筒にしてきました。高さと幅の比は約50対1で、これ以上は倒れやすく限界に近づいています。スイッチ側は漏れ電流を抑えるためゲートを基板に埋め込んでいます。この構造は1d世代、2027〜28年までと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DRAMのセルの変化です。今の6F²は、1セルが3F×2Fの広さです。次の4F²は、チャネルを縦に立ててビット線を下、キャパシタを上に置くことで2F×2Fにし、面積を3分の2にします。SamsungとSK hynixが10nm未満の0a〜0b世代、2028〜32年頃から使う見込みです。その次は、セルを横倒しにして積む3D DRAMで、各社の目標は2030年頃、本格化は2030年代です。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DRAM各社の計画です。Samsung、SK hynix、Micronの3社は、1d世代の2027〜28年まで今の6F²構造を使います。10nm未満の0aから構造を変えますが、Samsungは2026年9月に、0aをまず周辺回路の貼り合わせで作り、縦型のVCT版は別扱いにしたと報じられています。Micronは4F²を飛ばして3D DRAMに直接移るとの報道があります。中国のCXMTはEUVを使えないまま、多重露光で量産を続けています。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10nm未満のDRAMを支える技術を4つ挙げます。周辺回路の貼り合わせはNANDで実績があり、2028年頃からDRAMにも入ります。High-NA EUVは2028年に量産へ。IGZOは漏れ電流が極めて小さい材料で、縦型や積層のセルの候補ですが、まだ研究段階です。3D DRAMはSK hynixが5層で試作しており、各社の目標は2030年頃です。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NANDは記憶セルを縦に積んだ層数で進歩を測ります。業界で最初に量産された層数は、2017年の64層から2026年のSamsung V10の400層超まで、9年で6倍以上になりました。SamsungとKioxiaは2030〜31年に1000層級を目標にしています。そのためには、積み方そのものを変える必要があります。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の周辺回路の置き方の変化です。最初は記憶部の横に置いていましたが、面積を減らすため記憶部の下に置くようになりました。さらに今は、周辺回路と記憶部を別々のウェハで作り、銅同士で貼り合わせる方式に移っています。周辺回路に速いトランジスタを使え、記憶部を作るときの高温で周辺回路が傷みません。中国のYMTCが2019年に最初に量産し、Kioxia、Samsung、SK hynixが続きます。1000層級では記憶部のウェハを何枚も重ねる見込みです。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NAND各社の計画です。2026〜27年に各社が300〜400層台に入り、Samsungが最初に400層を超えました。周辺回路の貼り合わせは、YMTC、Kioxia、Samsung、SK hynixの順に採用し、Micronはまだ明らかにしていません。1000層級はSamsungが2030年、Kioxiaが2031年を目標にしています。YMTCは米国の輸出規制の下でも294層まで進み、Micronと特許訴訟で争っています。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層に向けた要素技術です。左は積み方の変化で、一度に開けられる穴の深さに限界があるため、積層を2段、3段に分けて重ね、2030年頃からはウェハごと重ねる見込みです。右は材料と加工です。配線をモリブデンに変えて層を薄くし、ウェハを冷やして深い穴を開ける極低温エッチがすでに使われています。1セル5ビットのPLCや強誘電体NANDはまだ研究・試作の段階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年以降の予想は、特許の出願から量産までにかかった年数を根拠にしています。過去の例では、既存の作り方を改良する技術は4〜5年、新しい構造や装置は8〜11年かかっています。これを当てはめると、CFETは2032〜34年、3D DRAMは2030〜32年となり、imecや各社の目標とおおむね一致します。強誘電体NANDは特許から16年以上たってもまだ量産されていないので、2031年以降としました。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今後、計画どおり進んでいるかを確かめる場面を年ごとに並べました。2026年末はTSMC N2PとSamsung SF2P、SK hynixの375層、2027年はTSMCの裏面電源A16とDRAMの1d、2028年はHigh-NA EUVがロジックとDRAMの両方で量産に入ります。注意点として、Samsungの10nm未満DRAMの定義変更、Intel 14Aが外部顧客の獲得しだいであること、Kioxiaの量産時期の報道の食い違い、SMICが計画を出さないことがあります。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最後にまとめです。ロジックは2033年頃のCFET、DRAMは4F²を経て2030年代の3D DRAM、NANDは2030〜31年の1000層級へ進みます。3分野に共通するのは、平面で縮める時代から、縦に積み、別々に作って貼り合わせる時代への移行です。根拠の詳細は別添のExcelにまとめています。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主な出典のURLです。
TSMC 2026 Technology Symposium：https://pr.tsmc.com/english/news/3302
TSMC・ASML High-NA：https://pr.tsmc.com/english/news/3338
The Elec（Samsung SAFE Forum 2026）：https://www.thelec.net/news/articleView.html?idxno=11849
Intel 2026年2Q決算説明：https://d1io3yog0oux5.cloudfront.net/_3ccf9cf30376bf77bbb27f582e51d00d/intel/db/887/9266/prepared_remarks/Q2+2026+Prepared+Remarks.pdf
imec 2026年版ロードマップ（Tom's Hardware）：https://www.tomshardware.com/tech-industry/semiconductors/imecs-2026-roadmap-details-0-3nm-nodes-by-2038-cfet-transistors-become-viable-at-0-7nm-company-redefines-moores-law-as-cell-sizes-gain-importance-for-density
TechInsights（SMIC N+3）：https://www.techinsights.com/blog/smic-n3-confirmed-kirin-9030-analysis-reveals-how-close-smic-5nm
TrendForce（Samsung 10a）：https://www.trendforce.com/news/2026/04/24/news-samsung-reportedly-produces-sub-10nm-10a-dram-working-die-using-4f-square-and-vct-targets-2028-production/
ZDNet Korea（Samsung D0a）：https://zdnet.co.kr/view/?no=20260923090551
SK hynix VLSI 2025：https://news.skhynix.com/sk-hynix-presents-future-dram-technology-roadmap-at-ieee-vlsi-2025/
Micron FQ2 2026：https://investors.micron.com/static-files/e089f8c0-065d-47b8-9d02-bfa863cdb357
TechNode（CXMT G5）：https://technode.com/2026/09/21/cxmt-announces-mass-production-of-fifth-generation-dram-platform/
Samsung FMS 2026：https://news.samsung.com/global/samsung-unveils-next-gen-3d-memory-vision-at-fms-2026-charting-the-future-of-ai-infrastructure
SK hynix FMS 2026：https://news.skhynix.com/en/hbf-at-fms-2026/
Kioxia BiCS10：https://www.kioxia.com/en-jp/about/news/2026/20260703-1.html
Micron FQ3 FY2026：https://investors.micron.com/static-files/631b1a32-5537-46ae-8f40-82e42fc79dfe
TrendForce（Kioxia/Sandisk VLSI 2026）：https://www.trendforce.com/news/2026/05/04/news-kioxia-sandisk-to-demonstrate-qlc-nand-using-multi-stacked-cell-architecture-targeting-1000-layers/
Knowmade（ハイブリッド接合）：https://www.knowmade.com/technology-news/semiconductor-news/packaging-news/ymtcs-hybrid-bonding-patents-a-key-competitive-factor-for-memory-chipmakers/
Yole（Next-Gen DRAM 2026）：https://www.yolegroup.com/product/report/next-gen-dram-2026---focus-on-hbm-and-3d-dram/
IEEE Spectrum（imec）：https://spectrum.ieee.org/semiconductor-technology-roadmap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7-1.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430"/>
        </a:solidFill>
      </p:bgPr>
    </p:bg>
    <p:spTree>
      <p:nvGrpSpPr>
        <p:cNvPr id="1" name=""/>
        <p:cNvGrpSpPr/>
        <p:nvPr/>
      </p:nvGrpSpPr>
      <p:grpSpPr>
        <a:xfrm>
          <a:off x="0" y="0"/>
          <a:ext cx="0" cy="0"/>
          <a:chOff x="0" y="0"/>
          <a:chExt cx="0" cy="0"/>
        </a:xfrm>
      </p:grpSpPr>
      <p:sp>
        <p:nvSpPr>
          <p:cNvPr id="2" name="Text 0"/>
          <p:cNvSpPr txBox="1"/>
          <p:nvPr/>
        </p:nvSpPr>
        <p:spPr>
          <a:xfrm>
            <a:off x="548640" y="777240"/>
            <a:ext cx="11094415" cy="365760"/>
          </a:xfrm>
          <a:prstGeom prst="rect">
            <a:avLst/>
          </a:prstGeom>
          <a:noFill/>
          <a:ln/>
        </p:spPr>
        <p:txBody>
          <a:bodyPr wrap="square" lIns="0" tIns="0" rIns="0" bIns="0" rtlCol="0" anchor="ctr"/>
          <a:lstStyle/>
          <a:p>
            <a:pPr indent="0" marL="0">
              <a:buNone/>
            </a:pPr>
            <a:r>
              <a:rPr lang="en-US" sz="1400" spc="200" kern="0" dirty="0">
                <a:solidFill>
                  <a:srgbClr val="9FB8D4"/>
                </a:solidFill>
                <a:latin typeface="Arial" pitchFamily="34" charset="0"/>
                <a:ea typeface="Yu Gothic"/>
                <a:cs typeface="Arial" pitchFamily="34" charset="-120"/>
              </a:rPr>
              <a:t>SEMICONDUCTOR ROADMAP 2026–2035</a:t>
            </a:r>
            <a:endParaRPr lang="en-US" sz="1400" dirty="0"/>
          </a:p>
        </p:txBody>
      </p:sp>
      <p:sp>
        <p:nvSpPr>
          <p:cNvPr id="3" name="Text 1"/>
          <p:cNvSpPr txBox="1"/>
          <p:nvPr/>
        </p:nvSpPr>
        <p:spPr>
          <a:xfrm>
            <a:off x="548640" y="1234440"/>
            <a:ext cx="11094415" cy="914400"/>
          </a:xfrm>
          <a:prstGeom prst="rect">
            <a:avLst/>
          </a:prstGeom>
          <a:noFill/>
          <a:ln/>
        </p:spPr>
        <p:txBody>
          <a:bodyPr wrap="square" lIns="0" tIns="0" rIns="0" bIns="0" rtlCol="0" anchor="ctr"/>
          <a:lstStyle/>
          <a:p>
            <a:pPr indent="0" marL="0">
              <a:buNone/>
            </a:pPr>
            <a:r>
              <a:rPr lang="en-US" sz="4400" b="1" dirty="0">
                <a:solidFill>
                  <a:srgbClr val="F2F1EC"/>
                </a:solidFill>
                <a:latin typeface="Arial" pitchFamily="34" charset="0"/>
                <a:ea typeface="Yu Gothic"/>
                <a:cs typeface="Arial" pitchFamily="34" charset="-120"/>
              </a:rPr>
              <a:t>先端半導体の今後のロードマップ</a:t>
            </a:r>
            <a:endParaRPr lang="en-US" sz="4400" dirty="0"/>
          </a:p>
        </p:txBody>
      </p:sp>
      <p:sp>
        <p:nvSpPr>
          <p:cNvPr id="4" name="Text 2"/>
          <p:cNvSpPr txBox="1"/>
          <p:nvPr/>
        </p:nvSpPr>
        <p:spPr>
          <a:xfrm>
            <a:off x="548640" y="2194560"/>
            <a:ext cx="11094415" cy="502920"/>
          </a:xfrm>
          <a:prstGeom prst="rect">
            <a:avLst/>
          </a:prstGeom>
          <a:noFill/>
          <a:ln/>
        </p:spPr>
        <p:txBody>
          <a:bodyPr wrap="square" lIns="0" tIns="0" rIns="0" bIns="0" rtlCol="0" anchor="ctr"/>
          <a:lstStyle/>
          <a:p>
            <a:pPr indent="0" marL="0">
              <a:buNone/>
            </a:pPr>
            <a:r>
              <a:rPr lang="en-US" sz="2200" dirty="0">
                <a:solidFill>
                  <a:srgbClr val="C9D0D8"/>
                </a:solidFill>
                <a:latin typeface="Arial" pitchFamily="34" charset="0"/>
                <a:ea typeface="Yu Gothic"/>
                <a:cs typeface="Arial" pitchFamily="34" charset="-120"/>
              </a:rPr>
              <a:t>ロジック・DRAM・NAND　2030年代までに何が変わるか</a:t>
            </a:r>
            <a:endParaRPr lang="en-US" sz="2200" dirty="0"/>
          </a:p>
        </p:txBody>
      </p:sp>
      <p:sp>
        <p:nvSpPr>
          <p:cNvPr id="5" name="Shape 3"/>
          <p:cNvSpPr/>
          <p:nvPr/>
        </p:nvSpPr>
        <p:spPr>
          <a:xfrm>
            <a:off x="548640" y="3520440"/>
            <a:ext cx="822960" cy="822960"/>
          </a:xfrm>
          <a:prstGeom prst="ellipse">
            <a:avLst/>
          </a:prstGeom>
          <a:solidFill>
            <a:srgbClr val="2B7A9B"/>
          </a:solidFill>
          <a:ln/>
        </p:spPr>
      </p:sp>
      <p:pic>
        <p:nvPicPr>
          <p:cNvPr id="6" name="Image 0" descr="preencoded.png">    </p:cNvPr>
          <p:cNvPicPr>
            <a:picLocks noChangeAspect="1"/>
          </p:cNvPicPr>
          <p:nvPr/>
        </p:nvPicPr>
        <p:blipFill>
          <a:blip r:embed="rId1"/>
          <a:stretch>
            <a:fillRect/>
          </a:stretch>
        </p:blipFill>
        <p:spPr>
          <a:xfrm>
            <a:off x="754380" y="3726180"/>
            <a:ext cx="411480" cy="411480"/>
          </a:xfrm>
          <a:prstGeom prst="rect">
            <a:avLst/>
          </a:prstGeom>
        </p:spPr>
      </p:pic>
      <p:sp>
        <p:nvSpPr>
          <p:cNvPr id="7" name="Text 4"/>
          <p:cNvSpPr txBox="1"/>
          <p:nvPr/>
        </p:nvSpPr>
        <p:spPr>
          <a:xfrm>
            <a:off x="1554480" y="3520440"/>
            <a:ext cx="256032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Yu Gothic"/>
                <a:cs typeface="Arial" pitchFamily="34" charset="-120"/>
              </a:rPr>
              <a:t>ロジック</a:t>
            </a:r>
            <a:endParaRPr lang="en-US" sz="2200" dirty="0"/>
          </a:p>
        </p:txBody>
      </p:sp>
      <p:sp>
        <p:nvSpPr>
          <p:cNvPr id="8" name="Text 5"/>
          <p:cNvSpPr txBox="1"/>
          <p:nvPr/>
        </p:nvSpPr>
        <p:spPr>
          <a:xfrm>
            <a:off x="1554480" y="3931920"/>
            <a:ext cx="2560320" cy="411480"/>
          </a:xfrm>
          <a:prstGeom prst="rect">
            <a:avLst/>
          </a:prstGeom>
          <a:noFill/>
          <a:ln/>
        </p:spPr>
        <p:txBody>
          <a:bodyPr wrap="square" lIns="0" tIns="0" rIns="0" bIns="0" rtlCol="0" anchor="ctr"/>
          <a:lstStyle/>
          <a:p>
            <a:pPr indent="0" marL="0">
              <a:buNone/>
            </a:pPr>
            <a:r>
              <a:rPr lang="en-US" sz="1500" dirty="0">
                <a:solidFill>
                  <a:srgbClr val="C9D0D8"/>
                </a:solidFill>
                <a:latin typeface="Arial" pitchFamily="34" charset="0"/>
                <a:ea typeface="Yu Gothic"/>
                <a:cs typeface="Arial" pitchFamily="34" charset="-120"/>
              </a:rPr>
              <a:t>計算するチップ（CPU・GPU）</a:t>
            </a:r>
            <a:endParaRPr lang="en-US" sz="1500" dirty="0"/>
          </a:p>
        </p:txBody>
      </p:sp>
      <p:sp>
        <p:nvSpPr>
          <p:cNvPr id="9" name="Shape 6"/>
          <p:cNvSpPr/>
          <p:nvPr/>
        </p:nvSpPr>
        <p:spPr>
          <a:xfrm>
            <a:off x="4251960" y="3520440"/>
            <a:ext cx="822960" cy="822960"/>
          </a:xfrm>
          <a:prstGeom prst="ellipse">
            <a:avLst/>
          </a:prstGeom>
          <a:solidFill>
            <a:srgbClr val="3C8D5A"/>
          </a:solidFill>
          <a:ln/>
        </p:spPr>
      </p:sp>
      <p:pic>
        <p:nvPicPr>
          <p:cNvPr id="10" name="Image 1" descr="preencoded.png">    </p:cNvPr>
          <p:cNvPicPr>
            <a:picLocks noChangeAspect="1"/>
          </p:cNvPicPr>
          <p:nvPr/>
        </p:nvPicPr>
        <p:blipFill>
          <a:blip r:embed="rId2"/>
          <a:stretch>
            <a:fillRect/>
          </a:stretch>
        </p:blipFill>
        <p:spPr>
          <a:xfrm>
            <a:off x="4457700" y="3726180"/>
            <a:ext cx="411480" cy="411480"/>
          </a:xfrm>
          <a:prstGeom prst="rect">
            <a:avLst/>
          </a:prstGeom>
        </p:spPr>
      </p:pic>
      <p:sp>
        <p:nvSpPr>
          <p:cNvPr id="11" name="Text 7"/>
          <p:cNvSpPr txBox="1"/>
          <p:nvPr/>
        </p:nvSpPr>
        <p:spPr>
          <a:xfrm>
            <a:off x="5257800" y="3520440"/>
            <a:ext cx="256032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Yu Gothic"/>
                <a:cs typeface="Arial" pitchFamily="34" charset="-120"/>
              </a:rPr>
              <a:t>DRAM</a:t>
            </a:r>
            <a:endParaRPr lang="en-US" sz="2200" dirty="0"/>
          </a:p>
        </p:txBody>
      </p:sp>
      <p:sp>
        <p:nvSpPr>
          <p:cNvPr id="12" name="Text 8"/>
          <p:cNvSpPr txBox="1"/>
          <p:nvPr/>
        </p:nvSpPr>
        <p:spPr>
          <a:xfrm>
            <a:off x="5257800" y="3931920"/>
            <a:ext cx="2560320" cy="411480"/>
          </a:xfrm>
          <a:prstGeom prst="rect">
            <a:avLst/>
          </a:prstGeom>
          <a:noFill/>
          <a:ln/>
        </p:spPr>
        <p:txBody>
          <a:bodyPr wrap="square" lIns="0" tIns="0" rIns="0" bIns="0" rtlCol="0" anchor="ctr"/>
          <a:lstStyle/>
          <a:p>
            <a:pPr indent="0" marL="0">
              <a:buNone/>
            </a:pPr>
            <a:r>
              <a:rPr lang="en-US" sz="1500" dirty="0">
                <a:solidFill>
                  <a:srgbClr val="C9D0D8"/>
                </a:solidFill>
                <a:latin typeface="Arial" pitchFamily="34" charset="0"/>
                <a:ea typeface="Yu Gothic"/>
                <a:cs typeface="Arial" pitchFamily="34" charset="-120"/>
              </a:rPr>
              <a:t>作業用のメモリ</a:t>
            </a:r>
            <a:endParaRPr lang="en-US" sz="1500" dirty="0"/>
          </a:p>
        </p:txBody>
      </p:sp>
      <p:sp>
        <p:nvSpPr>
          <p:cNvPr id="13" name="Shape 9"/>
          <p:cNvSpPr/>
          <p:nvPr/>
        </p:nvSpPr>
        <p:spPr>
          <a:xfrm>
            <a:off x="7955280" y="3520440"/>
            <a:ext cx="822960" cy="822960"/>
          </a:xfrm>
          <a:prstGeom prst="ellipse">
            <a:avLst/>
          </a:prstGeom>
          <a:solidFill>
            <a:srgbClr val="7B5EA7"/>
          </a:solidFill>
          <a:ln/>
        </p:spPr>
      </p:sp>
      <p:pic>
        <p:nvPicPr>
          <p:cNvPr id="14" name="Image 2" descr="preencoded.png">    </p:cNvPr>
          <p:cNvPicPr>
            <a:picLocks noChangeAspect="1"/>
          </p:cNvPicPr>
          <p:nvPr/>
        </p:nvPicPr>
        <p:blipFill>
          <a:blip r:embed="rId3"/>
          <a:stretch>
            <a:fillRect/>
          </a:stretch>
        </p:blipFill>
        <p:spPr>
          <a:xfrm>
            <a:off x="8161020" y="3726180"/>
            <a:ext cx="411480" cy="411480"/>
          </a:xfrm>
          <a:prstGeom prst="rect">
            <a:avLst/>
          </a:prstGeom>
        </p:spPr>
      </p:pic>
      <p:sp>
        <p:nvSpPr>
          <p:cNvPr id="15" name="Text 10"/>
          <p:cNvSpPr txBox="1"/>
          <p:nvPr/>
        </p:nvSpPr>
        <p:spPr>
          <a:xfrm>
            <a:off x="8961120" y="3520440"/>
            <a:ext cx="256032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Yu Gothic"/>
                <a:cs typeface="Arial" pitchFamily="34" charset="-120"/>
              </a:rPr>
              <a:t>NAND</a:t>
            </a:r>
            <a:endParaRPr lang="en-US" sz="2200" dirty="0"/>
          </a:p>
        </p:txBody>
      </p:sp>
      <p:sp>
        <p:nvSpPr>
          <p:cNvPr id="16" name="Text 11"/>
          <p:cNvSpPr txBox="1"/>
          <p:nvPr/>
        </p:nvSpPr>
        <p:spPr>
          <a:xfrm>
            <a:off x="8961120" y="3931920"/>
            <a:ext cx="2560320" cy="411480"/>
          </a:xfrm>
          <a:prstGeom prst="rect">
            <a:avLst/>
          </a:prstGeom>
          <a:noFill/>
          <a:ln/>
        </p:spPr>
        <p:txBody>
          <a:bodyPr wrap="square" lIns="0" tIns="0" rIns="0" bIns="0" rtlCol="0" anchor="ctr"/>
          <a:lstStyle/>
          <a:p>
            <a:pPr indent="0" marL="0">
              <a:buNone/>
            </a:pPr>
            <a:r>
              <a:rPr lang="en-US" sz="1500" dirty="0">
                <a:solidFill>
                  <a:srgbClr val="C9D0D8"/>
                </a:solidFill>
                <a:latin typeface="Arial" pitchFamily="34" charset="0"/>
                <a:ea typeface="Yu Gothic"/>
                <a:cs typeface="Arial" pitchFamily="34" charset="-120"/>
              </a:rPr>
              <a:t>保存用のメモリ（SSD）</a:t>
            </a:r>
            <a:endParaRPr lang="en-US" sz="1500" dirty="0"/>
          </a:p>
        </p:txBody>
      </p:sp>
      <p:sp>
        <p:nvSpPr>
          <p:cNvPr id="17" name="Text 12"/>
          <p:cNvSpPr txBox="1"/>
          <p:nvPr/>
        </p:nvSpPr>
        <p:spPr>
          <a:xfrm>
            <a:off x="548640" y="5852160"/>
            <a:ext cx="11094415" cy="365760"/>
          </a:xfrm>
          <a:prstGeom prst="rect">
            <a:avLst/>
          </a:prstGeom>
          <a:noFill/>
          <a:ln/>
        </p:spPr>
        <p:txBody>
          <a:bodyPr wrap="square" lIns="0" tIns="0" rIns="0" bIns="0" rtlCol="0" anchor="ctr"/>
          <a:lstStyle/>
          <a:p>
            <a:pPr indent="0" marL="0">
              <a:buNone/>
            </a:pPr>
            <a:r>
              <a:rPr lang="en-US" sz="1400" dirty="0">
                <a:solidFill>
                  <a:srgbClr val="C9D0D8"/>
                </a:solidFill>
                <a:latin typeface="Arial" pitchFamily="34" charset="0"/>
                <a:ea typeface="Yu Gothic"/>
                <a:cs typeface="Arial" pitchFamily="34" charset="-120"/>
              </a:rPr>
              <a:t>2026年10月時点の公開情報（会社発表・報道・第三者解析・学会発表・特許）に基づく</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5A6472"/>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5A6472"/>
                </a:solidFill>
                <a:latin typeface="Arial" pitchFamily="34" charset="0"/>
                <a:ea typeface="Yu Gothic"/>
                <a:cs typeface="Arial" pitchFamily="34" charset="-120"/>
              </a:rPr>
              <a:t>3分野共通</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まとめ：3分野とも「平面で縮める」から「縦に積む・貼り合わせる」へ移る</a:t>
            </a:r>
            <a:endParaRPr lang="en-US" sz="2400" dirty="0"/>
          </a:p>
        </p:txBody>
      </p:sp>
      <p:sp>
        <p:nvSpPr>
          <p:cNvPr id="6" name="Shape 3"/>
          <p:cNvSpPr/>
          <p:nvPr/>
        </p:nvSpPr>
        <p:spPr>
          <a:xfrm>
            <a:off x="548640" y="1737360"/>
            <a:ext cx="3520440" cy="3794760"/>
          </a:xfrm>
          <a:prstGeom prst="roundRect">
            <a:avLst>
              <a:gd name="adj" fmla="val 2597"/>
            </a:avLst>
          </a:prstGeom>
          <a:solidFill>
            <a:srgbClr val="F3F5F8"/>
          </a:solidFill>
          <a:ln/>
        </p:spPr>
      </p:sp>
      <p:sp>
        <p:nvSpPr>
          <p:cNvPr id="7" name="Shape 4"/>
          <p:cNvSpPr/>
          <p:nvPr/>
        </p:nvSpPr>
        <p:spPr>
          <a:xfrm>
            <a:off x="822960" y="1993392"/>
            <a:ext cx="548640" cy="548640"/>
          </a:xfrm>
          <a:prstGeom prst="ellipse">
            <a:avLst/>
          </a:prstGeom>
          <a:solidFill>
            <a:srgbClr val="2B7A9B"/>
          </a:solidFill>
          <a:ln/>
        </p:spPr>
      </p:sp>
      <p:pic>
        <p:nvPicPr>
          <p:cNvPr id="8" name="Image 1" descr="preencoded.png">    </p:cNvPr>
          <p:cNvPicPr>
            <a:picLocks noChangeAspect="1"/>
          </p:cNvPicPr>
          <p:nvPr/>
        </p:nvPicPr>
        <p:blipFill>
          <a:blip r:embed="rId2"/>
          <a:stretch>
            <a:fillRect/>
          </a:stretch>
        </p:blipFill>
        <p:spPr>
          <a:xfrm>
            <a:off x="960120" y="2130552"/>
            <a:ext cx="274320" cy="274320"/>
          </a:xfrm>
          <a:prstGeom prst="rect">
            <a:avLst/>
          </a:prstGeom>
        </p:spPr>
      </p:pic>
      <p:sp>
        <p:nvSpPr>
          <p:cNvPr id="9" name="Text 5"/>
          <p:cNvSpPr txBox="1"/>
          <p:nvPr/>
        </p:nvSpPr>
        <p:spPr>
          <a:xfrm>
            <a:off x="1508760" y="1993392"/>
            <a:ext cx="2377440" cy="548640"/>
          </a:xfrm>
          <a:prstGeom prst="rect">
            <a:avLst/>
          </a:prstGeom>
          <a:noFill/>
          <a:ln/>
        </p:spPr>
        <p:txBody>
          <a:bodyPr wrap="square" lIns="0" tIns="0" rIns="0" bIns="0" rtlCol="0" anchor="ctr"/>
          <a:lstStyle/>
          <a:p>
            <a:pPr indent="0" marL="0">
              <a:buNone/>
            </a:pPr>
            <a:r>
              <a:rPr lang="en-US" sz="2000" b="1" dirty="0">
                <a:solidFill>
                  <a:srgbClr val="2B7A9B"/>
                </a:solidFill>
                <a:latin typeface="Arial" pitchFamily="34" charset="0"/>
                <a:ea typeface="Yu Gothic"/>
                <a:cs typeface="Arial" pitchFamily="34" charset="-120"/>
              </a:rPr>
              <a:t>ロジック</a:t>
            </a:r>
            <a:endParaRPr lang="en-US" sz="2000" dirty="0"/>
          </a:p>
        </p:txBody>
      </p:sp>
      <p:sp>
        <p:nvSpPr>
          <p:cNvPr id="10" name="Text 6"/>
          <p:cNvSpPr txBox="1"/>
          <p:nvPr/>
        </p:nvSpPr>
        <p:spPr>
          <a:xfrm>
            <a:off x="822960" y="2651760"/>
            <a:ext cx="2971800" cy="640080"/>
          </a:xfrm>
          <a:prstGeom prst="rect">
            <a:avLst/>
          </a:prstGeom>
          <a:noFill/>
          <a:ln/>
        </p:spPr>
        <p:txBody>
          <a:bodyPr wrap="square" lIns="0" tIns="0" rIns="0" bIns="0" rtlCol="0" anchor="ctr"/>
          <a:lstStyle/>
          <a:p>
            <a:pPr indent="0" marL="0">
              <a:buNone/>
            </a:pPr>
            <a:r>
              <a:rPr lang="en-US" sz="3400" b="1" dirty="0">
                <a:solidFill>
                  <a:srgbClr val="1C2430"/>
                </a:solidFill>
                <a:latin typeface="Arial" pitchFamily="34" charset="0"/>
                <a:ea typeface="Yu Gothic"/>
                <a:cs typeface="Arial" pitchFamily="34" charset="-120"/>
              </a:rPr>
              <a:t>CFET</a:t>
            </a:r>
            <a:endParaRPr lang="en-US" sz="3400" dirty="0"/>
          </a:p>
        </p:txBody>
      </p:sp>
      <p:sp>
        <p:nvSpPr>
          <p:cNvPr id="11" name="Text 7"/>
          <p:cNvSpPr txBox="1"/>
          <p:nvPr/>
        </p:nvSpPr>
        <p:spPr>
          <a:xfrm>
            <a:off x="822960" y="3310128"/>
            <a:ext cx="2971800" cy="594360"/>
          </a:xfrm>
          <a:prstGeom prst="rect">
            <a:avLst/>
          </a:prstGeom>
          <a:noFill/>
          <a:ln/>
        </p:spPr>
        <p:txBody>
          <a:bodyPr wrap="square" lIns="0" tIns="0" rIns="0" bIns="0" rtlCol="0" anchor="t"/>
          <a:lstStyle/>
          <a:p>
            <a:pPr indent="0" marL="0">
              <a:buNone/>
            </a:pPr>
            <a:r>
              <a:rPr lang="en-US" sz="1500" b="1" dirty="0">
                <a:solidFill>
                  <a:srgbClr val="333D4A"/>
                </a:solidFill>
                <a:latin typeface="Arial" pitchFamily="34" charset="0"/>
                <a:ea typeface="Yu Gothic"/>
                <a:cs typeface="Arial" pitchFamily="34" charset="-120"/>
              </a:rPr>
              <a:t>2033年頃、トランジスタを縦に2段積む</a:t>
            </a:r>
            <a:endParaRPr lang="en-US" sz="1500" dirty="0"/>
          </a:p>
        </p:txBody>
      </p:sp>
      <p:sp>
        <p:nvSpPr>
          <p:cNvPr id="12" name="Text 8"/>
          <p:cNvSpPr txBox="1"/>
          <p:nvPr/>
        </p:nvSpPr>
        <p:spPr>
          <a:xfrm>
            <a:off x="822960" y="4023360"/>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3D4A"/>
                </a:solidFill>
                <a:latin typeface="Arial" pitchFamily="34" charset="0"/>
                <a:ea typeface="Yu Gothic"/>
                <a:cs typeface="Arial" pitchFamily="34" charset="-120"/>
              </a:rPr>
              <a:t>2025年：2nm（GAA）量産開始</a:t>
            </a:r>
            <a:endParaRPr lang="en-US" sz="1400" dirty="0"/>
          </a:p>
          <a:p>
            <a:pPr marL="342900" indent="-342900">
              <a:spcAft>
                <a:spcPts val="500"/>
              </a:spcAft>
              <a:buSzPct val="100000"/>
              <a:buChar char="•"/>
            </a:pPr>
            <a:r>
              <a:rPr lang="en-US" sz="1400" dirty="0">
                <a:solidFill>
                  <a:srgbClr val="333D4A"/>
                </a:solidFill>
                <a:latin typeface="Arial" pitchFamily="34" charset="0"/>
                <a:ea typeface="Yu Gothic"/>
                <a:cs typeface="Arial" pitchFamily="34" charset="-120"/>
              </a:rPr>
              <a:t>2027〜29年：電源配線を裏側へ</a:t>
            </a:r>
            <a:endParaRPr lang="en-US" sz="1400" dirty="0"/>
          </a:p>
          <a:p>
            <a:pPr marL="342900" indent="-342900">
              <a:spcAft>
                <a:spcPts val="500"/>
              </a:spcAft>
              <a:buSzPct val="100000"/>
              <a:buChar char="•"/>
            </a:pPr>
            <a:r>
              <a:rPr lang="en-US" sz="1400" dirty="0">
                <a:solidFill>
                  <a:srgbClr val="333D4A"/>
                </a:solidFill>
                <a:latin typeface="Arial" pitchFamily="34" charset="0"/>
                <a:ea typeface="Yu Gothic"/>
                <a:cs typeface="Arial" pitchFamily="34" charset="-120"/>
              </a:rPr>
              <a:t>2028〜30年：High-NA EUV導入</a:t>
            </a:r>
            <a:endParaRPr lang="en-US" sz="1400" dirty="0"/>
          </a:p>
        </p:txBody>
      </p:sp>
      <p:sp>
        <p:nvSpPr>
          <p:cNvPr id="13" name="Shape 9"/>
          <p:cNvSpPr/>
          <p:nvPr/>
        </p:nvSpPr>
        <p:spPr>
          <a:xfrm>
            <a:off x="4334256" y="1737360"/>
            <a:ext cx="3520440" cy="3794760"/>
          </a:xfrm>
          <a:prstGeom prst="roundRect">
            <a:avLst>
              <a:gd name="adj" fmla="val 2597"/>
            </a:avLst>
          </a:prstGeom>
          <a:solidFill>
            <a:srgbClr val="F3F5F8"/>
          </a:solidFill>
          <a:ln/>
        </p:spPr>
      </p:sp>
      <p:sp>
        <p:nvSpPr>
          <p:cNvPr id="14" name="Shape 10"/>
          <p:cNvSpPr/>
          <p:nvPr/>
        </p:nvSpPr>
        <p:spPr>
          <a:xfrm>
            <a:off x="4608576" y="1993392"/>
            <a:ext cx="548640" cy="548640"/>
          </a:xfrm>
          <a:prstGeom prst="ellipse">
            <a:avLst/>
          </a:prstGeom>
          <a:solidFill>
            <a:srgbClr val="3C8D5A"/>
          </a:solidFill>
          <a:ln/>
        </p:spPr>
      </p:sp>
      <p:pic>
        <p:nvPicPr>
          <p:cNvPr id="15" name="Image 2" descr="preencoded.png">    </p:cNvPr>
          <p:cNvPicPr>
            <a:picLocks noChangeAspect="1"/>
          </p:cNvPicPr>
          <p:nvPr/>
        </p:nvPicPr>
        <p:blipFill>
          <a:blip r:embed="rId3"/>
          <a:stretch>
            <a:fillRect/>
          </a:stretch>
        </p:blipFill>
        <p:spPr>
          <a:xfrm>
            <a:off x="4745736" y="2130552"/>
            <a:ext cx="274320" cy="274320"/>
          </a:xfrm>
          <a:prstGeom prst="rect">
            <a:avLst/>
          </a:prstGeom>
        </p:spPr>
      </p:pic>
      <p:sp>
        <p:nvSpPr>
          <p:cNvPr id="16" name="Text 11"/>
          <p:cNvSpPr txBox="1"/>
          <p:nvPr/>
        </p:nvSpPr>
        <p:spPr>
          <a:xfrm>
            <a:off x="5294376" y="1993392"/>
            <a:ext cx="2377440" cy="548640"/>
          </a:xfrm>
          <a:prstGeom prst="rect">
            <a:avLst/>
          </a:prstGeom>
          <a:noFill/>
          <a:ln/>
        </p:spPr>
        <p:txBody>
          <a:bodyPr wrap="square" lIns="0" tIns="0" rIns="0" bIns="0" rtlCol="0" anchor="ctr"/>
          <a:lstStyle/>
          <a:p>
            <a:pPr indent="0" marL="0">
              <a:buNone/>
            </a:pPr>
            <a:r>
              <a:rPr lang="en-US" sz="2000" b="1" dirty="0">
                <a:solidFill>
                  <a:srgbClr val="3C8D5A"/>
                </a:solidFill>
                <a:latin typeface="Arial" pitchFamily="34" charset="0"/>
                <a:ea typeface="Yu Gothic"/>
                <a:cs typeface="Arial" pitchFamily="34" charset="-120"/>
              </a:rPr>
              <a:t>DRAM</a:t>
            </a:r>
            <a:endParaRPr lang="en-US" sz="2000" dirty="0"/>
          </a:p>
        </p:txBody>
      </p:sp>
      <p:sp>
        <p:nvSpPr>
          <p:cNvPr id="17" name="Text 12"/>
          <p:cNvSpPr txBox="1"/>
          <p:nvPr/>
        </p:nvSpPr>
        <p:spPr>
          <a:xfrm>
            <a:off x="4608576" y="2651760"/>
            <a:ext cx="2971800" cy="640080"/>
          </a:xfrm>
          <a:prstGeom prst="rect">
            <a:avLst/>
          </a:prstGeom>
          <a:noFill/>
          <a:ln/>
        </p:spPr>
        <p:txBody>
          <a:bodyPr wrap="square" lIns="0" tIns="0" rIns="0" bIns="0" rtlCol="0" anchor="ctr"/>
          <a:lstStyle/>
          <a:p>
            <a:pPr indent="0" marL="0">
              <a:buNone/>
            </a:pPr>
            <a:r>
              <a:rPr lang="en-US" sz="3400" b="1" dirty="0">
                <a:solidFill>
                  <a:srgbClr val="1C2430"/>
                </a:solidFill>
                <a:latin typeface="Arial" pitchFamily="34" charset="0"/>
                <a:ea typeface="Yu Gothic"/>
                <a:cs typeface="Arial" pitchFamily="34" charset="-120"/>
              </a:rPr>
              <a:t>4F² → 3D</a:t>
            </a:r>
            <a:endParaRPr lang="en-US" sz="3400" dirty="0"/>
          </a:p>
        </p:txBody>
      </p:sp>
      <p:sp>
        <p:nvSpPr>
          <p:cNvPr id="18" name="Text 13"/>
          <p:cNvSpPr txBox="1"/>
          <p:nvPr/>
        </p:nvSpPr>
        <p:spPr>
          <a:xfrm>
            <a:off x="4608576" y="3310128"/>
            <a:ext cx="2971800" cy="594360"/>
          </a:xfrm>
          <a:prstGeom prst="rect">
            <a:avLst/>
          </a:prstGeom>
          <a:noFill/>
          <a:ln/>
        </p:spPr>
        <p:txBody>
          <a:bodyPr wrap="square" lIns="0" tIns="0" rIns="0" bIns="0" rtlCol="0" anchor="t"/>
          <a:lstStyle/>
          <a:p>
            <a:pPr indent="0" marL="0">
              <a:buNone/>
            </a:pPr>
            <a:r>
              <a:rPr lang="en-US" sz="1500" b="1" dirty="0">
                <a:solidFill>
                  <a:srgbClr val="333D4A"/>
                </a:solidFill>
                <a:latin typeface="Arial" pitchFamily="34" charset="0"/>
                <a:ea typeface="Yu Gothic"/>
                <a:cs typeface="Arial" pitchFamily="34" charset="-120"/>
              </a:rPr>
              <a:t>2028年頃から縦型セル、2030年代に積層</a:t>
            </a:r>
            <a:endParaRPr lang="en-US" sz="1500" dirty="0"/>
          </a:p>
        </p:txBody>
      </p:sp>
      <p:sp>
        <p:nvSpPr>
          <p:cNvPr id="19" name="Text 14"/>
          <p:cNvSpPr txBox="1"/>
          <p:nvPr/>
        </p:nvSpPr>
        <p:spPr>
          <a:xfrm>
            <a:off x="4608576" y="4023360"/>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3D4A"/>
                </a:solidFill>
                <a:latin typeface="Arial" pitchFamily="34" charset="0"/>
                <a:ea typeface="Yu Gothic"/>
                <a:cs typeface="Arial" pitchFamily="34" charset="-120"/>
              </a:rPr>
              <a:t>6F²セルは1d（2027〜28年）まで</a:t>
            </a:r>
            <a:endParaRPr lang="en-US" sz="1400" dirty="0"/>
          </a:p>
          <a:p>
            <a:pPr marL="342900" indent="-342900">
              <a:spcAft>
                <a:spcPts val="500"/>
              </a:spcAft>
              <a:buSzPct val="100000"/>
              <a:buChar char="•"/>
            </a:pPr>
            <a:r>
              <a:rPr lang="en-US" sz="1400" dirty="0">
                <a:solidFill>
                  <a:srgbClr val="333D4A"/>
                </a:solidFill>
                <a:latin typeface="Arial" pitchFamily="34" charset="0"/>
                <a:ea typeface="Yu Gothic"/>
                <a:cs typeface="Arial" pitchFamily="34" charset="-120"/>
              </a:rPr>
              <a:t>10nm未満は周辺回路の貼り合わせから</a:t>
            </a:r>
            <a:endParaRPr lang="en-US" sz="1400" dirty="0"/>
          </a:p>
          <a:p>
            <a:pPr marL="342900" indent="-342900">
              <a:spcAft>
                <a:spcPts val="500"/>
              </a:spcAft>
              <a:buSzPct val="100000"/>
              <a:buChar char="•"/>
            </a:pPr>
            <a:r>
              <a:rPr lang="en-US" sz="1400" dirty="0">
                <a:solidFill>
                  <a:srgbClr val="333D4A"/>
                </a:solidFill>
                <a:latin typeface="Arial" pitchFamily="34" charset="0"/>
                <a:ea typeface="Yu Gothic"/>
                <a:cs typeface="Arial" pitchFamily="34" charset="-120"/>
              </a:rPr>
              <a:t>2028年：High-NA EUV導入</a:t>
            </a:r>
            <a:endParaRPr lang="en-US" sz="1400" dirty="0"/>
          </a:p>
        </p:txBody>
      </p:sp>
      <p:sp>
        <p:nvSpPr>
          <p:cNvPr id="20" name="Shape 15"/>
          <p:cNvSpPr/>
          <p:nvPr/>
        </p:nvSpPr>
        <p:spPr>
          <a:xfrm>
            <a:off x="8119872" y="1737360"/>
            <a:ext cx="3520440" cy="3794760"/>
          </a:xfrm>
          <a:prstGeom prst="roundRect">
            <a:avLst>
              <a:gd name="adj" fmla="val 2597"/>
            </a:avLst>
          </a:prstGeom>
          <a:solidFill>
            <a:srgbClr val="F3F5F8"/>
          </a:solidFill>
          <a:ln/>
        </p:spPr>
      </p:sp>
      <p:sp>
        <p:nvSpPr>
          <p:cNvPr id="21" name="Shape 16"/>
          <p:cNvSpPr/>
          <p:nvPr/>
        </p:nvSpPr>
        <p:spPr>
          <a:xfrm>
            <a:off x="8394192" y="1993392"/>
            <a:ext cx="548640" cy="548640"/>
          </a:xfrm>
          <a:prstGeom prst="ellipse">
            <a:avLst/>
          </a:prstGeom>
          <a:solidFill>
            <a:srgbClr val="7B5EA7"/>
          </a:solidFill>
          <a:ln/>
        </p:spPr>
      </p:sp>
      <p:pic>
        <p:nvPicPr>
          <p:cNvPr id="22" name="Image 3" descr="preencoded.png">    </p:cNvPr>
          <p:cNvPicPr>
            <a:picLocks noChangeAspect="1"/>
          </p:cNvPicPr>
          <p:nvPr/>
        </p:nvPicPr>
        <p:blipFill>
          <a:blip r:embed="rId4"/>
          <a:stretch>
            <a:fillRect/>
          </a:stretch>
        </p:blipFill>
        <p:spPr>
          <a:xfrm>
            <a:off x="8531352" y="2130552"/>
            <a:ext cx="274320" cy="274320"/>
          </a:xfrm>
          <a:prstGeom prst="rect">
            <a:avLst/>
          </a:prstGeom>
        </p:spPr>
      </p:pic>
      <p:sp>
        <p:nvSpPr>
          <p:cNvPr id="23" name="Text 17"/>
          <p:cNvSpPr txBox="1"/>
          <p:nvPr/>
        </p:nvSpPr>
        <p:spPr>
          <a:xfrm>
            <a:off x="9079992" y="1993392"/>
            <a:ext cx="2377440" cy="548640"/>
          </a:xfrm>
          <a:prstGeom prst="rect">
            <a:avLst/>
          </a:prstGeom>
          <a:noFill/>
          <a:ln/>
        </p:spPr>
        <p:txBody>
          <a:bodyPr wrap="square" lIns="0" tIns="0" rIns="0" bIns="0" rtlCol="0" anchor="ctr"/>
          <a:lstStyle/>
          <a:p>
            <a:pPr indent="0" marL="0">
              <a:buNone/>
            </a:pPr>
            <a:r>
              <a:rPr lang="en-US" sz="2000" b="1" dirty="0">
                <a:solidFill>
                  <a:srgbClr val="7B5EA7"/>
                </a:solidFill>
                <a:latin typeface="Arial" pitchFamily="34" charset="0"/>
                <a:ea typeface="Yu Gothic"/>
                <a:cs typeface="Arial" pitchFamily="34" charset="-120"/>
              </a:rPr>
              <a:t>NAND</a:t>
            </a:r>
            <a:endParaRPr lang="en-US" sz="2000" dirty="0"/>
          </a:p>
        </p:txBody>
      </p:sp>
      <p:sp>
        <p:nvSpPr>
          <p:cNvPr id="24" name="Text 18"/>
          <p:cNvSpPr txBox="1"/>
          <p:nvPr/>
        </p:nvSpPr>
        <p:spPr>
          <a:xfrm>
            <a:off x="8394192" y="2651760"/>
            <a:ext cx="2971800" cy="640080"/>
          </a:xfrm>
          <a:prstGeom prst="rect">
            <a:avLst/>
          </a:prstGeom>
          <a:noFill/>
          <a:ln/>
        </p:spPr>
        <p:txBody>
          <a:bodyPr wrap="square" lIns="0" tIns="0" rIns="0" bIns="0" rtlCol="0" anchor="ctr"/>
          <a:lstStyle/>
          <a:p>
            <a:pPr indent="0" marL="0">
              <a:buNone/>
            </a:pPr>
            <a:r>
              <a:rPr lang="en-US" sz="3400" b="1" dirty="0">
                <a:solidFill>
                  <a:srgbClr val="1C2430"/>
                </a:solidFill>
                <a:latin typeface="Arial" pitchFamily="34" charset="0"/>
                <a:ea typeface="Yu Gothic"/>
                <a:cs typeface="Arial" pitchFamily="34" charset="-120"/>
              </a:rPr>
              <a:t>1000層</a:t>
            </a:r>
            <a:endParaRPr lang="en-US" sz="3400" dirty="0"/>
          </a:p>
        </p:txBody>
      </p:sp>
      <p:sp>
        <p:nvSpPr>
          <p:cNvPr id="25" name="Text 19"/>
          <p:cNvSpPr txBox="1"/>
          <p:nvPr/>
        </p:nvSpPr>
        <p:spPr>
          <a:xfrm>
            <a:off x="8394192" y="3310128"/>
            <a:ext cx="2971800" cy="594360"/>
          </a:xfrm>
          <a:prstGeom prst="rect">
            <a:avLst/>
          </a:prstGeom>
          <a:noFill/>
          <a:ln/>
        </p:spPr>
        <p:txBody>
          <a:bodyPr wrap="square" lIns="0" tIns="0" rIns="0" bIns="0" rtlCol="0" anchor="t"/>
          <a:lstStyle/>
          <a:p>
            <a:pPr indent="0" marL="0">
              <a:buNone/>
            </a:pPr>
            <a:r>
              <a:rPr lang="en-US" sz="1500" b="1" dirty="0">
                <a:solidFill>
                  <a:srgbClr val="333D4A"/>
                </a:solidFill>
                <a:latin typeface="Arial" pitchFamily="34" charset="0"/>
                <a:ea typeface="Yu Gothic"/>
                <a:cs typeface="Arial" pitchFamily="34" charset="-120"/>
              </a:rPr>
              <a:t>2030〜31年に1000層級（今は400層超）</a:t>
            </a:r>
            <a:endParaRPr lang="en-US" sz="1500" dirty="0"/>
          </a:p>
        </p:txBody>
      </p:sp>
      <p:sp>
        <p:nvSpPr>
          <p:cNvPr id="26" name="Text 20"/>
          <p:cNvSpPr txBox="1"/>
          <p:nvPr/>
        </p:nvSpPr>
        <p:spPr>
          <a:xfrm>
            <a:off x="8394192" y="4023360"/>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3D4A"/>
                </a:solidFill>
                <a:latin typeface="Arial" pitchFamily="34" charset="0"/>
                <a:ea typeface="Yu Gothic"/>
                <a:cs typeface="Arial" pitchFamily="34" charset="-120"/>
              </a:rPr>
              <a:t>2026年：Samsungが400層超</a:t>
            </a:r>
            <a:endParaRPr lang="en-US" sz="1400" dirty="0"/>
          </a:p>
          <a:p>
            <a:pPr marL="342900" indent="-342900">
              <a:spcAft>
                <a:spcPts val="500"/>
              </a:spcAft>
              <a:buSzPct val="100000"/>
              <a:buChar char="•"/>
            </a:pPr>
            <a:r>
              <a:rPr lang="en-US" sz="1400" dirty="0">
                <a:solidFill>
                  <a:srgbClr val="333D4A"/>
                </a:solidFill>
                <a:latin typeface="Arial" pitchFamily="34" charset="0"/>
                <a:ea typeface="Yu Gothic"/>
                <a:cs typeface="Arial" pitchFamily="34" charset="-120"/>
              </a:rPr>
              <a:t>周辺回路の貼り合わせが主流に</a:t>
            </a:r>
            <a:endParaRPr lang="en-US" sz="1400" dirty="0"/>
          </a:p>
          <a:p>
            <a:pPr marL="342900" indent="-342900">
              <a:spcAft>
                <a:spcPts val="500"/>
              </a:spcAft>
              <a:buSzPct val="100000"/>
              <a:buChar char="•"/>
            </a:pPr>
            <a:r>
              <a:rPr lang="en-US" sz="1400" dirty="0">
                <a:solidFill>
                  <a:srgbClr val="333D4A"/>
                </a:solidFill>
                <a:latin typeface="Arial" pitchFamily="34" charset="0"/>
                <a:ea typeface="Yu Gothic"/>
                <a:cs typeface="Arial" pitchFamily="34" charset="-120"/>
              </a:rPr>
              <a:t>1000層はウェハを重ねて作る</a:t>
            </a:r>
            <a:endParaRPr lang="en-US" sz="1400" dirty="0"/>
          </a:p>
        </p:txBody>
      </p:sp>
      <p:sp>
        <p:nvSpPr>
          <p:cNvPr id="27" name="Shape 21"/>
          <p:cNvSpPr/>
          <p:nvPr/>
        </p:nvSpPr>
        <p:spPr>
          <a:xfrm>
            <a:off x="548640" y="5715000"/>
            <a:ext cx="502920" cy="502920"/>
          </a:xfrm>
          <a:prstGeom prst="ellipse">
            <a:avLst/>
          </a:prstGeom>
          <a:solidFill>
            <a:srgbClr val="5A6472"/>
          </a:solidFill>
          <a:ln/>
        </p:spPr>
      </p:sp>
      <p:pic>
        <p:nvPicPr>
          <p:cNvPr id="28" name="Image 4" descr="preencoded.png">    </p:cNvPr>
          <p:cNvPicPr>
            <a:picLocks noChangeAspect="1"/>
          </p:cNvPicPr>
          <p:nvPr/>
        </p:nvPicPr>
        <p:blipFill>
          <a:blip r:embed="rId5"/>
          <a:stretch>
            <a:fillRect/>
          </a:stretch>
        </p:blipFill>
        <p:spPr>
          <a:xfrm>
            <a:off x="674370" y="5840730"/>
            <a:ext cx="251460" cy="251460"/>
          </a:xfrm>
          <a:prstGeom prst="rect">
            <a:avLst/>
          </a:prstGeom>
        </p:spPr>
      </p:pic>
      <p:sp>
        <p:nvSpPr>
          <p:cNvPr id="29" name="Text 22"/>
          <p:cNvSpPr txBox="1"/>
          <p:nvPr/>
        </p:nvSpPr>
        <p:spPr>
          <a:xfrm>
            <a:off x="1234440" y="5715000"/>
            <a:ext cx="10408615" cy="502920"/>
          </a:xfrm>
          <a:prstGeom prst="rect">
            <a:avLst/>
          </a:prstGeom>
          <a:noFill/>
          <a:ln/>
        </p:spPr>
        <p:txBody>
          <a:bodyPr wrap="square" lIns="0" tIns="0" rIns="0" bIns="0" rtlCol="0" anchor="ctr"/>
          <a:lstStyle/>
          <a:p>
            <a:pPr indent="0" marL="0">
              <a:buNone/>
            </a:pPr>
            <a:r>
              <a:rPr lang="en-US" sz="1600" b="1" dirty="0">
                <a:solidFill>
                  <a:srgbClr val="1C2430"/>
                </a:solidFill>
                <a:latin typeface="Arial" pitchFamily="34" charset="0"/>
                <a:ea typeface="Yu Gothic"/>
                <a:cs typeface="Arial" pitchFamily="34" charset="-120"/>
              </a:rPr>
              <a:t>共通の鍵：</a:t>
            </a:r>
            <a:pPr indent="0" marL="0">
              <a:buNone/>
            </a:pPr>
            <a:r>
              <a:rPr lang="en-US" sz="1600" dirty="0">
                <a:solidFill>
                  <a:srgbClr val="1C2430"/>
                </a:solidFill>
                <a:latin typeface="Arial" pitchFamily="34" charset="0"/>
                <a:ea typeface="Yu Gothic"/>
                <a:cs typeface="Arial" pitchFamily="34" charset="-120"/>
              </a:rPr>
              <a:t>High-NA EUV（2028〜30年）とウェハ貼り合わせ（NAND 2026年〜、DRAM 2028年〜）</a:t>
            </a:r>
            <a:endParaRPr lang="en-US" sz="1600" dirty="0"/>
          </a:p>
        </p:txBody>
      </p:sp>
      <p:sp>
        <p:nvSpPr>
          <p:cNvPr id="30" name="Text 23"/>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5A6472"/>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5A6472"/>
                </a:solidFill>
                <a:latin typeface="Arial" pitchFamily="34" charset="0"/>
                <a:ea typeface="Yu Gothic"/>
                <a:cs typeface="Arial" pitchFamily="34" charset="-120"/>
              </a:rPr>
              <a:t>3分野共通</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1枚で見る：2025〜2036年の主な転換点</a:t>
            </a:r>
            <a:endParaRPr lang="en-US" sz="2400" dirty="0"/>
          </a:p>
        </p:txBody>
      </p:sp>
      <p:sp>
        <p:nvSpPr>
          <p:cNvPr id="6" name="Shape 3"/>
          <p:cNvSpPr/>
          <p:nvPr/>
        </p:nvSpPr>
        <p:spPr>
          <a:xfrm>
            <a:off x="1965960" y="2011680"/>
            <a:ext cx="0" cy="3310128"/>
          </a:xfrm>
          <a:prstGeom prst="line">
            <a:avLst/>
          </a:prstGeom>
          <a:noFill/>
          <a:ln w="9525">
            <a:solidFill>
              <a:srgbClr val="DDE1E6"/>
            </a:solidFill>
            <a:prstDash val="solid"/>
          </a:ln>
        </p:spPr>
      </p:sp>
      <p:sp>
        <p:nvSpPr>
          <p:cNvPr id="7" name="Text 4"/>
          <p:cNvSpPr txBox="1"/>
          <p:nvPr/>
        </p:nvSpPr>
        <p:spPr>
          <a:xfrm>
            <a:off x="200253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2025</a:t>
            </a:r>
            <a:endParaRPr lang="en-US" sz="1100" dirty="0"/>
          </a:p>
        </p:txBody>
      </p:sp>
      <p:sp>
        <p:nvSpPr>
          <p:cNvPr id="8" name="Shape 5"/>
          <p:cNvSpPr/>
          <p:nvPr/>
        </p:nvSpPr>
        <p:spPr>
          <a:xfrm>
            <a:off x="2772385" y="2011680"/>
            <a:ext cx="0" cy="3310128"/>
          </a:xfrm>
          <a:prstGeom prst="line">
            <a:avLst/>
          </a:prstGeom>
          <a:noFill/>
          <a:ln w="9525">
            <a:solidFill>
              <a:srgbClr val="DDE1E6"/>
            </a:solidFill>
            <a:prstDash val="solid"/>
          </a:ln>
        </p:spPr>
      </p:sp>
      <p:sp>
        <p:nvSpPr>
          <p:cNvPr id="9" name="Text 6"/>
          <p:cNvSpPr txBox="1"/>
          <p:nvPr/>
        </p:nvSpPr>
        <p:spPr>
          <a:xfrm>
            <a:off x="2808961"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2026</a:t>
            </a:r>
            <a:endParaRPr lang="en-US" sz="1100" dirty="0"/>
          </a:p>
        </p:txBody>
      </p:sp>
      <p:sp>
        <p:nvSpPr>
          <p:cNvPr id="10" name="Shape 7"/>
          <p:cNvSpPr/>
          <p:nvPr/>
        </p:nvSpPr>
        <p:spPr>
          <a:xfrm>
            <a:off x="3578809" y="2011680"/>
            <a:ext cx="0" cy="3310128"/>
          </a:xfrm>
          <a:prstGeom prst="line">
            <a:avLst/>
          </a:prstGeom>
          <a:noFill/>
          <a:ln w="9525">
            <a:solidFill>
              <a:srgbClr val="DDE1E6"/>
            </a:solidFill>
            <a:prstDash val="solid"/>
          </a:ln>
        </p:spPr>
      </p:sp>
      <p:sp>
        <p:nvSpPr>
          <p:cNvPr id="11" name="Text 8"/>
          <p:cNvSpPr txBox="1"/>
          <p:nvPr/>
        </p:nvSpPr>
        <p:spPr>
          <a:xfrm>
            <a:off x="3615385"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2027</a:t>
            </a:r>
            <a:endParaRPr lang="en-US" sz="1100" dirty="0"/>
          </a:p>
        </p:txBody>
      </p:sp>
      <p:sp>
        <p:nvSpPr>
          <p:cNvPr id="12" name="Shape 9"/>
          <p:cNvSpPr/>
          <p:nvPr/>
        </p:nvSpPr>
        <p:spPr>
          <a:xfrm>
            <a:off x="4385234" y="2011680"/>
            <a:ext cx="0" cy="3310128"/>
          </a:xfrm>
          <a:prstGeom prst="line">
            <a:avLst/>
          </a:prstGeom>
          <a:noFill/>
          <a:ln w="9525">
            <a:solidFill>
              <a:srgbClr val="DDE1E6"/>
            </a:solidFill>
            <a:prstDash val="solid"/>
          </a:ln>
        </p:spPr>
      </p:sp>
      <p:sp>
        <p:nvSpPr>
          <p:cNvPr id="13" name="Text 10"/>
          <p:cNvSpPr txBox="1"/>
          <p:nvPr/>
        </p:nvSpPr>
        <p:spPr>
          <a:xfrm>
            <a:off x="4421810"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2028</a:t>
            </a:r>
            <a:endParaRPr lang="en-US" sz="1100" dirty="0"/>
          </a:p>
        </p:txBody>
      </p:sp>
      <p:sp>
        <p:nvSpPr>
          <p:cNvPr id="14" name="Shape 11"/>
          <p:cNvSpPr/>
          <p:nvPr/>
        </p:nvSpPr>
        <p:spPr>
          <a:xfrm>
            <a:off x="5191658" y="2011680"/>
            <a:ext cx="0" cy="3310128"/>
          </a:xfrm>
          <a:prstGeom prst="line">
            <a:avLst/>
          </a:prstGeom>
          <a:noFill/>
          <a:ln w="9525">
            <a:solidFill>
              <a:srgbClr val="DDE1E6"/>
            </a:solidFill>
            <a:prstDash val="solid"/>
          </a:ln>
        </p:spPr>
      </p:sp>
      <p:sp>
        <p:nvSpPr>
          <p:cNvPr id="15" name="Text 12"/>
          <p:cNvSpPr txBox="1"/>
          <p:nvPr/>
        </p:nvSpPr>
        <p:spPr>
          <a:xfrm>
            <a:off x="5228234"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2029</a:t>
            </a:r>
            <a:endParaRPr lang="en-US" sz="1100" dirty="0"/>
          </a:p>
        </p:txBody>
      </p:sp>
      <p:sp>
        <p:nvSpPr>
          <p:cNvPr id="16" name="Shape 13"/>
          <p:cNvSpPr/>
          <p:nvPr/>
        </p:nvSpPr>
        <p:spPr>
          <a:xfrm>
            <a:off x="5998083" y="2011680"/>
            <a:ext cx="0" cy="3310128"/>
          </a:xfrm>
          <a:prstGeom prst="line">
            <a:avLst/>
          </a:prstGeom>
          <a:noFill/>
          <a:ln w="9525">
            <a:solidFill>
              <a:srgbClr val="DDE1E6"/>
            </a:solidFill>
            <a:prstDash val="solid"/>
          </a:ln>
        </p:spPr>
      </p:sp>
      <p:sp>
        <p:nvSpPr>
          <p:cNvPr id="17" name="Text 14"/>
          <p:cNvSpPr txBox="1"/>
          <p:nvPr/>
        </p:nvSpPr>
        <p:spPr>
          <a:xfrm>
            <a:off x="6034659"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2030</a:t>
            </a:r>
            <a:endParaRPr lang="en-US" sz="1100" dirty="0"/>
          </a:p>
        </p:txBody>
      </p:sp>
      <p:sp>
        <p:nvSpPr>
          <p:cNvPr id="18" name="Shape 15"/>
          <p:cNvSpPr/>
          <p:nvPr/>
        </p:nvSpPr>
        <p:spPr>
          <a:xfrm>
            <a:off x="6804508" y="2011680"/>
            <a:ext cx="0" cy="3310128"/>
          </a:xfrm>
          <a:prstGeom prst="line">
            <a:avLst/>
          </a:prstGeom>
          <a:noFill/>
          <a:ln w="9525">
            <a:solidFill>
              <a:srgbClr val="DDE1E6"/>
            </a:solidFill>
            <a:prstDash val="solid"/>
          </a:ln>
        </p:spPr>
      </p:sp>
      <p:sp>
        <p:nvSpPr>
          <p:cNvPr id="19" name="Text 16"/>
          <p:cNvSpPr txBox="1"/>
          <p:nvPr/>
        </p:nvSpPr>
        <p:spPr>
          <a:xfrm>
            <a:off x="6841084"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2031</a:t>
            </a:r>
            <a:endParaRPr lang="en-US" sz="1100" dirty="0"/>
          </a:p>
        </p:txBody>
      </p:sp>
      <p:sp>
        <p:nvSpPr>
          <p:cNvPr id="20" name="Shape 17"/>
          <p:cNvSpPr/>
          <p:nvPr/>
        </p:nvSpPr>
        <p:spPr>
          <a:xfrm>
            <a:off x="7610932" y="2011680"/>
            <a:ext cx="0" cy="3310128"/>
          </a:xfrm>
          <a:prstGeom prst="line">
            <a:avLst/>
          </a:prstGeom>
          <a:noFill/>
          <a:ln w="9525">
            <a:solidFill>
              <a:srgbClr val="DDE1E6"/>
            </a:solidFill>
            <a:prstDash val="solid"/>
          </a:ln>
        </p:spPr>
      </p:sp>
      <p:sp>
        <p:nvSpPr>
          <p:cNvPr id="21" name="Text 18"/>
          <p:cNvSpPr txBox="1"/>
          <p:nvPr/>
        </p:nvSpPr>
        <p:spPr>
          <a:xfrm>
            <a:off x="7647508"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2032</a:t>
            </a:r>
            <a:endParaRPr lang="en-US" sz="1100" dirty="0"/>
          </a:p>
        </p:txBody>
      </p:sp>
      <p:sp>
        <p:nvSpPr>
          <p:cNvPr id="22" name="Shape 19"/>
          <p:cNvSpPr/>
          <p:nvPr/>
        </p:nvSpPr>
        <p:spPr>
          <a:xfrm>
            <a:off x="8417357" y="2011680"/>
            <a:ext cx="0" cy="3310128"/>
          </a:xfrm>
          <a:prstGeom prst="line">
            <a:avLst/>
          </a:prstGeom>
          <a:noFill/>
          <a:ln w="9525">
            <a:solidFill>
              <a:srgbClr val="DDE1E6"/>
            </a:solidFill>
            <a:prstDash val="solid"/>
          </a:ln>
        </p:spPr>
      </p:sp>
      <p:sp>
        <p:nvSpPr>
          <p:cNvPr id="23" name="Text 20"/>
          <p:cNvSpPr txBox="1"/>
          <p:nvPr/>
        </p:nvSpPr>
        <p:spPr>
          <a:xfrm>
            <a:off x="8453933"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2033</a:t>
            </a:r>
            <a:endParaRPr lang="en-US" sz="1100" dirty="0"/>
          </a:p>
        </p:txBody>
      </p:sp>
      <p:sp>
        <p:nvSpPr>
          <p:cNvPr id="24" name="Shape 21"/>
          <p:cNvSpPr/>
          <p:nvPr/>
        </p:nvSpPr>
        <p:spPr>
          <a:xfrm>
            <a:off x="9223781" y="2011680"/>
            <a:ext cx="0" cy="3310128"/>
          </a:xfrm>
          <a:prstGeom prst="line">
            <a:avLst/>
          </a:prstGeom>
          <a:noFill/>
          <a:ln w="9525">
            <a:solidFill>
              <a:srgbClr val="DDE1E6"/>
            </a:solidFill>
            <a:prstDash val="solid"/>
          </a:ln>
        </p:spPr>
      </p:sp>
      <p:sp>
        <p:nvSpPr>
          <p:cNvPr id="25" name="Text 22"/>
          <p:cNvSpPr txBox="1"/>
          <p:nvPr/>
        </p:nvSpPr>
        <p:spPr>
          <a:xfrm>
            <a:off x="9260357"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2034</a:t>
            </a:r>
            <a:endParaRPr lang="en-US" sz="1100" dirty="0"/>
          </a:p>
        </p:txBody>
      </p:sp>
      <p:sp>
        <p:nvSpPr>
          <p:cNvPr id="26" name="Shape 23"/>
          <p:cNvSpPr/>
          <p:nvPr/>
        </p:nvSpPr>
        <p:spPr>
          <a:xfrm>
            <a:off x="10030206" y="2011680"/>
            <a:ext cx="0" cy="3310128"/>
          </a:xfrm>
          <a:prstGeom prst="line">
            <a:avLst/>
          </a:prstGeom>
          <a:noFill/>
          <a:ln w="9525">
            <a:solidFill>
              <a:srgbClr val="DDE1E6"/>
            </a:solidFill>
            <a:prstDash val="solid"/>
          </a:ln>
        </p:spPr>
      </p:sp>
      <p:sp>
        <p:nvSpPr>
          <p:cNvPr id="27" name="Text 24"/>
          <p:cNvSpPr txBox="1"/>
          <p:nvPr/>
        </p:nvSpPr>
        <p:spPr>
          <a:xfrm>
            <a:off x="10066782"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2035</a:t>
            </a:r>
            <a:endParaRPr lang="en-US" sz="1100" dirty="0"/>
          </a:p>
        </p:txBody>
      </p:sp>
      <p:sp>
        <p:nvSpPr>
          <p:cNvPr id="28" name="Shape 25"/>
          <p:cNvSpPr/>
          <p:nvPr/>
        </p:nvSpPr>
        <p:spPr>
          <a:xfrm>
            <a:off x="10836631" y="2011680"/>
            <a:ext cx="0" cy="3310128"/>
          </a:xfrm>
          <a:prstGeom prst="line">
            <a:avLst/>
          </a:prstGeom>
          <a:noFill/>
          <a:ln w="9525">
            <a:solidFill>
              <a:srgbClr val="DDE1E6"/>
            </a:solidFill>
            <a:prstDash val="solid"/>
          </a:ln>
        </p:spPr>
      </p:sp>
      <p:sp>
        <p:nvSpPr>
          <p:cNvPr id="29" name="Text 26"/>
          <p:cNvSpPr txBox="1"/>
          <p:nvPr/>
        </p:nvSpPr>
        <p:spPr>
          <a:xfrm>
            <a:off x="10873207"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2036</a:t>
            </a:r>
            <a:endParaRPr lang="en-US" sz="1100" dirty="0"/>
          </a:p>
        </p:txBody>
      </p:sp>
      <p:sp>
        <p:nvSpPr>
          <p:cNvPr id="30" name="Shape 27"/>
          <p:cNvSpPr/>
          <p:nvPr/>
        </p:nvSpPr>
        <p:spPr>
          <a:xfrm>
            <a:off x="11643055" y="2011680"/>
            <a:ext cx="0" cy="3310128"/>
          </a:xfrm>
          <a:prstGeom prst="line">
            <a:avLst/>
          </a:prstGeom>
          <a:noFill/>
          <a:ln w="9525">
            <a:solidFill>
              <a:srgbClr val="DDE1E6"/>
            </a:solidFill>
            <a:prstDash val="solid"/>
          </a:ln>
        </p:spPr>
      </p:sp>
      <p:sp>
        <p:nvSpPr>
          <p:cNvPr id="31" name="Shape 28"/>
          <p:cNvSpPr/>
          <p:nvPr/>
        </p:nvSpPr>
        <p:spPr>
          <a:xfrm>
            <a:off x="548640" y="2029968"/>
            <a:ext cx="11094415" cy="1097280"/>
          </a:xfrm>
          <a:prstGeom prst="rect">
            <a:avLst/>
          </a:prstGeom>
          <a:solidFill>
            <a:srgbClr val="F6F7F9"/>
          </a:solidFill>
          <a:ln/>
        </p:spPr>
      </p:sp>
      <p:sp>
        <p:nvSpPr>
          <p:cNvPr id="32" name="Text 29"/>
          <p:cNvSpPr txBox="1"/>
          <p:nvPr/>
        </p:nvSpPr>
        <p:spPr>
          <a:xfrm>
            <a:off x="621792" y="2029968"/>
            <a:ext cx="1307592" cy="109728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ロジック</a:t>
            </a:r>
            <a:endParaRPr lang="en-US" sz="1300" dirty="0"/>
          </a:p>
          <a:p>
            <a:pPr indent="0" marL="0">
              <a:buNone/>
            </a:pPr>
            <a:r>
              <a:rPr lang="en-US" sz="1000" dirty="0">
                <a:solidFill>
                  <a:srgbClr val="6A7380"/>
                </a:solidFill>
                <a:latin typeface="Arial" pitchFamily="34" charset="0"/>
                <a:ea typeface="Yu Gothic"/>
                <a:cs typeface="Arial" pitchFamily="34" charset="-120"/>
              </a:rPr>
              <a:t>トランジスタ／電源・露光</a:t>
            </a:r>
            <a:endParaRPr lang="en-US" sz="1300" dirty="0"/>
          </a:p>
        </p:txBody>
      </p:sp>
      <p:sp>
        <p:nvSpPr>
          <p:cNvPr id="33" name="Text 30"/>
          <p:cNvSpPr txBox="1"/>
          <p:nvPr/>
        </p:nvSpPr>
        <p:spPr>
          <a:xfrm>
            <a:off x="621792" y="3127248"/>
            <a:ext cx="1307592" cy="109728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DRAM</a:t>
            </a:r>
            <a:endParaRPr lang="en-US" sz="1300" dirty="0"/>
          </a:p>
          <a:p>
            <a:pPr indent="0" marL="0">
              <a:buNone/>
            </a:pPr>
            <a:r>
              <a:rPr lang="en-US" sz="1000" dirty="0">
                <a:solidFill>
                  <a:srgbClr val="6A7380"/>
                </a:solidFill>
                <a:latin typeface="Arial" pitchFamily="34" charset="0"/>
                <a:ea typeface="Yu Gothic"/>
                <a:cs typeface="Arial" pitchFamily="34" charset="-120"/>
              </a:rPr>
              <a:t>セル構造／露光・周辺</a:t>
            </a:r>
            <a:endParaRPr lang="en-US" sz="1300" dirty="0"/>
          </a:p>
        </p:txBody>
      </p:sp>
      <p:sp>
        <p:nvSpPr>
          <p:cNvPr id="34" name="Shape 31"/>
          <p:cNvSpPr/>
          <p:nvPr/>
        </p:nvSpPr>
        <p:spPr>
          <a:xfrm>
            <a:off x="548640" y="4224528"/>
            <a:ext cx="11094415" cy="1097280"/>
          </a:xfrm>
          <a:prstGeom prst="rect">
            <a:avLst/>
          </a:prstGeom>
          <a:solidFill>
            <a:srgbClr val="F6F7F9"/>
          </a:solidFill>
          <a:ln/>
        </p:spPr>
      </p:sp>
      <p:sp>
        <p:nvSpPr>
          <p:cNvPr id="35" name="Text 32"/>
          <p:cNvSpPr txBox="1"/>
          <p:nvPr/>
        </p:nvSpPr>
        <p:spPr>
          <a:xfrm>
            <a:off x="621792" y="4224528"/>
            <a:ext cx="1307592" cy="109728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NAND</a:t>
            </a:r>
            <a:endParaRPr lang="en-US" sz="1300" dirty="0"/>
          </a:p>
          <a:p>
            <a:pPr indent="0" marL="0">
              <a:buNone/>
            </a:pPr>
            <a:r>
              <a:rPr lang="en-US" sz="1000" dirty="0">
                <a:solidFill>
                  <a:srgbClr val="6A7380"/>
                </a:solidFill>
                <a:latin typeface="Arial" pitchFamily="34" charset="0"/>
                <a:ea typeface="Yu Gothic"/>
                <a:cs typeface="Arial" pitchFamily="34" charset="-120"/>
              </a:rPr>
              <a:t>層数／周辺回路の配置</a:t>
            </a:r>
            <a:endParaRPr lang="en-US" sz="1300" dirty="0"/>
          </a:p>
        </p:txBody>
      </p:sp>
      <p:sp>
        <p:nvSpPr>
          <p:cNvPr id="36" name="Shape 33"/>
          <p:cNvSpPr/>
          <p:nvPr/>
        </p:nvSpPr>
        <p:spPr>
          <a:xfrm>
            <a:off x="3377203" y="2011680"/>
            <a:ext cx="0" cy="3310128"/>
          </a:xfrm>
          <a:prstGeom prst="line">
            <a:avLst/>
          </a:prstGeom>
          <a:noFill/>
          <a:ln w="19050">
            <a:solidFill>
              <a:srgbClr val="C00000"/>
            </a:solidFill>
            <a:prstDash val="dash"/>
          </a:ln>
        </p:spPr>
      </p:sp>
      <p:sp>
        <p:nvSpPr>
          <p:cNvPr id="37" name="Text 34"/>
          <p:cNvSpPr txBox="1"/>
          <p:nvPr/>
        </p:nvSpPr>
        <p:spPr>
          <a:xfrm>
            <a:off x="3057163" y="1737360"/>
            <a:ext cx="640080" cy="237744"/>
          </a:xfrm>
          <a:prstGeom prst="rect">
            <a:avLst/>
          </a:prstGeom>
          <a:noFill/>
          <a:ln/>
        </p:spPr>
        <p:txBody>
          <a:bodyPr wrap="square" lIns="0" tIns="0" rIns="0" bIns="0" rtlCol="0" anchor="ctr"/>
          <a:lstStyle/>
          <a:p>
            <a:pPr algn="ctr" indent="0" marL="0">
              <a:buNone/>
            </a:pPr>
            <a:r>
              <a:rPr lang="en-US" sz="1050" b="1" dirty="0">
                <a:solidFill>
                  <a:srgbClr val="C00000"/>
                </a:solidFill>
                <a:latin typeface="Arial" pitchFamily="34" charset="0"/>
                <a:ea typeface="Yu Gothic"/>
                <a:cs typeface="Arial" pitchFamily="34" charset="-120"/>
              </a:rPr>
              <a:t>現在</a:t>
            </a:r>
            <a:endParaRPr lang="en-US" sz="1050" dirty="0"/>
          </a:p>
        </p:txBody>
      </p:sp>
      <p:sp>
        <p:nvSpPr>
          <p:cNvPr id="38" name="Shape 35"/>
          <p:cNvSpPr/>
          <p:nvPr/>
        </p:nvSpPr>
        <p:spPr>
          <a:xfrm>
            <a:off x="2570778" y="2157984"/>
            <a:ext cx="806425" cy="384048"/>
          </a:xfrm>
          <a:prstGeom prst="rect">
            <a:avLst/>
          </a:prstGeom>
          <a:solidFill>
            <a:srgbClr val="2F5597"/>
          </a:solidFill>
          <a:ln/>
        </p:spPr>
      </p:sp>
      <p:sp>
        <p:nvSpPr>
          <p:cNvPr id="39" name="Shape 36"/>
          <p:cNvSpPr/>
          <p:nvPr/>
        </p:nvSpPr>
        <p:spPr>
          <a:xfrm>
            <a:off x="3377203" y="2157984"/>
            <a:ext cx="980599" cy="384048"/>
          </a:xfrm>
          <a:prstGeom prst="homePlate">
            <a:avLst/>
          </a:prstGeom>
          <a:solidFill>
            <a:srgbClr val="ED7D31"/>
          </a:solidFill>
          <a:ln/>
        </p:spPr>
      </p:sp>
      <p:sp>
        <p:nvSpPr>
          <p:cNvPr id="40" name="Text 37"/>
          <p:cNvSpPr txBox="1"/>
          <p:nvPr/>
        </p:nvSpPr>
        <p:spPr>
          <a:xfrm>
            <a:off x="2625642" y="2157984"/>
            <a:ext cx="1597743" cy="38404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GAA（2nm）</a:t>
            </a:r>
            <a:endParaRPr lang="en-US" sz="1100" dirty="0"/>
          </a:p>
          <a:p>
            <a:pPr algn="l" indent="0" marL="0">
              <a:buNone/>
            </a:pPr>
            <a:r>
              <a:rPr lang="en-US" sz="950" dirty="0">
                <a:solidFill>
                  <a:srgbClr val="FFFFFF"/>
                </a:solidFill>
                <a:latin typeface="Arial" pitchFamily="34" charset="0"/>
                <a:ea typeface="Yu Gothic"/>
                <a:cs typeface="Arial" pitchFamily="34" charset="-120"/>
              </a:rPr>
              <a:t>N2・SF2・18A</a:t>
            </a:r>
            <a:endParaRPr lang="en-US" sz="1100" dirty="0"/>
          </a:p>
        </p:txBody>
      </p:sp>
      <p:sp>
        <p:nvSpPr>
          <p:cNvPr id="41" name="Shape 38"/>
          <p:cNvSpPr/>
          <p:nvPr/>
        </p:nvSpPr>
        <p:spPr>
          <a:xfrm>
            <a:off x="4385234" y="2157984"/>
            <a:ext cx="1988630" cy="384048"/>
          </a:xfrm>
          <a:prstGeom prst="homePlate">
            <a:avLst/>
          </a:prstGeom>
          <a:solidFill>
            <a:srgbClr val="ED7D31"/>
          </a:solidFill>
          <a:ln/>
        </p:spPr>
      </p:sp>
      <p:sp>
        <p:nvSpPr>
          <p:cNvPr id="42" name="Text 39"/>
          <p:cNvSpPr txBox="1"/>
          <p:nvPr/>
        </p:nvSpPr>
        <p:spPr>
          <a:xfrm>
            <a:off x="4440098" y="2157984"/>
            <a:ext cx="1799349" cy="38404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GAA第2世代</a:t>
            </a:r>
            <a:endParaRPr lang="en-US" sz="1100" dirty="0"/>
          </a:p>
          <a:p>
            <a:pPr algn="l" indent="0" marL="0">
              <a:buNone/>
            </a:pPr>
            <a:r>
              <a:rPr lang="en-US" sz="950" dirty="0">
                <a:solidFill>
                  <a:srgbClr val="FFFFFF"/>
                </a:solidFill>
                <a:latin typeface="Arial" pitchFamily="34" charset="0"/>
                <a:ea typeface="Yu Gothic"/>
                <a:cs typeface="Arial" pitchFamily="34" charset="-120"/>
              </a:rPr>
              <a:t>A14・14A</a:t>
            </a:r>
            <a:endParaRPr lang="en-US" sz="1100" dirty="0"/>
          </a:p>
        </p:txBody>
      </p:sp>
      <p:sp>
        <p:nvSpPr>
          <p:cNvPr id="43" name="Shape 40"/>
          <p:cNvSpPr/>
          <p:nvPr/>
        </p:nvSpPr>
        <p:spPr>
          <a:xfrm>
            <a:off x="6401295" y="2157984"/>
            <a:ext cx="1988630" cy="384048"/>
          </a:xfrm>
          <a:prstGeom prst="homePlate">
            <a:avLst/>
          </a:prstGeom>
          <a:solidFill>
            <a:srgbClr val="FFF2E6"/>
          </a:solidFill>
          <a:ln w="15875">
            <a:solidFill>
              <a:srgbClr val="C55A11"/>
            </a:solidFill>
            <a:prstDash val="dash"/>
          </a:ln>
        </p:spPr>
      </p:sp>
      <p:sp>
        <p:nvSpPr>
          <p:cNvPr id="44" name="Text 41"/>
          <p:cNvSpPr txBox="1"/>
          <p:nvPr/>
        </p:nvSpPr>
        <p:spPr>
          <a:xfrm>
            <a:off x="6456159" y="2157984"/>
            <a:ext cx="1799349" cy="38404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A10級</a:t>
            </a:r>
            <a:endParaRPr lang="en-US" sz="1100" dirty="0"/>
          </a:p>
          <a:p>
            <a:pPr algn="l" indent="0" marL="0">
              <a:buNone/>
            </a:pPr>
            <a:r>
              <a:rPr lang="en-US" sz="950" dirty="0">
                <a:solidFill>
                  <a:srgbClr val="843C0C"/>
                </a:solidFill>
                <a:latin typeface="Arial" pitchFamily="34" charset="0"/>
                <a:ea typeface="Yu Gothic"/>
                <a:cs typeface="Arial" pitchFamily="34" charset="-120"/>
              </a:rPr>
              <a:t>ナノシート継続か新構造</a:t>
            </a:r>
            <a:endParaRPr lang="en-US" sz="1100" dirty="0"/>
          </a:p>
        </p:txBody>
      </p:sp>
      <p:sp>
        <p:nvSpPr>
          <p:cNvPr id="45" name="Shape 42"/>
          <p:cNvSpPr/>
          <p:nvPr/>
        </p:nvSpPr>
        <p:spPr>
          <a:xfrm>
            <a:off x="8417357" y="2157984"/>
            <a:ext cx="1988630" cy="384048"/>
          </a:xfrm>
          <a:prstGeom prst="homePlate">
            <a:avLst/>
          </a:prstGeom>
          <a:solidFill>
            <a:srgbClr val="ED7D31"/>
          </a:solidFill>
          <a:ln/>
        </p:spPr>
      </p:sp>
      <p:sp>
        <p:nvSpPr>
          <p:cNvPr id="46" name="Text 43"/>
          <p:cNvSpPr txBox="1"/>
          <p:nvPr/>
        </p:nvSpPr>
        <p:spPr>
          <a:xfrm>
            <a:off x="8472221" y="2157984"/>
            <a:ext cx="1799349" cy="38404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CFET</a:t>
            </a:r>
            <a:endParaRPr lang="en-US" sz="1100" dirty="0"/>
          </a:p>
          <a:p>
            <a:pPr algn="l" indent="0" marL="0">
              <a:buNone/>
            </a:pPr>
            <a:r>
              <a:rPr lang="en-US" sz="950" dirty="0">
                <a:solidFill>
                  <a:srgbClr val="FFFFFF"/>
                </a:solidFill>
                <a:latin typeface="Arial" pitchFamily="34" charset="0"/>
                <a:ea typeface="Yu Gothic"/>
                <a:cs typeface="Arial" pitchFamily="34" charset="-120"/>
              </a:rPr>
              <a:t>nとpを縦に2段</a:t>
            </a:r>
            <a:endParaRPr lang="en-US" sz="1100" dirty="0"/>
          </a:p>
        </p:txBody>
      </p:sp>
      <p:sp>
        <p:nvSpPr>
          <p:cNvPr id="47" name="Shape 44"/>
          <p:cNvSpPr/>
          <p:nvPr/>
        </p:nvSpPr>
        <p:spPr>
          <a:xfrm>
            <a:off x="10433418" y="2157984"/>
            <a:ext cx="1182205" cy="384048"/>
          </a:xfrm>
          <a:prstGeom prst="homePlate">
            <a:avLst/>
          </a:prstGeom>
          <a:solidFill>
            <a:srgbClr val="FFF2E6"/>
          </a:solidFill>
          <a:ln w="15875">
            <a:solidFill>
              <a:srgbClr val="C55A11"/>
            </a:solidFill>
            <a:prstDash val="dash"/>
          </a:ln>
        </p:spPr>
      </p:sp>
      <p:sp>
        <p:nvSpPr>
          <p:cNvPr id="48" name="Text 45"/>
          <p:cNvSpPr txBox="1"/>
          <p:nvPr/>
        </p:nvSpPr>
        <p:spPr>
          <a:xfrm>
            <a:off x="10488282" y="2157984"/>
            <a:ext cx="992924" cy="38404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3D CFET</a:t>
            </a:r>
            <a:endParaRPr lang="en-US" sz="1100" dirty="0"/>
          </a:p>
        </p:txBody>
      </p:sp>
      <p:sp>
        <p:nvSpPr>
          <p:cNvPr id="49" name="Shape 46"/>
          <p:cNvSpPr/>
          <p:nvPr/>
        </p:nvSpPr>
        <p:spPr>
          <a:xfrm>
            <a:off x="2570778" y="2615184"/>
            <a:ext cx="806425" cy="384048"/>
          </a:xfrm>
          <a:prstGeom prst="rect">
            <a:avLst/>
          </a:prstGeom>
          <a:solidFill>
            <a:srgbClr val="9DC3E6"/>
          </a:solidFill>
          <a:ln/>
        </p:spPr>
      </p:sp>
      <p:sp>
        <p:nvSpPr>
          <p:cNvPr id="50" name="Shape 47"/>
          <p:cNvSpPr/>
          <p:nvPr/>
        </p:nvSpPr>
        <p:spPr>
          <a:xfrm>
            <a:off x="3377203" y="2615184"/>
            <a:ext cx="980599" cy="384048"/>
          </a:xfrm>
          <a:prstGeom prst="homePlate">
            <a:avLst/>
          </a:prstGeom>
          <a:solidFill>
            <a:srgbClr val="F4B183"/>
          </a:solidFill>
          <a:ln/>
        </p:spPr>
      </p:sp>
      <p:sp>
        <p:nvSpPr>
          <p:cNvPr id="51" name="Text 48"/>
          <p:cNvSpPr txBox="1"/>
          <p:nvPr/>
        </p:nvSpPr>
        <p:spPr>
          <a:xfrm>
            <a:off x="2625642" y="2615184"/>
            <a:ext cx="1597743" cy="384048"/>
          </a:xfrm>
          <a:prstGeom prst="rect">
            <a:avLst/>
          </a:prstGeom>
          <a:noFill/>
          <a:ln/>
        </p:spPr>
        <p:txBody>
          <a:bodyPr wrap="square" lIns="0" tIns="0" rIns="0" bIns="0" rtlCol="0" anchor="ctr">
            <a:normAutofit/>
          </a:bodyPr>
          <a:lstStyle/>
          <a:p>
            <a:pPr algn="l" indent="0" marL="0">
              <a:buNone/>
            </a:pPr>
            <a:r>
              <a:rPr lang="en-US" sz="1100" b="1" dirty="0">
                <a:solidFill>
                  <a:srgbClr val="1F2A3A"/>
                </a:solidFill>
                <a:latin typeface="Arial" pitchFamily="34" charset="0"/>
                <a:ea typeface="Yu Gothic"/>
                <a:cs typeface="Arial" pitchFamily="34" charset="-120"/>
              </a:rPr>
              <a:t>裏面電源</a:t>
            </a:r>
            <a:endParaRPr lang="en-US" sz="1100" dirty="0"/>
          </a:p>
          <a:p>
            <a:pPr algn="l" indent="0" marL="0">
              <a:buNone/>
            </a:pPr>
            <a:r>
              <a:rPr lang="en-US" sz="950" dirty="0">
                <a:solidFill>
                  <a:srgbClr val="1F2A3A"/>
                </a:solidFill>
                <a:latin typeface="Arial" pitchFamily="34" charset="0"/>
                <a:ea typeface="Yu Gothic"/>
                <a:cs typeface="Arial" pitchFamily="34" charset="-120"/>
              </a:rPr>
              <a:t>Intel 18A→TSMC A16</a:t>
            </a:r>
            <a:endParaRPr lang="en-US" sz="1100" dirty="0"/>
          </a:p>
        </p:txBody>
      </p:sp>
      <p:sp>
        <p:nvSpPr>
          <p:cNvPr id="52" name="Shape 49"/>
          <p:cNvSpPr/>
          <p:nvPr/>
        </p:nvSpPr>
        <p:spPr>
          <a:xfrm>
            <a:off x="4385234" y="2615184"/>
            <a:ext cx="7230389" cy="384048"/>
          </a:xfrm>
          <a:prstGeom prst="homePlate">
            <a:avLst/>
          </a:prstGeom>
          <a:solidFill>
            <a:srgbClr val="F4B183"/>
          </a:solidFill>
          <a:ln/>
        </p:spPr>
      </p:sp>
      <p:sp>
        <p:nvSpPr>
          <p:cNvPr id="53" name="Text 50"/>
          <p:cNvSpPr txBox="1"/>
          <p:nvPr/>
        </p:nvSpPr>
        <p:spPr>
          <a:xfrm>
            <a:off x="4440098" y="2615184"/>
            <a:ext cx="7041109" cy="384048"/>
          </a:xfrm>
          <a:prstGeom prst="rect">
            <a:avLst/>
          </a:prstGeom>
          <a:noFill/>
          <a:ln/>
        </p:spPr>
        <p:txBody>
          <a:bodyPr wrap="square" lIns="0" tIns="0" rIns="0" bIns="0" rtlCol="0" anchor="ctr">
            <a:normAutofit/>
          </a:bodyPr>
          <a:lstStyle/>
          <a:p>
            <a:pPr algn="l" indent="0" marL="0">
              <a:buNone/>
            </a:pPr>
            <a:r>
              <a:rPr lang="en-US" sz="1100" b="1" dirty="0">
                <a:solidFill>
                  <a:srgbClr val="1F2A3A"/>
                </a:solidFill>
                <a:latin typeface="Arial" pitchFamily="34" charset="0"/>
                <a:ea typeface="Yu Gothic"/>
                <a:cs typeface="Arial" pitchFamily="34" charset="-120"/>
              </a:rPr>
              <a:t>High-NA EUV</a:t>
            </a:r>
            <a:endParaRPr lang="en-US" sz="1100" dirty="0"/>
          </a:p>
          <a:p>
            <a:pPr algn="l" indent="0" marL="0">
              <a:buNone/>
            </a:pPr>
            <a:r>
              <a:rPr lang="en-US" sz="950" dirty="0">
                <a:solidFill>
                  <a:srgbClr val="1F2A3A"/>
                </a:solidFill>
                <a:latin typeface="Arial" pitchFamily="34" charset="0"/>
                <a:ea typeface="Yu Gothic"/>
                <a:cs typeface="Arial" pitchFamily="34" charset="-120"/>
              </a:rPr>
              <a:t>Intel 2028年 → TSMC・Samsung 2030年</a:t>
            </a:r>
            <a:endParaRPr lang="en-US" sz="1100" dirty="0"/>
          </a:p>
        </p:txBody>
      </p:sp>
      <p:sp>
        <p:nvSpPr>
          <p:cNvPr id="54" name="Shape 51"/>
          <p:cNvSpPr/>
          <p:nvPr/>
        </p:nvSpPr>
        <p:spPr>
          <a:xfrm>
            <a:off x="1965960" y="3255264"/>
            <a:ext cx="1411243" cy="384048"/>
          </a:xfrm>
          <a:prstGeom prst="rect">
            <a:avLst/>
          </a:prstGeom>
          <a:solidFill>
            <a:srgbClr val="2F5597"/>
          </a:solidFill>
          <a:ln/>
        </p:spPr>
      </p:sp>
      <p:sp>
        <p:nvSpPr>
          <p:cNvPr id="55" name="Shape 52"/>
          <p:cNvSpPr/>
          <p:nvPr/>
        </p:nvSpPr>
        <p:spPr>
          <a:xfrm>
            <a:off x="3377203" y="3255264"/>
            <a:ext cx="1383811" cy="384048"/>
          </a:xfrm>
          <a:prstGeom prst="homePlate">
            <a:avLst/>
          </a:prstGeom>
          <a:solidFill>
            <a:srgbClr val="ED7D31"/>
          </a:solidFill>
          <a:ln/>
        </p:spPr>
      </p:sp>
      <p:sp>
        <p:nvSpPr>
          <p:cNvPr id="56" name="Text 53"/>
          <p:cNvSpPr txBox="1"/>
          <p:nvPr/>
        </p:nvSpPr>
        <p:spPr>
          <a:xfrm>
            <a:off x="2020824" y="3255264"/>
            <a:ext cx="2605773" cy="38404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6F²（1c・1d）</a:t>
            </a:r>
            <a:endParaRPr lang="en-US" sz="1100" dirty="0"/>
          </a:p>
          <a:p>
            <a:pPr algn="l" indent="0" marL="0">
              <a:buNone/>
            </a:pPr>
            <a:r>
              <a:rPr lang="en-US" sz="950" dirty="0">
                <a:solidFill>
                  <a:srgbClr val="FFFFFF"/>
                </a:solidFill>
                <a:latin typeface="Arial" pitchFamily="34" charset="0"/>
                <a:ea typeface="Yu Gothic"/>
                <a:cs typeface="Arial" pitchFamily="34" charset="-120"/>
              </a:rPr>
              <a:t>今の構造は1dまで</a:t>
            </a:r>
            <a:endParaRPr lang="en-US" sz="1100" dirty="0"/>
          </a:p>
        </p:txBody>
      </p:sp>
      <p:sp>
        <p:nvSpPr>
          <p:cNvPr id="57" name="Shape 54"/>
          <p:cNvSpPr/>
          <p:nvPr/>
        </p:nvSpPr>
        <p:spPr>
          <a:xfrm>
            <a:off x="4788446" y="3255264"/>
            <a:ext cx="3601479" cy="384048"/>
          </a:xfrm>
          <a:prstGeom prst="homePlate">
            <a:avLst/>
          </a:prstGeom>
          <a:solidFill>
            <a:srgbClr val="ED7D31"/>
          </a:solidFill>
          <a:ln/>
        </p:spPr>
      </p:sp>
      <p:sp>
        <p:nvSpPr>
          <p:cNvPr id="58" name="Text 55"/>
          <p:cNvSpPr txBox="1"/>
          <p:nvPr/>
        </p:nvSpPr>
        <p:spPr>
          <a:xfrm>
            <a:off x="4843310" y="3255264"/>
            <a:ext cx="3412198" cy="38404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4F²（縦型トランジスタ）</a:t>
            </a:r>
            <a:endParaRPr lang="en-US" sz="1100" dirty="0"/>
          </a:p>
          <a:p>
            <a:pPr algn="l" indent="0" marL="0">
              <a:buNone/>
            </a:pPr>
            <a:r>
              <a:rPr lang="en-US" sz="950" dirty="0">
                <a:solidFill>
                  <a:srgbClr val="FFFFFF"/>
                </a:solidFill>
                <a:latin typeface="Arial" pitchFamily="34" charset="0"/>
                <a:ea typeface="Yu Gothic"/>
                <a:cs typeface="Arial" pitchFamily="34" charset="-120"/>
              </a:rPr>
              <a:t>Samsung 0a〜・SK hynix 0b〜</a:t>
            </a:r>
            <a:endParaRPr lang="en-US" sz="1100" dirty="0"/>
          </a:p>
        </p:txBody>
      </p:sp>
      <p:sp>
        <p:nvSpPr>
          <p:cNvPr id="59" name="Shape 56"/>
          <p:cNvSpPr/>
          <p:nvPr/>
        </p:nvSpPr>
        <p:spPr>
          <a:xfrm>
            <a:off x="8417357" y="3255264"/>
            <a:ext cx="3198266" cy="384048"/>
          </a:xfrm>
          <a:prstGeom prst="homePlate">
            <a:avLst/>
          </a:prstGeom>
          <a:solidFill>
            <a:srgbClr val="FFF2E6"/>
          </a:solidFill>
          <a:ln w="15875">
            <a:solidFill>
              <a:srgbClr val="C55A11"/>
            </a:solidFill>
            <a:prstDash val="dash"/>
          </a:ln>
        </p:spPr>
      </p:sp>
      <p:sp>
        <p:nvSpPr>
          <p:cNvPr id="60" name="Text 57"/>
          <p:cNvSpPr txBox="1"/>
          <p:nvPr/>
        </p:nvSpPr>
        <p:spPr>
          <a:xfrm>
            <a:off x="8472221" y="3255264"/>
            <a:ext cx="3008986" cy="38404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3D DRAM</a:t>
            </a:r>
            <a:endParaRPr lang="en-US" sz="1100" dirty="0"/>
          </a:p>
          <a:p>
            <a:pPr algn="l" indent="0" marL="0">
              <a:buNone/>
            </a:pPr>
            <a:r>
              <a:rPr lang="en-US" sz="950" dirty="0">
                <a:solidFill>
                  <a:srgbClr val="843C0C"/>
                </a:solidFill>
                <a:latin typeface="Arial" pitchFamily="34" charset="0"/>
                <a:ea typeface="Yu Gothic"/>
                <a:cs typeface="Arial" pitchFamily="34" charset="-120"/>
              </a:rPr>
              <a:t>本格化は2030年代</a:t>
            </a:r>
            <a:endParaRPr lang="en-US" sz="1100" dirty="0"/>
          </a:p>
        </p:txBody>
      </p:sp>
      <p:sp>
        <p:nvSpPr>
          <p:cNvPr id="61" name="Shape 58"/>
          <p:cNvSpPr/>
          <p:nvPr/>
        </p:nvSpPr>
        <p:spPr>
          <a:xfrm>
            <a:off x="1965960" y="3712464"/>
            <a:ext cx="1411243" cy="384048"/>
          </a:xfrm>
          <a:prstGeom prst="rect">
            <a:avLst/>
          </a:prstGeom>
          <a:solidFill>
            <a:srgbClr val="9DC3E6"/>
          </a:solidFill>
          <a:ln/>
        </p:spPr>
      </p:sp>
      <p:sp>
        <p:nvSpPr>
          <p:cNvPr id="62" name="Shape 59"/>
          <p:cNvSpPr/>
          <p:nvPr/>
        </p:nvSpPr>
        <p:spPr>
          <a:xfrm>
            <a:off x="3377203" y="3712464"/>
            <a:ext cx="980599" cy="384048"/>
          </a:xfrm>
          <a:prstGeom prst="homePlate">
            <a:avLst/>
          </a:prstGeom>
          <a:solidFill>
            <a:srgbClr val="F4B183"/>
          </a:solidFill>
          <a:ln/>
        </p:spPr>
      </p:sp>
      <p:sp>
        <p:nvSpPr>
          <p:cNvPr id="63" name="Text 60"/>
          <p:cNvSpPr txBox="1"/>
          <p:nvPr/>
        </p:nvSpPr>
        <p:spPr>
          <a:xfrm>
            <a:off x="2020824" y="3712464"/>
            <a:ext cx="2202561" cy="384048"/>
          </a:xfrm>
          <a:prstGeom prst="rect">
            <a:avLst/>
          </a:prstGeom>
          <a:noFill/>
          <a:ln/>
        </p:spPr>
        <p:txBody>
          <a:bodyPr wrap="square" lIns="0" tIns="0" rIns="0" bIns="0" rtlCol="0" anchor="ctr">
            <a:normAutofit/>
          </a:bodyPr>
          <a:lstStyle/>
          <a:p>
            <a:pPr algn="l" indent="0" marL="0">
              <a:buNone/>
            </a:pPr>
            <a:r>
              <a:rPr lang="en-US" sz="1100" b="1" dirty="0">
                <a:solidFill>
                  <a:srgbClr val="1F2A3A"/>
                </a:solidFill>
                <a:latin typeface="Arial" pitchFamily="34" charset="0"/>
                <a:ea typeface="Yu Gothic"/>
                <a:cs typeface="Arial" pitchFamily="34" charset="-120"/>
              </a:rPr>
              <a:t>EUV（6〜7層）</a:t>
            </a:r>
            <a:endParaRPr lang="en-US" sz="1100" dirty="0"/>
          </a:p>
        </p:txBody>
      </p:sp>
      <p:sp>
        <p:nvSpPr>
          <p:cNvPr id="64" name="Shape 61"/>
          <p:cNvSpPr/>
          <p:nvPr/>
        </p:nvSpPr>
        <p:spPr>
          <a:xfrm>
            <a:off x="4385234" y="3712464"/>
            <a:ext cx="7230389" cy="384048"/>
          </a:xfrm>
          <a:prstGeom prst="homePlate">
            <a:avLst/>
          </a:prstGeom>
          <a:solidFill>
            <a:srgbClr val="F4B183"/>
          </a:solidFill>
          <a:ln/>
        </p:spPr>
      </p:sp>
      <p:sp>
        <p:nvSpPr>
          <p:cNvPr id="65" name="Text 62"/>
          <p:cNvSpPr txBox="1"/>
          <p:nvPr/>
        </p:nvSpPr>
        <p:spPr>
          <a:xfrm>
            <a:off x="4440098" y="3712464"/>
            <a:ext cx="7041109" cy="384048"/>
          </a:xfrm>
          <a:prstGeom prst="rect">
            <a:avLst/>
          </a:prstGeom>
          <a:noFill/>
          <a:ln/>
        </p:spPr>
        <p:txBody>
          <a:bodyPr wrap="square" lIns="0" tIns="0" rIns="0" bIns="0" rtlCol="0" anchor="ctr">
            <a:normAutofit/>
          </a:bodyPr>
          <a:lstStyle/>
          <a:p>
            <a:pPr algn="l" indent="0" marL="0">
              <a:buNone/>
            </a:pPr>
            <a:r>
              <a:rPr lang="en-US" sz="1100" b="1" dirty="0">
                <a:solidFill>
                  <a:srgbClr val="1F2A3A"/>
                </a:solidFill>
                <a:latin typeface="Arial" pitchFamily="34" charset="0"/>
                <a:ea typeface="Yu Gothic"/>
                <a:cs typeface="Arial" pitchFamily="34" charset="-120"/>
              </a:rPr>
              <a:t>High-NA EUV ＋ 周辺回路の貼り合わせ</a:t>
            </a:r>
            <a:endParaRPr lang="en-US" sz="1100" dirty="0"/>
          </a:p>
        </p:txBody>
      </p:sp>
      <p:sp>
        <p:nvSpPr>
          <p:cNvPr id="66" name="Shape 63"/>
          <p:cNvSpPr/>
          <p:nvPr/>
        </p:nvSpPr>
        <p:spPr>
          <a:xfrm>
            <a:off x="1965960" y="4352544"/>
            <a:ext cx="980599" cy="384048"/>
          </a:xfrm>
          <a:prstGeom prst="homePlate">
            <a:avLst/>
          </a:prstGeom>
          <a:solidFill>
            <a:srgbClr val="2F5597"/>
          </a:solidFill>
          <a:ln/>
        </p:spPr>
      </p:sp>
      <p:sp>
        <p:nvSpPr>
          <p:cNvPr id="67" name="Text 64"/>
          <p:cNvSpPr txBox="1"/>
          <p:nvPr/>
        </p:nvSpPr>
        <p:spPr>
          <a:xfrm>
            <a:off x="2020824" y="4352544"/>
            <a:ext cx="791318" cy="38404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3xx層</a:t>
            </a:r>
            <a:endParaRPr lang="en-US" sz="1100" dirty="0"/>
          </a:p>
        </p:txBody>
      </p:sp>
      <p:sp>
        <p:nvSpPr>
          <p:cNvPr id="68" name="Shape 65"/>
          <p:cNvSpPr/>
          <p:nvPr/>
        </p:nvSpPr>
        <p:spPr>
          <a:xfrm>
            <a:off x="2973991" y="4352544"/>
            <a:ext cx="403212" cy="384048"/>
          </a:xfrm>
          <a:prstGeom prst="rect">
            <a:avLst/>
          </a:prstGeom>
          <a:solidFill>
            <a:srgbClr val="2F5597"/>
          </a:solidFill>
          <a:ln/>
        </p:spPr>
      </p:sp>
      <p:sp>
        <p:nvSpPr>
          <p:cNvPr id="69" name="Shape 66"/>
          <p:cNvSpPr/>
          <p:nvPr/>
        </p:nvSpPr>
        <p:spPr>
          <a:xfrm>
            <a:off x="3377203" y="4352544"/>
            <a:ext cx="980599" cy="384048"/>
          </a:xfrm>
          <a:prstGeom prst="homePlate">
            <a:avLst/>
          </a:prstGeom>
          <a:solidFill>
            <a:srgbClr val="ED7D31"/>
          </a:solidFill>
          <a:ln/>
        </p:spPr>
      </p:sp>
      <p:sp>
        <p:nvSpPr>
          <p:cNvPr id="70" name="Text 67"/>
          <p:cNvSpPr txBox="1"/>
          <p:nvPr/>
        </p:nvSpPr>
        <p:spPr>
          <a:xfrm>
            <a:off x="3028855" y="4352544"/>
            <a:ext cx="1194530" cy="38404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4xx層</a:t>
            </a:r>
            <a:endParaRPr lang="en-US" sz="1100" dirty="0"/>
          </a:p>
          <a:p>
            <a:pPr algn="l" indent="0" marL="0">
              <a:buNone/>
            </a:pPr>
            <a:r>
              <a:rPr lang="en-US" sz="950" dirty="0">
                <a:solidFill>
                  <a:srgbClr val="FFFFFF"/>
                </a:solidFill>
                <a:latin typeface="Arial" pitchFamily="34" charset="0"/>
                <a:ea typeface="Yu Gothic"/>
                <a:cs typeface="Arial" pitchFamily="34" charset="-120"/>
              </a:rPr>
              <a:t>Samsung V10</a:t>
            </a:r>
            <a:endParaRPr lang="en-US" sz="1100" dirty="0"/>
          </a:p>
        </p:txBody>
      </p:sp>
      <p:sp>
        <p:nvSpPr>
          <p:cNvPr id="71" name="Shape 68"/>
          <p:cNvSpPr/>
          <p:nvPr/>
        </p:nvSpPr>
        <p:spPr>
          <a:xfrm>
            <a:off x="4385234" y="4352544"/>
            <a:ext cx="1988630" cy="384048"/>
          </a:xfrm>
          <a:prstGeom prst="homePlate">
            <a:avLst/>
          </a:prstGeom>
          <a:solidFill>
            <a:srgbClr val="FFF2E6"/>
          </a:solidFill>
          <a:ln w="15875">
            <a:solidFill>
              <a:srgbClr val="C55A11"/>
            </a:solidFill>
            <a:prstDash val="dash"/>
          </a:ln>
        </p:spPr>
      </p:sp>
      <p:sp>
        <p:nvSpPr>
          <p:cNvPr id="72" name="Text 69"/>
          <p:cNvSpPr txBox="1"/>
          <p:nvPr/>
        </p:nvSpPr>
        <p:spPr>
          <a:xfrm>
            <a:off x="4440098" y="4352544"/>
            <a:ext cx="1799349" cy="38404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5xx〜9xx層</a:t>
            </a:r>
            <a:endParaRPr lang="en-US" sz="1100" dirty="0"/>
          </a:p>
        </p:txBody>
      </p:sp>
      <p:sp>
        <p:nvSpPr>
          <p:cNvPr id="73" name="Shape 70"/>
          <p:cNvSpPr/>
          <p:nvPr/>
        </p:nvSpPr>
        <p:spPr>
          <a:xfrm>
            <a:off x="6401295" y="4352544"/>
            <a:ext cx="5214328" cy="384048"/>
          </a:xfrm>
          <a:prstGeom prst="homePlate">
            <a:avLst/>
          </a:prstGeom>
          <a:solidFill>
            <a:srgbClr val="ED7D31"/>
          </a:solidFill>
          <a:ln/>
        </p:spPr>
      </p:sp>
      <p:sp>
        <p:nvSpPr>
          <p:cNvPr id="74" name="Text 71"/>
          <p:cNvSpPr txBox="1"/>
          <p:nvPr/>
        </p:nvSpPr>
        <p:spPr>
          <a:xfrm>
            <a:off x="6456159" y="4352544"/>
            <a:ext cx="5025047" cy="38404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1000層級</a:t>
            </a:r>
            <a:endParaRPr lang="en-US" sz="1100" dirty="0"/>
          </a:p>
          <a:p>
            <a:pPr algn="l" indent="0" marL="0">
              <a:buNone/>
            </a:pPr>
            <a:r>
              <a:rPr lang="en-US" sz="950" dirty="0">
                <a:solidFill>
                  <a:srgbClr val="FFFFFF"/>
                </a:solidFill>
                <a:latin typeface="Arial" pitchFamily="34" charset="0"/>
                <a:ea typeface="Yu Gothic"/>
                <a:cs typeface="Arial" pitchFamily="34" charset="-120"/>
              </a:rPr>
              <a:t>Samsung 2030年・Kioxia 2031年（目標）</a:t>
            </a:r>
            <a:endParaRPr lang="en-US" sz="1100" dirty="0"/>
          </a:p>
        </p:txBody>
      </p:sp>
      <p:sp>
        <p:nvSpPr>
          <p:cNvPr id="75" name="Shape 72"/>
          <p:cNvSpPr/>
          <p:nvPr/>
        </p:nvSpPr>
        <p:spPr>
          <a:xfrm>
            <a:off x="1965960" y="4809744"/>
            <a:ext cx="1182205" cy="384048"/>
          </a:xfrm>
          <a:prstGeom prst="homePlate">
            <a:avLst/>
          </a:prstGeom>
          <a:solidFill>
            <a:srgbClr val="9DC3E6"/>
          </a:solidFill>
          <a:ln/>
        </p:spPr>
      </p:sp>
      <p:sp>
        <p:nvSpPr>
          <p:cNvPr id="76" name="Text 73"/>
          <p:cNvSpPr txBox="1"/>
          <p:nvPr/>
        </p:nvSpPr>
        <p:spPr>
          <a:xfrm>
            <a:off x="2020824" y="4809744"/>
            <a:ext cx="992924" cy="384048"/>
          </a:xfrm>
          <a:prstGeom prst="rect">
            <a:avLst/>
          </a:prstGeom>
          <a:noFill/>
          <a:ln/>
        </p:spPr>
        <p:txBody>
          <a:bodyPr wrap="square" lIns="0" tIns="0" rIns="0" bIns="0" rtlCol="0" anchor="ctr">
            <a:normAutofit/>
          </a:bodyPr>
          <a:lstStyle/>
          <a:p>
            <a:pPr algn="l" indent="0" marL="0">
              <a:buNone/>
            </a:pPr>
            <a:r>
              <a:rPr lang="en-US" sz="1100" b="1" dirty="0">
                <a:solidFill>
                  <a:srgbClr val="1F2A3A"/>
                </a:solidFill>
                <a:latin typeface="Arial" pitchFamily="34" charset="0"/>
                <a:ea typeface="Yu Gothic"/>
                <a:cs typeface="Arial" pitchFamily="34" charset="-120"/>
              </a:rPr>
              <a:t>CuA</a:t>
            </a:r>
            <a:endParaRPr lang="en-US" sz="1100" dirty="0"/>
          </a:p>
          <a:p>
            <a:pPr algn="l" indent="0" marL="0">
              <a:buNone/>
            </a:pPr>
            <a:r>
              <a:rPr lang="en-US" sz="950" dirty="0">
                <a:solidFill>
                  <a:srgbClr val="1F2A3A"/>
                </a:solidFill>
                <a:latin typeface="Arial" pitchFamily="34" charset="0"/>
                <a:ea typeface="Yu Gothic"/>
                <a:cs typeface="Arial" pitchFamily="34" charset="-120"/>
              </a:rPr>
              <a:t>周辺をセルの下</a:t>
            </a:r>
            <a:endParaRPr lang="en-US" sz="1100" dirty="0"/>
          </a:p>
        </p:txBody>
      </p:sp>
      <p:sp>
        <p:nvSpPr>
          <p:cNvPr id="77" name="Shape 74"/>
          <p:cNvSpPr/>
          <p:nvPr/>
        </p:nvSpPr>
        <p:spPr>
          <a:xfrm>
            <a:off x="3175597" y="4809744"/>
            <a:ext cx="201606" cy="384048"/>
          </a:xfrm>
          <a:prstGeom prst="rect">
            <a:avLst/>
          </a:prstGeom>
          <a:solidFill>
            <a:srgbClr val="9DC3E6"/>
          </a:solidFill>
          <a:ln/>
        </p:spPr>
      </p:sp>
      <p:sp>
        <p:nvSpPr>
          <p:cNvPr id="78" name="Shape 75"/>
          <p:cNvSpPr/>
          <p:nvPr/>
        </p:nvSpPr>
        <p:spPr>
          <a:xfrm>
            <a:off x="3377203" y="4809744"/>
            <a:ext cx="2996660" cy="384048"/>
          </a:xfrm>
          <a:prstGeom prst="homePlate">
            <a:avLst/>
          </a:prstGeom>
          <a:solidFill>
            <a:srgbClr val="F4B183"/>
          </a:solidFill>
          <a:ln/>
        </p:spPr>
      </p:sp>
      <p:sp>
        <p:nvSpPr>
          <p:cNvPr id="79" name="Text 76"/>
          <p:cNvSpPr txBox="1"/>
          <p:nvPr/>
        </p:nvSpPr>
        <p:spPr>
          <a:xfrm>
            <a:off x="3230461" y="4809744"/>
            <a:ext cx="3008986" cy="384048"/>
          </a:xfrm>
          <a:prstGeom prst="rect">
            <a:avLst/>
          </a:prstGeom>
          <a:noFill/>
          <a:ln/>
        </p:spPr>
        <p:txBody>
          <a:bodyPr wrap="square" lIns="0" tIns="0" rIns="0" bIns="0" rtlCol="0" anchor="ctr">
            <a:normAutofit/>
          </a:bodyPr>
          <a:lstStyle/>
          <a:p>
            <a:pPr algn="l" indent="0" marL="0">
              <a:buNone/>
            </a:pPr>
            <a:r>
              <a:rPr lang="en-US" sz="1100" b="1" dirty="0">
                <a:solidFill>
                  <a:srgbClr val="1F2A3A"/>
                </a:solidFill>
                <a:latin typeface="Arial" pitchFamily="34" charset="0"/>
                <a:ea typeface="Yu Gothic"/>
                <a:cs typeface="Arial" pitchFamily="34" charset="-120"/>
              </a:rPr>
              <a:t>ウェハ貼り合わせが主流に</a:t>
            </a:r>
            <a:endParaRPr lang="en-US" sz="1100" dirty="0"/>
          </a:p>
        </p:txBody>
      </p:sp>
      <p:sp>
        <p:nvSpPr>
          <p:cNvPr id="80" name="Shape 77"/>
          <p:cNvSpPr/>
          <p:nvPr/>
        </p:nvSpPr>
        <p:spPr>
          <a:xfrm>
            <a:off x="6401295" y="4809744"/>
            <a:ext cx="5214328" cy="384048"/>
          </a:xfrm>
          <a:prstGeom prst="homePlate">
            <a:avLst/>
          </a:prstGeom>
          <a:solidFill>
            <a:srgbClr val="F4B183"/>
          </a:solidFill>
          <a:ln/>
        </p:spPr>
      </p:sp>
      <p:sp>
        <p:nvSpPr>
          <p:cNvPr id="81" name="Text 78"/>
          <p:cNvSpPr txBox="1"/>
          <p:nvPr/>
        </p:nvSpPr>
        <p:spPr>
          <a:xfrm>
            <a:off x="6456159" y="4809744"/>
            <a:ext cx="5025047" cy="384048"/>
          </a:xfrm>
          <a:prstGeom prst="rect">
            <a:avLst/>
          </a:prstGeom>
          <a:noFill/>
          <a:ln/>
        </p:spPr>
        <p:txBody>
          <a:bodyPr wrap="square" lIns="0" tIns="0" rIns="0" bIns="0" rtlCol="0" anchor="ctr">
            <a:normAutofit/>
          </a:bodyPr>
          <a:lstStyle/>
          <a:p>
            <a:pPr algn="l" indent="0" marL="0">
              <a:buNone/>
            </a:pPr>
            <a:r>
              <a:rPr lang="en-US" sz="1100" b="1" dirty="0">
                <a:solidFill>
                  <a:srgbClr val="1F2A3A"/>
                </a:solidFill>
                <a:latin typeface="Arial" pitchFamily="34" charset="0"/>
                <a:ea typeface="Yu Gothic"/>
                <a:cs typeface="Arial" pitchFamily="34" charset="-120"/>
              </a:rPr>
              <a:t>セルのウェハを多段に貼り合わせ</a:t>
            </a:r>
            <a:endParaRPr lang="en-US" sz="1100" dirty="0"/>
          </a:p>
        </p:txBody>
      </p:sp>
      <p:sp>
        <p:nvSpPr>
          <p:cNvPr id="82" name="Shape 79"/>
          <p:cNvSpPr/>
          <p:nvPr/>
        </p:nvSpPr>
        <p:spPr>
          <a:xfrm>
            <a:off x="1965960" y="5504688"/>
            <a:ext cx="365760" cy="237744"/>
          </a:xfrm>
          <a:prstGeom prst="homePlate">
            <a:avLst/>
          </a:prstGeom>
          <a:solidFill>
            <a:srgbClr val="2F5597"/>
          </a:solidFill>
          <a:ln/>
        </p:spPr>
      </p:sp>
      <p:sp>
        <p:nvSpPr>
          <p:cNvPr id="83" name="Text 80"/>
          <p:cNvSpPr txBox="1"/>
          <p:nvPr/>
        </p:nvSpPr>
        <p:spPr>
          <a:xfrm>
            <a:off x="2404872" y="5504688"/>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実績</a:t>
            </a:r>
            <a:endParaRPr lang="en-US" sz="1050" dirty="0"/>
          </a:p>
        </p:txBody>
      </p:sp>
      <p:sp>
        <p:nvSpPr>
          <p:cNvPr id="84" name="Shape 81"/>
          <p:cNvSpPr/>
          <p:nvPr/>
        </p:nvSpPr>
        <p:spPr>
          <a:xfrm>
            <a:off x="2962656" y="5504688"/>
            <a:ext cx="365760" cy="237744"/>
          </a:xfrm>
          <a:prstGeom prst="homePlate">
            <a:avLst/>
          </a:prstGeom>
          <a:solidFill>
            <a:srgbClr val="ED7D31"/>
          </a:solidFill>
          <a:ln/>
        </p:spPr>
      </p:sp>
      <p:sp>
        <p:nvSpPr>
          <p:cNvPr id="85" name="Text 82"/>
          <p:cNvSpPr txBox="1"/>
          <p:nvPr/>
        </p:nvSpPr>
        <p:spPr>
          <a:xfrm>
            <a:off x="3401568" y="5504688"/>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計画・見通し</a:t>
            </a:r>
            <a:endParaRPr lang="en-US" sz="1050" dirty="0"/>
          </a:p>
        </p:txBody>
      </p:sp>
      <p:sp>
        <p:nvSpPr>
          <p:cNvPr id="86" name="Shape 83"/>
          <p:cNvSpPr/>
          <p:nvPr/>
        </p:nvSpPr>
        <p:spPr>
          <a:xfrm>
            <a:off x="4434840" y="5504688"/>
            <a:ext cx="365760" cy="237744"/>
          </a:xfrm>
          <a:prstGeom prst="homePlate">
            <a:avLst/>
          </a:prstGeom>
          <a:solidFill>
            <a:srgbClr val="FFF2E6"/>
          </a:solidFill>
          <a:ln w="12700">
            <a:solidFill>
              <a:srgbClr val="C55A11"/>
            </a:solidFill>
            <a:prstDash val="dash"/>
          </a:ln>
        </p:spPr>
      </p:sp>
      <p:sp>
        <p:nvSpPr>
          <p:cNvPr id="87" name="Text 84"/>
          <p:cNvSpPr txBox="1"/>
          <p:nvPr/>
        </p:nvSpPr>
        <p:spPr>
          <a:xfrm>
            <a:off x="4873752" y="5504688"/>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報道・確度の低い予想</a:t>
            </a:r>
            <a:endParaRPr lang="en-US" sz="1050" dirty="0"/>
          </a:p>
        </p:txBody>
      </p:sp>
      <p:sp>
        <p:nvSpPr>
          <p:cNvPr id="88" name="Shape 85"/>
          <p:cNvSpPr/>
          <p:nvPr/>
        </p:nvSpPr>
        <p:spPr>
          <a:xfrm>
            <a:off x="6519672" y="5504688"/>
            <a:ext cx="0" cy="237744"/>
          </a:xfrm>
          <a:prstGeom prst="line">
            <a:avLst/>
          </a:prstGeom>
          <a:noFill/>
          <a:ln w="19050">
            <a:solidFill>
              <a:srgbClr val="C00000"/>
            </a:solidFill>
            <a:prstDash val="dash"/>
          </a:ln>
        </p:spPr>
      </p:sp>
      <p:sp>
        <p:nvSpPr>
          <p:cNvPr id="89" name="Text 86"/>
          <p:cNvSpPr txBox="1"/>
          <p:nvPr/>
        </p:nvSpPr>
        <p:spPr>
          <a:xfrm>
            <a:off x="6821424" y="5504688"/>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現在（2026年10月）</a:t>
            </a:r>
            <a:endParaRPr lang="en-US" sz="1050" dirty="0"/>
          </a:p>
        </p:txBody>
      </p:sp>
      <p:sp>
        <p:nvSpPr>
          <p:cNvPr id="90" name="Text 87"/>
          <p:cNvSpPr txBox="1"/>
          <p:nvPr/>
        </p:nvSpPr>
        <p:spPr>
          <a:xfrm>
            <a:off x="1965960" y="5870448"/>
            <a:ext cx="9677095" cy="320040"/>
          </a:xfrm>
          <a:prstGeom prst="rect">
            <a:avLst/>
          </a:prstGeom>
          <a:noFill/>
          <a:ln/>
        </p:spPr>
        <p:txBody>
          <a:bodyPr wrap="square" lIns="0" tIns="0" rIns="0" bIns="0" rtlCol="0" anchor="ctr"/>
          <a:lstStyle/>
          <a:p>
            <a:pPr indent="0" marL="0">
              <a:buNone/>
            </a:pPr>
            <a:r>
              <a:rPr lang="en-US" sz="1250" dirty="0">
                <a:solidFill>
                  <a:srgbClr val="6A7380"/>
                </a:solidFill>
                <a:latin typeface="Arial" pitchFamily="34" charset="0"/>
                <a:ea typeface="Yu Gothic"/>
                <a:cs typeface="Arial" pitchFamily="34" charset="-120"/>
              </a:rPr>
              <a:t>上段：主役の構造（ロジックはトランジスタ、DRAMはセル、NANDは層数）　下段：それを支える露光・配線・周辺回路</a:t>
            </a:r>
            <a:endParaRPr lang="en-US" sz="1250" dirty="0"/>
          </a:p>
        </p:txBody>
      </p:sp>
      <p:sp>
        <p:nvSpPr>
          <p:cNvPr id="91" name="Text 88"/>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出典：各社発表、imec 2026年版ロードマップ、TrendForce、Tom's Hardware ほか（詳細はExcelの根拠シート）</a:t>
            </a:r>
            <a:endParaRPr lang="en-US" sz="950" dirty="0"/>
          </a:p>
        </p:txBody>
      </p:sp>
      <p:sp>
        <p:nvSpPr>
          <p:cNvPr id="92" name="Text 89"/>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5A6472"/>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5A6472"/>
                </a:solidFill>
                <a:latin typeface="Arial" pitchFamily="34" charset="0"/>
                <a:ea typeface="Yu Gothic"/>
                <a:cs typeface="Arial" pitchFamily="34" charset="-120"/>
              </a:rPr>
              <a:t>3分野共通</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数字の読み方：3分野で「世代の数え方」が違う</a:t>
            </a:r>
            <a:endParaRPr lang="en-US" sz="2400" dirty="0"/>
          </a:p>
        </p:txBody>
      </p:sp>
      <p:sp>
        <p:nvSpPr>
          <p:cNvPr id="6" name="Shape 3"/>
          <p:cNvSpPr/>
          <p:nvPr/>
        </p:nvSpPr>
        <p:spPr>
          <a:xfrm>
            <a:off x="548640" y="1783080"/>
            <a:ext cx="457200" cy="457200"/>
          </a:xfrm>
          <a:prstGeom prst="ellipse">
            <a:avLst/>
          </a:prstGeom>
          <a:solidFill>
            <a:srgbClr val="2B7A9B"/>
          </a:solidFill>
          <a:ln/>
        </p:spPr>
      </p:sp>
      <p:pic>
        <p:nvPicPr>
          <p:cNvPr id="7" name="Image 1" descr="preencoded.png">    </p:cNvPr>
          <p:cNvPicPr>
            <a:picLocks noChangeAspect="1"/>
          </p:cNvPicPr>
          <p:nvPr/>
        </p:nvPicPr>
        <p:blipFill>
          <a:blip r:embed="rId2"/>
          <a:stretch>
            <a:fillRect/>
          </a:stretch>
        </p:blipFill>
        <p:spPr>
          <a:xfrm>
            <a:off x="662940" y="1897380"/>
            <a:ext cx="228600" cy="228600"/>
          </a:xfrm>
          <a:prstGeom prst="rect">
            <a:avLst/>
          </a:prstGeom>
        </p:spPr>
      </p:pic>
      <p:sp>
        <p:nvSpPr>
          <p:cNvPr id="8" name="Text 4"/>
          <p:cNvSpPr txBox="1"/>
          <p:nvPr/>
        </p:nvSpPr>
        <p:spPr>
          <a:xfrm>
            <a:off x="1115568" y="1783080"/>
            <a:ext cx="2743200" cy="457200"/>
          </a:xfrm>
          <a:prstGeom prst="rect">
            <a:avLst/>
          </a:prstGeom>
          <a:noFill/>
          <a:ln/>
        </p:spPr>
        <p:txBody>
          <a:bodyPr wrap="square" lIns="0" tIns="0" rIns="0" bIns="0" rtlCol="0" anchor="ctr"/>
          <a:lstStyle/>
          <a:p>
            <a:pPr indent="0" marL="0">
              <a:buNone/>
            </a:pPr>
            <a:r>
              <a:rPr lang="en-US" sz="1800" b="1" dirty="0">
                <a:solidFill>
                  <a:srgbClr val="2B7A9B"/>
                </a:solidFill>
                <a:latin typeface="Arial" pitchFamily="34" charset="0"/>
                <a:ea typeface="Yu Gothic"/>
                <a:cs typeface="Arial" pitchFamily="34" charset="-120"/>
              </a:rPr>
              <a:t>ロジック</a:t>
            </a:r>
            <a:endParaRPr lang="en-US" sz="1800" dirty="0"/>
          </a:p>
        </p:txBody>
      </p:sp>
      <p:sp>
        <p:nvSpPr>
          <p:cNvPr id="9" name="Text 5"/>
          <p:cNvSpPr txBox="1"/>
          <p:nvPr/>
        </p:nvSpPr>
        <p:spPr>
          <a:xfrm>
            <a:off x="548640" y="2514600"/>
            <a:ext cx="1371600" cy="292608"/>
          </a:xfrm>
          <a:prstGeom prst="rect">
            <a:avLst/>
          </a:prstGeom>
          <a:noFill/>
          <a:ln/>
        </p:spPr>
        <p:txBody>
          <a:bodyPr wrap="square" lIns="0" tIns="0" rIns="0" bIns="0" rtlCol="0" anchor="ctr"/>
          <a:lstStyle/>
          <a:p>
            <a:pPr indent="0" marL="0">
              <a:buNone/>
            </a:pPr>
            <a:r>
              <a:rPr lang="en-US" sz="1200" dirty="0">
                <a:solidFill>
                  <a:srgbClr val="6A7380"/>
                </a:solidFill>
                <a:latin typeface="Arial" pitchFamily="34" charset="0"/>
                <a:ea typeface="Yu Gothic"/>
                <a:cs typeface="Arial" pitchFamily="34" charset="-120"/>
              </a:rPr>
              <a:t>名前の数字</a:t>
            </a:r>
            <a:endParaRPr lang="en-US" sz="1200" dirty="0"/>
          </a:p>
        </p:txBody>
      </p:sp>
      <p:sp>
        <p:nvSpPr>
          <p:cNvPr id="10" name="Shape 6"/>
          <p:cNvSpPr/>
          <p:nvPr/>
        </p:nvSpPr>
        <p:spPr>
          <a:xfrm>
            <a:off x="1965960" y="2551176"/>
            <a:ext cx="109728" cy="219456"/>
          </a:xfrm>
          <a:prstGeom prst="rect">
            <a:avLst/>
          </a:prstGeom>
          <a:solidFill>
            <a:srgbClr val="2B7A9B"/>
          </a:solidFill>
          <a:ln/>
        </p:spPr>
      </p:sp>
      <p:sp>
        <p:nvSpPr>
          <p:cNvPr id="11" name="Text 7"/>
          <p:cNvSpPr txBox="1"/>
          <p:nvPr/>
        </p:nvSpPr>
        <p:spPr>
          <a:xfrm>
            <a:off x="2148840" y="2514600"/>
            <a:ext cx="457200" cy="292608"/>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2</a:t>
            </a:r>
            <a:endParaRPr lang="en-US" sz="1300" dirty="0"/>
          </a:p>
        </p:txBody>
      </p:sp>
      <p:sp>
        <p:nvSpPr>
          <p:cNvPr id="12" name="Text 8"/>
          <p:cNvSpPr txBox="1"/>
          <p:nvPr/>
        </p:nvSpPr>
        <p:spPr>
          <a:xfrm>
            <a:off x="548640" y="2971800"/>
            <a:ext cx="1371600" cy="292608"/>
          </a:xfrm>
          <a:prstGeom prst="rect">
            <a:avLst/>
          </a:prstGeom>
          <a:noFill/>
          <a:ln/>
        </p:spPr>
        <p:txBody>
          <a:bodyPr wrap="square" lIns="0" tIns="0" rIns="0" bIns="0" rtlCol="0" anchor="ctr"/>
          <a:lstStyle/>
          <a:p>
            <a:pPr indent="0" marL="0">
              <a:buNone/>
            </a:pPr>
            <a:r>
              <a:rPr lang="en-US" sz="1200" dirty="0">
                <a:solidFill>
                  <a:srgbClr val="6A7380"/>
                </a:solidFill>
                <a:latin typeface="Arial" pitchFamily="34" charset="0"/>
                <a:ea typeface="Yu Gothic"/>
                <a:cs typeface="Arial" pitchFamily="34" charset="-120"/>
              </a:rPr>
              <a:t>ゲートの間隔</a:t>
            </a:r>
            <a:endParaRPr lang="en-US" sz="1200" dirty="0"/>
          </a:p>
        </p:txBody>
      </p:sp>
      <p:sp>
        <p:nvSpPr>
          <p:cNvPr id="13" name="Shape 9"/>
          <p:cNvSpPr/>
          <p:nvPr/>
        </p:nvSpPr>
        <p:spPr>
          <a:xfrm>
            <a:off x="1965960" y="3008376"/>
            <a:ext cx="1691640" cy="219456"/>
          </a:xfrm>
          <a:prstGeom prst="rect">
            <a:avLst/>
          </a:prstGeom>
          <a:solidFill>
            <a:srgbClr val="2B7A9B"/>
          </a:solidFill>
          <a:ln/>
        </p:spPr>
      </p:sp>
      <p:sp>
        <p:nvSpPr>
          <p:cNvPr id="14" name="Text 10"/>
          <p:cNvSpPr txBox="1"/>
          <p:nvPr/>
        </p:nvSpPr>
        <p:spPr>
          <a:xfrm>
            <a:off x="1965960" y="3310128"/>
            <a:ext cx="1691640" cy="274320"/>
          </a:xfrm>
          <a:prstGeom prst="rect">
            <a:avLst/>
          </a:prstGeom>
          <a:noFill/>
          <a:ln/>
        </p:spPr>
        <p:txBody>
          <a:bodyPr wrap="square" lIns="0" tIns="0" rIns="0" bIns="0" rtlCol="0" anchor="ctr"/>
          <a:lstStyle/>
          <a:p>
            <a:pPr algn="r" indent="0" marL="0">
              <a:buNone/>
            </a:pPr>
            <a:r>
              <a:rPr lang="en-US" sz="1200" b="1" dirty="0">
                <a:solidFill>
                  <a:srgbClr val="1C2430"/>
                </a:solidFill>
                <a:latin typeface="Arial" pitchFamily="34" charset="0"/>
                <a:ea typeface="Yu Gothic"/>
                <a:cs typeface="Arial" pitchFamily="34" charset="-120"/>
              </a:rPr>
              <a:t>約45〜48</a:t>
            </a:r>
            <a:endParaRPr lang="en-US" sz="1200" dirty="0"/>
          </a:p>
        </p:txBody>
      </p:sp>
      <p:sp>
        <p:nvSpPr>
          <p:cNvPr id="15" name="Text 11"/>
          <p:cNvSpPr txBox="1"/>
          <p:nvPr/>
        </p:nvSpPr>
        <p:spPr>
          <a:xfrm>
            <a:off x="548640" y="3611880"/>
            <a:ext cx="3520440" cy="274320"/>
          </a:xfrm>
          <a:prstGeom prst="rect">
            <a:avLst/>
          </a:prstGeom>
          <a:noFill/>
          <a:ln/>
        </p:spPr>
        <p:txBody>
          <a:bodyPr wrap="square" lIns="0" tIns="0" rIns="0" bIns="0" rtlCol="0" anchor="ctr"/>
          <a:lstStyle/>
          <a:p>
            <a:pPr indent="0" marL="0">
              <a:buNone/>
            </a:pPr>
            <a:r>
              <a:rPr lang="en-US" sz="1100" dirty="0">
                <a:solidFill>
                  <a:srgbClr val="6A7380"/>
                </a:solidFill>
                <a:latin typeface="Arial" pitchFamily="34" charset="0"/>
                <a:ea typeface="Yu Gothic"/>
                <a:cs typeface="Arial" pitchFamily="34" charset="-120"/>
              </a:rPr>
              <a:t>（単位nm、TSMC N2の例）</a:t>
            </a:r>
            <a:endParaRPr lang="en-US" sz="1100" dirty="0"/>
          </a:p>
        </p:txBody>
      </p:sp>
      <p:sp>
        <p:nvSpPr>
          <p:cNvPr id="16" name="Text 12"/>
          <p:cNvSpPr txBox="1"/>
          <p:nvPr/>
        </p:nvSpPr>
        <p:spPr>
          <a:xfrm>
            <a:off x="548640" y="4069080"/>
            <a:ext cx="3520440" cy="502920"/>
          </a:xfrm>
          <a:prstGeom prst="rect">
            <a:avLst/>
          </a:prstGeom>
          <a:noFill/>
          <a:ln/>
        </p:spPr>
        <p:txBody>
          <a:bodyPr wrap="square" lIns="0" tIns="0" rIns="0" bIns="0" rtlCol="0" anchor="ctr"/>
          <a:lstStyle/>
          <a:p>
            <a:pPr indent="0" marL="0">
              <a:buNone/>
            </a:pPr>
            <a:r>
              <a:rPr lang="en-US" sz="2600" b="1" dirty="0">
                <a:solidFill>
                  <a:srgbClr val="1C2430"/>
                </a:solidFill>
                <a:latin typeface="Arial" pitchFamily="34" charset="0"/>
                <a:ea typeface="Yu Gothic"/>
                <a:cs typeface="Arial" pitchFamily="34" charset="-120"/>
              </a:rPr>
              <a:t>2nm・A14</a:t>
            </a:r>
            <a:endParaRPr lang="en-US" sz="2600" dirty="0"/>
          </a:p>
        </p:txBody>
      </p:sp>
      <p:sp>
        <p:nvSpPr>
          <p:cNvPr id="17" name="Text 13"/>
          <p:cNvSpPr txBox="1"/>
          <p:nvPr/>
        </p:nvSpPr>
        <p:spPr>
          <a:xfrm>
            <a:off x="548640" y="4617720"/>
            <a:ext cx="3429000" cy="1188720"/>
          </a:xfrm>
          <a:prstGeom prst="rect">
            <a:avLst/>
          </a:prstGeom>
          <a:noFill/>
          <a:ln/>
        </p:spPr>
        <p:txBody>
          <a:bodyPr wrap="square" lIns="0" tIns="0" rIns="0" bIns="0" rtlCol="0" anchor="t"/>
          <a:lstStyle/>
          <a:p>
            <a:pPr indent="0" marL="0">
              <a:buNone/>
            </a:pPr>
            <a:r>
              <a:rPr lang="en-US" sz="1400" dirty="0">
                <a:solidFill>
                  <a:srgbClr val="333D4A"/>
                </a:solidFill>
                <a:latin typeface="Arial" pitchFamily="34" charset="0"/>
                <a:ea typeface="Yu Gothic"/>
                <a:cs typeface="Arial" pitchFamily="34" charset="-120"/>
              </a:rPr>
              <a:t>世代の呼び名で、実際の寸法ではない。A14は「1.4nm相当」の意味（A＝オングストローム＝0.1nm）。</a:t>
            </a:r>
            <a:endParaRPr lang="en-US" sz="1400" dirty="0"/>
          </a:p>
        </p:txBody>
      </p:sp>
      <p:sp>
        <p:nvSpPr>
          <p:cNvPr id="18" name="Shape 14"/>
          <p:cNvSpPr/>
          <p:nvPr/>
        </p:nvSpPr>
        <p:spPr>
          <a:xfrm>
            <a:off x="4334256" y="1783080"/>
            <a:ext cx="457200" cy="457200"/>
          </a:xfrm>
          <a:prstGeom prst="ellipse">
            <a:avLst/>
          </a:prstGeom>
          <a:solidFill>
            <a:srgbClr val="3C8D5A"/>
          </a:solidFill>
          <a:ln/>
        </p:spPr>
      </p:sp>
      <p:pic>
        <p:nvPicPr>
          <p:cNvPr id="19" name="Image 2" descr="preencoded.png">    </p:cNvPr>
          <p:cNvPicPr>
            <a:picLocks noChangeAspect="1"/>
          </p:cNvPicPr>
          <p:nvPr/>
        </p:nvPicPr>
        <p:blipFill>
          <a:blip r:embed="rId3"/>
          <a:stretch>
            <a:fillRect/>
          </a:stretch>
        </p:blipFill>
        <p:spPr>
          <a:xfrm>
            <a:off x="4448556" y="1897380"/>
            <a:ext cx="228600" cy="228600"/>
          </a:xfrm>
          <a:prstGeom prst="rect">
            <a:avLst/>
          </a:prstGeom>
        </p:spPr>
      </p:pic>
      <p:sp>
        <p:nvSpPr>
          <p:cNvPr id="20" name="Text 15"/>
          <p:cNvSpPr txBox="1"/>
          <p:nvPr/>
        </p:nvSpPr>
        <p:spPr>
          <a:xfrm>
            <a:off x="4901184" y="1783080"/>
            <a:ext cx="2743200" cy="457200"/>
          </a:xfrm>
          <a:prstGeom prst="rect">
            <a:avLst/>
          </a:prstGeom>
          <a:noFill/>
          <a:ln/>
        </p:spPr>
        <p:txBody>
          <a:bodyPr wrap="square" lIns="0" tIns="0" rIns="0" bIns="0" rtlCol="0" anchor="ctr"/>
          <a:lstStyle/>
          <a:p>
            <a:pPr indent="0" marL="0">
              <a:buNone/>
            </a:pPr>
            <a:r>
              <a:rPr lang="en-US" sz="1800" b="1" dirty="0">
                <a:solidFill>
                  <a:srgbClr val="3C8D5A"/>
                </a:solidFill>
                <a:latin typeface="Arial" pitchFamily="34" charset="0"/>
                <a:ea typeface="Yu Gothic"/>
                <a:cs typeface="Arial" pitchFamily="34" charset="-120"/>
              </a:rPr>
              <a:t>DRAM</a:t>
            </a:r>
            <a:endParaRPr lang="en-US" sz="1800" dirty="0"/>
          </a:p>
        </p:txBody>
      </p:sp>
      <p:sp>
        <p:nvSpPr>
          <p:cNvPr id="21" name="Shape 16"/>
          <p:cNvSpPr/>
          <p:nvPr/>
        </p:nvSpPr>
        <p:spPr>
          <a:xfrm>
            <a:off x="4517136" y="2468880"/>
            <a:ext cx="228600" cy="868680"/>
          </a:xfrm>
          <a:prstGeom prst="rect">
            <a:avLst/>
          </a:prstGeom>
          <a:solidFill>
            <a:srgbClr val="3C8D5A"/>
          </a:solidFill>
          <a:ln/>
        </p:spPr>
      </p:sp>
      <p:sp>
        <p:nvSpPr>
          <p:cNvPr id="22" name="Shape 17"/>
          <p:cNvSpPr/>
          <p:nvPr/>
        </p:nvSpPr>
        <p:spPr>
          <a:xfrm>
            <a:off x="4974336" y="2468880"/>
            <a:ext cx="228600" cy="868680"/>
          </a:xfrm>
          <a:prstGeom prst="rect">
            <a:avLst/>
          </a:prstGeom>
          <a:solidFill>
            <a:srgbClr val="B7D7C2"/>
          </a:solidFill>
          <a:ln/>
        </p:spPr>
      </p:sp>
      <p:sp>
        <p:nvSpPr>
          <p:cNvPr id="23" name="Shape 18"/>
          <p:cNvSpPr/>
          <p:nvPr/>
        </p:nvSpPr>
        <p:spPr>
          <a:xfrm>
            <a:off x="5431536" y="2468880"/>
            <a:ext cx="228600" cy="868680"/>
          </a:xfrm>
          <a:prstGeom prst="rect">
            <a:avLst/>
          </a:prstGeom>
          <a:solidFill>
            <a:srgbClr val="3C8D5A"/>
          </a:solidFill>
          <a:ln/>
        </p:spPr>
      </p:sp>
      <p:sp>
        <p:nvSpPr>
          <p:cNvPr id="24" name="Shape 19"/>
          <p:cNvSpPr/>
          <p:nvPr/>
        </p:nvSpPr>
        <p:spPr>
          <a:xfrm>
            <a:off x="5888736" y="2468880"/>
            <a:ext cx="228600" cy="868680"/>
          </a:xfrm>
          <a:prstGeom prst="rect">
            <a:avLst/>
          </a:prstGeom>
          <a:solidFill>
            <a:srgbClr val="B7D7C2"/>
          </a:solidFill>
          <a:ln/>
        </p:spPr>
      </p:sp>
      <p:sp>
        <p:nvSpPr>
          <p:cNvPr id="25" name="Shape 20"/>
          <p:cNvSpPr/>
          <p:nvPr/>
        </p:nvSpPr>
        <p:spPr>
          <a:xfrm>
            <a:off x="6345936" y="2468880"/>
            <a:ext cx="228600" cy="868680"/>
          </a:xfrm>
          <a:prstGeom prst="rect">
            <a:avLst/>
          </a:prstGeom>
          <a:solidFill>
            <a:srgbClr val="3C8D5A"/>
          </a:solidFill>
          <a:ln/>
        </p:spPr>
      </p:sp>
      <p:sp>
        <p:nvSpPr>
          <p:cNvPr id="26" name="Shape 21"/>
          <p:cNvSpPr/>
          <p:nvPr/>
        </p:nvSpPr>
        <p:spPr>
          <a:xfrm>
            <a:off x="6803136" y="2468880"/>
            <a:ext cx="228600" cy="868680"/>
          </a:xfrm>
          <a:prstGeom prst="rect">
            <a:avLst/>
          </a:prstGeom>
          <a:solidFill>
            <a:srgbClr val="B7D7C2"/>
          </a:solidFill>
          <a:ln/>
        </p:spPr>
      </p:sp>
      <p:sp>
        <p:nvSpPr>
          <p:cNvPr id="27" name="Shape 22"/>
          <p:cNvSpPr/>
          <p:nvPr/>
        </p:nvSpPr>
        <p:spPr>
          <a:xfrm>
            <a:off x="4974336" y="3474720"/>
            <a:ext cx="228600" cy="0"/>
          </a:xfrm>
          <a:prstGeom prst="line">
            <a:avLst/>
          </a:prstGeom>
          <a:noFill/>
          <a:ln w="15875">
            <a:solidFill>
              <a:srgbClr val="1C2430"/>
            </a:solidFill>
            <a:prstDash val="solid"/>
            <a:headEnd type="triangle"/>
            <a:tailEnd type="triangle"/>
          </a:ln>
        </p:spPr>
      </p:sp>
      <p:sp>
        <p:nvSpPr>
          <p:cNvPr id="28" name="Text 23"/>
          <p:cNvSpPr txBox="1"/>
          <p:nvPr/>
        </p:nvSpPr>
        <p:spPr>
          <a:xfrm>
            <a:off x="5294376" y="3364992"/>
            <a:ext cx="2468880" cy="237744"/>
          </a:xfrm>
          <a:prstGeom prst="rect">
            <a:avLst/>
          </a:prstGeom>
          <a:noFill/>
          <a:ln/>
        </p:spPr>
        <p:txBody>
          <a:bodyPr wrap="square" lIns="0" tIns="0" rIns="0" bIns="0" rtlCol="0" anchor="ctr"/>
          <a:lstStyle/>
          <a:p>
            <a:pPr indent="0" marL="0">
              <a:buNone/>
            </a:pPr>
            <a:r>
              <a:rPr lang="en-US" sz="1150" dirty="0">
                <a:solidFill>
                  <a:srgbClr val="6A7380"/>
                </a:solidFill>
                <a:latin typeface="Arial" pitchFamily="34" charset="0"/>
                <a:ea typeface="Yu Gothic"/>
                <a:cs typeface="Arial" pitchFamily="34" charset="-120"/>
              </a:rPr>
              <a:t>ハーフピッチ（線の幅）</a:t>
            </a:r>
            <a:endParaRPr lang="en-US" sz="1150" dirty="0"/>
          </a:p>
        </p:txBody>
      </p:sp>
      <p:sp>
        <p:nvSpPr>
          <p:cNvPr id="29" name="Text 24"/>
          <p:cNvSpPr txBox="1"/>
          <p:nvPr/>
        </p:nvSpPr>
        <p:spPr>
          <a:xfrm>
            <a:off x="4334256" y="3639312"/>
            <a:ext cx="3520440" cy="274320"/>
          </a:xfrm>
          <a:prstGeom prst="rect">
            <a:avLst/>
          </a:prstGeom>
          <a:noFill/>
          <a:ln/>
        </p:spPr>
        <p:txBody>
          <a:bodyPr wrap="square" lIns="0" tIns="0" rIns="0" bIns="0" rtlCol="0" anchor="ctr"/>
          <a:lstStyle/>
          <a:p>
            <a:pPr indent="0" marL="0">
              <a:buNone/>
            </a:pPr>
            <a:r>
              <a:rPr lang="en-US" sz="1150" dirty="0">
                <a:solidFill>
                  <a:srgbClr val="6A7380"/>
                </a:solidFill>
                <a:latin typeface="Arial" pitchFamily="34" charset="0"/>
                <a:ea typeface="Yu Gothic"/>
                <a:cs typeface="Arial" pitchFamily="34" charset="-120"/>
              </a:rPr>
              <a:t>1a≈14 → 1b≈12.5〜13 → 1c≈11〜12nm</a:t>
            </a:r>
            <a:endParaRPr lang="en-US" sz="1150" dirty="0"/>
          </a:p>
        </p:txBody>
      </p:sp>
      <p:sp>
        <p:nvSpPr>
          <p:cNvPr id="30" name="Text 25"/>
          <p:cNvSpPr txBox="1"/>
          <p:nvPr/>
        </p:nvSpPr>
        <p:spPr>
          <a:xfrm>
            <a:off x="4334256" y="4069080"/>
            <a:ext cx="3520440" cy="502920"/>
          </a:xfrm>
          <a:prstGeom prst="rect">
            <a:avLst/>
          </a:prstGeom>
          <a:noFill/>
          <a:ln/>
        </p:spPr>
        <p:txBody>
          <a:bodyPr wrap="square" lIns="0" tIns="0" rIns="0" bIns="0" rtlCol="0" anchor="ctr"/>
          <a:lstStyle/>
          <a:p>
            <a:pPr indent="0" marL="0">
              <a:buNone/>
            </a:pPr>
            <a:r>
              <a:rPr lang="en-US" sz="2600" b="1" dirty="0">
                <a:solidFill>
                  <a:srgbClr val="1C2430"/>
                </a:solidFill>
                <a:latin typeface="Arial" pitchFamily="34" charset="0"/>
                <a:ea typeface="Yu Gothic"/>
                <a:cs typeface="Arial" pitchFamily="34" charset="-120"/>
              </a:rPr>
              <a:t>1a・1b・1c</a:t>
            </a:r>
            <a:endParaRPr lang="en-US" sz="2600" dirty="0"/>
          </a:p>
        </p:txBody>
      </p:sp>
      <p:sp>
        <p:nvSpPr>
          <p:cNvPr id="31" name="Text 26"/>
          <p:cNvSpPr txBox="1"/>
          <p:nvPr/>
        </p:nvSpPr>
        <p:spPr>
          <a:xfrm>
            <a:off x="4334256" y="4617720"/>
            <a:ext cx="3429000" cy="1188720"/>
          </a:xfrm>
          <a:prstGeom prst="rect">
            <a:avLst/>
          </a:prstGeom>
          <a:noFill/>
          <a:ln/>
        </p:spPr>
        <p:txBody>
          <a:bodyPr wrap="square" lIns="0" tIns="0" rIns="0" bIns="0" rtlCol="0" anchor="t"/>
          <a:lstStyle/>
          <a:p>
            <a:pPr indent="0" marL="0">
              <a:buNone/>
            </a:pPr>
            <a:r>
              <a:rPr lang="en-US" sz="1400" dirty="0">
                <a:solidFill>
                  <a:srgbClr val="333D4A"/>
                </a:solidFill>
                <a:latin typeface="Arial" pitchFamily="34" charset="0"/>
                <a:ea typeface="Yu Gothic"/>
                <a:cs typeface="Arial" pitchFamily="34" charset="-120"/>
              </a:rPr>
              <a:t>「10nm台」の世代名。線の幅が少しずつ細くなる。1dの次は10nm未満の0a（10a）。</a:t>
            </a:r>
            <a:endParaRPr lang="en-US" sz="1400" dirty="0"/>
          </a:p>
        </p:txBody>
      </p:sp>
      <p:sp>
        <p:nvSpPr>
          <p:cNvPr id="32" name="Shape 27"/>
          <p:cNvSpPr/>
          <p:nvPr/>
        </p:nvSpPr>
        <p:spPr>
          <a:xfrm>
            <a:off x="8119872" y="1783080"/>
            <a:ext cx="457200" cy="457200"/>
          </a:xfrm>
          <a:prstGeom prst="ellipse">
            <a:avLst/>
          </a:prstGeom>
          <a:solidFill>
            <a:srgbClr val="7B5EA7"/>
          </a:solidFill>
          <a:ln/>
        </p:spPr>
      </p:sp>
      <p:pic>
        <p:nvPicPr>
          <p:cNvPr id="33" name="Image 3" descr="preencoded.png">    </p:cNvPr>
          <p:cNvPicPr>
            <a:picLocks noChangeAspect="1"/>
          </p:cNvPicPr>
          <p:nvPr/>
        </p:nvPicPr>
        <p:blipFill>
          <a:blip r:embed="rId4"/>
          <a:stretch>
            <a:fillRect/>
          </a:stretch>
        </p:blipFill>
        <p:spPr>
          <a:xfrm>
            <a:off x="8234172" y="1897380"/>
            <a:ext cx="228600" cy="228600"/>
          </a:xfrm>
          <a:prstGeom prst="rect">
            <a:avLst/>
          </a:prstGeom>
        </p:spPr>
      </p:pic>
      <p:sp>
        <p:nvSpPr>
          <p:cNvPr id="34" name="Text 28"/>
          <p:cNvSpPr txBox="1"/>
          <p:nvPr/>
        </p:nvSpPr>
        <p:spPr>
          <a:xfrm>
            <a:off x="8686800" y="1783080"/>
            <a:ext cx="2743200" cy="457200"/>
          </a:xfrm>
          <a:prstGeom prst="rect">
            <a:avLst/>
          </a:prstGeom>
          <a:noFill/>
          <a:ln/>
        </p:spPr>
        <p:txBody>
          <a:bodyPr wrap="square" lIns="0" tIns="0" rIns="0" bIns="0" rtlCol="0" anchor="ctr"/>
          <a:lstStyle/>
          <a:p>
            <a:pPr indent="0" marL="0">
              <a:buNone/>
            </a:pPr>
            <a:r>
              <a:rPr lang="en-US" sz="1800" b="1" dirty="0">
                <a:solidFill>
                  <a:srgbClr val="7B5EA7"/>
                </a:solidFill>
                <a:latin typeface="Arial" pitchFamily="34" charset="0"/>
                <a:ea typeface="Yu Gothic"/>
                <a:cs typeface="Arial" pitchFamily="34" charset="-120"/>
              </a:rPr>
              <a:t>NAND</a:t>
            </a:r>
            <a:endParaRPr lang="en-US" sz="1800" dirty="0"/>
          </a:p>
        </p:txBody>
      </p:sp>
      <p:sp>
        <p:nvSpPr>
          <p:cNvPr id="35" name="Shape 29"/>
          <p:cNvSpPr/>
          <p:nvPr/>
        </p:nvSpPr>
        <p:spPr>
          <a:xfrm>
            <a:off x="8302752" y="2423160"/>
            <a:ext cx="1463040" cy="95250"/>
          </a:xfrm>
          <a:prstGeom prst="rect">
            <a:avLst/>
          </a:prstGeom>
          <a:solidFill>
            <a:srgbClr val="C9D3E6"/>
          </a:solidFill>
          <a:ln/>
        </p:spPr>
      </p:sp>
      <p:sp>
        <p:nvSpPr>
          <p:cNvPr id="36" name="Shape 30"/>
          <p:cNvSpPr/>
          <p:nvPr/>
        </p:nvSpPr>
        <p:spPr>
          <a:xfrm>
            <a:off x="8302752" y="2518410"/>
            <a:ext cx="1463040" cy="95250"/>
          </a:xfrm>
          <a:prstGeom prst="rect">
            <a:avLst/>
          </a:prstGeom>
          <a:solidFill>
            <a:srgbClr val="EEF1F7"/>
          </a:solidFill>
          <a:ln/>
        </p:spPr>
      </p:sp>
      <p:sp>
        <p:nvSpPr>
          <p:cNvPr id="37" name="Shape 31"/>
          <p:cNvSpPr/>
          <p:nvPr/>
        </p:nvSpPr>
        <p:spPr>
          <a:xfrm>
            <a:off x="8302752" y="2613660"/>
            <a:ext cx="1463040" cy="95250"/>
          </a:xfrm>
          <a:prstGeom prst="rect">
            <a:avLst/>
          </a:prstGeom>
          <a:solidFill>
            <a:srgbClr val="C9D3E6"/>
          </a:solidFill>
          <a:ln/>
        </p:spPr>
      </p:sp>
      <p:sp>
        <p:nvSpPr>
          <p:cNvPr id="38" name="Shape 32"/>
          <p:cNvSpPr/>
          <p:nvPr/>
        </p:nvSpPr>
        <p:spPr>
          <a:xfrm>
            <a:off x="8302752" y="2708910"/>
            <a:ext cx="1463040" cy="95250"/>
          </a:xfrm>
          <a:prstGeom prst="rect">
            <a:avLst/>
          </a:prstGeom>
          <a:solidFill>
            <a:srgbClr val="EEF1F7"/>
          </a:solidFill>
          <a:ln/>
        </p:spPr>
      </p:sp>
      <p:sp>
        <p:nvSpPr>
          <p:cNvPr id="39" name="Shape 33"/>
          <p:cNvSpPr/>
          <p:nvPr/>
        </p:nvSpPr>
        <p:spPr>
          <a:xfrm>
            <a:off x="8302752" y="2804160"/>
            <a:ext cx="1463040" cy="95250"/>
          </a:xfrm>
          <a:prstGeom prst="rect">
            <a:avLst/>
          </a:prstGeom>
          <a:solidFill>
            <a:srgbClr val="C9D3E6"/>
          </a:solidFill>
          <a:ln/>
        </p:spPr>
      </p:sp>
      <p:sp>
        <p:nvSpPr>
          <p:cNvPr id="40" name="Shape 34"/>
          <p:cNvSpPr/>
          <p:nvPr/>
        </p:nvSpPr>
        <p:spPr>
          <a:xfrm>
            <a:off x="8302752" y="2899410"/>
            <a:ext cx="1463040" cy="95250"/>
          </a:xfrm>
          <a:prstGeom prst="rect">
            <a:avLst/>
          </a:prstGeom>
          <a:solidFill>
            <a:srgbClr val="EEF1F7"/>
          </a:solidFill>
          <a:ln/>
        </p:spPr>
      </p:sp>
      <p:sp>
        <p:nvSpPr>
          <p:cNvPr id="41" name="Shape 35"/>
          <p:cNvSpPr/>
          <p:nvPr/>
        </p:nvSpPr>
        <p:spPr>
          <a:xfrm>
            <a:off x="8302752" y="2994660"/>
            <a:ext cx="1463040" cy="95250"/>
          </a:xfrm>
          <a:prstGeom prst="rect">
            <a:avLst/>
          </a:prstGeom>
          <a:solidFill>
            <a:srgbClr val="C9D3E6"/>
          </a:solidFill>
          <a:ln/>
        </p:spPr>
      </p:sp>
      <p:sp>
        <p:nvSpPr>
          <p:cNvPr id="42" name="Shape 36"/>
          <p:cNvSpPr/>
          <p:nvPr/>
        </p:nvSpPr>
        <p:spPr>
          <a:xfrm>
            <a:off x="8302752" y="3089910"/>
            <a:ext cx="1463040" cy="95250"/>
          </a:xfrm>
          <a:prstGeom prst="rect">
            <a:avLst/>
          </a:prstGeom>
          <a:solidFill>
            <a:srgbClr val="EEF1F7"/>
          </a:solidFill>
          <a:ln/>
        </p:spPr>
      </p:sp>
      <p:sp>
        <p:nvSpPr>
          <p:cNvPr id="43" name="Shape 37"/>
          <p:cNvSpPr/>
          <p:nvPr/>
        </p:nvSpPr>
        <p:spPr>
          <a:xfrm>
            <a:off x="8302752" y="3185160"/>
            <a:ext cx="1463040" cy="95250"/>
          </a:xfrm>
          <a:prstGeom prst="rect">
            <a:avLst/>
          </a:prstGeom>
          <a:solidFill>
            <a:srgbClr val="C9D3E6"/>
          </a:solidFill>
          <a:ln/>
        </p:spPr>
      </p:sp>
      <p:sp>
        <p:nvSpPr>
          <p:cNvPr id="44" name="Shape 38"/>
          <p:cNvSpPr/>
          <p:nvPr/>
        </p:nvSpPr>
        <p:spPr>
          <a:xfrm>
            <a:off x="8302752" y="3280410"/>
            <a:ext cx="1463040" cy="95250"/>
          </a:xfrm>
          <a:prstGeom prst="rect">
            <a:avLst/>
          </a:prstGeom>
          <a:solidFill>
            <a:srgbClr val="EEF1F7"/>
          </a:solidFill>
          <a:ln/>
        </p:spPr>
      </p:sp>
      <p:sp>
        <p:nvSpPr>
          <p:cNvPr id="45" name="Shape 39"/>
          <p:cNvSpPr/>
          <p:nvPr/>
        </p:nvSpPr>
        <p:spPr>
          <a:xfrm>
            <a:off x="8302752" y="3375660"/>
            <a:ext cx="1463040" cy="95250"/>
          </a:xfrm>
          <a:prstGeom prst="rect">
            <a:avLst/>
          </a:prstGeom>
          <a:solidFill>
            <a:srgbClr val="C9D3E6"/>
          </a:solidFill>
          <a:ln/>
        </p:spPr>
      </p:sp>
      <p:sp>
        <p:nvSpPr>
          <p:cNvPr id="46" name="Shape 40"/>
          <p:cNvSpPr/>
          <p:nvPr/>
        </p:nvSpPr>
        <p:spPr>
          <a:xfrm>
            <a:off x="8302752" y="3470910"/>
            <a:ext cx="1463040" cy="95250"/>
          </a:xfrm>
          <a:prstGeom prst="rect">
            <a:avLst/>
          </a:prstGeom>
          <a:solidFill>
            <a:srgbClr val="EEF1F7"/>
          </a:solidFill>
          <a:ln/>
        </p:spPr>
      </p:sp>
      <p:sp>
        <p:nvSpPr>
          <p:cNvPr id="47" name="Shape 41"/>
          <p:cNvSpPr/>
          <p:nvPr/>
        </p:nvSpPr>
        <p:spPr>
          <a:xfrm>
            <a:off x="8302752" y="2423160"/>
            <a:ext cx="1463040" cy="1143000"/>
          </a:xfrm>
          <a:prstGeom prst="rect">
            <a:avLst/>
          </a:prstGeom>
          <a:ln w="9525">
            <a:solidFill>
              <a:srgbClr val="7D8AA5"/>
            </a:solidFill>
            <a:prstDash val="solid"/>
          </a:ln>
        </p:spPr>
      </p:sp>
      <p:sp>
        <p:nvSpPr>
          <p:cNvPr id="48" name="Shape 42"/>
          <p:cNvSpPr/>
          <p:nvPr/>
        </p:nvSpPr>
        <p:spPr>
          <a:xfrm>
            <a:off x="8567928" y="2450592"/>
            <a:ext cx="54864" cy="1088136"/>
          </a:xfrm>
          <a:prstGeom prst="rect">
            <a:avLst/>
          </a:prstGeom>
          <a:solidFill>
            <a:srgbClr val="56607A"/>
          </a:solidFill>
          <a:ln/>
        </p:spPr>
      </p:sp>
      <p:sp>
        <p:nvSpPr>
          <p:cNvPr id="49" name="Shape 43"/>
          <p:cNvSpPr/>
          <p:nvPr/>
        </p:nvSpPr>
        <p:spPr>
          <a:xfrm>
            <a:off x="8860536" y="2450592"/>
            <a:ext cx="54864" cy="1088136"/>
          </a:xfrm>
          <a:prstGeom prst="rect">
            <a:avLst/>
          </a:prstGeom>
          <a:solidFill>
            <a:srgbClr val="56607A"/>
          </a:solidFill>
          <a:ln/>
        </p:spPr>
      </p:sp>
      <p:sp>
        <p:nvSpPr>
          <p:cNvPr id="50" name="Shape 44"/>
          <p:cNvSpPr/>
          <p:nvPr/>
        </p:nvSpPr>
        <p:spPr>
          <a:xfrm>
            <a:off x="9153144" y="2450592"/>
            <a:ext cx="54864" cy="1088136"/>
          </a:xfrm>
          <a:prstGeom prst="rect">
            <a:avLst/>
          </a:prstGeom>
          <a:solidFill>
            <a:srgbClr val="56607A"/>
          </a:solidFill>
          <a:ln/>
        </p:spPr>
      </p:sp>
      <p:sp>
        <p:nvSpPr>
          <p:cNvPr id="51" name="Shape 45"/>
          <p:cNvSpPr/>
          <p:nvPr/>
        </p:nvSpPr>
        <p:spPr>
          <a:xfrm>
            <a:off x="9445752" y="2450592"/>
            <a:ext cx="54864" cy="1088136"/>
          </a:xfrm>
          <a:prstGeom prst="rect">
            <a:avLst/>
          </a:prstGeom>
          <a:solidFill>
            <a:srgbClr val="56607A"/>
          </a:solidFill>
          <a:ln/>
        </p:spPr>
      </p:sp>
      <p:sp>
        <p:nvSpPr>
          <p:cNvPr id="52" name="Shape 46"/>
          <p:cNvSpPr/>
          <p:nvPr/>
        </p:nvSpPr>
        <p:spPr>
          <a:xfrm>
            <a:off x="9902952" y="2423160"/>
            <a:ext cx="0" cy="1143000"/>
          </a:xfrm>
          <a:prstGeom prst="line">
            <a:avLst/>
          </a:prstGeom>
          <a:noFill/>
          <a:ln w="15875">
            <a:solidFill>
              <a:srgbClr val="1C2430"/>
            </a:solidFill>
            <a:prstDash val="solid"/>
            <a:headEnd type="triangle"/>
            <a:tailEnd type="triangle"/>
          </a:ln>
        </p:spPr>
      </p:sp>
      <p:sp>
        <p:nvSpPr>
          <p:cNvPr id="53" name="Text 47"/>
          <p:cNvSpPr txBox="1"/>
          <p:nvPr/>
        </p:nvSpPr>
        <p:spPr>
          <a:xfrm>
            <a:off x="10040112" y="2606040"/>
            <a:ext cx="1463040" cy="731520"/>
          </a:xfrm>
          <a:prstGeom prst="rect">
            <a:avLst/>
          </a:prstGeom>
          <a:noFill/>
          <a:ln/>
        </p:spPr>
        <p:txBody>
          <a:bodyPr wrap="square" lIns="0" tIns="0" rIns="0" bIns="0" rtlCol="0" anchor="ctr"/>
          <a:lstStyle/>
          <a:p>
            <a:pPr indent="0" marL="0">
              <a:buNone/>
            </a:pPr>
            <a:r>
              <a:rPr lang="en-US" sz="1200" dirty="0">
                <a:solidFill>
                  <a:srgbClr val="6A7380"/>
                </a:solidFill>
                <a:latin typeface="Arial" pitchFamily="34" charset="0"/>
                <a:ea typeface="Yu Gothic"/>
                <a:cs typeface="Arial" pitchFamily="34" charset="-120"/>
              </a:rPr>
              <a:t>積んだ段数</a:t>
            </a:r>
            <a:endParaRPr lang="en-US" sz="1200" dirty="0"/>
          </a:p>
          <a:p>
            <a:pPr indent="0" marL="0">
              <a:buNone/>
            </a:pPr>
            <a:r>
              <a:rPr lang="en-US" sz="1200" dirty="0">
                <a:solidFill>
                  <a:srgbClr val="6A7380"/>
                </a:solidFill>
                <a:latin typeface="Arial" pitchFamily="34" charset="0"/>
                <a:ea typeface="Yu Gothic"/>
                <a:cs typeface="Arial" pitchFamily="34" charset="-120"/>
              </a:rPr>
              <a:t>＝層数</a:t>
            </a:r>
            <a:endParaRPr lang="en-US" sz="1200" dirty="0"/>
          </a:p>
        </p:txBody>
      </p:sp>
      <p:sp>
        <p:nvSpPr>
          <p:cNvPr id="54" name="Text 48"/>
          <p:cNvSpPr txBox="1"/>
          <p:nvPr/>
        </p:nvSpPr>
        <p:spPr>
          <a:xfrm>
            <a:off x="8119872" y="3639312"/>
            <a:ext cx="3520440" cy="274320"/>
          </a:xfrm>
          <a:prstGeom prst="rect">
            <a:avLst/>
          </a:prstGeom>
          <a:noFill/>
          <a:ln/>
        </p:spPr>
        <p:txBody>
          <a:bodyPr wrap="square" lIns="0" tIns="0" rIns="0" bIns="0" rtlCol="0" anchor="ctr"/>
          <a:lstStyle/>
          <a:p>
            <a:pPr indent="0" marL="0">
              <a:buNone/>
            </a:pPr>
            <a:r>
              <a:rPr lang="en-US" sz="1150" dirty="0">
                <a:solidFill>
                  <a:srgbClr val="6A7380"/>
                </a:solidFill>
                <a:latin typeface="Arial" pitchFamily="34" charset="0"/>
                <a:ea typeface="Yu Gothic"/>
                <a:cs typeface="Arial" pitchFamily="34" charset="-120"/>
              </a:rPr>
              <a:t>64層（2017年）→ 400層超（2026年）</a:t>
            </a:r>
            <a:endParaRPr lang="en-US" sz="1150" dirty="0"/>
          </a:p>
        </p:txBody>
      </p:sp>
      <p:sp>
        <p:nvSpPr>
          <p:cNvPr id="55" name="Text 49"/>
          <p:cNvSpPr txBox="1"/>
          <p:nvPr/>
        </p:nvSpPr>
        <p:spPr>
          <a:xfrm>
            <a:off x="8119872" y="4069080"/>
            <a:ext cx="3520440" cy="502920"/>
          </a:xfrm>
          <a:prstGeom prst="rect">
            <a:avLst/>
          </a:prstGeom>
          <a:noFill/>
          <a:ln/>
        </p:spPr>
        <p:txBody>
          <a:bodyPr wrap="square" lIns="0" tIns="0" rIns="0" bIns="0" rtlCol="0" anchor="ctr"/>
          <a:lstStyle/>
          <a:p>
            <a:pPr indent="0" marL="0">
              <a:buNone/>
            </a:pPr>
            <a:r>
              <a:rPr lang="en-US" sz="2600" b="1" dirty="0">
                <a:solidFill>
                  <a:srgbClr val="1C2430"/>
                </a:solidFill>
                <a:latin typeface="Arial" pitchFamily="34" charset="0"/>
                <a:ea typeface="Yu Gothic"/>
                <a:cs typeface="Arial" pitchFamily="34" charset="-120"/>
              </a:rPr>
              <a:t>〇〇層</a:t>
            </a:r>
            <a:endParaRPr lang="en-US" sz="2600" dirty="0"/>
          </a:p>
        </p:txBody>
      </p:sp>
      <p:sp>
        <p:nvSpPr>
          <p:cNvPr id="56" name="Text 50"/>
          <p:cNvSpPr txBox="1"/>
          <p:nvPr/>
        </p:nvSpPr>
        <p:spPr>
          <a:xfrm>
            <a:off x="8119872" y="4617720"/>
            <a:ext cx="3429000" cy="1188720"/>
          </a:xfrm>
          <a:prstGeom prst="rect">
            <a:avLst/>
          </a:prstGeom>
          <a:noFill/>
          <a:ln/>
        </p:spPr>
        <p:txBody>
          <a:bodyPr wrap="square" lIns="0" tIns="0" rIns="0" bIns="0" rtlCol="0" anchor="t"/>
          <a:lstStyle/>
          <a:p>
            <a:pPr indent="0" marL="0">
              <a:buNone/>
            </a:pPr>
            <a:r>
              <a:rPr lang="en-US" sz="1400" dirty="0">
                <a:solidFill>
                  <a:srgbClr val="333D4A"/>
                </a:solidFill>
                <a:latin typeface="Arial" pitchFamily="34" charset="0"/>
                <a:ea typeface="Yu Gothic"/>
                <a:cs typeface="Arial" pitchFamily="34" charset="-120"/>
              </a:rPr>
              <a:t>記憶セルを縦に積んだ段数。2030〜31年に1000層級を目指す。数え方は会社で少し違う。</a:t>
            </a:r>
            <a:endParaRPr lang="en-US" sz="1400" dirty="0"/>
          </a:p>
        </p:txBody>
      </p:sp>
      <p:sp>
        <p:nvSpPr>
          <p:cNvPr id="57" name="Text 51"/>
          <p:cNvSpPr txBox="1"/>
          <p:nvPr/>
        </p:nvSpPr>
        <p:spPr>
          <a:xfrm>
            <a:off x="548640" y="5852160"/>
            <a:ext cx="11094415" cy="41148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どれも「数字が進むほど高密度」。ただし、比べられるのは同じ分野の中だけ。</a:t>
            </a:r>
            <a:endParaRPr lang="en-US" sz="1700" dirty="0"/>
          </a:p>
        </p:txBody>
      </p:sp>
      <p:sp>
        <p:nvSpPr>
          <p:cNvPr id="58" name="Text 52"/>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出典：TechInsights（DRAM実測値）、Micron（10nm級の定義）、各社発表</a:t>
            </a:r>
            <a:endParaRPr lang="en-US" sz="950" dirty="0"/>
          </a:p>
        </p:txBody>
      </p:sp>
      <p:sp>
        <p:nvSpPr>
          <p:cNvPr id="59" name="Text 53"/>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2B7A9B"/>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2B7A9B"/>
                </a:solidFill>
                <a:latin typeface="Arial" pitchFamily="34" charset="0"/>
                <a:ea typeface="Yu Gothic"/>
                <a:cs typeface="Arial" pitchFamily="34" charset="-120"/>
              </a:rPr>
              <a:t>ロジック</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ロジック：トランジスタは「ゲートで囲む」から「縦に積む」へ進む</a:t>
            </a:r>
            <a:endParaRPr lang="en-US" sz="2400" dirty="0"/>
          </a:p>
        </p:txBody>
      </p:sp>
      <p:sp>
        <p:nvSpPr>
          <p:cNvPr id="6" name="Shape 3"/>
          <p:cNvSpPr/>
          <p:nvPr/>
        </p:nvSpPr>
        <p:spPr>
          <a:xfrm>
            <a:off x="822960" y="3337560"/>
            <a:ext cx="1554480" cy="182880"/>
          </a:xfrm>
          <a:prstGeom prst="rect">
            <a:avLst/>
          </a:prstGeom>
          <a:solidFill>
            <a:srgbClr val="E4E8ED"/>
          </a:solidFill>
          <a:ln w="9525">
            <a:solidFill>
              <a:srgbClr val="B9C0CA"/>
            </a:solidFill>
            <a:prstDash val="solid"/>
          </a:ln>
        </p:spPr>
      </p:sp>
      <p:sp>
        <p:nvSpPr>
          <p:cNvPr id="7" name="Shape 4"/>
          <p:cNvSpPr/>
          <p:nvPr/>
        </p:nvSpPr>
        <p:spPr>
          <a:xfrm>
            <a:off x="1216152" y="2240280"/>
            <a:ext cx="768096" cy="1097280"/>
          </a:xfrm>
          <a:prstGeom prst="rect">
            <a:avLst/>
          </a:prstGeom>
          <a:solidFill>
            <a:srgbClr val="F2B38A"/>
          </a:solidFill>
          <a:ln w="9525">
            <a:solidFill>
              <a:srgbClr val="C8683A"/>
            </a:solidFill>
            <a:prstDash val="solid"/>
          </a:ln>
        </p:spPr>
      </p:sp>
      <p:sp>
        <p:nvSpPr>
          <p:cNvPr id="8" name="Shape 5"/>
          <p:cNvSpPr/>
          <p:nvPr/>
        </p:nvSpPr>
        <p:spPr>
          <a:xfrm>
            <a:off x="1499616" y="2423160"/>
            <a:ext cx="201168" cy="914400"/>
          </a:xfrm>
          <a:prstGeom prst="rect">
            <a:avLst/>
          </a:prstGeom>
          <a:solidFill>
            <a:srgbClr val="AEB6C2"/>
          </a:solidFill>
          <a:ln w="9525">
            <a:solidFill>
              <a:srgbClr val="7D8896"/>
            </a:solidFill>
            <a:prstDash val="solid"/>
          </a:ln>
        </p:spPr>
      </p:sp>
      <p:sp>
        <p:nvSpPr>
          <p:cNvPr id="9" name="Shape 6"/>
          <p:cNvSpPr/>
          <p:nvPr/>
        </p:nvSpPr>
        <p:spPr>
          <a:xfrm>
            <a:off x="3063240" y="3337560"/>
            <a:ext cx="1554480" cy="182880"/>
          </a:xfrm>
          <a:prstGeom prst="rect">
            <a:avLst/>
          </a:prstGeom>
          <a:solidFill>
            <a:srgbClr val="E4E8ED"/>
          </a:solidFill>
          <a:ln w="9525">
            <a:solidFill>
              <a:srgbClr val="B9C0CA"/>
            </a:solidFill>
            <a:prstDash val="solid"/>
          </a:ln>
        </p:spPr>
      </p:sp>
      <p:sp>
        <p:nvSpPr>
          <p:cNvPr id="10" name="Shape 7"/>
          <p:cNvSpPr/>
          <p:nvPr/>
        </p:nvSpPr>
        <p:spPr>
          <a:xfrm>
            <a:off x="3337560" y="2240280"/>
            <a:ext cx="1005840" cy="1097280"/>
          </a:xfrm>
          <a:prstGeom prst="rect">
            <a:avLst/>
          </a:prstGeom>
          <a:solidFill>
            <a:srgbClr val="F2B38A"/>
          </a:solidFill>
          <a:ln w="9525">
            <a:solidFill>
              <a:srgbClr val="C8683A"/>
            </a:solidFill>
            <a:prstDash val="solid"/>
          </a:ln>
        </p:spPr>
      </p:sp>
      <p:sp>
        <p:nvSpPr>
          <p:cNvPr id="11" name="Shape 8"/>
          <p:cNvSpPr/>
          <p:nvPr/>
        </p:nvSpPr>
        <p:spPr>
          <a:xfrm>
            <a:off x="3483864" y="2423160"/>
            <a:ext cx="713232" cy="137160"/>
          </a:xfrm>
          <a:prstGeom prst="rect">
            <a:avLst/>
          </a:prstGeom>
          <a:solidFill>
            <a:srgbClr val="AEB6C2"/>
          </a:solidFill>
          <a:ln w="9525">
            <a:solidFill>
              <a:srgbClr val="7D8896"/>
            </a:solidFill>
            <a:prstDash val="solid"/>
          </a:ln>
        </p:spPr>
      </p:sp>
      <p:sp>
        <p:nvSpPr>
          <p:cNvPr id="12" name="Shape 9"/>
          <p:cNvSpPr/>
          <p:nvPr/>
        </p:nvSpPr>
        <p:spPr>
          <a:xfrm>
            <a:off x="3483864" y="2697480"/>
            <a:ext cx="713232" cy="137160"/>
          </a:xfrm>
          <a:prstGeom prst="rect">
            <a:avLst/>
          </a:prstGeom>
          <a:solidFill>
            <a:srgbClr val="AEB6C2"/>
          </a:solidFill>
          <a:ln w="9525">
            <a:solidFill>
              <a:srgbClr val="7D8896"/>
            </a:solidFill>
            <a:prstDash val="solid"/>
          </a:ln>
        </p:spPr>
      </p:sp>
      <p:sp>
        <p:nvSpPr>
          <p:cNvPr id="13" name="Shape 10"/>
          <p:cNvSpPr/>
          <p:nvPr/>
        </p:nvSpPr>
        <p:spPr>
          <a:xfrm>
            <a:off x="3483864" y="2971800"/>
            <a:ext cx="713232" cy="137160"/>
          </a:xfrm>
          <a:prstGeom prst="rect">
            <a:avLst/>
          </a:prstGeom>
          <a:solidFill>
            <a:srgbClr val="AEB6C2"/>
          </a:solidFill>
          <a:ln w="9525">
            <a:solidFill>
              <a:srgbClr val="7D8896"/>
            </a:solidFill>
            <a:prstDash val="solid"/>
          </a:ln>
        </p:spPr>
      </p:sp>
      <p:sp>
        <p:nvSpPr>
          <p:cNvPr id="14" name="Shape 11"/>
          <p:cNvSpPr/>
          <p:nvPr/>
        </p:nvSpPr>
        <p:spPr>
          <a:xfrm>
            <a:off x="5321808" y="3337560"/>
            <a:ext cx="1554480" cy="182880"/>
          </a:xfrm>
          <a:prstGeom prst="rect">
            <a:avLst/>
          </a:prstGeom>
          <a:solidFill>
            <a:srgbClr val="E4E8ED"/>
          </a:solidFill>
          <a:ln w="9525">
            <a:solidFill>
              <a:srgbClr val="B9C0CA"/>
            </a:solidFill>
            <a:prstDash val="solid"/>
          </a:ln>
        </p:spPr>
      </p:sp>
      <p:sp>
        <p:nvSpPr>
          <p:cNvPr id="15" name="Shape 12"/>
          <p:cNvSpPr/>
          <p:nvPr/>
        </p:nvSpPr>
        <p:spPr>
          <a:xfrm>
            <a:off x="5532120" y="2240280"/>
            <a:ext cx="1133856" cy="1097280"/>
          </a:xfrm>
          <a:prstGeom prst="rect">
            <a:avLst/>
          </a:prstGeom>
          <a:solidFill>
            <a:srgbClr val="F2B38A"/>
          </a:solidFill>
          <a:ln w="9525">
            <a:solidFill>
              <a:srgbClr val="C8683A"/>
            </a:solidFill>
            <a:prstDash val="solid"/>
          </a:ln>
        </p:spPr>
      </p:sp>
      <p:sp>
        <p:nvSpPr>
          <p:cNvPr id="16" name="Shape 13"/>
          <p:cNvSpPr/>
          <p:nvPr/>
        </p:nvSpPr>
        <p:spPr>
          <a:xfrm>
            <a:off x="6053328" y="2240280"/>
            <a:ext cx="91440" cy="1097280"/>
          </a:xfrm>
          <a:prstGeom prst="rect">
            <a:avLst/>
          </a:prstGeom>
          <a:solidFill>
            <a:srgbClr val="4A5563"/>
          </a:solidFill>
          <a:ln/>
        </p:spPr>
      </p:sp>
      <p:sp>
        <p:nvSpPr>
          <p:cNvPr id="17" name="Shape 14"/>
          <p:cNvSpPr/>
          <p:nvPr/>
        </p:nvSpPr>
        <p:spPr>
          <a:xfrm>
            <a:off x="5596128" y="2423160"/>
            <a:ext cx="402336" cy="137160"/>
          </a:xfrm>
          <a:prstGeom prst="rect">
            <a:avLst/>
          </a:prstGeom>
          <a:solidFill>
            <a:srgbClr val="AEB6C2"/>
          </a:solidFill>
          <a:ln w="9525">
            <a:solidFill>
              <a:srgbClr val="7D8896"/>
            </a:solidFill>
            <a:prstDash val="solid"/>
          </a:ln>
        </p:spPr>
      </p:sp>
      <p:sp>
        <p:nvSpPr>
          <p:cNvPr id="18" name="Shape 15"/>
          <p:cNvSpPr/>
          <p:nvPr/>
        </p:nvSpPr>
        <p:spPr>
          <a:xfrm>
            <a:off x="5596128" y="2697480"/>
            <a:ext cx="402336" cy="137160"/>
          </a:xfrm>
          <a:prstGeom prst="rect">
            <a:avLst/>
          </a:prstGeom>
          <a:solidFill>
            <a:srgbClr val="AEB6C2"/>
          </a:solidFill>
          <a:ln w="9525">
            <a:solidFill>
              <a:srgbClr val="7D8896"/>
            </a:solidFill>
            <a:prstDash val="solid"/>
          </a:ln>
        </p:spPr>
      </p:sp>
      <p:sp>
        <p:nvSpPr>
          <p:cNvPr id="19" name="Shape 16"/>
          <p:cNvSpPr/>
          <p:nvPr/>
        </p:nvSpPr>
        <p:spPr>
          <a:xfrm>
            <a:off x="5596128" y="2971800"/>
            <a:ext cx="402336" cy="137160"/>
          </a:xfrm>
          <a:prstGeom prst="rect">
            <a:avLst/>
          </a:prstGeom>
          <a:solidFill>
            <a:srgbClr val="AEB6C2"/>
          </a:solidFill>
          <a:ln w="9525">
            <a:solidFill>
              <a:srgbClr val="7D8896"/>
            </a:solidFill>
            <a:prstDash val="solid"/>
          </a:ln>
        </p:spPr>
      </p:sp>
      <p:sp>
        <p:nvSpPr>
          <p:cNvPr id="20" name="Shape 17"/>
          <p:cNvSpPr/>
          <p:nvPr/>
        </p:nvSpPr>
        <p:spPr>
          <a:xfrm>
            <a:off x="6199632" y="2423160"/>
            <a:ext cx="402336" cy="137160"/>
          </a:xfrm>
          <a:prstGeom prst="rect">
            <a:avLst/>
          </a:prstGeom>
          <a:solidFill>
            <a:srgbClr val="AEB6C2"/>
          </a:solidFill>
          <a:ln w="9525">
            <a:solidFill>
              <a:srgbClr val="7D8896"/>
            </a:solidFill>
            <a:prstDash val="solid"/>
          </a:ln>
        </p:spPr>
      </p:sp>
      <p:sp>
        <p:nvSpPr>
          <p:cNvPr id="21" name="Shape 18"/>
          <p:cNvSpPr/>
          <p:nvPr/>
        </p:nvSpPr>
        <p:spPr>
          <a:xfrm>
            <a:off x="6199632" y="2697480"/>
            <a:ext cx="402336" cy="137160"/>
          </a:xfrm>
          <a:prstGeom prst="rect">
            <a:avLst/>
          </a:prstGeom>
          <a:solidFill>
            <a:srgbClr val="AEB6C2"/>
          </a:solidFill>
          <a:ln w="9525">
            <a:solidFill>
              <a:srgbClr val="7D8896"/>
            </a:solidFill>
            <a:prstDash val="solid"/>
          </a:ln>
        </p:spPr>
      </p:sp>
      <p:sp>
        <p:nvSpPr>
          <p:cNvPr id="22" name="Shape 19"/>
          <p:cNvSpPr/>
          <p:nvPr/>
        </p:nvSpPr>
        <p:spPr>
          <a:xfrm>
            <a:off x="6199632" y="2971800"/>
            <a:ext cx="402336" cy="137160"/>
          </a:xfrm>
          <a:prstGeom prst="rect">
            <a:avLst/>
          </a:prstGeom>
          <a:solidFill>
            <a:srgbClr val="AEB6C2"/>
          </a:solidFill>
          <a:ln w="9525">
            <a:solidFill>
              <a:srgbClr val="7D8896"/>
            </a:solidFill>
            <a:prstDash val="solid"/>
          </a:ln>
        </p:spPr>
      </p:sp>
      <p:sp>
        <p:nvSpPr>
          <p:cNvPr id="23" name="Shape 20"/>
          <p:cNvSpPr/>
          <p:nvPr/>
        </p:nvSpPr>
        <p:spPr>
          <a:xfrm>
            <a:off x="7580376" y="3337560"/>
            <a:ext cx="1554480" cy="182880"/>
          </a:xfrm>
          <a:prstGeom prst="rect">
            <a:avLst/>
          </a:prstGeom>
          <a:solidFill>
            <a:srgbClr val="E4E8ED"/>
          </a:solidFill>
          <a:ln w="9525">
            <a:solidFill>
              <a:srgbClr val="B9C0CA"/>
            </a:solidFill>
            <a:prstDash val="solid"/>
          </a:ln>
        </p:spPr>
      </p:sp>
      <p:sp>
        <p:nvSpPr>
          <p:cNvPr id="24" name="Shape 21"/>
          <p:cNvSpPr/>
          <p:nvPr/>
        </p:nvSpPr>
        <p:spPr>
          <a:xfrm>
            <a:off x="7854696" y="2011680"/>
            <a:ext cx="1005840" cy="1325880"/>
          </a:xfrm>
          <a:prstGeom prst="rect">
            <a:avLst/>
          </a:prstGeom>
          <a:solidFill>
            <a:srgbClr val="F2B38A"/>
          </a:solidFill>
          <a:ln w="9525">
            <a:solidFill>
              <a:srgbClr val="C8683A"/>
            </a:solidFill>
            <a:prstDash val="solid"/>
          </a:ln>
        </p:spPr>
      </p:sp>
      <p:sp>
        <p:nvSpPr>
          <p:cNvPr id="25" name="Shape 22"/>
          <p:cNvSpPr/>
          <p:nvPr/>
        </p:nvSpPr>
        <p:spPr>
          <a:xfrm>
            <a:off x="8001000" y="2130552"/>
            <a:ext cx="713232" cy="100584"/>
          </a:xfrm>
          <a:prstGeom prst="rect">
            <a:avLst/>
          </a:prstGeom>
          <a:solidFill>
            <a:srgbClr val="AEB6C2"/>
          </a:solidFill>
          <a:ln w="9525">
            <a:solidFill>
              <a:srgbClr val="7D8896"/>
            </a:solidFill>
            <a:prstDash val="solid"/>
          </a:ln>
        </p:spPr>
      </p:sp>
      <p:sp>
        <p:nvSpPr>
          <p:cNvPr id="26" name="Shape 23"/>
          <p:cNvSpPr/>
          <p:nvPr/>
        </p:nvSpPr>
        <p:spPr>
          <a:xfrm>
            <a:off x="8001000" y="2313432"/>
            <a:ext cx="713232" cy="100584"/>
          </a:xfrm>
          <a:prstGeom prst="rect">
            <a:avLst/>
          </a:prstGeom>
          <a:solidFill>
            <a:srgbClr val="AEB6C2"/>
          </a:solidFill>
          <a:ln w="9525">
            <a:solidFill>
              <a:srgbClr val="7D8896"/>
            </a:solidFill>
            <a:prstDash val="solid"/>
          </a:ln>
        </p:spPr>
      </p:sp>
      <p:sp>
        <p:nvSpPr>
          <p:cNvPr id="27" name="Shape 24"/>
          <p:cNvSpPr/>
          <p:nvPr/>
        </p:nvSpPr>
        <p:spPr>
          <a:xfrm>
            <a:off x="8001000" y="2496312"/>
            <a:ext cx="713232" cy="100584"/>
          </a:xfrm>
          <a:prstGeom prst="rect">
            <a:avLst/>
          </a:prstGeom>
          <a:solidFill>
            <a:srgbClr val="AEB6C2"/>
          </a:solidFill>
          <a:ln w="9525">
            <a:solidFill>
              <a:srgbClr val="7D8896"/>
            </a:solidFill>
            <a:prstDash val="solid"/>
          </a:ln>
        </p:spPr>
      </p:sp>
      <p:sp>
        <p:nvSpPr>
          <p:cNvPr id="28" name="Shape 25"/>
          <p:cNvSpPr/>
          <p:nvPr/>
        </p:nvSpPr>
        <p:spPr>
          <a:xfrm>
            <a:off x="7900416" y="2642616"/>
            <a:ext cx="914400" cy="54864"/>
          </a:xfrm>
          <a:prstGeom prst="rect">
            <a:avLst/>
          </a:prstGeom>
          <a:solidFill>
            <a:srgbClr val="4A5563"/>
          </a:solidFill>
          <a:ln/>
        </p:spPr>
      </p:sp>
      <p:sp>
        <p:nvSpPr>
          <p:cNvPr id="29" name="Shape 26"/>
          <p:cNvSpPr/>
          <p:nvPr/>
        </p:nvSpPr>
        <p:spPr>
          <a:xfrm>
            <a:off x="8001000" y="2788920"/>
            <a:ext cx="713232" cy="100584"/>
          </a:xfrm>
          <a:prstGeom prst="rect">
            <a:avLst/>
          </a:prstGeom>
          <a:solidFill>
            <a:srgbClr val="AEB6C2"/>
          </a:solidFill>
          <a:ln w="9525">
            <a:solidFill>
              <a:srgbClr val="7D8896"/>
            </a:solidFill>
            <a:prstDash val="solid"/>
          </a:ln>
        </p:spPr>
      </p:sp>
      <p:sp>
        <p:nvSpPr>
          <p:cNvPr id="30" name="Shape 27"/>
          <p:cNvSpPr/>
          <p:nvPr/>
        </p:nvSpPr>
        <p:spPr>
          <a:xfrm>
            <a:off x="8001000" y="2971800"/>
            <a:ext cx="713232" cy="100584"/>
          </a:xfrm>
          <a:prstGeom prst="rect">
            <a:avLst/>
          </a:prstGeom>
          <a:solidFill>
            <a:srgbClr val="AEB6C2"/>
          </a:solidFill>
          <a:ln w="9525">
            <a:solidFill>
              <a:srgbClr val="7D8896"/>
            </a:solidFill>
            <a:prstDash val="solid"/>
          </a:ln>
        </p:spPr>
      </p:sp>
      <p:sp>
        <p:nvSpPr>
          <p:cNvPr id="31" name="Shape 28"/>
          <p:cNvSpPr/>
          <p:nvPr/>
        </p:nvSpPr>
        <p:spPr>
          <a:xfrm>
            <a:off x="8001000" y="3154680"/>
            <a:ext cx="713232" cy="100584"/>
          </a:xfrm>
          <a:prstGeom prst="rect">
            <a:avLst/>
          </a:prstGeom>
          <a:solidFill>
            <a:srgbClr val="AEB6C2"/>
          </a:solidFill>
          <a:ln w="9525">
            <a:solidFill>
              <a:srgbClr val="7D8896"/>
            </a:solidFill>
            <a:prstDash val="solid"/>
          </a:ln>
        </p:spPr>
      </p:sp>
      <p:sp>
        <p:nvSpPr>
          <p:cNvPr id="32" name="Shape 29"/>
          <p:cNvSpPr/>
          <p:nvPr/>
        </p:nvSpPr>
        <p:spPr>
          <a:xfrm>
            <a:off x="9829800" y="3337560"/>
            <a:ext cx="1554480" cy="182880"/>
          </a:xfrm>
          <a:prstGeom prst="rect">
            <a:avLst/>
          </a:prstGeom>
          <a:solidFill>
            <a:srgbClr val="E4E8ED"/>
          </a:solidFill>
          <a:ln w="9525">
            <a:solidFill>
              <a:srgbClr val="B9C0CA"/>
            </a:solidFill>
            <a:prstDash val="solid"/>
          </a:ln>
        </p:spPr>
      </p:sp>
      <p:sp>
        <p:nvSpPr>
          <p:cNvPr id="33" name="Shape 30"/>
          <p:cNvSpPr/>
          <p:nvPr/>
        </p:nvSpPr>
        <p:spPr>
          <a:xfrm>
            <a:off x="10104120" y="2011680"/>
            <a:ext cx="1005840" cy="1325880"/>
          </a:xfrm>
          <a:prstGeom prst="rect">
            <a:avLst/>
          </a:prstGeom>
          <a:solidFill>
            <a:srgbClr val="F2B38A"/>
          </a:solidFill>
          <a:ln w="9525">
            <a:solidFill>
              <a:srgbClr val="C8683A"/>
            </a:solidFill>
            <a:prstDash val="solid"/>
          </a:ln>
        </p:spPr>
      </p:sp>
      <p:sp>
        <p:nvSpPr>
          <p:cNvPr id="34" name="Shape 31"/>
          <p:cNvSpPr/>
          <p:nvPr/>
        </p:nvSpPr>
        <p:spPr>
          <a:xfrm>
            <a:off x="10250424" y="2130552"/>
            <a:ext cx="713232" cy="54864"/>
          </a:xfrm>
          <a:prstGeom prst="rect">
            <a:avLst/>
          </a:prstGeom>
          <a:solidFill>
            <a:srgbClr val="B9A3D6"/>
          </a:solidFill>
          <a:ln w="9525">
            <a:solidFill>
              <a:srgbClr val="7B5EA7"/>
            </a:solidFill>
            <a:prstDash val="solid"/>
          </a:ln>
        </p:spPr>
      </p:sp>
      <p:sp>
        <p:nvSpPr>
          <p:cNvPr id="35" name="Shape 32"/>
          <p:cNvSpPr/>
          <p:nvPr/>
        </p:nvSpPr>
        <p:spPr>
          <a:xfrm>
            <a:off x="10250424" y="2313432"/>
            <a:ext cx="713232" cy="54864"/>
          </a:xfrm>
          <a:prstGeom prst="rect">
            <a:avLst/>
          </a:prstGeom>
          <a:solidFill>
            <a:srgbClr val="B9A3D6"/>
          </a:solidFill>
          <a:ln w="9525">
            <a:solidFill>
              <a:srgbClr val="7B5EA7"/>
            </a:solidFill>
            <a:prstDash val="solid"/>
          </a:ln>
        </p:spPr>
      </p:sp>
      <p:sp>
        <p:nvSpPr>
          <p:cNvPr id="36" name="Shape 33"/>
          <p:cNvSpPr/>
          <p:nvPr/>
        </p:nvSpPr>
        <p:spPr>
          <a:xfrm>
            <a:off x="10250424" y="2496312"/>
            <a:ext cx="713232" cy="54864"/>
          </a:xfrm>
          <a:prstGeom prst="rect">
            <a:avLst/>
          </a:prstGeom>
          <a:solidFill>
            <a:srgbClr val="B9A3D6"/>
          </a:solidFill>
          <a:ln w="9525">
            <a:solidFill>
              <a:srgbClr val="7B5EA7"/>
            </a:solidFill>
            <a:prstDash val="solid"/>
          </a:ln>
        </p:spPr>
      </p:sp>
      <p:sp>
        <p:nvSpPr>
          <p:cNvPr id="37" name="Shape 34"/>
          <p:cNvSpPr/>
          <p:nvPr/>
        </p:nvSpPr>
        <p:spPr>
          <a:xfrm>
            <a:off x="10149840" y="2642616"/>
            <a:ext cx="914400" cy="54864"/>
          </a:xfrm>
          <a:prstGeom prst="rect">
            <a:avLst/>
          </a:prstGeom>
          <a:solidFill>
            <a:srgbClr val="4A5563"/>
          </a:solidFill>
          <a:ln/>
        </p:spPr>
      </p:sp>
      <p:sp>
        <p:nvSpPr>
          <p:cNvPr id="38" name="Shape 35"/>
          <p:cNvSpPr/>
          <p:nvPr/>
        </p:nvSpPr>
        <p:spPr>
          <a:xfrm>
            <a:off x="10250424" y="2788920"/>
            <a:ext cx="713232" cy="54864"/>
          </a:xfrm>
          <a:prstGeom prst="rect">
            <a:avLst/>
          </a:prstGeom>
          <a:solidFill>
            <a:srgbClr val="B9A3D6"/>
          </a:solidFill>
          <a:ln w="9525">
            <a:solidFill>
              <a:srgbClr val="7B5EA7"/>
            </a:solidFill>
            <a:prstDash val="solid"/>
          </a:ln>
        </p:spPr>
      </p:sp>
      <p:sp>
        <p:nvSpPr>
          <p:cNvPr id="39" name="Shape 36"/>
          <p:cNvSpPr/>
          <p:nvPr/>
        </p:nvSpPr>
        <p:spPr>
          <a:xfrm>
            <a:off x="10250424" y="2971800"/>
            <a:ext cx="713232" cy="54864"/>
          </a:xfrm>
          <a:prstGeom prst="rect">
            <a:avLst/>
          </a:prstGeom>
          <a:solidFill>
            <a:srgbClr val="B9A3D6"/>
          </a:solidFill>
          <a:ln w="9525">
            <a:solidFill>
              <a:srgbClr val="7B5EA7"/>
            </a:solidFill>
            <a:prstDash val="solid"/>
          </a:ln>
        </p:spPr>
      </p:sp>
      <p:sp>
        <p:nvSpPr>
          <p:cNvPr id="40" name="Shape 37"/>
          <p:cNvSpPr/>
          <p:nvPr/>
        </p:nvSpPr>
        <p:spPr>
          <a:xfrm>
            <a:off x="10250424" y="3154680"/>
            <a:ext cx="713232" cy="54864"/>
          </a:xfrm>
          <a:prstGeom prst="rect">
            <a:avLst/>
          </a:prstGeom>
          <a:solidFill>
            <a:srgbClr val="B9A3D6"/>
          </a:solidFill>
          <a:ln w="9525">
            <a:solidFill>
              <a:srgbClr val="7B5EA7"/>
            </a:solidFill>
            <a:prstDash val="solid"/>
          </a:ln>
        </p:spPr>
      </p:sp>
      <p:sp>
        <p:nvSpPr>
          <p:cNvPr id="41" name="Text 38"/>
          <p:cNvSpPr txBox="1"/>
          <p:nvPr/>
        </p:nvSpPr>
        <p:spPr>
          <a:xfrm>
            <a:off x="8906256" y="2039112"/>
            <a:ext cx="274320" cy="274320"/>
          </a:xfrm>
          <a:prstGeom prst="rect">
            <a:avLst/>
          </a:prstGeom>
          <a:noFill/>
          <a:ln/>
        </p:spPr>
        <p:txBody>
          <a:bodyPr wrap="square" lIns="0" tIns="0" rIns="0" bIns="0" rtlCol="0" anchor="ctr"/>
          <a:lstStyle/>
          <a:p>
            <a:pPr indent="0" marL="0">
              <a:buNone/>
            </a:pPr>
            <a:r>
              <a:rPr lang="en-US" sz="1200" b="1" dirty="0">
                <a:solidFill>
                  <a:srgbClr val="6A7380"/>
                </a:solidFill>
                <a:latin typeface="Arial" pitchFamily="34" charset="0"/>
                <a:ea typeface="Yu Gothic"/>
                <a:cs typeface="Arial" pitchFamily="34" charset="-120"/>
              </a:rPr>
              <a:t>n</a:t>
            </a:r>
            <a:endParaRPr lang="en-US" sz="1200" dirty="0"/>
          </a:p>
        </p:txBody>
      </p:sp>
      <p:sp>
        <p:nvSpPr>
          <p:cNvPr id="42" name="Text 39"/>
          <p:cNvSpPr txBox="1"/>
          <p:nvPr/>
        </p:nvSpPr>
        <p:spPr>
          <a:xfrm>
            <a:off x="8906256" y="2715768"/>
            <a:ext cx="274320" cy="274320"/>
          </a:xfrm>
          <a:prstGeom prst="rect">
            <a:avLst/>
          </a:prstGeom>
          <a:noFill/>
          <a:ln/>
        </p:spPr>
        <p:txBody>
          <a:bodyPr wrap="square" lIns="0" tIns="0" rIns="0" bIns="0" rtlCol="0" anchor="ctr"/>
          <a:lstStyle/>
          <a:p>
            <a:pPr indent="0" marL="0">
              <a:buNone/>
            </a:pPr>
            <a:r>
              <a:rPr lang="en-US" sz="1200" b="1" dirty="0">
                <a:solidFill>
                  <a:srgbClr val="6A7380"/>
                </a:solidFill>
                <a:latin typeface="Arial" pitchFamily="34" charset="0"/>
                <a:ea typeface="Yu Gothic"/>
                <a:cs typeface="Arial" pitchFamily="34" charset="-120"/>
              </a:rPr>
              <a:t>p</a:t>
            </a:r>
            <a:endParaRPr lang="en-US" sz="1200" dirty="0"/>
          </a:p>
        </p:txBody>
      </p:sp>
      <p:sp>
        <p:nvSpPr>
          <p:cNvPr id="43" name="Text 40"/>
          <p:cNvSpPr txBox="1"/>
          <p:nvPr/>
        </p:nvSpPr>
        <p:spPr>
          <a:xfrm>
            <a:off x="5641848" y="1965960"/>
            <a:ext cx="274320" cy="256032"/>
          </a:xfrm>
          <a:prstGeom prst="rect">
            <a:avLst/>
          </a:prstGeom>
          <a:noFill/>
          <a:ln/>
        </p:spPr>
        <p:txBody>
          <a:bodyPr wrap="square" lIns="0" tIns="0" rIns="0" bIns="0" rtlCol="0" anchor="ctr"/>
          <a:lstStyle/>
          <a:p>
            <a:pPr algn="ctr" indent="0" marL="0">
              <a:buNone/>
            </a:pPr>
            <a:r>
              <a:rPr lang="en-US" sz="1200" b="1" dirty="0">
                <a:solidFill>
                  <a:srgbClr val="6A7380"/>
                </a:solidFill>
                <a:latin typeface="Arial" pitchFamily="34" charset="0"/>
                <a:ea typeface="Yu Gothic"/>
                <a:cs typeface="Arial" pitchFamily="34" charset="-120"/>
              </a:rPr>
              <a:t>n</a:t>
            </a:r>
            <a:endParaRPr lang="en-US" sz="1200" dirty="0"/>
          </a:p>
        </p:txBody>
      </p:sp>
      <p:sp>
        <p:nvSpPr>
          <p:cNvPr id="44" name="Text 41"/>
          <p:cNvSpPr txBox="1"/>
          <p:nvPr/>
        </p:nvSpPr>
        <p:spPr>
          <a:xfrm>
            <a:off x="6281928" y="1965960"/>
            <a:ext cx="274320" cy="256032"/>
          </a:xfrm>
          <a:prstGeom prst="rect">
            <a:avLst/>
          </a:prstGeom>
          <a:noFill/>
          <a:ln/>
        </p:spPr>
        <p:txBody>
          <a:bodyPr wrap="square" lIns="0" tIns="0" rIns="0" bIns="0" rtlCol="0" anchor="ctr"/>
          <a:lstStyle/>
          <a:p>
            <a:pPr algn="ctr" indent="0" marL="0">
              <a:buNone/>
            </a:pPr>
            <a:r>
              <a:rPr lang="en-US" sz="1200" b="1" dirty="0">
                <a:solidFill>
                  <a:srgbClr val="6A7380"/>
                </a:solidFill>
                <a:latin typeface="Arial" pitchFamily="34" charset="0"/>
                <a:ea typeface="Yu Gothic"/>
                <a:cs typeface="Arial" pitchFamily="34" charset="-120"/>
              </a:rPr>
              <a:t>p</a:t>
            </a:r>
            <a:endParaRPr lang="en-US" sz="1200" dirty="0"/>
          </a:p>
        </p:txBody>
      </p:sp>
      <p:sp>
        <p:nvSpPr>
          <p:cNvPr id="45" name="Shape 42"/>
          <p:cNvSpPr/>
          <p:nvPr/>
        </p:nvSpPr>
        <p:spPr>
          <a:xfrm>
            <a:off x="2404872" y="2788920"/>
            <a:ext cx="530352" cy="0"/>
          </a:xfrm>
          <a:prstGeom prst="line">
            <a:avLst/>
          </a:prstGeom>
          <a:noFill/>
          <a:ln w="19050">
            <a:solidFill>
              <a:srgbClr val="8C96A3"/>
            </a:solidFill>
            <a:prstDash val="solid"/>
            <a:tailEnd type="triangle"/>
          </a:ln>
        </p:spPr>
      </p:sp>
      <p:sp>
        <p:nvSpPr>
          <p:cNvPr id="46" name="Shape 43"/>
          <p:cNvSpPr/>
          <p:nvPr/>
        </p:nvSpPr>
        <p:spPr>
          <a:xfrm>
            <a:off x="4645152" y="2788920"/>
            <a:ext cx="530352" cy="0"/>
          </a:xfrm>
          <a:prstGeom prst="line">
            <a:avLst/>
          </a:prstGeom>
          <a:noFill/>
          <a:ln w="19050">
            <a:solidFill>
              <a:srgbClr val="8C96A3"/>
            </a:solidFill>
            <a:prstDash val="solid"/>
            <a:tailEnd type="triangle"/>
          </a:ln>
        </p:spPr>
      </p:sp>
      <p:sp>
        <p:nvSpPr>
          <p:cNvPr id="47" name="Shape 44"/>
          <p:cNvSpPr/>
          <p:nvPr/>
        </p:nvSpPr>
        <p:spPr>
          <a:xfrm>
            <a:off x="6903720" y="2788920"/>
            <a:ext cx="530352" cy="0"/>
          </a:xfrm>
          <a:prstGeom prst="line">
            <a:avLst/>
          </a:prstGeom>
          <a:noFill/>
          <a:ln w="19050">
            <a:solidFill>
              <a:srgbClr val="8C96A3"/>
            </a:solidFill>
            <a:prstDash val="solid"/>
            <a:tailEnd type="triangle"/>
          </a:ln>
        </p:spPr>
      </p:sp>
      <p:sp>
        <p:nvSpPr>
          <p:cNvPr id="48" name="Shape 45"/>
          <p:cNvSpPr/>
          <p:nvPr/>
        </p:nvSpPr>
        <p:spPr>
          <a:xfrm>
            <a:off x="9162288" y="2788920"/>
            <a:ext cx="530352" cy="0"/>
          </a:xfrm>
          <a:prstGeom prst="line">
            <a:avLst/>
          </a:prstGeom>
          <a:noFill/>
          <a:ln w="19050">
            <a:solidFill>
              <a:srgbClr val="8C96A3"/>
            </a:solidFill>
            <a:prstDash val="solid"/>
            <a:tailEnd type="triangle"/>
          </a:ln>
        </p:spPr>
      </p:sp>
      <p:sp>
        <p:nvSpPr>
          <p:cNvPr id="49" name="Text 46"/>
          <p:cNvSpPr txBox="1"/>
          <p:nvPr/>
        </p:nvSpPr>
        <p:spPr>
          <a:xfrm>
            <a:off x="548640" y="3703320"/>
            <a:ext cx="2103120" cy="365760"/>
          </a:xfrm>
          <a:prstGeom prst="rect">
            <a:avLst/>
          </a:prstGeom>
          <a:noFill/>
          <a:ln/>
        </p:spPr>
        <p:txBody>
          <a:bodyPr wrap="square" lIns="0" tIns="0" rIns="0" bIns="0" rtlCol="0" anchor="ctr"/>
          <a:lstStyle/>
          <a:p>
            <a:pPr algn="ctr" indent="0" marL="0">
              <a:buNone/>
            </a:pPr>
            <a:r>
              <a:rPr lang="en-US" sz="1500" b="1" dirty="0">
                <a:solidFill>
                  <a:srgbClr val="1C2430"/>
                </a:solidFill>
                <a:latin typeface="Arial" pitchFamily="34" charset="0"/>
                <a:ea typeface="Yu Gothic"/>
                <a:cs typeface="Arial" pitchFamily="34" charset="-120"/>
              </a:rPr>
              <a:t>FinFET</a:t>
            </a:r>
            <a:endParaRPr lang="en-US" sz="1500" dirty="0"/>
          </a:p>
        </p:txBody>
      </p:sp>
      <p:sp>
        <p:nvSpPr>
          <p:cNvPr id="50" name="Shape 47"/>
          <p:cNvSpPr/>
          <p:nvPr/>
        </p:nvSpPr>
        <p:spPr>
          <a:xfrm>
            <a:off x="731520" y="4114800"/>
            <a:ext cx="1737360" cy="310896"/>
          </a:xfrm>
          <a:prstGeom prst="roundRect">
            <a:avLst>
              <a:gd name="adj" fmla="val 17647"/>
            </a:avLst>
          </a:prstGeom>
          <a:solidFill>
            <a:srgbClr val="2F5597"/>
          </a:solidFill>
          <a:ln/>
        </p:spPr>
      </p:sp>
      <p:sp>
        <p:nvSpPr>
          <p:cNvPr id="51" name="Text 48"/>
          <p:cNvSpPr txBox="1"/>
          <p:nvPr/>
        </p:nvSpPr>
        <p:spPr>
          <a:xfrm>
            <a:off x="731520" y="4114800"/>
            <a:ext cx="17373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Yu Gothic"/>
                <a:cs typeface="Arial" pitchFamily="34" charset="-120"/>
              </a:rPr>
              <a:t>〜2024年（3nmまで）</a:t>
            </a:r>
            <a:endParaRPr lang="en-US" sz="1150" dirty="0"/>
          </a:p>
        </p:txBody>
      </p:sp>
      <p:sp>
        <p:nvSpPr>
          <p:cNvPr id="52" name="Text 49"/>
          <p:cNvSpPr txBox="1"/>
          <p:nvPr/>
        </p:nvSpPr>
        <p:spPr>
          <a:xfrm>
            <a:off x="548640" y="4526280"/>
            <a:ext cx="2103120" cy="731520"/>
          </a:xfrm>
          <a:prstGeom prst="rect">
            <a:avLst/>
          </a:prstGeom>
          <a:noFill/>
          <a:ln/>
        </p:spPr>
        <p:txBody>
          <a:bodyPr wrap="square" lIns="0" tIns="0" rIns="0" bIns="0" rtlCol="0" anchor="t"/>
          <a:lstStyle/>
          <a:p>
            <a:pPr algn="ctr" indent="0" marL="0">
              <a:buNone/>
            </a:pPr>
            <a:r>
              <a:rPr lang="en-US" sz="1250" dirty="0">
                <a:solidFill>
                  <a:srgbClr val="333D4A"/>
                </a:solidFill>
                <a:latin typeface="Arial" pitchFamily="34" charset="0"/>
                <a:ea typeface="Yu Gothic"/>
                <a:cs typeface="Arial" pitchFamily="34" charset="-120"/>
              </a:rPr>
              <a:t>ゲートがチャネルを3方向から囲む</a:t>
            </a:r>
            <a:endParaRPr lang="en-US" sz="1250" dirty="0"/>
          </a:p>
        </p:txBody>
      </p:sp>
      <p:sp>
        <p:nvSpPr>
          <p:cNvPr id="53" name="Text 50"/>
          <p:cNvSpPr txBox="1"/>
          <p:nvPr/>
        </p:nvSpPr>
        <p:spPr>
          <a:xfrm>
            <a:off x="2788920" y="3703320"/>
            <a:ext cx="2103120" cy="365760"/>
          </a:xfrm>
          <a:prstGeom prst="rect">
            <a:avLst/>
          </a:prstGeom>
          <a:noFill/>
          <a:ln/>
        </p:spPr>
        <p:txBody>
          <a:bodyPr wrap="square" lIns="0" tIns="0" rIns="0" bIns="0" rtlCol="0" anchor="ctr"/>
          <a:lstStyle/>
          <a:p>
            <a:pPr algn="ctr" indent="0" marL="0">
              <a:buNone/>
            </a:pPr>
            <a:r>
              <a:rPr lang="en-US" sz="1500" b="1" dirty="0">
                <a:solidFill>
                  <a:srgbClr val="1C2430"/>
                </a:solidFill>
                <a:latin typeface="Arial" pitchFamily="34" charset="0"/>
                <a:ea typeface="Yu Gothic"/>
                <a:cs typeface="Arial" pitchFamily="34" charset="-120"/>
              </a:rPr>
              <a:t>GAA（ナノシート）</a:t>
            </a:r>
            <a:endParaRPr lang="en-US" sz="1500" dirty="0"/>
          </a:p>
        </p:txBody>
      </p:sp>
      <p:sp>
        <p:nvSpPr>
          <p:cNvPr id="54" name="Shape 51"/>
          <p:cNvSpPr/>
          <p:nvPr/>
        </p:nvSpPr>
        <p:spPr>
          <a:xfrm>
            <a:off x="2971800" y="4114800"/>
            <a:ext cx="1737360" cy="310896"/>
          </a:xfrm>
          <a:prstGeom prst="roundRect">
            <a:avLst>
              <a:gd name="adj" fmla="val 17647"/>
            </a:avLst>
          </a:prstGeom>
          <a:solidFill>
            <a:srgbClr val="2F5597"/>
          </a:solidFill>
          <a:ln/>
        </p:spPr>
      </p:sp>
      <p:sp>
        <p:nvSpPr>
          <p:cNvPr id="55" name="Text 52"/>
          <p:cNvSpPr txBox="1"/>
          <p:nvPr/>
        </p:nvSpPr>
        <p:spPr>
          <a:xfrm>
            <a:off x="2971800" y="4114800"/>
            <a:ext cx="17373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Yu Gothic"/>
                <a:cs typeface="Arial" pitchFamily="34" charset="-120"/>
              </a:rPr>
              <a:t>2022年〜（今の2nm）</a:t>
            </a:r>
            <a:endParaRPr lang="en-US" sz="1150" dirty="0"/>
          </a:p>
        </p:txBody>
      </p:sp>
      <p:sp>
        <p:nvSpPr>
          <p:cNvPr id="56" name="Text 53"/>
          <p:cNvSpPr txBox="1"/>
          <p:nvPr/>
        </p:nvSpPr>
        <p:spPr>
          <a:xfrm>
            <a:off x="2788920" y="4526280"/>
            <a:ext cx="2103120" cy="731520"/>
          </a:xfrm>
          <a:prstGeom prst="rect">
            <a:avLst/>
          </a:prstGeom>
          <a:noFill/>
          <a:ln/>
        </p:spPr>
        <p:txBody>
          <a:bodyPr wrap="square" lIns="0" tIns="0" rIns="0" bIns="0" rtlCol="0" anchor="t"/>
          <a:lstStyle/>
          <a:p>
            <a:pPr algn="ctr" indent="0" marL="0">
              <a:buNone/>
            </a:pPr>
            <a:r>
              <a:rPr lang="en-US" sz="1250" dirty="0">
                <a:solidFill>
                  <a:srgbClr val="333D4A"/>
                </a:solidFill>
                <a:latin typeface="Arial" pitchFamily="34" charset="0"/>
                <a:ea typeface="Yu Gothic"/>
                <a:cs typeface="Arial" pitchFamily="34" charset="-120"/>
              </a:rPr>
              <a:t>4方向を囲み、漏れ電流を抑える</a:t>
            </a:r>
            <a:endParaRPr lang="en-US" sz="1250" dirty="0"/>
          </a:p>
        </p:txBody>
      </p:sp>
      <p:sp>
        <p:nvSpPr>
          <p:cNvPr id="57" name="Text 54"/>
          <p:cNvSpPr txBox="1"/>
          <p:nvPr/>
        </p:nvSpPr>
        <p:spPr>
          <a:xfrm>
            <a:off x="5047488" y="3703320"/>
            <a:ext cx="2103120" cy="365760"/>
          </a:xfrm>
          <a:prstGeom prst="rect">
            <a:avLst/>
          </a:prstGeom>
          <a:noFill/>
          <a:ln/>
        </p:spPr>
        <p:txBody>
          <a:bodyPr wrap="square" lIns="0" tIns="0" rIns="0" bIns="0" rtlCol="0" anchor="ctr"/>
          <a:lstStyle/>
          <a:p>
            <a:pPr algn="ctr" indent="0" marL="0">
              <a:buNone/>
            </a:pPr>
            <a:r>
              <a:rPr lang="en-US" sz="1500" b="1" dirty="0">
                <a:solidFill>
                  <a:srgbClr val="1C2430"/>
                </a:solidFill>
                <a:latin typeface="Arial" pitchFamily="34" charset="0"/>
                <a:ea typeface="Yu Gothic"/>
                <a:cs typeface="Arial" pitchFamily="34" charset="-120"/>
              </a:rPr>
              <a:t>フォークシート</a:t>
            </a:r>
            <a:endParaRPr lang="en-US" sz="1500" dirty="0"/>
          </a:p>
        </p:txBody>
      </p:sp>
      <p:sp>
        <p:nvSpPr>
          <p:cNvPr id="58" name="Shape 55"/>
          <p:cNvSpPr/>
          <p:nvPr/>
        </p:nvSpPr>
        <p:spPr>
          <a:xfrm>
            <a:off x="5230368" y="4114800"/>
            <a:ext cx="1737360" cy="310896"/>
          </a:xfrm>
          <a:prstGeom prst="roundRect">
            <a:avLst>
              <a:gd name="adj" fmla="val 17647"/>
            </a:avLst>
          </a:prstGeom>
          <a:solidFill>
            <a:srgbClr val="FFF2E6"/>
          </a:solidFill>
          <a:ln w="12700">
            <a:solidFill>
              <a:srgbClr val="C55A11"/>
            </a:solidFill>
            <a:prstDash val="dash"/>
          </a:ln>
        </p:spPr>
      </p:sp>
      <p:sp>
        <p:nvSpPr>
          <p:cNvPr id="59" name="Text 56"/>
          <p:cNvSpPr txBox="1"/>
          <p:nvPr/>
        </p:nvSpPr>
        <p:spPr>
          <a:xfrm>
            <a:off x="5230368" y="4114800"/>
            <a:ext cx="1737360" cy="310896"/>
          </a:xfrm>
          <a:prstGeom prst="rect">
            <a:avLst/>
          </a:prstGeom>
          <a:noFill/>
          <a:ln/>
        </p:spPr>
        <p:txBody>
          <a:bodyPr wrap="square" lIns="0" tIns="0" rIns="0" bIns="0" rtlCol="0" anchor="ctr"/>
          <a:lstStyle/>
          <a:p>
            <a:pPr algn="ctr" indent="0" marL="0">
              <a:buNone/>
            </a:pPr>
            <a:r>
              <a:rPr lang="en-US" sz="1150" b="1" dirty="0">
                <a:solidFill>
                  <a:srgbClr val="843C0C"/>
                </a:solidFill>
                <a:latin typeface="Arial" pitchFamily="34" charset="0"/>
                <a:ea typeface="Yu Gothic"/>
                <a:cs typeface="Arial" pitchFamily="34" charset="-120"/>
              </a:rPr>
              <a:t>2030〜31年？</a:t>
            </a:r>
            <a:endParaRPr lang="en-US" sz="1150" dirty="0"/>
          </a:p>
        </p:txBody>
      </p:sp>
      <p:sp>
        <p:nvSpPr>
          <p:cNvPr id="60" name="Text 57"/>
          <p:cNvSpPr txBox="1"/>
          <p:nvPr/>
        </p:nvSpPr>
        <p:spPr>
          <a:xfrm>
            <a:off x="5047488" y="4526280"/>
            <a:ext cx="2103120" cy="731520"/>
          </a:xfrm>
          <a:prstGeom prst="rect">
            <a:avLst/>
          </a:prstGeom>
          <a:noFill/>
          <a:ln/>
        </p:spPr>
        <p:txBody>
          <a:bodyPr wrap="square" lIns="0" tIns="0" rIns="0" bIns="0" rtlCol="0" anchor="t"/>
          <a:lstStyle/>
          <a:p>
            <a:pPr algn="ctr" indent="0" marL="0">
              <a:buNone/>
            </a:pPr>
            <a:r>
              <a:rPr lang="en-US" sz="1250" dirty="0">
                <a:solidFill>
                  <a:srgbClr val="333D4A"/>
                </a:solidFill>
                <a:latin typeface="Arial" pitchFamily="34" charset="0"/>
                <a:ea typeface="Yu Gothic"/>
                <a:cs typeface="Arial" pitchFamily="34" charset="-120"/>
              </a:rPr>
              <a:t>nとpの間に壁を入れて詰める。採用は未定</a:t>
            </a:r>
            <a:endParaRPr lang="en-US" sz="1250" dirty="0"/>
          </a:p>
        </p:txBody>
      </p:sp>
      <p:sp>
        <p:nvSpPr>
          <p:cNvPr id="61" name="Text 58"/>
          <p:cNvSpPr txBox="1"/>
          <p:nvPr/>
        </p:nvSpPr>
        <p:spPr>
          <a:xfrm>
            <a:off x="7306056" y="3703320"/>
            <a:ext cx="2103120" cy="365760"/>
          </a:xfrm>
          <a:prstGeom prst="rect">
            <a:avLst/>
          </a:prstGeom>
          <a:noFill/>
          <a:ln/>
        </p:spPr>
        <p:txBody>
          <a:bodyPr wrap="square" lIns="0" tIns="0" rIns="0" bIns="0" rtlCol="0" anchor="ctr"/>
          <a:lstStyle/>
          <a:p>
            <a:pPr algn="ctr" indent="0" marL="0">
              <a:buNone/>
            </a:pPr>
            <a:r>
              <a:rPr lang="en-US" sz="1500" b="1" dirty="0">
                <a:solidFill>
                  <a:srgbClr val="1C2430"/>
                </a:solidFill>
                <a:latin typeface="Arial" pitchFamily="34" charset="0"/>
                <a:ea typeface="Yu Gothic"/>
                <a:cs typeface="Arial" pitchFamily="34" charset="-120"/>
              </a:rPr>
              <a:t>CFET</a:t>
            </a:r>
            <a:endParaRPr lang="en-US" sz="1500" dirty="0"/>
          </a:p>
        </p:txBody>
      </p:sp>
      <p:sp>
        <p:nvSpPr>
          <p:cNvPr id="62" name="Shape 59"/>
          <p:cNvSpPr/>
          <p:nvPr/>
        </p:nvSpPr>
        <p:spPr>
          <a:xfrm>
            <a:off x="7488936" y="4114800"/>
            <a:ext cx="1737360" cy="310896"/>
          </a:xfrm>
          <a:prstGeom prst="roundRect">
            <a:avLst>
              <a:gd name="adj" fmla="val 17647"/>
            </a:avLst>
          </a:prstGeom>
          <a:solidFill>
            <a:srgbClr val="ED7D31"/>
          </a:solidFill>
          <a:ln/>
        </p:spPr>
      </p:sp>
      <p:sp>
        <p:nvSpPr>
          <p:cNvPr id="63" name="Text 60"/>
          <p:cNvSpPr txBox="1"/>
          <p:nvPr/>
        </p:nvSpPr>
        <p:spPr>
          <a:xfrm>
            <a:off x="7488936" y="4114800"/>
            <a:ext cx="17373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Yu Gothic"/>
                <a:cs typeface="Arial" pitchFamily="34" charset="-120"/>
              </a:rPr>
              <a:t>2033年頃</a:t>
            </a:r>
            <a:endParaRPr lang="en-US" sz="1150" dirty="0"/>
          </a:p>
        </p:txBody>
      </p:sp>
      <p:sp>
        <p:nvSpPr>
          <p:cNvPr id="64" name="Text 61"/>
          <p:cNvSpPr txBox="1"/>
          <p:nvPr/>
        </p:nvSpPr>
        <p:spPr>
          <a:xfrm>
            <a:off x="7306056" y="4526280"/>
            <a:ext cx="2103120" cy="731520"/>
          </a:xfrm>
          <a:prstGeom prst="rect">
            <a:avLst/>
          </a:prstGeom>
          <a:noFill/>
          <a:ln/>
        </p:spPr>
        <p:txBody>
          <a:bodyPr wrap="square" lIns="0" tIns="0" rIns="0" bIns="0" rtlCol="0" anchor="t"/>
          <a:lstStyle/>
          <a:p>
            <a:pPr algn="ctr" indent="0" marL="0">
              <a:buNone/>
            </a:pPr>
            <a:r>
              <a:rPr lang="en-US" sz="1250" dirty="0">
                <a:solidFill>
                  <a:srgbClr val="333D4A"/>
                </a:solidFill>
                <a:latin typeface="Arial" pitchFamily="34" charset="0"/>
                <a:ea typeface="Yu Gothic"/>
                <a:cs typeface="Arial" pitchFamily="34" charset="-120"/>
              </a:rPr>
              <a:t>nとpを縦に2段積み、面積を減らす</a:t>
            </a:r>
            <a:endParaRPr lang="en-US" sz="1250" dirty="0"/>
          </a:p>
        </p:txBody>
      </p:sp>
      <p:sp>
        <p:nvSpPr>
          <p:cNvPr id="65" name="Text 62"/>
          <p:cNvSpPr txBox="1"/>
          <p:nvPr/>
        </p:nvSpPr>
        <p:spPr>
          <a:xfrm>
            <a:off x="9555480" y="3703320"/>
            <a:ext cx="2103120" cy="365760"/>
          </a:xfrm>
          <a:prstGeom prst="rect">
            <a:avLst/>
          </a:prstGeom>
          <a:noFill/>
          <a:ln/>
        </p:spPr>
        <p:txBody>
          <a:bodyPr wrap="square" lIns="0" tIns="0" rIns="0" bIns="0" rtlCol="0" anchor="ctr"/>
          <a:lstStyle/>
          <a:p>
            <a:pPr algn="ctr" indent="0" marL="0">
              <a:buNone/>
            </a:pPr>
            <a:r>
              <a:rPr lang="en-US" sz="1500" b="1" dirty="0">
                <a:solidFill>
                  <a:srgbClr val="1C2430"/>
                </a:solidFill>
                <a:latin typeface="Arial" pitchFamily="34" charset="0"/>
                <a:ea typeface="Yu Gothic"/>
                <a:cs typeface="Arial" pitchFamily="34" charset="-120"/>
              </a:rPr>
              <a:t>2D材料のCFET</a:t>
            </a:r>
            <a:endParaRPr lang="en-US" sz="1500" dirty="0"/>
          </a:p>
        </p:txBody>
      </p:sp>
      <p:sp>
        <p:nvSpPr>
          <p:cNvPr id="66" name="Shape 63"/>
          <p:cNvSpPr/>
          <p:nvPr/>
        </p:nvSpPr>
        <p:spPr>
          <a:xfrm>
            <a:off x="9738360" y="4114800"/>
            <a:ext cx="1737360" cy="310896"/>
          </a:xfrm>
          <a:prstGeom prst="roundRect">
            <a:avLst>
              <a:gd name="adj" fmla="val 17647"/>
            </a:avLst>
          </a:prstGeom>
          <a:solidFill>
            <a:srgbClr val="FFF2E6"/>
          </a:solidFill>
          <a:ln w="12700">
            <a:solidFill>
              <a:srgbClr val="C55A11"/>
            </a:solidFill>
            <a:prstDash val="dash"/>
          </a:ln>
        </p:spPr>
      </p:sp>
      <p:sp>
        <p:nvSpPr>
          <p:cNvPr id="67" name="Text 64"/>
          <p:cNvSpPr txBox="1"/>
          <p:nvPr/>
        </p:nvSpPr>
        <p:spPr>
          <a:xfrm>
            <a:off x="9738360" y="4114800"/>
            <a:ext cx="1737360" cy="310896"/>
          </a:xfrm>
          <a:prstGeom prst="rect">
            <a:avLst/>
          </a:prstGeom>
          <a:noFill/>
          <a:ln/>
        </p:spPr>
        <p:txBody>
          <a:bodyPr wrap="square" lIns="0" tIns="0" rIns="0" bIns="0" rtlCol="0" anchor="ctr"/>
          <a:lstStyle/>
          <a:p>
            <a:pPr algn="ctr" indent="0" marL="0">
              <a:buNone/>
            </a:pPr>
            <a:r>
              <a:rPr lang="en-US" sz="1150" b="1" dirty="0">
                <a:solidFill>
                  <a:srgbClr val="843C0C"/>
                </a:solidFill>
                <a:latin typeface="Arial" pitchFamily="34" charset="0"/>
                <a:ea typeface="Yu Gothic"/>
                <a:cs typeface="Arial" pitchFamily="34" charset="-120"/>
              </a:rPr>
              <a:t>2039年頃〜</a:t>
            </a:r>
            <a:endParaRPr lang="en-US" sz="1150" dirty="0"/>
          </a:p>
        </p:txBody>
      </p:sp>
      <p:sp>
        <p:nvSpPr>
          <p:cNvPr id="68" name="Text 65"/>
          <p:cNvSpPr txBox="1"/>
          <p:nvPr/>
        </p:nvSpPr>
        <p:spPr>
          <a:xfrm>
            <a:off x="9555480" y="4526280"/>
            <a:ext cx="2103120" cy="731520"/>
          </a:xfrm>
          <a:prstGeom prst="rect">
            <a:avLst/>
          </a:prstGeom>
          <a:noFill/>
          <a:ln/>
        </p:spPr>
        <p:txBody>
          <a:bodyPr wrap="square" lIns="0" tIns="0" rIns="0" bIns="0" rtlCol="0" anchor="t"/>
          <a:lstStyle/>
          <a:p>
            <a:pPr algn="ctr" indent="0" marL="0">
              <a:buNone/>
            </a:pPr>
            <a:r>
              <a:rPr lang="en-US" sz="1250" dirty="0">
                <a:solidFill>
                  <a:srgbClr val="333D4A"/>
                </a:solidFill>
                <a:latin typeface="Arial" pitchFamily="34" charset="0"/>
                <a:ea typeface="Yu Gothic"/>
                <a:cs typeface="Arial" pitchFamily="34" charset="-120"/>
              </a:rPr>
              <a:t>チャネルを原子数層の材料（MoS₂など）に</a:t>
            </a:r>
            <a:endParaRPr lang="en-US" sz="1250" dirty="0"/>
          </a:p>
        </p:txBody>
      </p:sp>
      <p:sp>
        <p:nvSpPr>
          <p:cNvPr id="69" name="Text 66"/>
          <p:cNvSpPr txBox="1"/>
          <p:nvPr/>
        </p:nvSpPr>
        <p:spPr>
          <a:xfrm>
            <a:off x="548640" y="5257800"/>
            <a:ext cx="11094415" cy="274320"/>
          </a:xfrm>
          <a:prstGeom prst="rect">
            <a:avLst/>
          </a:prstGeom>
          <a:noFill/>
          <a:ln/>
        </p:spPr>
        <p:txBody>
          <a:bodyPr wrap="square" lIns="0" tIns="0" rIns="0" bIns="0" rtlCol="0" anchor="ctr"/>
          <a:lstStyle/>
          <a:p>
            <a:pPr indent="0" marL="0">
              <a:buNone/>
            </a:pPr>
            <a:r>
              <a:rPr lang="en-US" sz="1200" dirty="0">
                <a:solidFill>
                  <a:srgbClr val="6A7380"/>
                </a:solidFill>
                <a:latin typeface="Arial" pitchFamily="34" charset="0"/>
                <a:ea typeface="Yu Gothic"/>
                <a:cs typeface="Arial" pitchFamily="34" charset="-120"/>
              </a:rPr>
              <a:t>橙＝ゲート（スイッチ）、灰＝電流が流れるチャネル、紫＝2D材料。</a:t>
            </a:r>
            <a:endParaRPr lang="en-US" sz="1200" dirty="0"/>
          </a:p>
        </p:txBody>
      </p:sp>
      <p:sp>
        <p:nvSpPr>
          <p:cNvPr id="70" name="Text 67"/>
          <p:cNvSpPr txBox="1"/>
          <p:nvPr/>
        </p:nvSpPr>
        <p:spPr>
          <a:xfrm>
            <a:off x="548640" y="5623560"/>
            <a:ext cx="11094415" cy="59436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囲む面を増やして漏れ電流を抑えてきた。面積を減らす次の手は、nとpを縦に積むCFET（imecは2033年頃と予測）。</a:t>
            </a:r>
            <a:endParaRPr lang="en-US" sz="1700" dirty="0"/>
          </a:p>
        </p:txBody>
      </p:sp>
      <p:sp>
        <p:nvSpPr>
          <p:cNvPr id="71" name="Text 68"/>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出典：各社発表、imec 2026年版ロードマップ（Tom's Hardware）、IEEE Spectrum、imec（フォークシート・2D材料）</a:t>
            </a:r>
            <a:endParaRPr lang="en-US" sz="950" dirty="0"/>
          </a:p>
        </p:txBody>
      </p:sp>
      <p:sp>
        <p:nvSpPr>
          <p:cNvPr id="72" name="Text 69"/>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2B7A9B"/>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2B7A9B"/>
                </a:solidFill>
                <a:latin typeface="Arial" pitchFamily="34" charset="0"/>
                <a:ea typeface="Yu Gothic"/>
                <a:cs typeface="Arial" pitchFamily="34" charset="-120"/>
              </a:rPr>
              <a:t>ロジック</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ロジック：各社の計画は2029〜30年まで公表されている</a:t>
            </a:r>
            <a:endParaRPr lang="en-US" sz="2400" dirty="0"/>
          </a:p>
        </p:txBody>
      </p:sp>
      <p:sp>
        <p:nvSpPr>
          <p:cNvPr id="6" name="Shape 3"/>
          <p:cNvSpPr/>
          <p:nvPr/>
        </p:nvSpPr>
        <p:spPr>
          <a:xfrm>
            <a:off x="1874520" y="2011680"/>
            <a:ext cx="0" cy="3858768"/>
          </a:xfrm>
          <a:prstGeom prst="line">
            <a:avLst/>
          </a:prstGeom>
          <a:noFill/>
          <a:ln w="9525">
            <a:solidFill>
              <a:srgbClr val="DDE1E6"/>
            </a:solidFill>
            <a:prstDash val="solid"/>
          </a:ln>
        </p:spPr>
      </p:sp>
      <p:sp>
        <p:nvSpPr>
          <p:cNvPr id="7" name="Text 4"/>
          <p:cNvSpPr txBox="1"/>
          <p:nvPr/>
        </p:nvSpPr>
        <p:spPr>
          <a:xfrm>
            <a:off x="191109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2025</a:t>
            </a:r>
            <a:endParaRPr lang="en-US" sz="1100" dirty="0"/>
          </a:p>
        </p:txBody>
      </p:sp>
      <p:sp>
        <p:nvSpPr>
          <p:cNvPr id="8" name="Shape 5"/>
          <p:cNvSpPr/>
          <p:nvPr/>
        </p:nvSpPr>
        <p:spPr>
          <a:xfrm>
            <a:off x="2910840" y="2011680"/>
            <a:ext cx="0" cy="3858768"/>
          </a:xfrm>
          <a:prstGeom prst="line">
            <a:avLst/>
          </a:prstGeom>
          <a:noFill/>
          <a:ln w="9525">
            <a:solidFill>
              <a:srgbClr val="DDE1E6"/>
            </a:solidFill>
            <a:prstDash val="solid"/>
          </a:ln>
        </p:spPr>
      </p:sp>
      <p:sp>
        <p:nvSpPr>
          <p:cNvPr id="9" name="Text 6"/>
          <p:cNvSpPr txBox="1"/>
          <p:nvPr/>
        </p:nvSpPr>
        <p:spPr>
          <a:xfrm>
            <a:off x="294741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2026</a:t>
            </a:r>
            <a:endParaRPr lang="en-US" sz="1100" dirty="0"/>
          </a:p>
        </p:txBody>
      </p:sp>
      <p:sp>
        <p:nvSpPr>
          <p:cNvPr id="10" name="Shape 7"/>
          <p:cNvSpPr/>
          <p:nvPr/>
        </p:nvSpPr>
        <p:spPr>
          <a:xfrm>
            <a:off x="3947160" y="2011680"/>
            <a:ext cx="0" cy="3858768"/>
          </a:xfrm>
          <a:prstGeom prst="line">
            <a:avLst/>
          </a:prstGeom>
          <a:noFill/>
          <a:ln w="9525">
            <a:solidFill>
              <a:srgbClr val="DDE1E6"/>
            </a:solidFill>
            <a:prstDash val="solid"/>
          </a:ln>
        </p:spPr>
      </p:sp>
      <p:sp>
        <p:nvSpPr>
          <p:cNvPr id="11" name="Text 8"/>
          <p:cNvSpPr txBox="1"/>
          <p:nvPr/>
        </p:nvSpPr>
        <p:spPr>
          <a:xfrm>
            <a:off x="398373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2027</a:t>
            </a:r>
            <a:endParaRPr lang="en-US" sz="1100" dirty="0"/>
          </a:p>
        </p:txBody>
      </p:sp>
      <p:sp>
        <p:nvSpPr>
          <p:cNvPr id="12" name="Shape 9"/>
          <p:cNvSpPr/>
          <p:nvPr/>
        </p:nvSpPr>
        <p:spPr>
          <a:xfrm>
            <a:off x="4983480" y="2011680"/>
            <a:ext cx="0" cy="3858768"/>
          </a:xfrm>
          <a:prstGeom prst="line">
            <a:avLst/>
          </a:prstGeom>
          <a:noFill/>
          <a:ln w="9525">
            <a:solidFill>
              <a:srgbClr val="DDE1E6"/>
            </a:solidFill>
            <a:prstDash val="solid"/>
          </a:ln>
        </p:spPr>
      </p:sp>
      <p:sp>
        <p:nvSpPr>
          <p:cNvPr id="13" name="Text 10"/>
          <p:cNvSpPr txBox="1"/>
          <p:nvPr/>
        </p:nvSpPr>
        <p:spPr>
          <a:xfrm>
            <a:off x="50200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2028</a:t>
            </a:r>
            <a:endParaRPr lang="en-US" sz="1100" dirty="0"/>
          </a:p>
        </p:txBody>
      </p:sp>
      <p:sp>
        <p:nvSpPr>
          <p:cNvPr id="14" name="Shape 11"/>
          <p:cNvSpPr/>
          <p:nvPr/>
        </p:nvSpPr>
        <p:spPr>
          <a:xfrm>
            <a:off x="6019800" y="2011680"/>
            <a:ext cx="0" cy="3858768"/>
          </a:xfrm>
          <a:prstGeom prst="line">
            <a:avLst/>
          </a:prstGeom>
          <a:noFill/>
          <a:ln w="9525">
            <a:solidFill>
              <a:srgbClr val="DDE1E6"/>
            </a:solidFill>
            <a:prstDash val="solid"/>
          </a:ln>
        </p:spPr>
      </p:sp>
      <p:sp>
        <p:nvSpPr>
          <p:cNvPr id="15" name="Text 12"/>
          <p:cNvSpPr txBox="1"/>
          <p:nvPr/>
        </p:nvSpPr>
        <p:spPr>
          <a:xfrm>
            <a:off x="605637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2029</a:t>
            </a:r>
            <a:endParaRPr lang="en-US" sz="1100" dirty="0"/>
          </a:p>
        </p:txBody>
      </p:sp>
      <p:sp>
        <p:nvSpPr>
          <p:cNvPr id="16" name="Shape 13"/>
          <p:cNvSpPr/>
          <p:nvPr/>
        </p:nvSpPr>
        <p:spPr>
          <a:xfrm>
            <a:off x="7056120" y="2011680"/>
            <a:ext cx="0" cy="3858768"/>
          </a:xfrm>
          <a:prstGeom prst="line">
            <a:avLst/>
          </a:prstGeom>
          <a:noFill/>
          <a:ln w="9525">
            <a:solidFill>
              <a:srgbClr val="DDE1E6"/>
            </a:solidFill>
            <a:prstDash val="solid"/>
          </a:ln>
        </p:spPr>
      </p:sp>
      <p:sp>
        <p:nvSpPr>
          <p:cNvPr id="17" name="Text 14"/>
          <p:cNvSpPr txBox="1"/>
          <p:nvPr/>
        </p:nvSpPr>
        <p:spPr>
          <a:xfrm>
            <a:off x="709269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2030</a:t>
            </a:r>
            <a:endParaRPr lang="en-US" sz="1100" dirty="0"/>
          </a:p>
        </p:txBody>
      </p:sp>
      <p:sp>
        <p:nvSpPr>
          <p:cNvPr id="18" name="Shape 15"/>
          <p:cNvSpPr/>
          <p:nvPr/>
        </p:nvSpPr>
        <p:spPr>
          <a:xfrm>
            <a:off x="8092440" y="2011680"/>
            <a:ext cx="0" cy="3858768"/>
          </a:xfrm>
          <a:prstGeom prst="line">
            <a:avLst/>
          </a:prstGeom>
          <a:noFill/>
          <a:ln w="9525">
            <a:solidFill>
              <a:srgbClr val="DDE1E6"/>
            </a:solidFill>
            <a:prstDash val="solid"/>
          </a:ln>
        </p:spPr>
      </p:sp>
      <p:sp>
        <p:nvSpPr>
          <p:cNvPr id="19" name="Shape 16"/>
          <p:cNvSpPr/>
          <p:nvPr/>
        </p:nvSpPr>
        <p:spPr>
          <a:xfrm>
            <a:off x="548640" y="2029968"/>
            <a:ext cx="7543800" cy="1170432"/>
          </a:xfrm>
          <a:prstGeom prst="rect">
            <a:avLst/>
          </a:prstGeom>
          <a:solidFill>
            <a:srgbClr val="F6F7F9"/>
          </a:solidFill>
          <a:ln/>
        </p:spPr>
      </p:sp>
      <p:sp>
        <p:nvSpPr>
          <p:cNvPr id="20" name="Text 17"/>
          <p:cNvSpPr txBox="1"/>
          <p:nvPr/>
        </p:nvSpPr>
        <p:spPr>
          <a:xfrm>
            <a:off x="621792" y="2029968"/>
            <a:ext cx="1216152" cy="117043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TSMC</a:t>
            </a:r>
            <a:endParaRPr lang="en-US" sz="1300" dirty="0"/>
          </a:p>
        </p:txBody>
      </p:sp>
      <p:sp>
        <p:nvSpPr>
          <p:cNvPr id="21" name="Text 18"/>
          <p:cNvSpPr txBox="1"/>
          <p:nvPr/>
        </p:nvSpPr>
        <p:spPr>
          <a:xfrm>
            <a:off x="621792" y="3200400"/>
            <a:ext cx="1216152" cy="66751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Samsung</a:t>
            </a:r>
            <a:endParaRPr lang="en-US" sz="1300" dirty="0"/>
          </a:p>
        </p:txBody>
      </p:sp>
      <p:sp>
        <p:nvSpPr>
          <p:cNvPr id="22" name="Shape 19"/>
          <p:cNvSpPr/>
          <p:nvPr/>
        </p:nvSpPr>
        <p:spPr>
          <a:xfrm>
            <a:off x="548640" y="3867912"/>
            <a:ext cx="7543800" cy="667512"/>
          </a:xfrm>
          <a:prstGeom prst="rect">
            <a:avLst/>
          </a:prstGeom>
          <a:solidFill>
            <a:srgbClr val="F6F7F9"/>
          </a:solidFill>
          <a:ln/>
        </p:spPr>
      </p:sp>
      <p:sp>
        <p:nvSpPr>
          <p:cNvPr id="23" name="Text 20"/>
          <p:cNvSpPr txBox="1"/>
          <p:nvPr/>
        </p:nvSpPr>
        <p:spPr>
          <a:xfrm>
            <a:off x="621792" y="3867912"/>
            <a:ext cx="1216152" cy="66751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Intel</a:t>
            </a:r>
            <a:endParaRPr lang="en-US" sz="1300" dirty="0"/>
          </a:p>
        </p:txBody>
      </p:sp>
      <p:sp>
        <p:nvSpPr>
          <p:cNvPr id="24" name="Text 21"/>
          <p:cNvSpPr txBox="1"/>
          <p:nvPr/>
        </p:nvSpPr>
        <p:spPr>
          <a:xfrm>
            <a:off x="621792" y="4535424"/>
            <a:ext cx="1216152" cy="66751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SMIC</a:t>
            </a:r>
            <a:endParaRPr lang="en-US" sz="1300" dirty="0"/>
          </a:p>
          <a:p>
            <a:pPr indent="0" marL="0">
              <a:buNone/>
            </a:pPr>
            <a:r>
              <a:rPr lang="en-US" sz="1000" dirty="0">
                <a:solidFill>
                  <a:srgbClr val="6A7380"/>
                </a:solidFill>
                <a:latin typeface="Arial" pitchFamily="34" charset="0"/>
                <a:ea typeface="Yu Gothic"/>
                <a:cs typeface="Arial" pitchFamily="34" charset="-120"/>
              </a:rPr>
              <a:t>Huawei</a:t>
            </a:r>
            <a:endParaRPr lang="en-US" sz="1300" dirty="0"/>
          </a:p>
        </p:txBody>
      </p:sp>
      <p:sp>
        <p:nvSpPr>
          <p:cNvPr id="25" name="Shape 22"/>
          <p:cNvSpPr/>
          <p:nvPr/>
        </p:nvSpPr>
        <p:spPr>
          <a:xfrm>
            <a:off x="548640" y="5202936"/>
            <a:ext cx="7543800" cy="667512"/>
          </a:xfrm>
          <a:prstGeom prst="rect">
            <a:avLst/>
          </a:prstGeom>
          <a:solidFill>
            <a:srgbClr val="F6F7F9"/>
          </a:solidFill>
          <a:ln/>
        </p:spPr>
      </p:sp>
      <p:sp>
        <p:nvSpPr>
          <p:cNvPr id="26" name="Text 23"/>
          <p:cNvSpPr txBox="1"/>
          <p:nvPr/>
        </p:nvSpPr>
        <p:spPr>
          <a:xfrm>
            <a:off x="621792" y="5202936"/>
            <a:ext cx="1216152" cy="66751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Rapidus</a:t>
            </a:r>
            <a:endParaRPr lang="en-US" sz="1300" dirty="0"/>
          </a:p>
        </p:txBody>
      </p:sp>
      <p:sp>
        <p:nvSpPr>
          <p:cNvPr id="27" name="Shape 24"/>
          <p:cNvSpPr/>
          <p:nvPr/>
        </p:nvSpPr>
        <p:spPr>
          <a:xfrm>
            <a:off x="3688080" y="2011680"/>
            <a:ext cx="0" cy="3858768"/>
          </a:xfrm>
          <a:prstGeom prst="line">
            <a:avLst/>
          </a:prstGeom>
          <a:noFill/>
          <a:ln w="19050">
            <a:solidFill>
              <a:srgbClr val="C00000"/>
            </a:solidFill>
            <a:prstDash val="dash"/>
          </a:ln>
        </p:spPr>
      </p:sp>
      <p:sp>
        <p:nvSpPr>
          <p:cNvPr id="28" name="Text 25"/>
          <p:cNvSpPr txBox="1"/>
          <p:nvPr/>
        </p:nvSpPr>
        <p:spPr>
          <a:xfrm>
            <a:off x="3368040" y="1737360"/>
            <a:ext cx="640080" cy="237744"/>
          </a:xfrm>
          <a:prstGeom prst="rect">
            <a:avLst/>
          </a:prstGeom>
          <a:noFill/>
          <a:ln/>
        </p:spPr>
        <p:txBody>
          <a:bodyPr wrap="square" lIns="0" tIns="0" rIns="0" bIns="0" rtlCol="0" anchor="ctr"/>
          <a:lstStyle/>
          <a:p>
            <a:pPr algn="ctr" indent="0" marL="0">
              <a:buNone/>
            </a:pPr>
            <a:r>
              <a:rPr lang="en-US" sz="1050" b="1" dirty="0">
                <a:solidFill>
                  <a:srgbClr val="C00000"/>
                </a:solidFill>
                <a:latin typeface="Arial" pitchFamily="34" charset="0"/>
                <a:ea typeface="Yu Gothic"/>
                <a:cs typeface="Arial" pitchFamily="34" charset="-120"/>
              </a:rPr>
              <a:t>現在</a:t>
            </a:r>
            <a:endParaRPr lang="en-US" sz="1050" dirty="0"/>
          </a:p>
        </p:txBody>
      </p:sp>
      <p:sp>
        <p:nvSpPr>
          <p:cNvPr id="29" name="Shape 26"/>
          <p:cNvSpPr/>
          <p:nvPr/>
        </p:nvSpPr>
        <p:spPr>
          <a:xfrm>
            <a:off x="2651760" y="2148840"/>
            <a:ext cx="1036320" cy="429768"/>
          </a:xfrm>
          <a:prstGeom prst="rect">
            <a:avLst/>
          </a:prstGeom>
          <a:solidFill>
            <a:srgbClr val="2F5597"/>
          </a:solidFill>
          <a:ln/>
        </p:spPr>
      </p:sp>
      <p:sp>
        <p:nvSpPr>
          <p:cNvPr id="30" name="Shape 27"/>
          <p:cNvSpPr/>
          <p:nvPr/>
        </p:nvSpPr>
        <p:spPr>
          <a:xfrm>
            <a:off x="3688080" y="2148840"/>
            <a:ext cx="1786128" cy="429768"/>
          </a:xfrm>
          <a:prstGeom prst="homePlate">
            <a:avLst/>
          </a:prstGeom>
          <a:solidFill>
            <a:srgbClr val="ED7D31"/>
          </a:solidFill>
          <a:ln/>
        </p:spPr>
      </p:sp>
      <p:sp>
        <p:nvSpPr>
          <p:cNvPr id="31" name="Text 28"/>
          <p:cNvSpPr txBox="1"/>
          <p:nvPr/>
        </p:nvSpPr>
        <p:spPr>
          <a:xfrm>
            <a:off x="2706624" y="2148840"/>
            <a:ext cx="261716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N2</a:t>
            </a:r>
            <a:endParaRPr lang="en-US" sz="1100" dirty="0"/>
          </a:p>
          <a:p>
            <a:pPr algn="l" indent="0" marL="0">
              <a:buNone/>
            </a:pPr>
            <a:r>
              <a:rPr lang="en-US" sz="950" dirty="0">
                <a:solidFill>
                  <a:srgbClr val="FFFFFF"/>
                </a:solidFill>
                <a:latin typeface="Arial" pitchFamily="34" charset="0"/>
                <a:ea typeface="Yu Gothic"/>
                <a:cs typeface="Arial" pitchFamily="34" charset="-120"/>
              </a:rPr>
              <a:t>GAA</a:t>
            </a:r>
            <a:endParaRPr lang="en-US" sz="1100" dirty="0"/>
          </a:p>
        </p:txBody>
      </p:sp>
      <p:sp>
        <p:nvSpPr>
          <p:cNvPr id="32" name="Shape 29"/>
          <p:cNvSpPr/>
          <p:nvPr/>
        </p:nvSpPr>
        <p:spPr>
          <a:xfrm>
            <a:off x="5501640" y="2148840"/>
            <a:ext cx="1008888" cy="429768"/>
          </a:xfrm>
          <a:prstGeom prst="homePlate">
            <a:avLst/>
          </a:prstGeom>
          <a:solidFill>
            <a:srgbClr val="ED7D31"/>
          </a:solidFill>
          <a:ln/>
        </p:spPr>
      </p:sp>
      <p:sp>
        <p:nvSpPr>
          <p:cNvPr id="33" name="Text 30"/>
          <p:cNvSpPr txBox="1"/>
          <p:nvPr/>
        </p:nvSpPr>
        <p:spPr>
          <a:xfrm>
            <a:off x="5556504" y="2148840"/>
            <a:ext cx="80360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A14</a:t>
            </a:r>
            <a:endParaRPr lang="en-US" sz="1100" dirty="0"/>
          </a:p>
          <a:p>
            <a:pPr algn="l" indent="0" marL="0">
              <a:buNone/>
            </a:pPr>
            <a:r>
              <a:rPr lang="en-US" sz="950" dirty="0">
                <a:solidFill>
                  <a:srgbClr val="FFFFFF"/>
                </a:solidFill>
                <a:latin typeface="Arial" pitchFamily="34" charset="0"/>
                <a:ea typeface="Yu Gothic"/>
                <a:cs typeface="Arial" pitchFamily="34" charset="-120"/>
              </a:rPr>
              <a:t>GAA第2世代</a:t>
            </a:r>
            <a:endParaRPr lang="en-US" sz="1100" dirty="0"/>
          </a:p>
        </p:txBody>
      </p:sp>
      <p:sp>
        <p:nvSpPr>
          <p:cNvPr id="34" name="Shape 31"/>
          <p:cNvSpPr/>
          <p:nvPr/>
        </p:nvSpPr>
        <p:spPr>
          <a:xfrm>
            <a:off x="6537960" y="2148840"/>
            <a:ext cx="1527048" cy="429768"/>
          </a:xfrm>
          <a:prstGeom prst="homePlate">
            <a:avLst/>
          </a:prstGeom>
          <a:solidFill>
            <a:srgbClr val="ED7D31"/>
          </a:solidFill>
          <a:ln/>
        </p:spPr>
      </p:sp>
      <p:sp>
        <p:nvSpPr>
          <p:cNvPr id="35" name="Text 32"/>
          <p:cNvSpPr txBox="1"/>
          <p:nvPr/>
        </p:nvSpPr>
        <p:spPr>
          <a:xfrm>
            <a:off x="6592824" y="2148840"/>
            <a:ext cx="132176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A13</a:t>
            </a:r>
            <a:endParaRPr lang="en-US" sz="1100" dirty="0"/>
          </a:p>
        </p:txBody>
      </p:sp>
      <p:sp>
        <p:nvSpPr>
          <p:cNvPr id="36" name="Shape 33"/>
          <p:cNvSpPr/>
          <p:nvPr/>
        </p:nvSpPr>
        <p:spPr>
          <a:xfrm>
            <a:off x="3429000" y="2651760"/>
            <a:ext cx="259080" cy="429768"/>
          </a:xfrm>
          <a:prstGeom prst="rect">
            <a:avLst/>
          </a:prstGeom>
          <a:solidFill>
            <a:srgbClr val="9DC3E6"/>
          </a:solidFill>
          <a:ln/>
        </p:spPr>
      </p:sp>
      <p:sp>
        <p:nvSpPr>
          <p:cNvPr id="37" name="Shape 34"/>
          <p:cNvSpPr/>
          <p:nvPr/>
        </p:nvSpPr>
        <p:spPr>
          <a:xfrm>
            <a:off x="3688080" y="2651760"/>
            <a:ext cx="749808" cy="429768"/>
          </a:xfrm>
          <a:prstGeom prst="homePlate">
            <a:avLst/>
          </a:prstGeom>
          <a:solidFill>
            <a:srgbClr val="F4B183"/>
          </a:solidFill>
          <a:ln/>
        </p:spPr>
      </p:sp>
      <p:sp>
        <p:nvSpPr>
          <p:cNvPr id="38" name="Text 35"/>
          <p:cNvSpPr txBox="1"/>
          <p:nvPr/>
        </p:nvSpPr>
        <p:spPr>
          <a:xfrm>
            <a:off x="3483864" y="2651760"/>
            <a:ext cx="803605" cy="429768"/>
          </a:xfrm>
          <a:prstGeom prst="rect">
            <a:avLst/>
          </a:prstGeom>
          <a:noFill/>
          <a:ln/>
        </p:spPr>
        <p:txBody>
          <a:bodyPr wrap="square" lIns="0" tIns="0" rIns="0" bIns="0" rtlCol="0" anchor="ctr">
            <a:normAutofit/>
          </a:bodyPr>
          <a:lstStyle/>
          <a:p>
            <a:pPr algn="l" indent="0" marL="0">
              <a:buNone/>
            </a:pPr>
            <a:r>
              <a:rPr lang="en-US" sz="1100" b="1" dirty="0">
                <a:solidFill>
                  <a:srgbClr val="1F2A3A"/>
                </a:solidFill>
                <a:latin typeface="Arial" pitchFamily="34" charset="0"/>
                <a:ea typeface="Yu Gothic"/>
                <a:cs typeface="Arial" pitchFamily="34" charset="-120"/>
              </a:rPr>
              <a:t>N2P</a:t>
            </a:r>
            <a:endParaRPr lang="en-US" sz="1100" dirty="0"/>
          </a:p>
        </p:txBody>
      </p:sp>
      <p:sp>
        <p:nvSpPr>
          <p:cNvPr id="39" name="Shape 36"/>
          <p:cNvSpPr/>
          <p:nvPr/>
        </p:nvSpPr>
        <p:spPr>
          <a:xfrm>
            <a:off x="4465320" y="2651760"/>
            <a:ext cx="1008888" cy="429768"/>
          </a:xfrm>
          <a:prstGeom prst="homePlate">
            <a:avLst/>
          </a:prstGeom>
          <a:solidFill>
            <a:srgbClr val="ED7D31"/>
          </a:solidFill>
          <a:ln/>
        </p:spPr>
      </p:sp>
      <p:sp>
        <p:nvSpPr>
          <p:cNvPr id="40" name="Text 37"/>
          <p:cNvSpPr txBox="1"/>
          <p:nvPr/>
        </p:nvSpPr>
        <p:spPr>
          <a:xfrm>
            <a:off x="4520184" y="2651760"/>
            <a:ext cx="80360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A16</a:t>
            </a:r>
            <a:endParaRPr lang="en-US" sz="1100" dirty="0"/>
          </a:p>
          <a:p>
            <a:pPr algn="l" indent="0" marL="0">
              <a:buNone/>
            </a:pPr>
            <a:r>
              <a:rPr lang="en-US" sz="950" dirty="0">
                <a:solidFill>
                  <a:srgbClr val="FFFFFF"/>
                </a:solidFill>
                <a:latin typeface="Arial" pitchFamily="34" charset="0"/>
                <a:ea typeface="Yu Gothic"/>
                <a:cs typeface="Arial" pitchFamily="34" charset="-120"/>
              </a:rPr>
              <a:t>裏面電源</a:t>
            </a:r>
            <a:endParaRPr lang="en-US" sz="1100" dirty="0"/>
          </a:p>
        </p:txBody>
      </p:sp>
      <p:sp>
        <p:nvSpPr>
          <p:cNvPr id="41" name="Shape 38"/>
          <p:cNvSpPr/>
          <p:nvPr/>
        </p:nvSpPr>
        <p:spPr>
          <a:xfrm>
            <a:off x="6537960" y="2651760"/>
            <a:ext cx="1527048" cy="429768"/>
          </a:xfrm>
          <a:prstGeom prst="homePlate">
            <a:avLst/>
          </a:prstGeom>
          <a:solidFill>
            <a:srgbClr val="ED7D31"/>
          </a:solidFill>
          <a:ln/>
        </p:spPr>
      </p:sp>
      <p:sp>
        <p:nvSpPr>
          <p:cNvPr id="42" name="Text 39"/>
          <p:cNvSpPr txBox="1"/>
          <p:nvPr/>
        </p:nvSpPr>
        <p:spPr>
          <a:xfrm>
            <a:off x="6592824" y="2651760"/>
            <a:ext cx="132176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A12</a:t>
            </a:r>
            <a:endParaRPr lang="en-US" sz="1100" dirty="0"/>
          </a:p>
          <a:p>
            <a:pPr algn="l" indent="0" marL="0">
              <a:buNone/>
            </a:pPr>
            <a:r>
              <a:rPr lang="en-US" sz="950" dirty="0">
                <a:solidFill>
                  <a:srgbClr val="FFFFFF"/>
                </a:solidFill>
                <a:latin typeface="Arial" pitchFamily="34" charset="0"/>
                <a:ea typeface="Yu Gothic"/>
                <a:cs typeface="Arial" pitchFamily="34" charset="-120"/>
              </a:rPr>
              <a:t>裏面電源</a:t>
            </a:r>
            <a:endParaRPr lang="en-US" sz="1100" dirty="0"/>
          </a:p>
        </p:txBody>
      </p:sp>
      <p:sp>
        <p:nvSpPr>
          <p:cNvPr id="43" name="Shape 40"/>
          <p:cNvSpPr/>
          <p:nvPr/>
        </p:nvSpPr>
        <p:spPr>
          <a:xfrm>
            <a:off x="2651760" y="3319272"/>
            <a:ext cx="749808" cy="429768"/>
          </a:xfrm>
          <a:prstGeom prst="homePlate">
            <a:avLst/>
          </a:prstGeom>
          <a:solidFill>
            <a:srgbClr val="2F5597"/>
          </a:solidFill>
          <a:ln/>
        </p:spPr>
      </p:sp>
      <p:sp>
        <p:nvSpPr>
          <p:cNvPr id="44" name="Text 41"/>
          <p:cNvSpPr txBox="1"/>
          <p:nvPr/>
        </p:nvSpPr>
        <p:spPr>
          <a:xfrm>
            <a:off x="2706624" y="3319272"/>
            <a:ext cx="54452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SF2</a:t>
            </a:r>
            <a:endParaRPr lang="en-US" sz="1100" dirty="0"/>
          </a:p>
        </p:txBody>
      </p:sp>
      <p:sp>
        <p:nvSpPr>
          <p:cNvPr id="45" name="Shape 42"/>
          <p:cNvSpPr/>
          <p:nvPr/>
        </p:nvSpPr>
        <p:spPr>
          <a:xfrm>
            <a:off x="3429000" y="3319272"/>
            <a:ext cx="259080" cy="429768"/>
          </a:xfrm>
          <a:prstGeom prst="rect">
            <a:avLst/>
          </a:prstGeom>
          <a:solidFill>
            <a:srgbClr val="2F5597"/>
          </a:solidFill>
          <a:ln/>
        </p:spPr>
      </p:sp>
      <p:sp>
        <p:nvSpPr>
          <p:cNvPr id="46" name="Shape 43"/>
          <p:cNvSpPr/>
          <p:nvPr/>
        </p:nvSpPr>
        <p:spPr>
          <a:xfrm>
            <a:off x="3688080" y="3319272"/>
            <a:ext cx="749808" cy="429768"/>
          </a:xfrm>
          <a:prstGeom prst="homePlate">
            <a:avLst/>
          </a:prstGeom>
          <a:solidFill>
            <a:srgbClr val="ED7D31"/>
          </a:solidFill>
          <a:ln/>
        </p:spPr>
      </p:sp>
      <p:sp>
        <p:nvSpPr>
          <p:cNvPr id="47" name="Text 44"/>
          <p:cNvSpPr txBox="1"/>
          <p:nvPr/>
        </p:nvSpPr>
        <p:spPr>
          <a:xfrm>
            <a:off x="3483864" y="3319272"/>
            <a:ext cx="80360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SF2P</a:t>
            </a:r>
            <a:endParaRPr lang="en-US" sz="1100" dirty="0"/>
          </a:p>
        </p:txBody>
      </p:sp>
      <p:sp>
        <p:nvSpPr>
          <p:cNvPr id="48" name="Shape 45"/>
          <p:cNvSpPr/>
          <p:nvPr/>
        </p:nvSpPr>
        <p:spPr>
          <a:xfrm>
            <a:off x="4465320" y="3319272"/>
            <a:ext cx="2045208" cy="429768"/>
          </a:xfrm>
          <a:prstGeom prst="homePlate">
            <a:avLst/>
          </a:prstGeom>
          <a:solidFill>
            <a:srgbClr val="ED7D31"/>
          </a:solidFill>
          <a:ln/>
        </p:spPr>
      </p:sp>
      <p:sp>
        <p:nvSpPr>
          <p:cNvPr id="49" name="Text 46"/>
          <p:cNvSpPr txBox="1"/>
          <p:nvPr/>
        </p:nvSpPr>
        <p:spPr>
          <a:xfrm>
            <a:off x="4520184" y="3319272"/>
            <a:ext cx="183992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SF2P+・SF2X</a:t>
            </a:r>
            <a:endParaRPr lang="en-US" sz="1100" dirty="0"/>
          </a:p>
        </p:txBody>
      </p:sp>
      <p:sp>
        <p:nvSpPr>
          <p:cNvPr id="50" name="Shape 47"/>
          <p:cNvSpPr/>
          <p:nvPr/>
        </p:nvSpPr>
        <p:spPr>
          <a:xfrm>
            <a:off x="6537960" y="3319272"/>
            <a:ext cx="1527048" cy="429768"/>
          </a:xfrm>
          <a:prstGeom prst="homePlate">
            <a:avLst/>
          </a:prstGeom>
          <a:solidFill>
            <a:srgbClr val="ED7D31"/>
          </a:solidFill>
          <a:ln/>
        </p:spPr>
      </p:sp>
      <p:sp>
        <p:nvSpPr>
          <p:cNvPr id="51" name="Text 48"/>
          <p:cNvSpPr txBox="1"/>
          <p:nvPr/>
        </p:nvSpPr>
        <p:spPr>
          <a:xfrm>
            <a:off x="6592824" y="3319272"/>
            <a:ext cx="132176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SF1.4</a:t>
            </a:r>
            <a:endParaRPr lang="en-US" sz="1100" dirty="0"/>
          </a:p>
          <a:p>
            <a:pPr algn="l" indent="0" marL="0">
              <a:buNone/>
            </a:pPr>
            <a:r>
              <a:rPr lang="en-US" sz="950" dirty="0">
                <a:solidFill>
                  <a:srgbClr val="FFFFFF"/>
                </a:solidFill>
                <a:latin typeface="Arial" pitchFamily="34" charset="0"/>
                <a:ea typeface="Yu Gothic"/>
                <a:cs typeface="Arial" pitchFamily="34" charset="-120"/>
              </a:rPr>
              <a:t>2年延期</a:t>
            </a:r>
            <a:endParaRPr lang="en-US" sz="1100" dirty="0"/>
          </a:p>
        </p:txBody>
      </p:sp>
      <p:sp>
        <p:nvSpPr>
          <p:cNvPr id="52" name="Shape 49"/>
          <p:cNvSpPr/>
          <p:nvPr/>
        </p:nvSpPr>
        <p:spPr>
          <a:xfrm>
            <a:off x="2651760" y="3986784"/>
            <a:ext cx="1036320" cy="429768"/>
          </a:xfrm>
          <a:prstGeom prst="rect">
            <a:avLst/>
          </a:prstGeom>
          <a:solidFill>
            <a:srgbClr val="2F5597"/>
          </a:solidFill>
          <a:ln/>
        </p:spPr>
      </p:sp>
      <p:sp>
        <p:nvSpPr>
          <p:cNvPr id="53" name="Shape 50"/>
          <p:cNvSpPr/>
          <p:nvPr/>
        </p:nvSpPr>
        <p:spPr>
          <a:xfrm>
            <a:off x="3688080" y="3986784"/>
            <a:ext cx="1267968" cy="429768"/>
          </a:xfrm>
          <a:prstGeom prst="homePlate">
            <a:avLst/>
          </a:prstGeom>
          <a:solidFill>
            <a:srgbClr val="ED7D31"/>
          </a:solidFill>
          <a:ln/>
        </p:spPr>
      </p:sp>
      <p:sp>
        <p:nvSpPr>
          <p:cNvPr id="54" name="Text 51"/>
          <p:cNvSpPr txBox="1"/>
          <p:nvPr/>
        </p:nvSpPr>
        <p:spPr>
          <a:xfrm>
            <a:off x="2706624" y="3986784"/>
            <a:ext cx="209900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18A</a:t>
            </a:r>
            <a:endParaRPr lang="en-US" sz="1100" dirty="0"/>
          </a:p>
          <a:p>
            <a:pPr algn="l" indent="0" marL="0">
              <a:buNone/>
            </a:pPr>
            <a:r>
              <a:rPr lang="en-US" sz="950" dirty="0">
                <a:solidFill>
                  <a:srgbClr val="FFFFFF"/>
                </a:solidFill>
                <a:latin typeface="Arial" pitchFamily="34" charset="0"/>
                <a:ea typeface="Yu Gothic"/>
                <a:cs typeface="Arial" pitchFamily="34" charset="-120"/>
              </a:rPr>
              <a:t>GAA＋裏面電源</a:t>
            </a:r>
            <a:endParaRPr lang="en-US" sz="1100" dirty="0"/>
          </a:p>
        </p:txBody>
      </p:sp>
      <p:sp>
        <p:nvSpPr>
          <p:cNvPr id="55" name="Shape 52"/>
          <p:cNvSpPr/>
          <p:nvPr/>
        </p:nvSpPr>
        <p:spPr>
          <a:xfrm>
            <a:off x="4983480" y="3986784"/>
            <a:ext cx="2563368" cy="429768"/>
          </a:xfrm>
          <a:prstGeom prst="homePlate">
            <a:avLst/>
          </a:prstGeom>
          <a:solidFill>
            <a:srgbClr val="ED7D31"/>
          </a:solidFill>
          <a:ln/>
        </p:spPr>
      </p:sp>
      <p:sp>
        <p:nvSpPr>
          <p:cNvPr id="56" name="Text 53"/>
          <p:cNvSpPr txBox="1"/>
          <p:nvPr/>
        </p:nvSpPr>
        <p:spPr>
          <a:xfrm>
            <a:off x="5038344" y="3986784"/>
            <a:ext cx="235808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14A</a:t>
            </a:r>
            <a:endParaRPr lang="en-US" sz="1100" dirty="0"/>
          </a:p>
          <a:p>
            <a:pPr algn="l" indent="0" marL="0">
              <a:buNone/>
            </a:pPr>
            <a:r>
              <a:rPr lang="en-US" sz="950" dirty="0">
                <a:solidFill>
                  <a:srgbClr val="FFFFFF"/>
                </a:solidFill>
                <a:latin typeface="Arial" pitchFamily="34" charset="0"/>
                <a:ea typeface="Yu Gothic"/>
                <a:cs typeface="Arial" pitchFamily="34" charset="-120"/>
              </a:rPr>
              <a:t>High-NA EUV</a:t>
            </a:r>
            <a:endParaRPr lang="en-US" sz="1100" dirty="0"/>
          </a:p>
        </p:txBody>
      </p:sp>
      <p:sp>
        <p:nvSpPr>
          <p:cNvPr id="57" name="Shape 54"/>
          <p:cNvSpPr/>
          <p:nvPr/>
        </p:nvSpPr>
        <p:spPr>
          <a:xfrm>
            <a:off x="2651760" y="4654296"/>
            <a:ext cx="1036320" cy="429768"/>
          </a:xfrm>
          <a:prstGeom prst="rect">
            <a:avLst/>
          </a:prstGeom>
          <a:solidFill>
            <a:srgbClr val="2F5597"/>
          </a:solidFill>
          <a:ln/>
        </p:spPr>
      </p:sp>
      <p:sp>
        <p:nvSpPr>
          <p:cNvPr id="58" name="Shape 55"/>
          <p:cNvSpPr/>
          <p:nvPr/>
        </p:nvSpPr>
        <p:spPr>
          <a:xfrm>
            <a:off x="3688080" y="4654296"/>
            <a:ext cx="1267968" cy="429768"/>
          </a:xfrm>
          <a:prstGeom prst="homePlate">
            <a:avLst/>
          </a:prstGeom>
          <a:solidFill>
            <a:srgbClr val="ED7D31"/>
          </a:solidFill>
          <a:ln/>
        </p:spPr>
      </p:sp>
      <p:sp>
        <p:nvSpPr>
          <p:cNvPr id="59" name="Text 56"/>
          <p:cNvSpPr txBox="1"/>
          <p:nvPr/>
        </p:nvSpPr>
        <p:spPr>
          <a:xfrm>
            <a:off x="2706624" y="4654296"/>
            <a:ext cx="209900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N+3</a:t>
            </a:r>
            <a:endParaRPr lang="en-US" sz="1100" dirty="0"/>
          </a:p>
          <a:p>
            <a:pPr algn="l" indent="0" marL="0">
              <a:buNone/>
            </a:pPr>
            <a:r>
              <a:rPr lang="en-US" sz="950" dirty="0">
                <a:solidFill>
                  <a:srgbClr val="FFFFFF"/>
                </a:solidFill>
                <a:latin typeface="Arial" pitchFamily="34" charset="0"/>
                <a:ea typeface="Yu Gothic"/>
                <a:cs typeface="Arial" pitchFamily="34" charset="-120"/>
              </a:rPr>
              <a:t>EUVなし・5nm級に接近</a:t>
            </a:r>
            <a:endParaRPr lang="en-US" sz="1100" dirty="0"/>
          </a:p>
        </p:txBody>
      </p:sp>
      <p:sp>
        <p:nvSpPr>
          <p:cNvPr id="60" name="Shape 57"/>
          <p:cNvSpPr/>
          <p:nvPr/>
        </p:nvSpPr>
        <p:spPr>
          <a:xfrm>
            <a:off x="4983480" y="4654296"/>
            <a:ext cx="3081528" cy="429768"/>
          </a:xfrm>
          <a:prstGeom prst="homePlate">
            <a:avLst/>
          </a:prstGeom>
          <a:solidFill>
            <a:srgbClr val="FFF2E6"/>
          </a:solidFill>
          <a:ln w="15875">
            <a:solidFill>
              <a:srgbClr val="C55A11"/>
            </a:solidFill>
            <a:prstDash val="dash"/>
          </a:ln>
        </p:spPr>
      </p:sp>
      <p:sp>
        <p:nvSpPr>
          <p:cNvPr id="61" name="Text 58"/>
          <p:cNvSpPr txBox="1"/>
          <p:nvPr/>
        </p:nvSpPr>
        <p:spPr>
          <a:xfrm>
            <a:off x="5038344" y="4654296"/>
            <a:ext cx="2876245" cy="42976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次世代</a:t>
            </a:r>
            <a:endParaRPr lang="en-US" sz="1100" dirty="0"/>
          </a:p>
          <a:p>
            <a:pPr algn="l" indent="0" marL="0">
              <a:buNone/>
            </a:pPr>
            <a:r>
              <a:rPr lang="en-US" sz="950" dirty="0">
                <a:solidFill>
                  <a:srgbClr val="843C0C"/>
                </a:solidFill>
                <a:latin typeface="Arial" pitchFamily="34" charset="0"/>
                <a:ea typeface="Yu Gothic"/>
                <a:cs typeface="Arial" pitchFamily="34" charset="-120"/>
              </a:rPr>
              <a:t>国産EUVが目標（報道）</a:t>
            </a:r>
            <a:endParaRPr lang="en-US" sz="1100" dirty="0"/>
          </a:p>
        </p:txBody>
      </p:sp>
      <p:sp>
        <p:nvSpPr>
          <p:cNvPr id="62" name="Shape 59"/>
          <p:cNvSpPr/>
          <p:nvPr/>
        </p:nvSpPr>
        <p:spPr>
          <a:xfrm>
            <a:off x="2133600" y="5321808"/>
            <a:ext cx="1554480" cy="429768"/>
          </a:xfrm>
          <a:prstGeom prst="rect">
            <a:avLst/>
          </a:prstGeom>
          <a:solidFill>
            <a:srgbClr val="2F5597"/>
          </a:solidFill>
          <a:ln/>
        </p:spPr>
      </p:sp>
      <p:sp>
        <p:nvSpPr>
          <p:cNvPr id="63" name="Shape 60"/>
          <p:cNvSpPr/>
          <p:nvPr/>
        </p:nvSpPr>
        <p:spPr>
          <a:xfrm>
            <a:off x="3688080" y="5321808"/>
            <a:ext cx="1008888" cy="429768"/>
          </a:xfrm>
          <a:prstGeom prst="homePlate">
            <a:avLst/>
          </a:prstGeom>
          <a:solidFill>
            <a:srgbClr val="ED7D31"/>
          </a:solidFill>
          <a:ln/>
        </p:spPr>
      </p:sp>
      <p:sp>
        <p:nvSpPr>
          <p:cNvPr id="64" name="Text 61"/>
          <p:cNvSpPr txBox="1"/>
          <p:nvPr/>
        </p:nvSpPr>
        <p:spPr>
          <a:xfrm>
            <a:off x="2188464" y="5321808"/>
            <a:ext cx="235808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2nm 試作ライン</a:t>
            </a:r>
            <a:endParaRPr lang="en-US" sz="1100" dirty="0"/>
          </a:p>
        </p:txBody>
      </p:sp>
      <p:sp>
        <p:nvSpPr>
          <p:cNvPr id="65" name="Shape 62"/>
          <p:cNvSpPr/>
          <p:nvPr/>
        </p:nvSpPr>
        <p:spPr>
          <a:xfrm>
            <a:off x="4724400" y="5321808"/>
            <a:ext cx="1786128" cy="429768"/>
          </a:xfrm>
          <a:prstGeom prst="homePlate">
            <a:avLst/>
          </a:prstGeom>
          <a:solidFill>
            <a:srgbClr val="ED7D31"/>
          </a:solidFill>
          <a:ln/>
        </p:spPr>
      </p:sp>
      <p:sp>
        <p:nvSpPr>
          <p:cNvPr id="66" name="Text 63"/>
          <p:cNvSpPr txBox="1"/>
          <p:nvPr/>
        </p:nvSpPr>
        <p:spPr>
          <a:xfrm>
            <a:off x="4779264" y="5321808"/>
            <a:ext cx="1580845" cy="42976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2nm 量産</a:t>
            </a:r>
            <a:endParaRPr lang="en-US" sz="1100" dirty="0"/>
          </a:p>
        </p:txBody>
      </p:sp>
      <p:sp>
        <p:nvSpPr>
          <p:cNvPr id="67" name="Shape 64"/>
          <p:cNvSpPr/>
          <p:nvPr/>
        </p:nvSpPr>
        <p:spPr>
          <a:xfrm>
            <a:off x="6537960" y="5321808"/>
            <a:ext cx="1527048" cy="429768"/>
          </a:xfrm>
          <a:prstGeom prst="homePlate">
            <a:avLst/>
          </a:prstGeom>
          <a:solidFill>
            <a:srgbClr val="FFF2E6"/>
          </a:solidFill>
          <a:ln w="15875">
            <a:solidFill>
              <a:srgbClr val="C55A11"/>
            </a:solidFill>
            <a:prstDash val="dash"/>
          </a:ln>
        </p:spPr>
      </p:sp>
      <p:sp>
        <p:nvSpPr>
          <p:cNvPr id="68" name="Text 65"/>
          <p:cNvSpPr txBox="1"/>
          <p:nvPr/>
        </p:nvSpPr>
        <p:spPr>
          <a:xfrm>
            <a:off x="6592824" y="5321808"/>
            <a:ext cx="1321765" cy="42976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1.4nm</a:t>
            </a:r>
            <a:endParaRPr lang="en-US" sz="1100" dirty="0"/>
          </a:p>
          <a:p>
            <a:pPr algn="l" indent="0" marL="0">
              <a:buNone/>
            </a:pPr>
            <a:r>
              <a:rPr lang="en-US" sz="950" dirty="0">
                <a:solidFill>
                  <a:srgbClr val="843C0C"/>
                </a:solidFill>
                <a:latin typeface="Arial" pitchFamily="34" charset="0"/>
                <a:ea typeface="Yu Gothic"/>
                <a:cs typeface="Arial" pitchFamily="34" charset="-120"/>
              </a:rPr>
              <a:t>報道</a:t>
            </a:r>
            <a:endParaRPr lang="en-US" sz="1100" dirty="0"/>
          </a:p>
        </p:txBody>
      </p:sp>
      <p:sp>
        <p:nvSpPr>
          <p:cNvPr id="69" name="Shape 66"/>
          <p:cNvSpPr/>
          <p:nvPr/>
        </p:nvSpPr>
        <p:spPr>
          <a:xfrm>
            <a:off x="1874520" y="6035040"/>
            <a:ext cx="365760" cy="237744"/>
          </a:xfrm>
          <a:prstGeom prst="homePlate">
            <a:avLst/>
          </a:prstGeom>
          <a:solidFill>
            <a:srgbClr val="2F5597"/>
          </a:solidFill>
          <a:ln/>
        </p:spPr>
      </p:sp>
      <p:sp>
        <p:nvSpPr>
          <p:cNvPr id="70" name="Text 67"/>
          <p:cNvSpPr txBox="1"/>
          <p:nvPr/>
        </p:nvSpPr>
        <p:spPr>
          <a:xfrm>
            <a:off x="2313432" y="6035040"/>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実績</a:t>
            </a:r>
            <a:endParaRPr lang="en-US" sz="1050" dirty="0"/>
          </a:p>
        </p:txBody>
      </p:sp>
      <p:sp>
        <p:nvSpPr>
          <p:cNvPr id="71" name="Shape 68"/>
          <p:cNvSpPr/>
          <p:nvPr/>
        </p:nvSpPr>
        <p:spPr>
          <a:xfrm>
            <a:off x="2871216" y="6035040"/>
            <a:ext cx="365760" cy="237744"/>
          </a:xfrm>
          <a:prstGeom prst="homePlate">
            <a:avLst/>
          </a:prstGeom>
          <a:solidFill>
            <a:srgbClr val="ED7D31"/>
          </a:solidFill>
          <a:ln/>
        </p:spPr>
      </p:sp>
      <p:sp>
        <p:nvSpPr>
          <p:cNvPr id="72" name="Text 69"/>
          <p:cNvSpPr txBox="1"/>
          <p:nvPr/>
        </p:nvSpPr>
        <p:spPr>
          <a:xfrm>
            <a:off x="3310128" y="6035040"/>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計画・見通し</a:t>
            </a:r>
            <a:endParaRPr lang="en-US" sz="1050" dirty="0"/>
          </a:p>
        </p:txBody>
      </p:sp>
      <p:sp>
        <p:nvSpPr>
          <p:cNvPr id="73" name="Shape 70"/>
          <p:cNvSpPr/>
          <p:nvPr/>
        </p:nvSpPr>
        <p:spPr>
          <a:xfrm>
            <a:off x="4343400" y="6035040"/>
            <a:ext cx="365760" cy="237744"/>
          </a:xfrm>
          <a:prstGeom prst="homePlate">
            <a:avLst/>
          </a:prstGeom>
          <a:solidFill>
            <a:srgbClr val="FFF2E6"/>
          </a:solidFill>
          <a:ln w="12700">
            <a:solidFill>
              <a:srgbClr val="C55A11"/>
            </a:solidFill>
            <a:prstDash val="dash"/>
          </a:ln>
        </p:spPr>
      </p:sp>
      <p:sp>
        <p:nvSpPr>
          <p:cNvPr id="74" name="Text 71"/>
          <p:cNvSpPr txBox="1"/>
          <p:nvPr/>
        </p:nvSpPr>
        <p:spPr>
          <a:xfrm>
            <a:off x="4782312" y="6035040"/>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報道・確度の低い予想</a:t>
            </a:r>
            <a:endParaRPr lang="en-US" sz="1050" dirty="0"/>
          </a:p>
        </p:txBody>
      </p:sp>
      <p:sp>
        <p:nvSpPr>
          <p:cNvPr id="75" name="Text 72"/>
          <p:cNvSpPr txBox="1"/>
          <p:nvPr/>
        </p:nvSpPr>
        <p:spPr>
          <a:xfrm>
            <a:off x="8366760" y="1783080"/>
            <a:ext cx="3273552" cy="4206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TSMC：主系列はほぼ予定どおり。2027年のA16から裏面電源</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Samsung：GAAを最初に量産（2022年）。1.4nmは2年延期し2029年</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Intel：裏面電源（18A）とHigh-NA（14A、2028年）で先行</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SMIC：EUVなしで5nm級に接近。計画は公表しない</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Rapidus：2027年度下期に2nm量産を目指す</a:t>
            </a:r>
            <a:endParaRPr lang="en-US" sz="1400" dirty="0"/>
          </a:p>
        </p:txBody>
      </p:sp>
      <p:sp>
        <p:nvSpPr>
          <p:cNvPr id="76" name="Text 73"/>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出典：TSMC 2026 Technology Symposium、The Elec（Samsung SAFE Forum 2026）、Intel 2026年2Q決算、TechInsights、Rapidus・Tom's Hardware</a:t>
            </a:r>
            <a:endParaRPr lang="en-US" sz="950" dirty="0"/>
          </a:p>
        </p:txBody>
      </p:sp>
      <p:sp>
        <p:nvSpPr>
          <p:cNvPr id="77" name="Text 7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2B7A9B"/>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2B7A9B"/>
                </a:solidFill>
                <a:latin typeface="Arial" pitchFamily="34" charset="0"/>
                <a:ea typeface="Yu Gothic"/>
                <a:cs typeface="Arial" pitchFamily="34" charset="-120"/>
              </a:rPr>
              <a:t>ロジック</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ロジック：2030年以降はCFET（2033年頃）が本命、2D材料は2040年前後</a:t>
            </a:r>
            <a:endParaRPr lang="en-US" sz="2400" dirty="0"/>
          </a:p>
        </p:txBody>
      </p:sp>
      <p:sp>
        <p:nvSpPr>
          <p:cNvPr id="6" name="Shape 3"/>
          <p:cNvSpPr/>
          <p:nvPr/>
        </p:nvSpPr>
        <p:spPr>
          <a:xfrm>
            <a:off x="2011680" y="2011680"/>
            <a:ext cx="0" cy="1993392"/>
          </a:xfrm>
          <a:prstGeom prst="line">
            <a:avLst/>
          </a:prstGeom>
          <a:noFill/>
          <a:ln w="9525">
            <a:solidFill>
              <a:srgbClr val="DDE1E6"/>
            </a:solidFill>
            <a:prstDash val="solid"/>
          </a:ln>
        </p:spPr>
      </p:sp>
      <p:sp>
        <p:nvSpPr>
          <p:cNvPr id="7" name="Text 4"/>
          <p:cNvSpPr txBox="1"/>
          <p:nvPr/>
        </p:nvSpPr>
        <p:spPr>
          <a:xfrm>
            <a:off x="20482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2030</a:t>
            </a:r>
            <a:endParaRPr lang="en-US" sz="1100" dirty="0"/>
          </a:p>
        </p:txBody>
      </p:sp>
      <p:sp>
        <p:nvSpPr>
          <p:cNvPr id="8" name="Shape 5"/>
          <p:cNvSpPr/>
          <p:nvPr/>
        </p:nvSpPr>
        <p:spPr>
          <a:xfrm>
            <a:off x="2814295" y="2011680"/>
            <a:ext cx="0" cy="1993392"/>
          </a:xfrm>
          <a:prstGeom prst="line">
            <a:avLst/>
          </a:prstGeom>
          <a:noFill/>
          <a:ln w="9525">
            <a:solidFill>
              <a:srgbClr val="DDE1E6"/>
            </a:solidFill>
            <a:prstDash val="solid"/>
          </a:ln>
        </p:spPr>
      </p:sp>
      <p:sp>
        <p:nvSpPr>
          <p:cNvPr id="9" name="Text 6"/>
          <p:cNvSpPr txBox="1"/>
          <p:nvPr/>
        </p:nvSpPr>
        <p:spPr>
          <a:xfrm>
            <a:off x="2850871"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2031</a:t>
            </a:r>
            <a:endParaRPr lang="en-US" sz="1100" dirty="0"/>
          </a:p>
        </p:txBody>
      </p:sp>
      <p:sp>
        <p:nvSpPr>
          <p:cNvPr id="10" name="Shape 7"/>
          <p:cNvSpPr/>
          <p:nvPr/>
        </p:nvSpPr>
        <p:spPr>
          <a:xfrm>
            <a:off x="3616909" y="2011680"/>
            <a:ext cx="0" cy="1993392"/>
          </a:xfrm>
          <a:prstGeom prst="line">
            <a:avLst/>
          </a:prstGeom>
          <a:noFill/>
          <a:ln w="9525">
            <a:solidFill>
              <a:srgbClr val="DDE1E6"/>
            </a:solidFill>
            <a:prstDash val="solid"/>
          </a:ln>
        </p:spPr>
      </p:sp>
      <p:sp>
        <p:nvSpPr>
          <p:cNvPr id="11" name="Text 8"/>
          <p:cNvSpPr txBox="1"/>
          <p:nvPr/>
        </p:nvSpPr>
        <p:spPr>
          <a:xfrm>
            <a:off x="3653485"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2032</a:t>
            </a:r>
            <a:endParaRPr lang="en-US" sz="1100" dirty="0"/>
          </a:p>
        </p:txBody>
      </p:sp>
      <p:sp>
        <p:nvSpPr>
          <p:cNvPr id="12" name="Shape 9"/>
          <p:cNvSpPr/>
          <p:nvPr/>
        </p:nvSpPr>
        <p:spPr>
          <a:xfrm>
            <a:off x="4419524" y="2011680"/>
            <a:ext cx="0" cy="1993392"/>
          </a:xfrm>
          <a:prstGeom prst="line">
            <a:avLst/>
          </a:prstGeom>
          <a:noFill/>
          <a:ln w="9525">
            <a:solidFill>
              <a:srgbClr val="DDE1E6"/>
            </a:solidFill>
            <a:prstDash val="solid"/>
          </a:ln>
        </p:spPr>
      </p:sp>
      <p:sp>
        <p:nvSpPr>
          <p:cNvPr id="13" name="Text 10"/>
          <p:cNvSpPr txBox="1"/>
          <p:nvPr/>
        </p:nvSpPr>
        <p:spPr>
          <a:xfrm>
            <a:off x="4456100"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2033</a:t>
            </a:r>
            <a:endParaRPr lang="en-US" sz="1100" dirty="0"/>
          </a:p>
        </p:txBody>
      </p:sp>
      <p:sp>
        <p:nvSpPr>
          <p:cNvPr id="14" name="Shape 11"/>
          <p:cNvSpPr/>
          <p:nvPr/>
        </p:nvSpPr>
        <p:spPr>
          <a:xfrm>
            <a:off x="5222138" y="2011680"/>
            <a:ext cx="0" cy="1993392"/>
          </a:xfrm>
          <a:prstGeom prst="line">
            <a:avLst/>
          </a:prstGeom>
          <a:noFill/>
          <a:ln w="9525">
            <a:solidFill>
              <a:srgbClr val="DDE1E6"/>
            </a:solidFill>
            <a:prstDash val="solid"/>
          </a:ln>
        </p:spPr>
      </p:sp>
      <p:sp>
        <p:nvSpPr>
          <p:cNvPr id="15" name="Text 12"/>
          <p:cNvSpPr txBox="1"/>
          <p:nvPr/>
        </p:nvSpPr>
        <p:spPr>
          <a:xfrm>
            <a:off x="5258714"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2034</a:t>
            </a:r>
            <a:endParaRPr lang="en-US" sz="1100" dirty="0"/>
          </a:p>
        </p:txBody>
      </p:sp>
      <p:sp>
        <p:nvSpPr>
          <p:cNvPr id="16" name="Shape 13"/>
          <p:cNvSpPr/>
          <p:nvPr/>
        </p:nvSpPr>
        <p:spPr>
          <a:xfrm>
            <a:off x="6024753" y="2011680"/>
            <a:ext cx="0" cy="1993392"/>
          </a:xfrm>
          <a:prstGeom prst="line">
            <a:avLst/>
          </a:prstGeom>
          <a:noFill/>
          <a:ln w="9525">
            <a:solidFill>
              <a:srgbClr val="DDE1E6"/>
            </a:solidFill>
            <a:prstDash val="solid"/>
          </a:ln>
        </p:spPr>
      </p:sp>
      <p:sp>
        <p:nvSpPr>
          <p:cNvPr id="17" name="Text 14"/>
          <p:cNvSpPr txBox="1"/>
          <p:nvPr/>
        </p:nvSpPr>
        <p:spPr>
          <a:xfrm>
            <a:off x="6061329"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2035</a:t>
            </a:r>
            <a:endParaRPr lang="en-US" sz="1100" dirty="0"/>
          </a:p>
        </p:txBody>
      </p:sp>
      <p:sp>
        <p:nvSpPr>
          <p:cNvPr id="18" name="Shape 15"/>
          <p:cNvSpPr/>
          <p:nvPr/>
        </p:nvSpPr>
        <p:spPr>
          <a:xfrm>
            <a:off x="6827368" y="2011680"/>
            <a:ext cx="0" cy="1993392"/>
          </a:xfrm>
          <a:prstGeom prst="line">
            <a:avLst/>
          </a:prstGeom>
          <a:noFill/>
          <a:ln w="9525">
            <a:solidFill>
              <a:srgbClr val="DDE1E6"/>
            </a:solidFill>
            <a:prstDash val="solid"/>
          </a:ln>
        </p:spPr>
      </p:sp>
      <p:sp>
        <p:nvSpPr>
          <p:cNvPr id="19" name="Text 16"/>
          <p:cNvSpPr txBox="1"/>
          <p:nvPr/>
        </p:nvSpPr>
        <p:spPr>
          <a:xfrm>
            <a:off x="6863944"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2036</a:t>
            </a:r>
            <a:endParaRPr lang="en-US" sz="1100" dirty="0"/>
          </a:p>
        </p:txBody>
      </p:sp>
      <p:sp>
        <p:nvSpPr>
          <p:cNvPr id="20" name="Shape 17"/>
          <p:cNvSpPr/>
          <p:nvPr/>
        </p:nvSpPr>
        <p:spPr>
          <a:xfrm>
            <a:off x="7629982" y="2011680"/>
            <a:ext cx="0" cy="1993392"/>
          </a:xfrm>
          <a:prstGeom prst="line">
            <a:avLst/>
          </a:prstGeom>
          <a:noFill/>
          <a:ln w="9525">
            <a:solidFill>
              <a:srgbClr val="DDE1E6"/>
            </a:solidFill>
            <a:prstDash val="solid"/>
          </a:ln>
        </p:spPr>
      </p:sp>
      <p:sp>
        <p:nvSpPr>
          <p:cNvPr id="21" name="Text 18"/>
          <p:cNvSpPr txBox="1"/>
          <p:nvPr/>
        </p:nvSpPr>
        <p:spPr>
          <a:xfrm>
            <a:off x="7666558"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2037</a:t>
            </a:r>
            <a:endParaRPr lang="en-US" sz="1100" dirty="0"/>
          </a:p>
        </p:txBody>
      </p:sp>
      <p:sp>
        <p:nvSpPr>
          <p:cNvPr id="22" name="Shape 19"/>
          <p:cNvSpPr/>
          <p:nvPr/>
        </p:nvSpPr>
        <p:spPr>
          <a:xfrm>
            <a:off x="8432597" y="2011680"/>
            <a:ext cx="0" cy="1993392"/>
          </a:xfrm>
          <a:prstGeom prst="line">
            <a:avLst/>
          </a:prstGeom>
          <a:noFill/>
          <a:ln w="9525">
            <a:solidFill>
              <a:srgbClr val="DDE1E6"/>
            </a:solidFill>
            <a:prstDash val="solid"/>
          </a:ln>
        </p:spPr>
      </p:sp>
      <p:sp>
        <p:nvSpPr>
          <p:cNvPr id="23" name="Text 20"/>
          <p:cNvSpPr txBox="1"/>
          <p:nvPr/>
        </p:nvSpPr>
        <p:spPr>
          <a:xfrm>
            <a:off x="8469173"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2038</a:t>
            </a:r>
            <a:endParaRPr lang="en-US" sz="1100" dirty="0"/>
          </a:p>
        </p:txBody>
      </p:sp>
      <p:sp>
        <p:nvSpPr>
          <p:cNvPr id="24" name="Shape 21"/>
          <p:cNvSpPr/>
          <p:nvPr/>
        </p:nvSpPr>
        <p:spPr>
          <a:xfrm>
            <a:off x="9235211" y="2011680"/>
            <a:ext cx="0" cy="1993392"/>
          </a:xfrm>
          <a:prstGeom prst="line">
            <a:avLst/>
          </a:prstGeom>
          <a:noFill/>
          <a:ln w="9525">
            <a:solidFill>
              <a:srgbClr val="DDE1E6"/>
            </a:solidFill>
            <a:prstDash val="solid"/>
          </a:ln>
        </p:spPr>
      </p:sp>
      <p:sp>
        <p:nvSpPr>
          <p:cNvPr id="25" name="Text 22"/>
          <p:cNvSpPr txBox="1"/>
          <p:nvPr/>
        </p:nvSpPr>
        <p:spPr>
          <a:xfrm>
            <a:off x="9271787"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2039</a:t>
            </a:r>
            <a:endParaRPr lang="en-US" sz="1100" dirty="0"/>
          </a:p>
        </p:txBody>
      </p:sp>
      <p:sp>
        <p:nvSpPr>
          <p:cNvPr id="26" name="Shape 23"/>
          <p:cNvSpPr/>
          <p:nvPr/>
        </p:nvSpPr>
        <p:spPr>
          <a:xfrm>
            <a:off x="10037826" y="2011680"/>
            <a:ext cx="0" cy="1993392"/>
          </a:xfrm>
          <a:prstGeom prst="line">
            <a:avLst/>
          </a:prstGeom>
          <a:noFill/>
          <a:ln w="9525">
            <a:solidFill>
              <a:srgbClr val="DDE1E6"/>
            </a:solidFill>
            <a:prstDash val="solid"/>
          </a:ln>
        </p:spPr>
      </p:sp>
      <p:sp>
        <p:nvSpPr>
          <p:cNvPr id="27" name="Text 24"/>
          <p:cNvSpPr txBox="1"/>
          <p:nvPr/>
        </p:nvSpPr>
        <p:spPr>
          <a:xfrm>
            <a:off x="10074402"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2040</a:t>
            </a:r>
            <a:endParaRPr lang="en-US" sz="1100" dirty="0"/>
          </a:p>
        </p:txBody>
      </p:sp>
      <p:sp>
        <p:nvSpPr>
          <p:cNvPr id="28" name="Shape 25"/>
          <p:cNvSpPr/>
          <p:nvPr/>
        </p:nvSpPr>
        <p:spPr>
          <a:xfrm>
            <a:off x="10840441" y="2011680"/>
            <a:ext cx="0" cy="1993392"/>
          </a:xfrm>
          <a:prstGeom prst="line">
            <a:avLst/>
          </a:prstGeom>
          <a:noFill/>
          <a:ln w="9525">
            <a:solidFill>
              <a:srgbClr val="DDE1E6"/>
            </a:solidFill>
            <a:prstDash val="solid"/>
          </a:ln>
        </p:spPr>
      </p:sp>
      <p:sp>
        <p:nvSpPr>
          <p:cNvPr id="29" name="Text 26"/>
          <p:cNvSpPr txBox="1"/>
          <p:nvPr/>
        </p:nvSpPr>
        <p:spPr>
          <a:xfrm>
            <a:off x="10877017"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2041</a:t>
            </a:r>
            <a:endParaRPr lang="en-US" sz="1100" dirty="0"/>
          </a:p>
        </p:txBody>
      </p:sp>
      <p:sp>
        <p:nvSpPr>
          <p:cNvPr id="30" name="Shape 27"/>
          <p:cNvSpPr/>
          <p:nvPr/>
        </p:nvSpPr>
        <p:spPr>
          <a:xfrm>
            <a:off x="11643055" y="2011680"/>
            <a:ext cx="0" cy="1993392"/>
          </a:xfrm>
          <a:prstGeom prst="line">
            <a:avLst/>
          </a:prstGeom>
          <a:noFill/>
          <a:ln w="9525">
            <a:solidFill>
              <a:srgbClr val="DDE1E6"/>
            </a:solidFill>
            <a:prstDash val="solid"/>
          </a:ln>
        </p:spPr>
      </p:sp>
      <p:sp>
        <p:nvSpPr>
          <p:cNvPr id="31" name="Shape 28"/>
          <p:cNvSpPr/>
          <p:nvPr/>
        </p:nvSpPr>
        <p:spPr>
          <a:xfrm>
            <a:off x="548640" y="2029968"/>
            <a:ext cx="11094415" cy="658368"/>
          </a:xfrm>
          <a:prstGeom prst="rect">
            <a:avLst/>
          </a:prstGeom>
          <a:solidFill>
            <a:srgbClr val="F6F7F9"/>
          </a:solidFill>
          <a:ln/>
        </p:spPr>
      </p:sp>
      <p:sp>
        <p:nvSpPr>
          <p:cNvPr id="32" name="Text 29"/>
          <p:cNvSpPr txBox="1"/>
          <p:nvPr/>
        </p:nvSpPr>
        <p:spPr>
          <a:xfrm>
            <a:off x="621792" y="2029968"/>
            <a:ext cx="1353312" cy="658368"/>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世代（imec）</a:t>
            </a:r>
            <a:endParaRPr lang="en-US" sz="1300" dirty="0"/>
          </a:p>
        </p:txBody>
      </p:sp>
      <p:sp>
        <p:nvSpPr>
          <p:cNvPr id="33" name="Text 30"/>
          <p:cNvSpPr txBox="1"/>
          <p:nvPr/>
        </p:nvSpPr>
        <p:spPr>
          <a:xfrm>
            <a:off x="621792" y="2688336"/>
            <a:ext cx="1353312" cy="658368"/>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トランジスタ</a:t>
            </a:r>
            <a:endParaRPr lang="en-US" sz="1300" dirty="0"/>
          </a:p>
        </p:txBody>
      </p:sp>
      <p:sp>
        <p:nvSpPr>
          <p:cNvPr id="34" name="Shape 31"/>
          <p:cNvSpPr/>
          <p:nvPr/>
        </p:nvSpPr>
        <p:spPr>
          <a:xfrm>
            <a:off x="548640" y="3346704"/>
            <a:ext cx="11094415" cy="658368"/>
          </a:xfrm>
          <a:prstGeom prst="rect">
            <a:avLst/>
          </a:prstGeom>
          <a:solidFill>
            <a:srgbClr val="F6F7F9"/>
          </a:solidFill>
          <a:ln/>
        </p:spPr>
      </p:sp>
      <p:sp>
        <p:nvSpPr>
          <p:cNvPr id="35" name="Text 32"/>
          <p:cNvSpPr txBox="1"/>
          <p:nvPr/>
        </p:nvSpPr>
        <p:spPr>
          <a:xfrm>
            <a:off x="621792" y="3346704"/>
            <a:ext cx="1353312" cy="658368"/>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露光</a:t>
            </a:r>
            <a:endParaRPr lang="en-US" sz="1300" dirty="0"/>
          </a:p>
        </p:txBody>
      </p:sp>
      <p:sp>
        <p:nvSpPr>
          <p:cNvPr id="36" name="Shape 33"/>
          <p:cNvSpPr/>
          <p:nvPr/>
        </p:nvSpPr>
        <p:spPr>
          <a:xfrm>
            <a:off x="-596817" y="2011680"/>
            <a:ext cx="0" cy="1993392"/>
          </a:xfrm>
          <a:prstGeom prst="line">
            <a:avLst/>
          </a:prstGeom>
          <a:noFill/>
          <a:ln w="19050">
            <a:solidFill>
              <a:srgbClr val="C00000"/>
            </a:solidFill>
            <a:prstDash val="dash"/>
          </a:ln>
        </p:spPr>
      </p:sp>
      <p:sp>
        <p:nvSpPr>
          <p:cNvPr id="37" name="Text 34"/>
          <p:cNvSpPr txBox="1"/>
          <p:nvPr/>
        </p:nvSpPr>
        <p:spPr>
          <a:xfrm>
            <a:off x="-916857" y="1737360"/>
            <a:ext cx="640080" cy="237744"/>
          </a:xfrm>
          <a:prstGeom prst="rect">
            <a:avLst/>
          </a:prstGeom>
          <a:noFill/>
          <a:ln/>
        </p:spPr>
        <p:txBody>
          <a:bodyPr wrap="square" lIns="0" tIns="0" rIns="0" bIns="0" rtlCol="0" anchor="ctr"/>
          <a:lstStyle/>
          <a:p>
            <a:pPr algn="ctr" indent="0" marL="0">
              <a:buNone/>
            </a:pPr>
            <a:r>
              <a:rPr lang="en-US" sz="1050" b="1" dirty="0">
                <a:solidFill>
                  <a:srgbClr val="C00000"/>
                </a:solidFill>
                <a:latin typeface="Arial" pitchFamily="34" charset="0"/>
                <a:ea typeface="Yu Gothic"/>
                <a:cs typeface="Arial" pitchFamily="34" charset="-120"/>
              </a:rPr>
              <a:t>現在</a:t>
            </a:r>
            <a:endParaRPr lang="en-US" sz="1050" dirty="0"/>
          </a:p>
        </p:txBody>
      </p:sp>
      <p:sp>
        <p:nvSpPr>
          <p:cNvPr id="38" name="Shape 35"/>
          <p:cNvSpPr/>
          <p:nvPr/>
        </p:nvSpPr>
        <p:spPr>
          <a:xfrm>
            <a:off x="2412987" y="2157984"/>
            <a:ext cx="1979105" cy="402336"/>
          </a:xfrm>
          <a:prstGeom prst="homePlate">
            <a:avLst/>
          </a:prstGeom>
          <a:solidFill>
            <a:srgbClr val="F4B183"/>
          </a:solidFill>
          <a:ln/>
        </p:spPr>
      </p:sp>
      <p:sp>
        <p:nvSpPr>
          <p:cNvPr id="39" name="Text 36"/>
          <p:cNvSpPr txBox="1"/>
          <p:nvPr/>
        </p:nvSpPr>
        <p:spPr>
          <a:xfrm>
            <a:off x="2467851" y="2157984"/>
            <a:ext cx="1783423" cy="402336"/>
          </a:xfrm>
          <a:prstGeom prst="rect">
            <a:avLst/>
          </a:prstGeom>
          <a:noFill/>
          <a:ln/>
        </p:spPr>
        <p:txBody>
          <a:bodyPr wrap="square" lIns="0" tIns="0" rIns="0" bIns="0" rtlCol="0" anchor="ctr">
            <a:normAutofit/>
          </a:bodyPr>
          <a:lstStyle/>
          <a:p>
            <a:pPr algn="l" indent="0" marL="0">
              <a:buNone/>
            </a:pPr>
            <a:r>
              <a:rPr lang="en-US" sz="1150" b="1" dirty="0">
                <a:solidFill>
                  <a:srgbClr val="1F2A3A"/>
                </a:solidFill>
                <a:latin typeface="Arial" pitchFamily="34" charset="0"/>
                <a:ea typeface="Yu Gothic"/>
                <a:cs typeface="Arial" pitchFamily="34" charset="-120"/>
              </a:rPr>
              <a:t>A10 eq</a:t>
            </a:r>
            <a:endParaRPr lang="en-US" sz="1150" dirty="0"/>
          </a:p>
        </p:txBody>
      </p:sp>
      <p:sp>
        <p:nvSpPr>
          <p:cNvPr id="40" name="Shape 37"/>
          <p:cNvSpPr/>
          <p:nvPr/>
        </p:nvSpPr>
        <p:spPr>
          <a:xfrm>
            <a:off x="4419524" y="2157984"/>
            <a:ext cx="1979105" cy="402336"/>
          </a:xfrm>
          <a:prstGeom prst="homePlate">
            <a:avLst/>
          </a:prstGeom>
          <a:solidFill>
            <a:srgbClr val="F4B183"/>
          </a:solidFill>
          <a:ln/>
        </p:spPr>
      </p:sp>
      <p:sp>
        <p:nvSpPr>
          <p:cNvPr id="41" name="Text 38"/>
          <p:cNvSpPr txBox="1"/>
          <p:nvPr/>
        </p:nvSpPr>
        <p:spPr>
          <a:xfrm>
            <a:off x="4474388" y="2157984"/>
            <a:ext cx="1783423" cy="402336"/>
          </a:xfrm>
          <a:prstGeom prst="rect">
            <a:avLst/>
          </a:prstGeom>
          <a:noFill/>
          <a:ln/>
        </p:spPr>
        <p:txBody>
          <a:bodyPr wrap="square" lIns="0" tIns="0" rIns="0" bIns="0" rtlCol="0" anchor="ctr">
            <a:normAutofit/>
          </a:bodyPr>
          <a:lstStyle/>
          <a:p>
            <a:pPr algn="l" indent="0" marL="0">
              <a:buNone/>
            </a:pPr>
            <a:r>
              <a:rPr lang="en-US" sz="1150" b="1" dirty="0">
                <a:solidFill>
                  <a:srgbClr val="1F2A3A"/>
                </a:solidFill>
                <a:latin typeface="Arial" pitchFamily="34" charset="0"/>
                <a:ea typeface="Yu Gothic"/>
                <a:cs typeface="Arial" pitchFamily="34" charset="-120"/>
              </a:rPr>
              <a:t>A7 eq</a:t>
            </a:r>
            <a:endParaRPr lang="en-US" sz="1150" dirty="0"/>
          </a:p>
        </p:txBody>
      </p:sp>
      <p:sp>
        <p:nvSpPr>
          <p:cNvPr id="42" name="Shape 39"/>
          <p:cNvSpPr/>
          <p:nvPr/>
        </p:nvSpPr>
        <p:spPr>
          <a:xfrm>
            <a:off x="6426060" y="2157984"/>
            <a:ext cx="1979105" cy="402336"/>
          </a:xfrm>
          <a:prstGeom prst="homePlate">
            <a:avLst/>
          </a:prstGeom>
          <a:solidFill>
            <a:srgbClr val="F4B183"/>
          </a:solidFill>
          <a:ln/>
        </p:spPr>
      </p:sp>
      <p:sp>
        <p:nvSpPr>
          <p:cNvPr id="43" name="Text 40"/>
          <p:cNvSpPr txBox="1"/>
          <p:nvPr/>
        </p:nvSpPr>
        <p:spPr>
          <a:xfrm>
            <a:off x="6480924" y="2157984"/>
            <a:ext cx="1783423" cy="402336"/>
          </a:xfrm>
          <a:prstGeom prst="rect">
            <a:avLst/>
          </a:prstGeom>
          <a:noFill/>
          <a:ln/>
        </p:spPr>
        <p:txBody>
          <a:bodyPr wrap="square" lIns="0" tIns="0" rIns="0" bIns="0" rtlCol="0" anchor="ctr">
            <a:normAutofit/>
          </a:bodyPr>
          <a:lstStyle/>
          <a:p>
            <a:pPr algn="l" indent="0" marL="0">
              <a:buNone/>
            </a:pPr>
            <a:r>
              <a:rPr lang="en-US" sz="1150" b="1" dirty="0">
                <a:solidFill>
                  <a:srgbClr val="1F2A3A"/>
                </a:solidFill>
                <a:latin typeface="Arial" pitchFamily="34" charset="0"/>
                <a:ea typeface="Yu Gothic"/>
                <a:cs typeface="Arial" pitchFamily="34" charset="-120"/>
              </a:rPr>
              <a:t>A5 eq</a:t>
            </a:r>
            <a:endParaRPr lang="en-US" sz="1150" dirty="0"/>
          </a:p>
        </p:txBody>
      </p:sp>
      <p:sp>
        <p:nvSpPr>
          <p:cNvPr id="44" name="Shape 41"/>
          <p:cNvSpPr/>
          <p:nvPr/>
        </p:nvSpPr>
        <p:spPr>
          <a:xfrm>
            <a:off x="8432597" y="2157984"/>
            <a:ext cx="3183026" cy="402336"/>
          </a:xfrm>
          <a:prstGeom prst="homePlate">
            <a:avLst/>
          </a:prstGeom>
          <a:solidFill>
            <a:srgbClr val="F4B183"/>
          </a:solidFill>
          <a:ln/>
        </p:spPr>
      </p:sp>
      <p:sp>
        <p:nvSpPr>
          <p:cNvPr id="45" name="Text 42"/>
          <p:cNvSpPr txBox="1"/>
          <p:nvPr/>
        </p:nvSpPr>
        <p:spPr>
          <a:xfrm>
            <a:off x="8487461" y="2157984"/>
            <a:ext cx="2987345" cy="402336"/>
          </a:xfrm>
          <a:prstGeom prst="rect">
            <a:avLst/>
          </a:prstGeom>
          <a:noFill/>
          <a:ln/>
        </p:spPr>
        <p:txBody>
          <a:bodyPr wrap="square" lIns="0" tIns="0" rIns="0" bIns="0" rtlCol="0" anchor="ctr">
            <a:normAutofit/>
          </a:bodyPr>
          <a:lstStyle/>
          <a:p>
            <a:pPr algn="l" indent="0" marL="0">
              <a:buNone/>
            </a:pPr>
            <a:r>
              <a:rPr lang="en-US" sz="1150" b="1" dirty="0">
                <a:solidFill>
                  <a:srgbClr val="1F2A3A"/>
                </a:solidFill>
                <a:latin typeface="Arial" pitchFamily="34" charset="0"/>
                <a:ea typeface="Yu Gothic"/>
                <a:cs typeface="Arial" pitchFamily="34" charset="-120"/>
              </a:rPr>
              <a:t>A3 eq</a:t>
            </a:r>
            <a:endParaRPr lang="en-US" sz="1150" dirty="0"/>
          </a:p>
        </p:txBody>
      </p:sp>
      <p:sp>
        <p:nvSpPr>
          <p:cNvPr id="46" name="Shape 43"/>
          <p:cNvSpPr/>
          <p:nvPr/>
        </p:nvSpPr>
        <p:spPr>
          <a:xfrm>
            <a:off x="2412987" y="2816352"/>
            <a:ext cx="1979105" cy="402336"/>
          </a:xfrm>
          <a:prstGeom prst="homePlate">
            <a:avLst/>
          </a:prstGeom>
          <a:solidFill>
            <a:srgbClr val="FFF2E6"/>
          </a:solidFill>
          <a:ln w="15875">
            <a:solidFill>
              <a:srgbClr val="C55A11"/>
            </a:solidFill>
            <a:prstDash val="dash"/>
          </a:ln>
        </p:spPr>
      </p:sp>
      <p:sp>
        <p:nvSpPr>
          <p:cNvPr id="47" name="Text 44"/>
          <p:cNvSpPr txBox="1"/>
          <p:nvPr/>
        </p:nvSpPr>
        <p:spPr>
          <a:xfrm>
            <a:off x="2467851" y="2816352"/>
            <a:ext cx="1783423" cy="402336"/>
          </a:xfrm>
          <a:prstGeom prst="rect">
            <a:avLst/>
          </a:prstGeom>
          <a:noFill/>
          <a:ln/>
        </p:spPr>
        <p:txBody>
          <a:bodyPr wrap="square" lIns="0" tIns="0" rIns="0" bIns="0" rtlCol="0" anchor="ctr">
            <a:normAutofit/>
          </a:bodyPr>
          <a:lstStyle/>
          <a:p>
            <a:pPr algn="l" indent="0" marL="0">
              <a:buNone/>
            </a:pPr>
            <a:r>
              <a:rPr lang="en-US" sz="1150" b="1" dirty="0">
                <a:solidFill>
                  <a:srgbClr val="843C0C"/>
                </a:solidFill>
                <a:latin typeface="Arial" pitchFamily="34" charset="0"/>
                <a:ea typeface="Yu Gothic"/>
                <a:cs typeface="Arial" pitchFamily="34" charset="-120"/>
              </a:rPr>
              <a:t>ナノシート継続</a:t>
            </a:r>
            <a:endParaRPr lang="en-US" sz="1150" dirty="0"/>
          </a:p>
          <a:p>
            <a:pPr algn="l" indent="0" marL="0">
              <a:buNone/>
            </a:pPr>
            <a:r>
              <a:rPr lang="en-US" sz="1000" dirty="0">
                <a:solidFill>
                  <a:srgbClr val="843C0C"/>
                </a:solidFill>
                <a:latin typeface="Arial" pitchFamily="34" charset="0"/>
                <a:ea typeface="Yu Gothic"/>
                <a:cs typeface="Arial" pitchFamily="34" charset="-120"/>
              </a:rPr>
              <a:t>またはフォークシート</a:t>
            </a:r>
            <a:endParaRPr lang="en-US" sz="1150" dirty="0"/>
          </a:p>
        </p:txBody>
      </p:sp>
      <p:sp>
        <p:nvSpPr>
          <p:cNvPr id="48" name="Shape 45"/>
          <p:cNvSpPr/>
          <p:nvPr/>
        </p:nvSpPr>
        <p:spPr>
          <a:xfrm>
            <a:off x="4419524" y="2816352"/>
            <a:ext cx="1979105" cy="402336"/>
          </a:xfrm>
          <a:prstGeom prst="homePlate">
            <a:avLst/>
          </a:prstGeom>
          <a:solidFill>
            <a:srgbClr val="ED7D31"/>
          </a:solidFill>
          <a:ln/>
        </p:spPr>
      </p:sp>
      <p:sp>
        <p:nvSpPr>
          <p:cNvPr id="49" name="Text 46"/>
          <p:cNvSpPr txBox="1"/>
          <p:nvPr/>
        </p:nvSpPr>
        <p:spPr>
          <a:xfrm>
            <a:off x="4474388" y="2816352"/>
            <a:ext cx="1783423" cy="402336"/>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rial" pitchFamily="34" charset="0"/>
                <a:ea typeface="Yu Gothic"/>
                <a:cs typeface="Arial" pitchFamily="34" charset="-120"/>
              </a:rPr>
              <a:t>CFET</a:t>
            </a:r>
            <a:endParaRPr lang="en-US" sz="1150" dirty="0"/>
          </a:p>
          <a:p>
            <a:pPr algn="l" indent="0" marL="0">
              <a:buNone/>
            </a:pPr>
            <a:r>
              <a:rPr lang="en-US" sz="1000" dirty="0">
                <a:solidFill>
                  <a:srgbClr val="FFFFFF"/>
                </a:solidFill>
                <a:latin typeface="Arial" pitchFamily="34" charset="0"/>
                <a:ea typeface="Yu Gothic"/>
                <a:cs typeface="Arial" pitchFamily="34" charset="-120"/>
              </a:rPr>
              <a:t>nとpを縦に2段</a:t>
            </a:r>
            <a:endParaRPr lang="en-US" sz="1150" dirty="0"/>
          </a:p>
        </p:txBody>
      </p:sp>
      <p:sp>
        <p:nvSpPr>
          <p:cNvPr id="50" name="Shape 47"/>
          <p:cNvSpPr/>
          <p:nvPr/>
        </p:nvSpPr>
        <p:spPr>
          <a:xfrm>
            <a:off x="6426060" y="2816352"/>
            <a:ext cx="2781719" cy="402336"/>
          </a:xfrm>
          <a:prstGeom prst="homePlate">
            <a:avLst/>
          </a:prstGeom>
          <a:solidFill>
            <a:srgbClr val="FFF2E6"/>
          </a:solidFill>
          <a:ln w="15875">
            <a:solidFill>
              <a:srgbClr val="C55A11"/>
            </a:solidFill>
            <a:prstDash val="dash"/>
          </a:ln>
        </p:spPr>
      </p:sp>
      <p:sp>
        <p:nvSpPr>
          <p:cNvPr id="51" name="Text 48"/>
          <p:cNvSpPr txBox="1"/>
          <p:nvPr/>
        </p:nvSpPr>
        <p:spPr>
          <a:xfrm>
            <a:off x="6480924" y="2816352"/>
            <a:ext cx="2586038" cy="402336"/>
          </a:xfrm>
          <a:prstGeom prst="rect">
            <a:avLst/>
          </a:prstGeom>
          <a:noFill/>
          <a:ln/>
        </p:spPr>
        <p:txBody>
          <a:bodyPr wrap="square" lIns="0" tIns="0" rIns="0" bIns="0" rtlCol="0" anchor="ctr">
            <a:normAutofit/>
          </a:bodyPr>
          <a:lstStyle/>
          <a:p>
            <a:pPr algn="l" indent="0" marL="0">
              <a:buNone/>
            </a:pPr>
            <a:r>
              <a:rPr lang="en-US" sz="1150" b="1" dirty="0">
                <a:solidFill>
                  <a:srgbClr val="843C0C"/>
                </a:solidFill>
                <a:latin typeface="Arial" pitchFamily="34" charset="0"/>
                <a:ea typeface="Yu Gothic"/>
                <a:cs typeface="Arial" pitchFamily="34" charset="-120"/>
              </a:rPr>
              <a:t>3D CFET</a:t>
            </a:r>
            <a:endParaRPr lang="en-US" sz="1150" dirty="0"/>
          </a:p>
          <a:p>
            <a:pPr algn="l" indent="0" marL="0">
              <a:buNone/>
            </a:pPr>
            <a:r>
              <a:rPr lang="en-US" sz="1000" dirty="0">
                <a:solidFill>
                  <a:srgbClr val="843C0C"/>
                </a:solidFill>
                <a:latin typeface="Arial" pitchFamily="34" charset="0"/>
                <a:ea typeface="Yu Gothic"/>
                <a:cs typeface="Arial" pitchFamily="34" charset="-120"/>
              </a:rPr>
              <a:t>別々に作って貼り合わせ</a:t>
            </a:r>
            <a:endParaRPr lang="en-US" sz="1150" dirty="0"/>
          </a:p>
        </p:txBody>
      </p:sp>
      <p:sp>
        <p:nvSpPr>
          <p:cNvPr id="52" name="Shape 49"/>
          <p:cNvSpPr/>
          <p:nvPr/>
        </p:nvSpPr>
        <p:spPr>
          <a:xfrm>
            <a:off x="9235211" y="2816352"/>
            <a:ext cx="2380412" cy="402336"/>
          </a:xfrm>
          <a:prstGeom prst="homePlate">
            <a:avLst/>
          </a:prstGeom>
          <a:solidFill>
            <a:srgbClr val="FFF2E6"/>
          </a:solidFill>
          <a:ln w="15875">
            <a:solidFill>
              <a:srgbClr val="C55A11"/>
            </a:solidFill>
            <a:prstDash val="dash"/>
          </a:ln>
        </p:spPr>
      </p:sp>
      <p:sp>
        <p:nvSpPr>
          <p:cNvPr id="53" name="Text 50"/>
          <p:cNvSpPr txBox="1"/>
          <p:nvPr/>
        </p:nvSpPr>
        <p:spPr>
          <a:xfrm>
            <a:off x="9290075" y="2816352"/>
            <a:ext cx="2184730" cy="402336"/>
          </a:xfrm>
          <a:prstGeom prst="rect">
            <a:avLst/>
          </a:prstGeom>
          <a:noFill/>
          <a:ln/>
        </p:spPr>
        <p:txBody>
          <a:bodyPr wrap="square" lIns="0" tIns="0" rIns="0" bIns="0" rtlCol="0" anchor="ctr">
            <a:normAutofit/>
          </a:bodyPr>
          <a:lstStyle/>
          <a:p>
            <a:pPr algn="l" indent="0" marL="0">
              <a:buNone/>
            </a:pPr>
            <a:r>
              <a:rPr lang="en-US" sz="1150" b="1" dirty="0">
                <a:solidFill>
                  <a:srgbClr val="843C0C"/>
                </a:solidFill>
                <a:latin typeface="Arial" pitchFamily="34" charset="0"/>
                <a:ea typeface="Yu Gothic"/>
                <a:cs typeface="Arial" pitchFamily="34" charset="-120"/>
              </a:rPr>
              <a:t>2D材料のCFET</a:t>
            </a:r>
            <a:endParaRPr lang="en-US" sz="1150" dirty="0"/>
          </a:p>
        </p:txBody>
      </p:sp>
      <p:sp>
        <p:nvSpPr>
          <p:cNvPr id="54" name="Shape 51"/>
          <p:cNvSpPr/>
          <p:nvPr/>
        </p:nvSpPr>
        <p:spPr>
          <a:xfrm>
            <a:off x="2011680" y="3474720"/>
            <a:ext cx="6393485" cy="402336"/>
          </a:xfrm>
          <a:prstGeom prst="homePlate">
            <a:avLst/>
          </a:prstGeom>
          <a:solidFill>
            <a:srgbClr val="ED7D31"/>
          </a:solidFill>
          <a:ln/>
        </p:spPr>
      </p:sp>
      <p:sp>
        <p:nvSpPr>
          <p:cNvPr id="55" name="Text 52"/>
          <p:cNvSpPr txBox="1"/>
          <p:nvPr/>
        </p:nvSpPr>
        <p:spPr>
          <a:xfrm>
            <a:off x="2066544" y="3474720"/>
            <a:ext cx="6197803" cy="402336"/>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rial" pitchFamily="34" charset="0"/>
                <a:ea typeface="Yu Gothic"/>
                <a:cs typeface="Arial" pitchFamily="34" charset="-120"/>
              </a:rPr>
              <a:t>High-NA EUV</a:t>
            </a:r>
            <a:endParaRPr lang="en-US" sz="1150" dirty="0"/>
          </a:p>
          <a:p>
            <a:pPr algn="l" indent="0" marL="0">
              <a:buNone/>
            </a:pPr>
            <a:r>
              <a:rPr lang="en-US" sz="1000" dirty="0">
                <a:solidFill>
                  <a:srgbClr val="FFFFFF"/>
                </a:solidFill>
                <a:latin typeface="Arial" pitchFamily="34" charset="0"/>
                <a:ea typeface="Yu Gothic"/>
                <a:cs typeface="Arial" pitchFamily="34" charset="-120"/>
              </a:rPr>
              <a:t>TSMCは2030年から量産に使用</a:t>
            </a:r>
            <a:endParaRPr lang="en-US" sz="1150" dirty="0"/>
          </a:p>
        </p:txBody>
      </p:sp>
      <p:sp>
        <p:nvSpPr>
          <p:cNvPr id="56" name="Shape 53"/>
          <p:cNvSpPr/>
          <p:nvPr/>
        </p:nvSpPr>
        <p:spPr>
          <a:xfrm>
            <a:off x="8432597" y="3474720"/>
            <a:ext cx="3183026" cy="402336"/>
          </a:xfrm>
          <a:prstGeom prst="homePlate">
            <a:avLst/>
          </a:prstGeom>
          <a:solidFill>
            <a:srgbClr val="FFF2E6"/>
          </a:solidFill>
          <a:ln w="15875">
            <a:solidFill>
              <a:srgbClr val="C55A11"/>
            </a:solidFill>
            <a:prstDash val="dash"/>
          </a:ln>
        </p:spPr>
      </p:sp>
      <p:sp>
        <p:nvSpPr>
          <p:cNvPr id="57" name="Text 54"/>
          <p:cNvSpPr txBox="1"/>
          <p:nvPr/>
        </p:nvSpPr>
        <p:spPr>
          <a:xfrm>
            <a:off x="8487461" y="3474720"/>
            <a:ext cx="2987345" cy="402336"/>
          </a:xfrm>
          <a:prstGeom prst="rect">
            <a:avLst/>
          </a:prstGeom>
          <a:noFill/>
          <a:ln/>
        </p:spPr>
        <p:txBody>
          <a:bodyPr wrap="square" lIns="0" tIns="0" rIns="0" bIns="0" rtlCol="0" anchor="ctr">
            <a:normAutofit/>
          </a:bodyPr>
          <a:lstStyle/>
          <a:p>
            <a:pPr algn="l" indent="0" marL="0">
              <a:buNone/>
            </a:pPr>
            <a:r>
              <a:rPr lang="en-US" sz="1150" b="1" dirty="0">
                <a:solidFill>
                  <a:srgbClr val="843C0C"/>
                </a:solidFill>
                <a:latin typeface="Arial" pitchFamily="34" charset="0"/>
                <a:ea typeface="Yu Gothic"/>
                <a:cs typeface="Arial" pitchFamily="34" charset="-120"/>
              </a:rPr>
              <a:t>Hyper-NA（検討）</a:t>
            </a:r>
            <a:endParaRPr lang="en-US" sz="1150" dirty="0"/>
          </a:p>
        </p:txBody>
      </p:sp>
      <p:sp>
        <p:nvSpPr>
          <p:cNvPr id="58" name="Shape 55"/>
          <p:cNvSpPr/>
          <p:nvPr/>
        </p:nvSpPr>
        <p:spPr>
          <a:xfrm>
            <a:off x="548640" y="4325112"/>
            <a:ext cx="457200" cy="457200"/>
          </a:xfrm>
          <a:prstGeom prst="ellipse">
            <a:avLst/>
          </a:prstGeom>
          <a:solidFill>
            <a:srgbClr val="2B7A9B"/>
          </a:solidFill>
          <a:ln/>
        </p:spPr>
      </p:sp>
      <p:pic>
        <p:nvPicPr>
          <p:cNvPr id="59" name="Image 1" descr="preencoded.png">    </p:cNvPr>
          <p:cNvPicPr>
            <a:picLocks noChangeAspect="1"/>
          </p:cNvPicPr>
          <p:nvPr/>
        </p:nvPicPr>
        <p:blipFill>
          <a:blip r:embed="rId2"/>
          <a:stretch>
            <a:fillRect/>
          </a:stretch>
        </p:blipFill>
        <p:spPr>
          <a:xfrm>
            <a:off x="662940" y="4439412"/>
            <a:ext cx="228600" cy="228600"/>
          </a:xfrm>
          <a:prstGeom prst="rect">
            <a:avLst/>
          </a:prstGeom>
        </p:spPr>
      </p:pic>
      <p:sp>
        <p:nvSpPr>
          <p:cNvPr id="60" name="Text 56"/>
          <p:cNvSpPr txBox="1"/>
          <p:nvPr/>
        </p:nvSpPr>
        <p:spPr>
          <a:xfrm>
            <a:off x="1115568" y="4325112"/>
            <a:ext cx="2926080" cy="457200"/>
          </a:xfrm>
          <a:prstGeom prst="rect">
            <a:avLst/>
          </a:prstGeom>
          <a:noFill/>
          <a:ln/>
        </p:spPr>
        <p:txBody>
          <a:bodyPr wrap="square" lIns="0" tIns="0" rIns="0" bIns="0" rtlCol="0" anchor="ctr"/>
          <a:lstStyle/>
          <a:p>
            <a:pPr indent="0" marL="0">
              <a:buNone/>
            </a:pPr>
            <a:r>
              <a:rPr lang="en-US" sz="1600" b="1" dirty="0">
                <a:solidFill>
                  <a:srgbClr val="1C2430"/>
                </a:solidFill>
                <a:latin typeface="Arial" pitchFamily="34" charset="0"/>
                <a:ea typeface="Yu Gothic"/>
                <a:cs typeface="Arial" pitchFamily="34" charset="-120"/>
              </a:rPr>
              <a:t>学会での実証</a:t>
            </a:r>
            <a:endParaRPr lang="en-US" sz="1600" dirty="0"/>
          </a:p>
        </p:txBody>
      </p:sp>
      <p:sp>
        <p:nvSpPr>
          <p:cNvPr id="61" name="Text 57"/>
          <p:cNvSpPr txBox="1"/>
          <p:nvPr/>
        </p:nvSpPr>
        <p:spPr>
          <a:xfrm>
            <a:off x="548640" y="4873752"/>
            <a:ext cx="3566160" cy="138988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333D4A"/>
                </a:solidFill>
                <a:latin typeface="Arial" pitchFamily="34" charset="0"/>
                <a:ea typeface="Yu Gothic"/>
                <a:cs typeface="Arial" pitchFamily="34" charset="-120"/>
              </a:rPr>
              <a:t>2023年：TSMC・Intel・SamsungがCFET素子</a:t>
            </a:r>
            <a:endParaRPr lang="en-US" sz="1300" dirty="0"/>
          </a:p>
          <a:p>
            <a:pPr marL="342900" indent="-342900">
              <a:spcAft>
                <a:spcPts val="400"/>
              </a:spcAft>
              <a:buSzPct val="100000"/>
              <a:buChar char="•"/>
            </a:pPr>
            <a:r>
              <a:rPr lang="en-US" sz="1300" dirty="0">
                <a:solidFill>
                  <a:srgbClr val="333D4A"/>
                </a:solidFill>
                <a:latin typeface="Arial" pitchFamily="34" charset="0"/>
                <a:ea typeface="Yu Gothic"/>
                <a:cs typeface="Arial" pitchFamily="34" charset="-120"/>
              </a:rPr>
              <a:t>2024〜25年：TSMCが回路とSRAM</a:t>
            </a:r>
            <a:endParaRPr lang="en-US" sz="1300" dirty="0"/>
          </a:p>
          <a:p>
            <a:pPr marL="342900" indent="-342900">
              <a:spcAft>
                <a:spcPts val="400"/>
              </a:spcAft>
              <a:buSzPct val="100000"/>
              <a:buChar char="•"/>
            </a:pPr>
            <a:r>
              <a:rPr lang="en-US" sz="1300" dirty="0">
                <a:solidFill>
                  <a:srgbClr val="333D4A"/>
                </a:solidFill>
                <a:latin typeface="Arial" pitchFamily="34" charset="0"/>
                <a:ea typeface="Yu Gothic"/>
                <a:cs typeface="Arial" pitchFamily="34" charset="-120"/>
              </a:rPr>
              <a:t>2026年：Samsungが42nmピッチ</a:t>
            </a:r>
            <a:endParaRPr lang="en-US" sz="1300" dirty="0"/>
          </a:p>
        </p:txBody>
      </p:sp>
      <p:sp>
        <p:nvSpPr>
          <p:cNvPr id="62" name="Shape 58"/>
          <p:cNvSpPr/>
          <p:nvPr/>
        </p:nvSpPr>
        <p:spPr>
          <a:xfrm>
            <a:off x="4334256" y="4325112"/>
            <a:ext cx="457200" cy="457200"/>
          </a:xfrm>
          <a:prstGeom prst="ellipse">
            <a:avLst/>
          </a:prstGeom>
          <a:solidFill>
            <a:srgbClr val="2B7A9B"/>
          </a:solidFill>
          <a:ln/>
        </p:spPr>
      </p:sp>
      <p:pic>
        <p:nvPicPr>
          <p:cNvPr id="63" name="Image 2" descr="preencoded.png">    </p:cNvPr>
          <p:cNvPicPr>
            <a:picLocks noChangeAspect="1"/>
          </p:cNvPicPr>
          <p:nvPr/>
        </p:nvPicPr>
        <p:blipFill>
          <a:blip r:embed="rId3"/>
          <a:stretch>
            <a:fillRect/>
          </a:stretch>
        </p:blipFill>
        <p:spPr>
          <a:xfrm>
            <a:off x="4448556" y="4439412"/>
            <a:ext cx="228600" cy="228600"/>
          </a:xfrm>
          <a:prstGeom prst="rect">
            <a:avLst/>
          </a:prstGeom>
        </p:spPr>
      </p:pic>
      <p:sp>
        <p:nvSpPr>
          <p:cNvPr id="64" name="Text 59"/>
          <p:cNvSpPr txBox="1"/>
          <p:nvPr/>
        </p:nvSpPr>
        <p:spPr>
          <a:xfrm>
            <a:off x="4901184" y="4325112"/>
            <a:ext cx="2926080" cy="457200"/>
          </a:xfrm>
          <a:prstGeom prst="rect">
            <a:avLst/>
          </a:prstGeom>
          <a:noFill/>
          <a:ln/>
        </p:spPr>
        <p:txBody>
          <a:bodyPr wrap="square" lIns="0" tIns="0" rIns="0" bIns="0" rtlCol="0" anchor="ctr"/>
          <a:lstStyle/>
          <a:p>
            <a:pPr indent="0" marL="0">
              <a:buNone/>
            </a:pPr>
            <a:r>
              <a:rPr lang="en-US" sz="1600" b="1" dirty="0">
                <a:solidFill>
                  <a:srgbClr val="1C2430"/>
                </a:solidFill>
                <a:latin typeface="Arial" pitchFamily="34" charset="0"/>
                <a:ea typeface="Yu Gothic"/>
                <a:cs typeface="Arial" pitchFamily="34" charset="-120"/>
              </a:rPr>
              <a:t>imecのロードマップ</a:t>
            </a:r>
            <a:endParaRPr lang="en-US" sz="1600" dirty="0"/>
          </a:p>
        </p:txBody>
      </p:sp>
      <p:sp>
        <p:nvSpPr>
          <p:cNvPr id="65" name="Text 60"/>
          <p:cNvSpPr txBox="1"/>
          <p:nvPr/>
        </p:nvSpPr>
        <p:spPr>
          <a:xfrm>
            <a:off x="4334256" y="4873752"/>
            <a:ext cx="3566160" cy="138988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333D4A"/>
                </a:solidFill>
                <a:latin typeface="Arial" pitchFamily="34" charset="0"/>
                <a:ea typeface="Yu Gothic"/>
                <a:cs typeface="Arial" pitchFamily="34" charset="-120"/>
              </a:rPr>
              <a:t>A10：2030〜31年</a:t>
            </a:r>
            <a:endParaRPr lang="en-US" sz="1300" dirty="0"/>
          </a:p>
          <a:p>
            <a:pPr marL="342900" indent="-342900">
              <a:spcAft>
                <a:spcPts val="400"/>
              </a:spcAft>
              <a:buSzPct val="100000"/>
              <a:buChar char="•"/>
            </a:pPr>
            <a:r>
              <a:rPr lang="en-US" sz="1300" dirty="0">
                <a:solidFill>
                  <a:srgbClr val="333D4A"/>
                </a:solidFill>
                <a:latin typeface="Arial" pitchFamily="34" charset="0"/>
                <a:ea typeface="Yu Gothic"/>
                <a:cs typeface="Arial" pitchFamily="34" charset="-120"/>
              </a:rPr>
              <a:t>A7：2033年（CFET）</a:t>
            </a:r>
            <a:endParaRPr lang="en-US" sz="1300" dirty="0"/>
          </a:p>
          <a:p>
            <a:pPr marL="342900" indent="-342900">
              <a:spcAft>
                <a:spcPts val="400"/>
              </a:spcAft>
              <a:buSzPct val="100000"/>
              <a:buChar char="•"/>
            </a:pPr>
            <a:r>
              <a:rPr lang="en-US" sz="1300" dirty="0">
                <a:solidFill>
                  <a:srgbClr val="333D4A"/>
                </a:solidFill>
                <a:latin typeface="Arial" pitchFamily="34" charset="0"/>
                <a:ea typeface="Yu Gothic"/>
                <a:cs typeface="Arial" pitchFamily="34" charset="-120"/>
              </a:rPr>
              <a:t>A3：2038年頃、2D材料は2041年頃</a:t>
            </a:r>
            <a:endParaRPr lang="en-US" sz="1300" dirty="0"/>
          </a:p>
        </p:txBody>
      </p:sp>
      <p:sp>
        <p:nvSpPr>
          <p:cNvPr id="66" name="Shape 61"/>
          <p:cNvSpPr/>
          <p:nvPr/>
        </p:nvSpPr>
        <p:spPr>
          <a:xfrm>
            <a:off x="8119872" y="4325112"/>
            <a:ext cx="457200" cy="457200"/>
          </a:xfrm>
          <a:prstGeom prst="ellipse">
            <a:avLst/>
          </a:prstGeom>
          <a:solidFill>
            <a:srgbClr val="2B7A9B"/>
          </a:solidFill>
          <a:ln/>
        </p:spPr>
      </p:sp>
      <p:pic>
        <p:nvPicPr>
          <p:cNvPr id="67" name="Image 3" descr="preencoded.png">    </p:cNvPr>
          <p:cNvPicPr>
            <a:picLocks noChangeAspect="1"/>
          </p:cNvPicPr>
          <p:nvPr/>
        </p:nvPicPr>
        <p:blipFill>
          <a:blip r:embed="rId4"/>
          <a:stretch>
            <a:fillRect/>
          </a:stretch>
        </p:blipFill>
        <p:spPr>
          <a:xfrm>
            <a:off x="8234172" y="4439412"/>
            <a:ext cx="228600" cy="228600"/>
          </a:xfrm>
          <a:prstGeom prst="rect">
            <a:avLst/>
          </a:prstGeom>
        </p:spPr>
      </p:pic>
      <p:sp>
        <p:nvSpPr>
          <p:cNvPr id="68" name="Text 62"/>
          <p:cNvSpPr txBox="1"/>
          <p:nvPr/>
        </p:nvSpPr>
        <p:spPr>
          <a:xfrm>
            <a:off x="8686800" y="4325112"/>
            <a:ext cx="2926080" cy="457200"/>
          </a:xfrm>
          <a:prstGeom prst="rect">
            <a:avLst/>
          </a:prstGeom>
          <a:noFill/>
          <a:ln/>
        </p:spPr>
        <p:txBody>
          <a:bodyPr wrap="square" lIns="0" tIns="0" rIns="0" bIns="0" rtlCol="0" anchor="ctr"/>
          <a:lstStyle/>
          <a:p>
            <a:pPr indent="0" marL="0">
              <a:buNone/>
            </a:pPr>
            <a:r>
              <a:rPr lang="en-US" sz="1600" b="1" dirty="0">
                <a:solidFill>
                  <a:srgbClr val="1C2430"/>
                </a:solidFill>
                <a:latin typeface="Arial" pitchFamily="34" charset="0"/>
                <a:ea typeface="Yu Gothic"/>
                <a:cs typeface="Arial" pitchFamily="34" charset="-120"/>
              </a:rPr>
              <a:t>特許</a:t>
            </a:r>
            <a:endParaRPr lang="en-US" sz="1600" dirty="0"/>
          </a:p>
        </p:txBody>
      </p:sp>
      <p:sp>
        <p:nvSpPr>
          <p:cNvPr id="69" name="Text 63"/>
          <p:cNvSpPr txBox="1"/>
          <p:nvPr/>
        </p:nvSpPr>
        <p:spPr>
          <a:xfrm>
            <a:off x="8119872" y="4873752"/>
            <a:ext cx="3566160" cy="138988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333D4A"/>
                </a:solidFill>
                <a:latin typeface="Arial" pitchFamily="34" charset="0"/>
                <a:ea typeface="Yu Gothic"/>
                <a:cs typeface="Arial" pitchFamily="34" charset="-120"/>
              </a:rPr>
              <a:t>CFETの出願：Intel 2015年、IBM 2021年、TSMC 2023年、Samsung 2024年</a:t>
            </a:r>
            <a:endParaRPr lang="en-US" sz="1300" dirty="0"/>
          </a:p>
          <a:p>
            <a:pPr marL="342900" indent="-342900">
              <a:spcAft>
                <a:spcPts val="400"/>
              </a:spcAft>
              <a:buSzPct val="100000"/>
              <a:buChar char="•"/>
            </a:pPr>
            <a:r>
              <a:rPr lang="en-US" sz="1300" dirty="0">
                <a:solidFill>
                  <a:srgbClr val="333D4A"/>
                </a:solidFill>
                <a:latin typeface="Arial" pitchFamily="34" charset="0"/>
                <a:ea typeface="Yu Gothic"/>
                <a:cs typeface="Arial" pitchFamily="34" charset="-120"/>
              </a:rPr>
              <a:t>出願から量産まで約6〜10年</a:t>
            </a:r>
            <a:endParaRPr lang="en-US" sz="1300" dirty="0"/>
          </a:p>
        </p:txBody>
      </p:sp>
      <p:sp>
        <p:nvSpPr>
          <p:cNvPr id="70" name="Text 64"/>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出典：imec 2026年版ロードマップ（Tom's Hardware、TrendForce）、IEEE Spectrum、TSMC Research、Samsung（VLSI 2026）、Google Patents</a:t>
            </a:r>
            <a:endParaRPr lang="en-US" sz="950" dirty="0"/>
          </a:p>
        </p:txBody>
      </p:sp>
      <p:sp>
        <p:nvSpPr>
          <p:cNvPr id="71" name="Text 65"/>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2B7A9B"/>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2B7A9B"/>
                </a:solidFill>
                <a:latin typeface="Arial" pitchFamily="34" charset="0"/>
                <a:ea typeface="Yu Gothic"/>
                <a:cs typeface="Arial" pitchFamily="34" charset="-120"/>
              </a:rPr>
              <a:t>ロジック</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ロジック：2027〜30年の鍵は「裏面電源」と「High-NA EUV」</a:t>
            </a:r>
            <a:endParaRPr lang="en-US" sz="2400" dirty="0"/>
          </a:p>
        </p:txBody>
      </p:sp>
      <p:sp>
        <p:nvSpPr>
          <p:cNvPr id="6" name="Text 3"/>
          <p:cNvSpPr txBox="1"/>
          <p:nvPr/>
        </p:nvSpPr>
        <p:spPr>
          <a:xfrm>
            <a:off x="548640" y="1783080"/>
            <a:ext cx="5303520" cy="411480"/>
          </a:xfrm>
          <a:prstGeom prst="rect">
            <a:avLst/>
          </a:prstGeom>
          <a:noFill/>
          <a:ln/>
        </p:spPr>
        <p:txBody>
          <a:bodyPr wrap="square" lIns="0" tIns="0" rIns="0" bIns="0" rtlCol="0" anchor="ctr"/>
          <a:lstStyle/>
          <a:p>
            <a:pPr indent="0" marL="0">
              <a:buNone/>
            </a:pPr>
            <a:r>
              <a:rPr lang="en-US" sz="1800" b="1" dirty="0">
                <a:solidFill>
                  <a:srgbClr val="1C2430"/>
                </a:solidFill>
                <a:latin typeface="Arial" pitchFamily="34" charset="0"/>
                <a:ea typeface="Yu Gothic"/>
                <a:cs typeface="Arial" pitchFamily="34" charset="-120"/>
              </a:rPr>
              <a:t>裏面電源：電源の配線をウェハの裏へ</a:t>
            </a:r>
            <a:endParaRPr lang="en-US" sz="1800" dirty="0"/>
          </a:p>
        </p:txBody>
      </p:sp>
      <p:sp>
        <p:nvSpPr>
          <p:cNvPr id="7" name="Shape 4"/>
          <p:cNvSpPr/>
          <p:nvPr/>
        </p:nvSpPr>
        <p:spPr>
          <a:xfrm>
            <a:off x="548640" y="2377440"/>
            <a:ext cx="2377440" cy="384048"/>
          </a:xfrm>
          <a:prstGeom prst="rect">
            <a:avLst/>
          </a:prstGeom>
          <a:solidFill>
            <a:srgbClr val="D5DAE1"/>
          </a:solidFill>
          <a:ln w="9525">
            <a:solidFill>
              <a:srgbClr val="A9B1BC"/>
            </a:solidFill>
            <a:prstDash val="solid"/>
          </a:ln>
        </p:spPr>
      </p:sp>
      <p:sp>
        <p:nvSpPr>
          <p:cNvPr id="8" name="Text 5"/>
          <p:cNvSpPr txBox="1"/>
          <p:nvPr/>
        </p:nvSpPr>
        <p:spPr>
          <a:xfrm>
            <a:off x="548640" y="2377440"/>
            <a:ext cx="2377440" cy="384048"/>
          </a:xfrm>
          <a:prstGeom prst="rect">
            <a:avLst/>
          </a:prstGeom>
          <a:noFill/>
          <a:ln/>
        </p:spPr>
        <p:txBody>
          <a:bodyPr wrap="square" lIns="0" tIns="0" rIns="0" bIns="0" rtlCol="0" anchor="ctr"/>
          <a:lstStyle/>
          <a:p>
            <a:pPr algn="ctr" indent="0" marL="0">
              <a:buNone/>
            </a:pPr>
            <a:r>
              <a:rPr lang="en-US" sz="1200" dirty="0">
                <a:solidFill>
                  <a:srgbClr val="1C2430"/>
                </a:solidFill>
                <a:latin typeface="Arial" pitchFamily="34" charset="0"/>
                <a:ea typeface="Yu Gothic"/>
                <a:cs typeface="Arial" pitchFamily="34" charset="-120"/>
              </a:rPr>
              <a:t>信号の配線</a:t>
            </a:r>
            <a:endParaRPr lang="en-US" sz="1200" dirty="0"/>
          </a:p>
        </p:txBody>
      </p:sp>
      <p:sp>
        <p:nvSpPr>
          <p:cNvPr id="9" name="Shape 6"/>
          <p:cNvSpPr/>
          <p:nvPr/>
        </p:nvSpPr>
        <p:spPr>
          <a:xfrm>
            <a:off x="548640" y="2798064"/>
            <a:ext cx="2377440" cy="384048"/>
          </a:xfrm>
          <a:prstGeom prst="rect">
            <a:avLst/>
          </a:prstGeom>
          <a:solidFill>
            <a:srgbClr val="F6D39B"/>
          </a:solidFill>
          <a:ln w="9525">
            <a:solidFill>
              <a:srgbClr val="C98A1B"/>
            </a:solidFill>
            <a:prstDash val="solid"/>
          </a:ln>
        </p:spPr>
      </p:sp>
      <p:sp>
        <p:nvSpPr>
          <p:cNvPr id="10" name="Text 7"/>
          <p:cNvSpPr txBox="1"/>
          <p:nvPr/>
        </p:nvSpPr>
        <p:spPr>
          <a:xfrm>
            <a:off x="548640" y="2798064"/>
            <a:ext cx="2377440" cy="384048"/>
          </a:xfrm>
          <a:prstGeom prst="rect">
            <a:avLst/>
          </a:prstGeom>
          <a:noFill/>
          <a:ln/>
        </p:spPr>
        <p:txBody>
          <a:bodyPr wrap="square" lIns="0" tIns="0" rIns="0" bIns="0" rtlCol="0" anchor="ctr"/>
          <a:lstStyle/>
          <a:p>
            <a:pPr algn="ctr" indent="0" marL="0">
              <a:buNone/>
            </a:pPr>
            <a:r>
              <a:rPr lang="en-US" sz="1200" dirty="0">
                <a:solidFill>
                  <a:srgbClr val="1C2430"/>
                </a:solidFill>
                <a:latin typeface="Arial" pitchFamily="34" charset="0"/>
                <a:ea typeface="Yu Gothic"/>
                <a:cs typeface="Arial" pitchFamily="34" charset="-120"/>
              </a:rPr>
              <a:t>電源の配線</a:t>
            </a:r>
            <a:endParaRPr lang="en-US" sz="1200" dirty="0"/>
          </a:p>
        </p:txBody>
      </p:sp>
      <p:sp>
        <p:nvSpPr>
          <p:cNvPr id="11" name="Shape 8"/>
          <p:cNvSpPr/>
          <p:nvPr/>
        </p:nvSpPr>
        <p:spPr>
          <a:xfrm>
            <a:off x="548640" y="3218688"/>
            <a:ext cx="2377440" cy="329184"/>
          </a:xfrm>
          <a:prstGeom prst="rect">
            <a:avLst/>
          </a:prstGeom>
          <a:solidFill>
            <a:srgbClr val="F2B38A"/>
          </a:solidFill>
          <a:ln w="9525">
            <a:solidFill>
              <a:srgbClr val="C8683A"/>
            </a:solidFill>
            <a:prstDash val="solid"/>
          </a:ln>
        </p:spPr>
      </p:sp>
      <p:sp>
        <p:nvSpPr>
          <p:cNvPr id="12" name="Text 9"/>
          <p:cNvSpPr txBox="1"/>
          <p:nvPr/>
        </p:nvSpPr>
        <p:spPr>
          <a:xfrm>
            <a:off x="548640" y="3218688"/>
            <a:ext cx="2377440" cy="329184"/>
          </a:xfrm>
          <a:prstGeom prst="rect">
            <a:avLst/>
          </a:prstGeom>
          <a:noFill/>
          <a:ln/>
        </p:spPr>
        <p:txBody>
          <a:bodyPr wrap="square" lIns="0" tIns="0" rIns="0" bIns="0" rtlCol="0" anchor="ctr"/>
          <a:lstStyle/>
          <a:p>
            <a:pPr algn="ctr" indent="0" marL="0">
              <a:buNone/>
            </a:pPr>
            <a:r>
              <a:rPr lang="en-US" sz="1200" dirty="0">
                <a:solidFill>
                  <a:srgbClr val="1C2430"/>
                </a:solidFill>
                <a:latin typeface="Arial" pitchFamily="34" charset="0"/>
                <a:ea typeface="Yu Gothic"/>
                <a:cs typeface="Arial" pitchFamily="34" charset="-120"/>
              </a:rPr>
              <a:t>トランジスタ</a:t>
            </a:r>
            <a:endParaRPr lang="en-US" sz="1200" dirty="0"/>
          </a:p>
        </p:txBody>
      </p:sp>
      <p:sp>
        <p:nvSpPr>
          <p:cNvPr id="13" name="Shape 10"/>
          <p:cNvSpPr/>
          <p:nvPr/>
        </p:nvSpPr>
        <p:spPr>
          <a:xfrm>
            <a:off x="548640" y="3584448"/>
            <a:ext cx="2377440" cy="384048"/>
          </a:xfrm>
          <a:prstGeom prst="rect">
            <a:avLst/>
          </a:prstGeom>
          <a:solidFill>
            <a:srgbClr val="E4E8ED"/>
          </a:solidFill>
          <a:ln w="9525">
            <a:solidFill>
              <a:srgbClr val="B9C0CA"/>
            </a:solidFill>
            <a:prstDash val="solid"/>
          </a:ln>
        </p:spPr>
      </p:sp>
      <p:sp>
        <p:nvSpPr>
          <p:cNvPr id="14" name="Text 11"/>
          <p:cNvSpPr txBox="1"/>
          <p:nvPr/>
        </p:nvSpPr>
        <p:spPr>
          <a:xfrm>
            <a:off x="548640" y="3584448"/>
            <a:ext cx="2377440" cy="384048"/>
          </a:xfrm>
          <a:prstGeom prst="rect">
            <a:avLst/>
          </a:prstGeom>
          <a:noFill/>
          <a:ln/>
        </p:spPr>
        <p:txBody>
          <a:bodyPr wrap="square" lIns="0" tIns="0" rIns="0" bIns="0" rtlCol="0" anchor="ctr"/>
          <a:lstStyle/>
          <a:p>
            <a:pPr algn="ctr" indent="0" marL="0">
              <a:buNone/>
            </a:pPr>
            <a:r>
              <a:rPr lang="en-US" sz="1200" dirty="0">
                <a:solidFill>
                  <a:srgbClr val="1C2430"/>
                </a:solidFill>
                <a:latin typeface="Arial" pitchFamily="34" charset="0"/>
                <a:ea typeface="Yu Gothic"/>
                <a:cs typeface="Arial" pitchFamily="34" charset="-120"/>
              </a:rPr>
              <a:t>シリコン基板</a:t>
            </a:r>
            <a:endParaRPr lang="en-US" sz="1200" dirty="0"/>
          </a:p>
        </p:txBody>
      </p:sp>
      <p:sp>
        <p:nvSpPr>
          <p:cNvPr id="15" name="Shape 12"/>
          <p:cNvSpPr/>
          <p:nvPr/>
        </p:nvSpPr>
        <p:spPr>
          <a:xfrm>
            <a:off x="3383280" y="2377440"/>
            <a:ext cx="2377440" cy="384048"/>
          </a:xfrm>
          <a:prstGeom prst="rect">
            <a:avLst/>
          </a:prstGeom>
          <a:solidFill>
            <a:srgbClr val="D5DAE1"/>
          </a:solidFill>
          <a:ln w="9525">
            <a:solidFill>
              <a:srgbClr val="A9B1BC"/>
            </a:solidFill>
            <a:prstDash val="solid"/>
          </a:ln>
        </p:spPr>
      </p:sp>
      <p:sp>
        <p:nvSpPr>
          <p:cNvPr id="16" name="Text 13"/>
          <p:cNvSpPr txBox="1"/>
          <p:nvPr/>
        </p:nvSpPr>
        <p:spPr>
          <a:xfrm>
            <a:off x="3383280" y="2377440"/>
            <a:ext cx="2377440" cy="384048"/>
          </a:xfrm>
          <a:prstGeom prst="rect">
            <a:avLst/>
          </a:prstGeom>
          <a:noFill/>
          <a:ln/>
        </p:spPr>
        <p:txBody>
          <a:bodyPr wrap="square" lIns="0" tIns="0" rIns="0" bIns="0" rtlCol="0" anchor="ctr"/>
          <a:lstStyle/>
          <a:p>
            <a:pPr algn="ctr" indent="0" marL="0">
              <a:buNone/>
            </a:pPr>
            <a:r>
              <a:rPr lang="en-US" sz="1200" dirty="0">
                <a:solidFill>
                  <a:srgbClr val="1C2430"/>
                </a:solidFill>
                <a:latin typeface="Arial" pitchFamily="34" charset="0"/>
                <a:ea typeface="Yu Gothic"/>
                <a:cs typeface="Arial" pitchFamily="34" charset="-120"/>
              </a:rPr>
              <a:t>信号の配線</a:t>
            </a:r>
            <a:endParaRPr lang="en-US" sz="1200" dirty="0"/>
          </a:p>
        </p:txBody>
      </p:sp>
      <p:sp>
        <p:nvSpPr>
          <p:cNvPr id="17" name="Shape 14"/>
          <p:cNvSpPr/>
          <p:nvPr/>
        </p:nvSpPr>
        <p:spPr>
          <a:xfrm>
            <a:off x="3383280" y="2798064"/>
            <a:ext cx="2377440" cy="329184"/>
          </a:xfrm>
          <a:prstGeom prst="rect">
            <a:avLst/>
          </a:prstGeom>
          <a:solidFill>
            <a:srgbClr val="F2B38A"/>
          </a:solidFill>
          <a:ln w="9525">
            <a:solidFill>
              <a:srgbClr val="C8683A"/>
            </a:solidFill>
            <a:prstDash val="solid"/>
          </a:ln>
        </p:spPr>
      </p:sp>
      <p:sp>
        <p:nvSpPr>
          <p:cNvPr id="18" name="Text 15"/>
          <p:cNvSpPr txBox="1"/>
          <p:nvPr/>
        </p:nvSpPr>
        <p:spPr>
          <a:xfrm>
            <a:off x="3383280" y="2798064"/>
            <a:ext cx="2377440" cy="329184"/>
          </a:xfrm>
          <a:prstGeom prst="rect">
            <a:avLst/>
          </a:prstGeom>
          <a:noFill/>
          <a:ln/>
        </p:spPr>
        <p:txBody>
          <a:bodyPr wrap="square" lIns="0" tIns="0" rIns="0" bIns="0" rtlCol="0" anchor="ctr"/>
          <a:lstStyle/>
          <a:p>
            <a:pPr algn="ctr" indent="0" marL="0">
              <a:buNone/>
            </a:pPr>
            <a:r>
              <a:rPr lang="en-US" sz="1200" dirty="0">
                <a:solidFill>
                  <a:srgbClr val="1C2430"/>
                </a:solidFill>
                <a:latin typeface="Arial" pitchFamily="34" charset="0"/>
                <a:ea typeface="Yu Gothic"/>
                <a:cs typeface="Arial" pitchFamily="34" charset="-120"/>
              </a:rPr>
              <a:t>トランジスタ</a:t>
            </a:r>
            <a:endParaRPr lang="en-US" sz="1200" dirty="0"/>
          </a:p>
        </p:txBody>
      </p:sp>
      <p:sp>
        <p:nvSpPr>
          <p:cNvPr id="19" name="Shape 16"/>
          <p:cNvSpPr/>
          <p:nvPr/>
        </p:nvSpPr>
        <p:spPr>
          <a:xfrm>
            <a:off x="3383280" y="3163824"/>
            <a:ext cx="2377440" cy="384048"/>
          </a:xfrm>
          <a:prstGeom prst="rect">
            <a:avLst/>
          </a:prstGeom>
          <a:solidFill>
            <a:srgbClr val="F6D39B"/>
          </a:solidFill>
          <a:ln w="9525">
            <a:solidFill>
              <a:srgbClr val="C98A1B"/>
            </a:solidFill>
            <a:prstDash val="solid"/>
          </a:ln>
        </p:spPr>
      </p:sp>
      <p:sp>
        <p:nvSpPr>
          <p:cNvPr id="20" name="Text 17"/>
          <p:cNvSpPr txBox="1"/>
          <p:nvPr/>
        </p:nvSpPr>
        <p:spPr>
          <a:xfrm>
            <a:off x="3383280" y="3163824"/>
            <a:ext cx="2377440" cy="384048"/>
          </a:xfrm>
          <a:prstGeom prst="rect">
            <a:avLst/>
          </a:prstGeom>
          <a:noFill/>
          <a:ln/>
        </p:spPr>
        <p:txBody>
          <a:bodyPr wrap="square" lIns="0" tIns="0" rIns="0" bIns="0" rtlCol="0" anchor="ctr"/>
          <a:lstStyle/>
          <a:p>
            <a:pPr algn="ctr" indent="0" marL="0">
              <a:buNone/>
            </a:pPr>
            <a:r>
              <a:rPr lang="en-US" sz="1200" dirty="0">
                <a:solidFill>
                  <a:srgbClr val="1C2430"/>
                </a:solidFill>
                <a:latin typeface="Arial" pitchFamily="34" charset="0"/>
                <a:ea typeface="Yu Gothic"/>
                <a:cs typeface="Arial" pitchFamily="34" charset="-120"/>
              </a:rPr>
              <a:t>電源の配線（裏側）</a:t>
            </a:r>
            <a:endParaRPr lang="en-US" sz="1200" dirty="0"/>
          </a:p>
        </p:txBody>
      </p:sp>
      <p:sp>
        <p:nvSpPr>
          <p:cNvPr id="21" name="Shape 18"/>
          <p:cNvSpPr/>
          <p:nvPr/>
        </p:nvSpPr>
        <p:spPr>
          <a:xfrm>
            <a:off x="3383280" y="3584448"/>
            <a:ext cx="2377440" cy="384048"/>
          </a:xfrm>
          <a:prstGeom prst="rect">
            <a:avLst/>
          </a:prstGeom>
          <a:solidFill>
            <a:srgbClr val="E4E8ED"/>
          </a:solidFill>
          <a:ln w="9525">
            <a:solidFill>
              <a:srgbClr val="B9C0CA"/>
            </a:solidFill>
            <a:prstDash val="solid"/>
          </a:ln>
        </p:spPr>
      </p:sp>
      <p:sp>
        <p:nvSpPr>
          <p:cNvPr id="22" name="Text 19"/>
          <p:cNvSpPr txBox="1"/>
          <p:nvPr/>
        </p:nvSpPr>
        <p:spPr>
          <a:xfrm>
            <a:off x="3383280" y="3584448"/>
            <a:ext cx="2377440" cy="384048"/>
          </a:xfrm>
          <a:prstGeom prst="rect">
            <a:avLst/>
          </a:prstGeom>
          <a:noFill/>
          <a:ln/>
        </p:spPr>
        <p:txBody>
          <a:bodyPr wrap="square" lIns="0" tIns="0" rIns="0" bIns="0" rtlCol="0" anchor="ctr"/>
          <a:lstStyle/>
          <a:p>
            <a:pPr algn="ctr" indent="0" marL="0">
              <a:buNone/>
            </a:pPr>
            <a:r>
              <a:rPr lang="en-US" sz="1200" dirty="0">
                <a:solidFill>
                  <a:srgbClr val="1C2430"/>
                </a:solidFill>
                <a:latin typeface="Arial" pitchFamily="34" charset="0"/>
                <a:ea typeface="Yu Gothic"/>
                <a:cs typeface="Arial" pitchFamily="34" charset="-120"/>
              </a:rPr>
              <a:t>支えのウェハ</a:t>
            </a:r>
            <a:endParaRPr lang="en-US" sz="1200" dirty="0"/>
          </a:p>
        </p:txBody>
      </p:sp>
      <p:sp>
        <p:nvSpPr>
          <p:cNvPr id="23" name="Text 20"/>
          <p:cNvSpPr txBox="1"/>
          <p:nvPr/>
        </p:nvSpPr>
        <p:spPr>
          <a:xfrm>
            <a:off x="548640" y="4041648"/>
            <a:ext cx="2377440" cy="292608"/>
          </a:xfrm>
          <a:prstGeom prst="rect">
            <a:avLst/>
          </a:prstGeom>
          <a:noFill/>
          <a:ln/>
        </p:spPr>
        <p:txBody>
          <a:bodyPr wrap="square" lIns="0" tIns="0" rIns="0" bIns="0" rtlCol="0" anchor="ctr"/>
          <a:lstStyle/>
          <a:p>
            <a:pPr algn="ctr" indent="0" marL="0">
              <a:buNone/>
            </a:pPr>
            <a:r>
              <a:rPr lang="en-US" sz="1300" b="1" dirty="0">
                <a:solidFill>
                  <a:srgbClr val="1C2430"/>
                </a:solidFill>
                <a:latin typeface="Arial" pitchFamily="34" charset="0"/>
                <a:ea typeface="Yu Gothic"/>
                <a:cs typeface="Arial" pitchFamily="34" charset="-120"/>
              </a:rPr>
              <a:t>従来（表面電源）</a:t>
            </a:r>
            <a:endParaRPr lang="en-US" sz="1300" dirty="0"/>
          </a:p>
        </p:txBody>
      </p:sp>
      <p:sp>
        <p:nvSpPr>
          <p:cNvPr id="24" name="Text 21"/>
          <p:cNvSpPr txBox="1"/>
          <p:nvPr/>
        </p:nvSpPr>
        <p:spPr>
          <a:xfrm>
            <a:off x="3383280" y="4041648"/>
            <a:ext cx="2377440" cy="292608"/>
          </a:xfrm>
          <a:prstGeom prst="rect">
            <a:avLst/>
          </a:prstGeom>
          <a:noFill/>
          <a:ln/>
        </p:spPr>
        <p:txBody>
          <a:bodyPr wrap="square" lIns="0" tIns="0" rIns="0" bIns="0" rtlCol="0" anchor="ctr"/>
          <a:lstStyle/>
          <a:p>
            <a:pPr algn="ctr" indent="0" marL="0">
              <a:buNone/>
            </a:pPr>
            <a:r>
              <a:rPr lang="en-US" sz="1300" b="1" dirty="0">
                <a:solidFill>
                  <a:srgbClr val="1C2430"/>
                </a:solidFill>
                <a:latin typeface="Arial" pitchFamily="34" charset="0"/>
                <a:ea typeface="Yu Gothic"/>
                <a:cs typeface="Arial" pitchFamily="34" charset="-120"/>
              </a:rPr>
              <a:t>裏面電源</a:t>
            </a:r>
            <a:endParaRPr lang="en-US" sz="1300" dirty="0"/>
          </a:p>
        </p:txBody>
      </p:sp>
      <p:sp>
        <p:nvSpPr>
          <p:cNvPr id="25" name="Shape 22"/>
          <p:cNvSpPr/>
          <p:nvPr/>
        </p:nvSpPr>
        <p:spPr>
          <a:xfrm>
            <a:off x="2971800" y="3154680"/>
            <a:ext cx="365760" cy="0"/>
          </a:xfrm>
          <a:prstGeom prst="line">
            <a:avLst/>
          </a:prstGeom>
          <a:noFill/>
          <a:ln w="19050">
            <a:solidFill>
              <a:srgbClr val="8C96A3"/>
            </a:solidFill>
            <a:prstDash val="solid"/>
            <a:tailEnd type="triangle"/>
          </a:ln>
        </p:spPr>
      </p:sp>
      <p:sp>
        <p:nvSpPr>
          <p:cNvPr id="26" name="Text 23"/>
          <p:cNvSpPr txBox="1"/>
          <p:nvPr/>
        </p:nvSpPr>
        <p:spPr>
          <a:xfrm>
            <a:off x="548640" y="4480560"/>
            <a:ext cx="53035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3D4A"/>
                </a:solidFill>
                <a:latin typeface="Arial" pitchFamily="34" charset="0"/>
                <a:ea typeface="Yu Gothic"/>
                <a:cs typeface="Arial" pitchFamily="34" charset="-120"/>
              </a:rPr>
              <a:t>表側の配線を信号だけに使え、電圧の低下も減る</a:t>
            </a:r>
            <a:endParaRPr lang="en-US" sz="1400" dirty="0"/>
          </a:p>
          <a:p>
            <a:pPr marL="342900" indent="-342900">
              <a:spcAft>
                <a:spcPts val="600"/>
              </a:spcAft>
              <a:buSzPct val="100000"/>
              <a:buChar char="•"/>
            </a:pPr>
            <a:r>
              <a:rPr lang="en-US" sz="1400" dirty="0">
                <a:solidFill>
                  <a:srgbClr val="333D4A"/>
                </a:solidFill>
                <a:latin typeface="Arial" pitchFamily="34" charset="0"/>
                <a:ea typeface="Yu Gothic"/>
                <a:cs typeface="Arial" pitchFamily="34" charset="-120"/>
              </a:rPr>
              <a:t>Intel 18A（2025年）→ TSMC A16（2027年）→ A12（2029年）</a:t>
            </a:r>
            <a:endParaRPr lang="en-US" sz="1400" dirty="0"/>
          </a:p>
        </p:txBody>
      </p:sp>
      <p:sp>
        <p:nvSpPr>
          <p:cNvPr id="27" name="Text 24"/>
          <p:cNvSpPr txBox="1"/>
          <p:nvPr/>
        </p:nvSpPr>
        <p:spPr>
          <a:xfrm>
            <a:off x="6355080" y="1783080"/>
            <a:ext cx="5303520" cy="411480"/>
          </a:xfrm>
          <a:prstGeom prst="rect">
            <a:avLst/>
          </a:prstGeom>
          <a:noFill/>
          <a:ln/>
        </p:spPr>
        <p:txBody>
          <a:bodyPr wrap="square" lIns="0" tIns="0" rIns="0" bIns="0" rtlCol="0" anchor="ctr"/>
          <a:lstStyle/>
          <a:p>
            <a:pPr indent="0" marL="0">
              <a:buNone/>
            </a:pPr>
            <a:r>
              <a:rPr lang="en-US" sz="1800" b="1" dirty="0">
                <a:solidFill>
                  <a:srgbClr val="1C2430"/>
                </a:solidFill>
                <a:latin typeface="Arial" pitchFamily="34" charset="0"/>
                <a:ea typeface="Yu Gothic"/>
                <a:cs typeface="Arial" pitchFamily="34" charset="-120"/>
              </a:rPr>
              <a:t>High-NA EUV：より細い線を一度で描く</a:t>
            </a:r>
            <a:endParaRPr lang="en-US" sz="1800" dirty="0"/>
          </a:p>
        </p:txBody>
      </p:sp>
      <p:sp>
        <p:nvSpPr>
          <p:cNvPr id="28" name="Text 25"/>
          <p:cNvSpPr txBox="1"/>
          <p:nvPr/>
        </p:nvSpPr>
        <p:spPr>
          <a:xfrm>
            <a:off x="6355080" y="2331720"/>
            <a:ext cx="2377440" cy="274320"/>
          </a:xfrm>
          <a:prstGeom prst="rect">
            <a:avLst/>
          </a:prstGeom>
          <a:noFill/>
          <a:ln/>
        </p:spPr>
        <p:txBody>
          <a:bodyPr wrap="square" lIns="0" tIns="0" rIns="0" bIns="0" rtlCol="0" anchor="ctr"/>
          <a:lstStyle/>
          <a:p>
            <a:pPr indent="0" marL="0">
              <a:buNone/>
            </a:pPr>
            <a:r>
              <a:rPr lang="en-US" sz="1250" b="1" dirty="0">
                <a:solidFill>
                  <a:srgbClr val="1C2430"/>
                </a:solidFill>
                <a:latin typeface="Arial" pitchFamily="34" charset="0"/>
                <a:ea typeface="Yu Gothic"/>
                <a:cs typeface="Arial" pitchFamily="34" charset="-120"/>
              </a:rPr>
              <a:t>EUV（NA 0.33）</a:t>
            </a:r>
            <a:endParaRPr lang="en-US" sz="1250" dirty="0"/>
          </a:p>
        </p:txBody>
      </p:sp>
      <p:sp>
        <p:nvSpPr>
          <p:cNvPr id="29" name="Shape 26"/>
          <p:cNvSpPr/>
          <p:nvPr/>
        </p:nvSpPr>
        <p:spPr>
          <a:xfrm>
            <a:off x="6355080" y="2651760"/>
            <a:ext cx="118872" cy="777240"/>
          </a:xfrm>
          <a:prstGeom prst="rect">
            <a:avLst/>
          </a:prstGeom>
          <a:solidFill>
            <a:srgbClr val="2B7A9B"/>
          </a:solidFill>
          <a:ln/>
        </p:spPr>
      </p:sp>
      <p:sp>
        <p:nvSpPr>
          <p:cNvPr id="30" name="Shape 27"/>
          <p:cNvSpPr/>
          <p:nvPr/>
        </p:nvSpPr>
        <p:spPr>
          <a:xfrm>
            <a:off x="6592824" y="2651760"/>
            <a:ext cx="118872" cy="777240"/>
          </a:xfrm>
          <a:prstGeom prst="rect">
            <a:avLst/>
          </a:prstGeom>
          <a:solidFill>
            <a:srgbClr val="2B7A9B"/>
          </a:solidFill>
          <a:ln/>
        </p:spPr>
      </p:sp>
      <p:sp>
        <p:nvSpPr>
          <p:cNvPr id="31" name="Shape 28"/>
          <p:cNvSpPr/>
          <p:nvPr/>
        </p:nvSpPr>
        <p:spPr>
          <a:xfrm>
            <a:off x="6830568" y="2651760"/>
            <a:ext cx="118872" cy="777240"/>
          </a:xfrm>
          <a:prstGeom prst="rect">
            <a:avLst/>
          </a:prstGeom>
          <a:solidFill>
            <a:srgbClr val="2B7A9B"/>
          </a:solidFill>
          <a:ln/>
        </p:spPr>
      </p:sp>
      <p:sp>
        <p:nvSpPr>
          <p:cNvPr id="32" name="Shape 29"/>
          <p:cNvSpPr/>
          <p:nvPr/>
        </p:nvSpPr>
        <p:spPr>
          <a:xfrm>
            <a:off x="7068312" y="2651760"/>
            <a:ext cx="118872" cy="777240"/>
          </a:xfrm>
          <a:prstGeom prst="rect">
            <a:avLst/>
          </a:prstGeom>
          <a:solidFill>
            <a:srgbClr val="2B7A9B"/>
          </a:solidFill>
          <a:ln/>
        </p:spPr>
      </p:sp>
      <p:sp>
        <p:nvSpPr>
          <p:cNvPr id="33" name="Shape 30"/>
          <p:cNvSpPr/>
          <p:nvPr/>
        </p:nvSpPr>
        <p:spPr>
          <a:xfrm>
            <a:off x="7306056" y="2651760"/>
            <a:ext cx="118872" cy="777240"/>
          </a:xfrm>
          <a:prstGeom prst="rect">
            <a:avLst/>
          </a:prstGeom>
          <a:solidFill>
            <a:srgbClr val="2B7A9B"/>
          </a:solidFill>
          <a:ln/>
        </p:spPr>
      </p:sp>
      <p:sp>
        <p:nvSpPr>
          <p:cNvPr id="34" name="Shape 31"/>
          <p:cNvSpPr/>
          <p:nvPr/>
        </p:nvSpPr>
        <p:spPr>
          <a:xfrm>
            <a:off x="7543800" y="2651760"/>
            <a:ext cx="118872" cy="777240"/>
          </a:xfrm>
          <a:prstGeom prst="rect">
            <a:avLst/>
          </a:prstGeom>
          <a:solidFill>
            <a:srgbClr val="2B7A9B"/>
          </a:solidFill>
          <a:ln/>
        </p:spPr>
      </p:sp>
      <p:sp>
        <p:nvSpPr>
          <p:cNvPr id="35" name="Shape 32"/>
          <p:cNvSpPr/>
          <p:nvPr/>
        </p:nvSpPr>
        <p:spPr>
          <a:xfrm>
            <a:off x="7781544" y="2651760"/>
            <a:ext cx="118872" cy="777240"/>
          </a:xfrm>
          <a:prstGeom prst="rect">
            <a:avLst/>
          </a:prstGeom>
          <a:solidFill>
            <a:srgbClr val="2B7A9B"/>
          </a:solidFill>
          <a:ln/>
        </p:spPr>
      </p:sp>
      <p:sp>
        <p:nvSpPr>
          <p:cNvPr id="36" name="Shape 33"/>
          <p:cNvSpPr/>
          <p:nvPr/>
        </p:nvSpPr>
        <p:spPr>
          <a:xfrm>
            <a:off x="8019288" y="2651760"/>
            <a:ext cx="118872" cy="777240"/>
          </a:xfrm>
          <a:prstGeom prst="rect">
            <a:avLst/>
          </a:prstGeom>
          <a:solidFill>
            <a:srgbClr val="2B7A9B"/>
          </a:solidFill>
          <a:ln/>
        </p:spPr>
      </p:sp>
      <p:sp>
        <p:nvSpPr>
          <p:cNvPr id="37" name="Shape 34"/>
          <p:cNvSpPr/>
          <p:nvPr/>
        </p:nvSpPr>
        <p:spPr>
          <a:xfrm>
            <a:off x="8257032" y="2651760"/>
            <a:ext cx="118872" cy="777240"/>
          </a:xfrm>
          <a:prstGeom prst="rect">
            <a:avLst/>
          </a:prstGeom>
          <a:solidFill>
            <a:srgbClr val="2B7A9B"/>
          </a:solidFill>
          <a:ln/>
        </p:spPr>
      </p:sp>
      <p:sp>
        <p:nvSpPr>
          <p:cNvPr id="38" name="Text 35"/>
          <p:cNvSpPr txBox="1"/>
          <p:nvPr/>
        </p:nvSpPr>
        <p:spPr>
          <a:xfrm>
            <a:off x="6355080" y="3474720"/>
            <a:ext cx="2377440" cy="256032"/>
          </a:xfrm>
          <a:prstGeom prst="rect">
            <a:avLst/>
          </a:prstGeom>
          <a:noFill/>
          <a:ln/>
        </p:spPr>
        <p:txBody>
          <a:bodyPr wrap="square" lIns="0" tIns="0" rIns="0" bIns="0" rtlCol="0" anchor="ctr"/>
          <a:lstStyle/>
          <a:p>
            <a:pPr indent="0" marL="0">
              <a:buNone/>
            </a:pPr>
            <a:r>
              <a:rPr lang="en-US" sz="1200" dirty="0">
                <a:solidFill>
                  <a:srgbClr val="6A7380"/>
                </a:solidFill>
                <a:latin typeface="Arial" pitchFamily="34" charset="0"/>
                <a:ea typeface="Yu Gothic"/>
                <a:cs typeface="Arial" pitchFamily="34" charset="-120"/>
              </a:rPr>
              <a:t>最小 約13nm</a:t>
            </a:r>
            <a:endParaRPr lang="en-US" sz="1200" dirty="0"/>
          </a:p>
        </p:txBody>
      </p:sp>
      <p:sp>
        <p:nvSpPr>
          <p:cNvPr id="39" name="Text 36"/>
          <p:cNvSpPr txBox="1"/>
          <p:nvPr/>
        </p:nvSpPr>
        <p:spPr>
          <a:xfrm>
            <a:off x="9189720" y="2331720"/>
            <a:ext cx="2468880" cy="274320"/>
          </a:xfrm>
          <a:prstGeom prst="rect">
            <a:avLst/>
          </a:prstGeom>
          <a:noFill/>
          <a:ln/>
        </p:spPr>
        <p:txBody>
          <a:bodyPr wrap="square" lIns="0" tIns="0" rIns="0" bIns="0" rtlCol="0" anchor="ctr"/>
          <a:lstStyle/>
          <a:p>
            <a:pPr indent="0" marL="0">
              <a:buNone/>
            </a:pPr>
            <a:r>
              <a:rPr lang="en-US" sz="1250" b="1" dirty="0">
                <a:solidFill>
                  <a:srgbClr val="1C2430"/>
                </a:solidFill>
                <a:latin typeface="Arial" pitchFamily="34" charset="0"/>
                <a:ea typeface="Yu Gothic"/>
                <a:cs typeface="Arial" pitchFamily="34" charset="-120"/>
              </a:rPr>
              <a:t>High-NA（NA 0.55）</a:t>
            </a:r>
            <a:endParaRPr lang="en-US" sz="1250" dirty="0"/>
          </a:p>
        </p:txBody>
      </p:sp>
      <p:sp>
        <p:nvSpPr>
          <p:cNvPr id="40" name="Shape 37"/>
          <p:cNvSpPr/>
          <p:nvPr/>
        </p:nvSpPr>
        <p:spPr>
          <a:xfrm>
            <a:off x="9189720" y="2651760"/>
            <a:ext cx="73152" cy="777240"/>
          </a:xfrm>
          <a:prstGeom prst="rect">
            <a:avLst/>
          </a:prstGeom>
          <a:solidFill>
            <a:srgbClr val="ED7D31"/>
          </a:solidFill>
          <a:ln/>
        </p:spPr>
      </p:sp>
      <p:sp>
        <p:nvSpPr>
          <p:cNvPr id="41" name="Shape 38"/>
          <p:cNvSpPr/>
          <p:nvPr/>
        </p:nvSpPr>
        <p:spPr>
          <a:xfrm>
            <a:off x="9336024" y="2651760"/>
            <a:ext cx="73152" cy="777240"/>
          </a:xfrm>
          <a:prstGeom prst="rect">
            <a:avLst/>
          </a:prstGeom>
          <a:solidFill>
            <a:srgbClr val="ED7D31"/>
          </a:solidFill>
          <a:ln/>
        </p:spPr>
      </p:sp>
      <p:sp>
        <p:nvSpPr>
          <p:cNvPr id="42" name="Shape 39"/>
          <p:cNvSpPr/>
          <p:nvPr/>
        </p:nvSpPr>
        <p:spPr>
          <a:xfrm>
            <a:off x="9482328" y="2651760"/>
            <a:ext cx="73152" cy="777240"/>
          </a:xfrm>
          <a:prstGeom prst="rect">
            <a:avLst/>
          </a:prstGeom>
          <a:solidFill>
            <a:srgbClr val="ED7D31"/>
          </a:solidFill>
          <a:ln/>
        </p:spPr>
      </p:sp>
      <p:sp>
        <p:nvSpPr>
          <p:cNvPr id="43" name="Shape 40"/>
          <p:cNvSpPr/>
          <p:nvPr/>
        </p:nvSpPr>
        <p:spPr>
          <a:xfrm>
            <a:off x="9628632" y="2651760"/>
            <a:ext cx="73152" cy="777240"/>
          </a:xfrm>
          <a:prstGeom prst="rect">
            <a:avLst/>
          </a:prstGeom>
          <a:solidFill>
            <a:srgbClr val="ED7D31"/>
          </a:solidFill>
          <a:ln/>
        </p:spPr>
      </p:sp>
      <p:sp>
        <p:nvSpPr>
          <p:cNvPr id="44" name="Shape 41"/>
          <p:cNvSpPr/>
          <p:nvPr/>
        </p:nvSpPr>
        <p:spPr>
          <a:xfrm>
            <a:off x="9774936" y="2651760"/>
            <a:ext cx="73152" cy="777240"/>
          </a:xfrm>
          <a:prstGeom prst="rect">
            <a:avLst/>
          </a:prstGeom>
          <a:solidFill>
            <a:srgbClr val="ED7D31"/>
          </a:solidFill>
          <a:ln/>
        </p:spPr>
      </p:sp>
      <p:sp>
        <p:nvSpPr>
          <p:cNvPr id="45" name="Shape 42"/>
          <p:cNvSpPr/>
          <p:nvPr/>
        </p:nvSpPr>
        <p:spPr>
          <a:xfrm>
            <a:off x="9921240" y="2651760"/>
            <a:ext cx="73152" cy="777240"/>
          </a:xfrm>
          <a:prstGeom prst="rect">
            <a:avLst/>
          </a:prstGeom>
          <a:solidFill>
            <a:srgbClr val="ED7D31"/>
          </a:solidFill>
          <a:ln/>
        </p:spPr>
      </p:sp>
      <p:sp>
        <p:nvSpPr>
          <p:cNvPr id="46" name="Shape 43"/>
          <p:cNvSpPr/>
          <p:nvPr/>
        </p:nvSpPr>
        <p:spPr>
          <a:xfrm>
            <a:off x="10067544" y="2651760"/>
            <a:ext cx="73152" cy="777240"/>
          </a:xfrm>
          <a:prstGeom prst="rect">
            <a:avLst/>
          </a:prstGeom>
          <a:solidFill>
            <a:srgbClr val="ED7D31"/>
          </a:solidFill>
          <a:ln/>
        </p:spPr>
      </p:sp>
      <p:sp>
        <p:nvSpPr>
          <p:cNvPr id="47" name="Shape 44"/>
          <p:cNvSpPr/>
          <p:nvPr/>
        </p:nvSpPr>
        <p:spPr>
          <a:xfrm>
            <a:off x="10213848" y="2651760"/>
            <a:ext cx="73152" cy="777240"/>
          </a:xfrm>
          <a:prstGeom prst="rect">
            <a:avLst/>
          </a:prstGeom>
          <a:solidFill>
            <a:srgbClr val="ED7D31"/>
          </a:solidFill>
          <a:ln/>
        </p:spPr>
      </p:sp>
      <p:sp>
        <p:nvSpPr>
          <p:cNvPr id="48" name="Shape 45"/>
          <p:cNvSpPr/>
          <p:nvPr/>
        </p:nvSpPr>
        <p:spPr>
          <a:xfrm>
            <a:off x="10360152" y="2651760"/>
            <a:ext cx="73152" cy="777240"/>
          </a:xfrm>
          <a:prstGeom prst="rect">
            <a:avLst/>
          </a:prstGeom>
          <a:solidFill>
            <a:srgbClr val="ED7D31"/>
          </a:solidFill>
          <a:ln/>
        </p:spPr>
      </p:sp>
      <p:sp>
        <p:nvSpPr>
          <p:cNvPr id="49" name="Shape 46"/>
          <p:cNvSpPr/>
          <p:nvPr/>
        </p:nvSpPr>
        <p:spPr>
          <a:xfrm>
            <a:off x="10506456" y="2651760"/>
            <a:ext cx="73152" cy="777240"/>
          </a:xfrm>
          <a:prstGeom prst="rect">
            <a:avLst/>
          </a:prstGeom>
          <a:solidFill>
            <a:srgbClr val="ED7D31"/>
          </a:solidFill>
          <a:ln/>
        </p:spPr>
      </p:sp>
      <p:sp>
        <p:nvSpPr>
          <p:cNvPr id="50" name="Shape 47"/>
          <p:cNvSpPr/>
          <p:nvPr/>
        </p:nvSpPr>
        <p:spPr>
          <a:xfrm>
            <a:off x="10652760" y="2651760"/>
            <a:ext cx="73152" cy="777240"/>
          </a:xfrm>
          <a:prstGeom prst="rect">
            <a:avLst/>
          </a:prstGeom>
          <a:solidFill>
            <a:srgbClr val="ED7D31"/>
          </a:solidFill>
          <a:ln/>
        </p:spPr>
      </p:sp>
      <p:sp>
        <p:nvSpPr>
          <p:cNvPr id="51" name="Shape 48"/>
          <p:cNvSpPr/>
          <p:nvPr/>
        </p:nvSpPr>
        <p:spPr>
          <a:xfrm>
            <a:off x="10799064" y="2651760"/>
            <a:ext cx="73152" cy="777240"/>
          </a:xfrm>
          <a:prstGeom prst="rect">
            <a:avLst/>
          </a:prstGeom>
          <a:solidFill>
            <a:srgbClr val="ED7D31"/>
          </a:solidFill>
          <a:ln/>
        </p:spPr>
      </p:sp>
      <p:sp>
        <p:nvSpPr>
          <p:cNvPr id="52" name="Shape 49"/>
          <p:cNvSpPr/>
          <p:nvPr/>
        </p:nvSpPr>
        <p:spPr>
          <a:xfrm>
            <a:off x="10945368" y="2651760"/>
            <a:ext cx="73152" cy="777240"/>
          </a:xfrm>
          <a:prstGeom prst="rect">
            <a:avLst/>
          </a:prstGeom>
          <a:solidFill>
            <a:srgbClr val="ED7D31"/>
          </a:solidFill>
          <a:ln/>
        </p:spPr>
      </p:sp>
      <p:sp>
        <p:nvSpPr>
          <p:cNvPr id="53" name="Shape 50"/>
          <p:cNvSpPr/>
          <p:nvPr/>
        </p:nvSpPr>
        <p:spPr>
          <a:xfrm>
            <a:off x="11091672" y="2651760"/>
            <a:ext cx="73152" cy="777240"/>
          </a:xfrm>
          <a:prstGeom prst="rect">
            <a:avLst/>
          </a:prstGeom>
          <a:solidFill>
            <a:srgbClr val="ED7D31"/>
          </a:solidFill>
          <a:ln/>
        </p:spPr>
      </p:sp>
      <p:sp>
        <p:nvSpPr>
          <p:cNvPr id="54" name="Shape 51"/>
          <p:cNvSpPr/>
          <p:nvPr/>
        </p:nvSpPr>
        <p:spPr>
          <a:xfrm>
            <a:off x="11237976" y="2651760"/>
            <a:ext cx="73152" cy="777240"/>
          </a:xfrm>
          <a:prstGeom prst="rect">
            <a:avLst/>
          </a:prstGeom>
          <a:solidFill>
            <a:srgbClr val="ED7D31"/>
          </a:solidFill>
          <a:ln/>
        </p:spPr>
      </p:sp>
      <p:sp>
        <p:nvSpPr>
          <p:cNvPr id="55" name="Text 52"/>
          <p:cNvSpPr txBox="1"/>
          <p:nvPr/>
        </p:nvSpPr>
        <p:spPr>
          <a:xfrm>
            <a:off x="9189720" y="3474720"/>
            <a:ext cx="2377440" cy="256032"/>
          </a:xfrm>
          <a:prstGeom prst="rect">
            <a:avLst/>
          </a:prstGeom>
          <a:noFill/>
          <a:ln/>
        </p:spPr>
        <p:txBody>
          <a:bodyPr wrap="square" lIns="0" tIns="0" rIns="0" bIns="0" rtlCol="0" anchor="ctr"/>
          <a:lstStyle/>
          <a:p>
            <a:pPr indent="0" marL="0">
              <a:buNone/>
            </a:pPr>
            <a:r>
              <a:rPr lang="en-US" sz="1200" dirty="0">
                <a:solidFill>
                  <a:srgbClr val="6A7380"/>
                </a:solidFill>
                <a:latin typeface="Arial" pitchFamily="34" charset="0"/>
                <a:ea typeface="Yu Gothic"/>
                <a:cs typeface="Arial" pitchFamily="34" charset="-120"/>
              </a:rPr>
              <a:t>最小 約8nm</a:t>
            </a:r>
            <a:endParaRPr lang="en-US" sz="1200" dirty="0"/>
          </a:p>
        </p:txBody>
      </p:sp>
      <p:sp>
        <p:nvSpPr>
          <p:cNvPr id="56" name="Shape 53"/>
          <p:cNvSpPr/>
          <p:nvPr/>
        </p:nvSpPr>
        <p:spPr>
          <a:xfrm>
            <a:off x="7132320" y="4343400"/>
            <a:ext cx="3840480" cy="0"/>
          </a:xfrm>
          <a:prstGeom prst="line">
            <a:avLst/>
          </a:prstGeom>
          <a:noFill/>
          <a:ln w="19050">
            <a:solidFill>
              <a:srgbClr val="8C96A3"/>
            </a:solidFill>
            <a:prstDash val="solid"/>
          </a:ln>
        </p:spPr>
      </p:sp>
      <p:sp>
        <p:nvSpPr>
          <p:cNvPr id="57" name="Shape 54"/>
          <p:cNvSpPr/>
          <p:nvPr/>
        </p:nvSpPr>
        <p:spPr>
          <a:xfrm>
            <a:off x="7031736" y="4242816"/>
            <a:ext cx="201168" cy="201168"/>
          </a:xfrm>
          <a:prstGeom prst="ellipse">
            <a:avLst/>
          </a:prstGeom>
          <a:solidFill>
            <a:srgbClr val="2F5597"/>
          </a:solidFill>
          <a:ln/>
        </p:spPr>
      </p:sp>
      <p:sp>
        <p:nvSpPr>
          <p:cNvPr id="58" name="Text 55"/>
          <p:cNvSpPr txBox="1"/>
          <p:nvPr/>
        </p:nvSpPr>
        <p:spPr>
          <a:xfrm>
            <a:off x="6309360" y="3904488"/>
            <a:ext cx="1645920" cy="274320"/>
          </a:xfrm>
          <a:prstGeom prst="rect">
            <a:avLst/>
          </a:prstGeom>
          <a:noFill/>
          <a:ln/>
        </p:spPr>
        <p:txBody>
          <a:bodyPr wrap="square" lIns="0" tIns="0" rIns="0" bIns="0" rtlCol="0" anchor="ctr"/>
          <a:lstStyle/>
          <a:p>
            <a:pPr algn="ctr" indent="0" marL="0">
              <a:buNone/>
            </a:pPr>
            <a:r>
              <a:rPr lang="en-US" sz="1250" b="1" dirty="0">
                <a:solidFill>
                  <a:srgbClr val="1C2430"/>
                </a:solidFill>
                <a:latin typeface="Arial" pitchFamily="34" charset="0"/>
                <a:ea typeface="Yu Gothic"/>
                <a:cs typeface="Arial" pitchFamily="34" charset="-120"/>
              </a:rPr>
              <a:t>2026年</a:t>
            </a:r>
            <a:endParaRPr lang="en-US" sz="1250" dirty="0"/>
          </a:p>
        </p:txBody>
      </p:sp>
      <p:sp>
        <p:nvSpPr>
          <p:cNvPr id="59" name="Text 56"/>
          <p:cNvSpPr txBox="1"/>
          <p:nvPr/>
        </p:nvSpPr>
        <p:spPr>
          <a:xfrm>
            <a:off x="6355080" y="4507992"/>
            <a:ext cx="1554480" cy="566928"/>
          </a:xfrm>
          <a:prstGeom prst="rect">
            <a:avLst/>
          </a:prstGeom>
          <a:noFill/>
          <a:ln/>
        </p:spPr>
        <p:txBody>
          <a:bodyPr wrap="square" lIns="0" tIns="0" rIns="0" bIns="0" rtlCol="0" anchor="t"/>
          <a:lstStyle/>
          <a:p>
            <a:pPr algn="ctr" indent="0" marL="0">
              <a:buNone/>
            </a:pPr>
            <a:r>
              <a:rPr lang="en-US" sz="1200" dirty="0">
                <a:solidFill>
                  <a:srgbClr val="333D4A"/>
                </a:solidFill>
                <a:latin typeface="Arial" pitchFamily="34" charset="0"/>
                <a:ea typeface="Yu Gothic"/>
                <a:cs typeface="Arial" pitchFamily="34" charset="-120"/>
              </a:rPr>
              <a:t>Intel 18A</a:t>
            </a:r>
            <a:endParaRPr lang="en-US" sz="1200" dirty="0"/>
          </a:p>
          <a:p>
            <a:pPr algn="ctr" indent="0" marL="0">
              <a:buNone/>
            </a:pPr>
            <a:r>
              <a:rPr lang="en-US" sz="1200" dirty="0">
                <a:solidFill>
                  <a:srgbClr val="333D4A"/>
                </a:solidFill>
                <a:latin typeface="Arial" pitchFamily="34" charset="0"/>
                <a:ea typeface="Yu Gothic"/>
                <a:cs typeface="Arial" pitchFamily="34" charset="-120"/>
              </a:rPr>
              <a:t>（一部の層）</a:t>
            </a:r>
            <a:endParaRPr lang="en-US" sz="1200" dirty="0"/>
          </a:p>
        </p:txBody>
      </p:sp>
      <p:sp>
        <p:nvSpPr>
          <p:cNvPr id="60" name="Shape 57"/>
          <p:cNvSpPr/>
          <p:nvPr/>
        </p:nvSpPr>
        <p:spPr>
          <a:xfrm>
            <a:off x="8951976" y="4242816"/>
            <a:ext cx="201168" cy="201168"/>
          </a:xfrm>
          <a:prstGeom prst="ellipse">
            <a:avLst/>
          </a:prstGeom>
          <a:solidFill>
            <a:srgbClr val="ED7D31"/>
          </a:solidFill>
          <a:ln/>
        </p:spPr>
      </p:sp>
      <p:sp>
        <p:nvSpPr>
          <p:cNvPr id="61" name="Text 58"/>
          <p:cNvSpPr txBox="1"/>
          <p:nvPr/>
        </p:nvSpPr>
        <p:spPr>
          <a:xfrm>
            <a:off x="8229600" y="3904488"/>
            <a:ext cx="1645920" cy="274320"/>
          </a:xfrm>
          <a:prstGeom prst="rect">
            <a:avLst/>
          </a:prstGeom>
          <a:noFill/>
          <a:ln/>
        </p:spPr>
        <p:txBody>
          <a:bodyPr wrap="square" lIns="0" tIns="0" rIns="0" bIns="0" rtlCol="0" anchor="ctr"/>
          <a:lstStyle/>
          <a:p>
            <a:pPr algn="ctr" indent="0" marL="0">
              <a:buNone/>
            </a:pPr>
            <a:r>
              <a:rPr lang="en-US" sz="1250" b="1" dirty="0">
                <a:solidFill>
                  <a:srgbClr val="1C2430"/>
                </a:solidFill>
                <a:latin typeface="Arial" pitchFamily="34" charset="0"/>
                <a:ea typeface="Yu Gothic"/>
                <a:cs typeface="Arial" pitchFamily="34" charset="-120"/>
              </a:rPr>
              <a:t>2028年</a:t>
            </a:r>
            <a:endParaRPr lang="en-US" sz="1250" dirty="0"/>
          </a:p>
        </p:txBody>
      </p:sp>
      <p:sp>
        <p:nvSpPr>
          <p:cNvPr id="62" name="Text 59"/>
          <p:cNvSpPr txBox="1"/>
          <p:nvPr/>
        </p:nvSpPr>
        <p:spPr>
          <a:xfrm>
            <a:off x="8275320" y="4507992"/>
            <a:ext cx="1554480" cy="566928"/>
          </a:xfrm>
          <a:prstGeom prst="rect">
            <a:avLst/>
          </a:prstGeom>
          <a:noFill/>
          <a:ln/>
        </p:spPr>
        <p:txBody>
          <a:bodyPr wrap="square" lIns="0" tIns="0" rIns="0" bIns="0" rtlCol="0" anchor="t"/>
          <a:lstStyle/>
          <a:p>
            <a:pPr algn="ctr" indent="0" marL="0">
              <a:buNone/>
            </a:pPr>
            <a:r>
              <a:rPr lang="en-US" sz="1200" dirty="0">
                <a:solidFill>
                  <a:srgbClr val="333D4A"/>
                </a:solidFill>
                <a:latin typeface="Arial" pitchFamily="34" charset="0"/>
                <a:ea typeface="Yu Gothic"/>
                <a:cs typeface="Arial" pitchFamily="34" charset="-120"/>
              </a:rPr>
              <a:t>Intel 14A</a:t>
            </a:r>
            <a:endParaRPr lang="en-US" sz="1200" dirty="0"/>
          </a:p>
          <a:p>
            <a:pPr algn="ctr" indent="0" marL="0">
              <a:buNone/>
            </a:pPr>
            <a:r>
              <a:rPr lang="en-US" sz="1200" dirty="0">
                <a:solidFill>
                  <a:srgbClr val="333D4A"/>
                </a:solidFill>
                <a:latin typeface="Arial" pitchFamily="34" charset="0"/>
                <a:ea typeface="Yu Gothic"/>
                <a:cs typeface="Arial" pitchFamily="34" charset="-120"/>
              </a:rPr>
              <a:t>DRAM 2社</a:t>
            </a:r>
            <a:endParaRPr lang="en-US" sz="1200" dirty="0"/>
          </a:p>
        </p:txBody>
      </p:sp>
      <p:sp>
        <p:nvSpPr>
          <p:cNvPr id="63" name="Shape 60"/>
          <p:cNvSpPr/>
          <p:nvPr/>
        </p:nvSpPr>
        <p:spPr>
          <a:xfrm>
            <a:off x="10872216" y="4242816"/>
            <a:ext cx="201168" cy="201168"/>
          </a:xfrm>
          <a:prstGeom prst="ellipse">
            <a:avLst/>
          </a:prstGeom>
          <a:solidFill>
            <a:srgbClr val="ED7D31"/>
          </a:solidFill>
          <a:ln/>
        </p:spPr>
      </p:sp>
      <p:sp>
        <p:nvSpPr>
          <p:cNvPr id="64" name="Text 61"/>
          <p:cNvSpPr txBox="1"/>
          <p:nvPr/>
        </p:nvSpPr>
        <p:spPr>
          <a:xfrm>
            <a:off x="10149840" y="3904488"/>
            <a:ext cx="1645920" cy="274320"/>
          </a:xfrm>
          <a:prstGeom prst="rect">
            <a:avLst/>
          </a:prstGeom>
          <a:noFill/>
          <a:ln/>
        </p:spPr>
        <p:txBody>
          <a:bodyPr wrap="square" lIns="0" tIns="0" rIns="0" bIns="0" rtlCol="0" anchor="ctr"/>
          <a:lstStyle/>
          <a:p>
            <a:pPr algn="ctr" indent="0" marL="0">
              <a:buNone/>
            </a:pPr>
            <a:r>
              <a:rPr lang="en-US" sz="1250" b="1" dirty="0">
                <a:solidFill>
                  <a:srgbClr val="1C2430"/>
                </a:solidFill>
                <a:latin typeface="Arial" pitchFamily="34" charset="0"/>
                <a:ea typeface="Yu Gothic"/>
                <a:cs typeface="Arial" pitchFamily="34" charset="-120"/>
              </a:rPr>
              <a:t>2030年</a:t>
            </a:r>
            <a:endParaRPr lang="en-US" sz="1250" dirty="0"/>
          </a:p>
        </p:txBody>
      </p:sp>
      <p:sp>
        <p:nvSpPr>
          <p:cNvPr id="65" name="Text 62"/>
          <p:cNvSpPr txBox="1"/>
          <p:nvPr/>
        </p:nvSpPr>
        <p:spPr>
          <a:xfrm>
            <a:off x="10195560" y="4507992"/>
            <a:ext cx="1554480" cy="566928"/>
          </a:xfrm>
          <a:prstGeom prst="rect">
            <a:avLst/>
          </a:prstGeom>
          <a:noFill/>
          <a:ln/>
        </p:spPr>
        <p:txBody>
          <a:bodyPr wrap="square" lIns="0" tIns="0" rIns="0" bIns="0" rtlCol="0" anchor="t"/>
          <a:lstStyle/>
          <a:p>
            <a:pPr algn="ctr" indent="0" marL="0">
              <a:buNone/>
            </a:pPr>
            <a:r>
              <a:rPr lang="en-US" sz="1200" dirty="0">
                <a:solidFill>
                  <a:srgbClr val="333D4A"/>
                </a:solidFill>
                <a:latin typeface="Arial" pitchFamily="34" charset="0"/>
                <a:ea typeface="Yu Gothic"/>
                <a:cs typeface="Arial" pitchFamily="34" charset="-120"/>
              </a:rPr>
              <a:t>TSMC</a:t>
            </a:r>
            <a:endParaRPr lang="en-US" sz="1200" dirty="0"/>
          </a:p>
          <a:p>
            <a:pPr algn="ctr" indent="0" marL="0">
              <a:buNone/>
            </a:pPr>
            <a:r>
              <a:rPr lang="en-US" sz="1200" dirty="0">
                <a:solidFill>
                  <a:srgbClr val="333D4A"/>
                </a:solidFill>
                <a:latin typeface="Arial" pitchFamily="34" charset="0"/>
                <a:ea typeface="Yu Gothic"/>
                <a:cs typeface="Arial" pitchFamily="34" charset="-120"/>
              </a:rPr>
              <a:t>Samsung</a:t>
            </a:r>
            <a:endParaRPr lang="en-US" sz="1200" dirty="0"/>
          </a:p>
        </p:txBody>
      </p:sp>
      <p:sp>
        <p:nvSpPr>
          <p:cNvPr id="66" name="Text 63"/>
          <p:cNvSpPr txBox="1"/>
          <p:nvPr/>
        </p:nvSpPr>
        <p:spPr>
          <a:xfrm>
            <a:off x="6355080" y="5303520"/>
            <a:ext cx="5303520" cy="640080"/>
          </a:xfrm>
          <a:prstGeom prst="rect">
            <a:avLst/>
          </a:prstGeom>
          <a:noFill/>
          <a:ln/>
        </p:spPr>
        <p:txBody>
          <a:bodyPr wrap="square" lIns="0" tIns="0" rIns="0" bIns="0" rtlCol="0" anchor="t"/>
          <a:lstStyle/>
          <a:p>
            <a:pPr indent="0" marL="0">
              <a:buNone/>
            </a:pPr>
            <a:r>
              <a:rPr lang="en-US" sz="1400" dirty="0">
                <a:solidFill>
                  <a:srgbClr val="333D4A"/>
                </a:solidFill>
                <a:latin typeface="Arial" pitchFamily="34" charset="0"/>
                <a:ea typeface="Yu Gothic"/>
                <a:cs typeface="Arial" pitchFamily="34" charset="-120"/>
              </a:rPr>
              <a:t>装置が高価なため、TSMCは2029年の世代まで従来のEUVを多重に使う。DRAM 2社＝Samsung・SK hynix。</a:t>
            </a:r>
            <a:endParaRPr lang="en-US" sz="1400" dirty="0"/>
          </a:p>
        </p:txBody>
      </p:sp>
      <p:sp>
        <p:nvSpPr>
          <p:cNvPr id="67" name="Text 64"/>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出典：Intel、TSMC（A16・A12）、ASML（High-NA）、TSMC・ASML共同発表（2026年9月）、Tom's Hardware（Samsung）、TrendForce</a:t>
            </a:r>
            <a:endParaRPr lang="en-US" sz="950" dirty="0"/>
          </a:p>
        </p:txBody>
      </p:sp>
      <p:sp>
        <p:nvSpPr>
          <p:cNvPr id="68" name="Text 65"/>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3C8D5A"/>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3C8D5A"/>
                </a:solidFill>
                <a:latin typeface="Arial" pitchFamily="34" charset="0"/>
                <a:ea typeface="Yu Gothic"/>
                <a:cs typeface="Arial" pitchFamily="34" charset="-120"/>
              </a:rPr>
              <a:t>DRAM</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DRAM：1ビット＝スイッチ＋電荷の器。器を保つことが微細化の壁</a:t>
            </a:r>
            <a:endParaRPr lang="en-US" sz="2400" dirty="0"/>
          </a:p>
        </p:txBody>
      </p:sp>
      <p:sp>
        <p:nvSpPr>
          <p:cNvPr id="6" name="Shape 3"/>
          <p:cNvSpPr/>
          <p:nvPr/>
        </p:nvSpPr>
        <p:spPr>
          <a:xfrm>
            <a:off x="822960" y="4800600"/>
            <a:ext cx="4480560" cy="777240"/>
          </a:xfrm>
          <a:prstGeom prst="rect">
            <a:avLst/>
          </a:prstGeom>
          <a:solidFill>
            <a:srgbClr val="AEB6C2"/>
          </a:solidFill>
          <a:ln w="9525">
            <a:solidFill>
              <a:srgbClr val="7D8896"/>
            </a:solidFill>
            <a:prstDash val="solid"/>
          </a:ln>
        </p:spPr>
      </p:sp>
      <p:sp>
        <p:nvSpPr>
          <p:cNvPr id="7" name="Text 4"/>
          <p:cNvSpPr txBox="1"/>
          <p:nvPr/>
        </p:nvSpPr>
        <p:spPr>
          <a:xfrm>
            <a:off x="2423160" y="5257800"/>
            <a:ext cx="1280160" cy="274320"/>
          </a:xfrm>
          <a:prstGeom prst="rect">
            <a:avLst/>
          </a:prstGeom>
          <a:noFill/>
          <a:ln/>
        </p:spPr>
        <p:txBody>
          <a:bodyPr wrap="square" lIns="0" tIns="0" rIns="0" bIns="0" rtlCol="0" anchor="ctr"/>
          <a:lstStyle/>
          <a:p>
            <a:pPr algn="ctr" indent="0" marL="0">
              <a:buNone/>
            </a:pPr>
            <a:r>
              <a:rPr lang="en-US" sz="1100" dirty="0">
                <a:solidFill>
                  <a:srgbClr val="3A4452"/>
                </a:solidFill>
                <a:latin typeface="Arial" pitchFamily="34" charset="0"/>
                <a:ea typeface="Yu Gothic"/>
                <a:cs typeface="Arial" pitchFamily="34" charset="-120"/>
              </a:rPr>
              <a:t>シリコン基板</a:t>
            </a:r>
            <a:endParaRPr lang="en-US" sz="1100" dirty="0"/>
          </a:p>
        </p:txBody>
      </p:sp>
      <p:sp>
        <p:nvSpPr>
          <p:cNvPr id="8" name="Shape 5"/>
          <p:cNvSpPr/>
          <p:nvPr/>
        </p:nvSpPr>
        <p:spPr>
          <a:xfrm>
            <a:off x="1965960" y="4873752"/>
            <a:ext cx="384048" cy="411480"/>
          </a:xfrm>
          <a:prstGeom prst="roundRect">
            <a:avLst>
              <a:gd name="adj" fmla="val 14286"/>
            </a:avLst>
          </a:prstGeom>
          <a:solidFill>
            <a:srgbClr val="F2B38A"/>
          </a:solidFill>
          <a:ln w="12700">
            <a:solidFill>
              <a:srgbClr val="C8683A"/>
            </a:solidFill>
            <a:prstDash val="solid"/>
          </a:ln>
        </p:spPr>
      </p:sp>
      <p:sp>
        <p:nvSpPr>
          <p:cNvPr id="9" name="Shape 6"/>
          <p:cNvSpPr/>
          <p:nvPr/>
        </p:nvSpPr>
        <p:spPr>
          <a:xfrm>
            <a:off x="3749040" y="4873752"/>
            <a:ext cx="384048" cy="411480"/>
          </a:xfrm>
          <a:prstGeom prst="roundRect">
            <a:avLst>
              <a:gd name="adj" fmla="val 14286"/>
            </a:avLst>
          </a:prstGeom>
          <a:solidFill>
            <a:srgbClr val="F2B38A"/>
          </a:solidFill>
          <a:ln w="12700">
            <a:solidFill>
              <a:srgbClr val="C8683A"/>
            </a:solidFill>
            <a:prstDash val="solid"/>
          </a:ln>
        </p:spPr>
      </p:sp>
      <p:sp>
        <p:nvSpPr>
          <p:cNvPr id="10" name="Shape 7"/>
          <p:cNvSpPr/>
          <p:nvPr/>
        </p:nvSpPr>
        <p:spPr>
          <a:xfrm>
            <a:off x="3008376" y="4233672"/>
            <a:ext cx="109728" cy="566928"/>
          </a:xfrm>
          <a:prstGeom prst="rect">
            <a:avLst/>
          </a:prstGeom>
          <a:solidFill>
            <a:srgbClr val="56607A"/>
          </a:solidFill>
          <a:ln/>
        </p:spPr>
      </p:sp>
      <p:sp>
        <p:nvSpPr>
          <p:cNvPr id="11" name="Shape 8"/>
          <p:cNvSpPr/>
          <p:nvPr/>
        </p:nvSpPr>
        <p:spPr>
          <a:xfrm>
            <a:off x="2560320" y="4069080"/>
            <a:ext cx="1005840" cy="164592"/>
          </a:xfrm>
          <a:prstGeom prst="rect">
            <a:avLst/>
          </a:prstGeom>
          <a:solidFill>
            <a:srgbClr val="6F9BD1"/>
          </a:solidFill>
          <a:ln w="9525">
            <a:solidFill>
              <a:srgbClr val="2F5597"/>
            </a:solidFill>
            <a:prstDash val="solid"/>
          </a:ln>
        </p:spPr>
      </p:sp>
      <p:sp>
        <p:nvSpPr>
          <p:cNvPr id="12" name="Shape 9"/>
          <p:cNvSpPr/>
          <p:nvPr/>
        </p:nvSpPr>
        <p:spPr>
          <a:xfrm>
            <a:off x="1417320" y="4572000"/>
            <a:ext cx="109728" cy="228600"/>
          </a:xfrm>
          <a:prstGeom prst="rect">
            <a:avLst/>
          </a:prstGeom>
          <a:solidFill>
            <a:srgbClr val="56607A"/>
          </a:solidFill>
          <a:ln/>
        </p:spPr>
      </p:sp>
      <p:sp>
        <p:nvSpPr>
          <p:cNvPr id="13" name="Shape 10"/>
          <p:cNvSpPr/>
          <p:nvPr/>
        </p:nvSpPr>
        <p:spPr>
          <a:xfrm>
            <a:off x="1325880" y="1828800"/>
            <a:ext cx="292608" cy="2743200"/>
          </a:xfrm>
          <a:prstGeom prst="roundRect">
            <a:avLst>
              <a:gd name="adj" fmla="val 12500"/>
            </a:avLst>
          </a:prstGeom>
          <a:solidFill>
            <a:srgbClr val="F6D39B"/>
          </a:solidFill>
          <a:ln w="12700">
            <a:solidFill>
              <a:srgbClr val="C98A1B"/>
            </a:solidFill>
            <a:prstDash val="solid"/>
          </a:ln>
        </p:spPr>
      </p:sp>
      <p:sp>
        <p:nvSpPr>
          <p:cNvPr id="14" name="Shape 11"/>
          <p:cNvSpPr/>
          <p:nvPr/>
        </p:nvSpPr>
        <p:spPr>
          <a:xfrm>
            <a:off x="1413662" y="1901952"/>
            <a:ext cx="117043" cy="2633472"/>
          </a:xfrm>
          <a:prstGeom prst="rect">
            <a:avLst/>
          </a:prstGeom>
          <a:solidFill>
            <a:srgbClr val="FBE7C6"/>
          </a:solidFill>
          <a:ln/>
        </p:spPr>
      </p:sp>
      <p:sp>
        <p:nvSpPr>
          <p:cNvPr id="15" name="Shape 12"/>
          <p:cNvSpPr/>
          <p:nvPr/>
        </p:nvSpPr>
        <p:spPr>
          <a:xfrm>
            <a:off x="4572000" y="4572000"/>
            <a:ext cx="109728" cy="228600"/>
          </a:xfrm>
          <a:prstGeom prst="rect">
            <a:avLst/>
          </a:prstGeom>
          <a:solidFill>
            <a:srgbClr val="56607A"/>
          </a:solidFill>
          <a:ln/>
        </p:spPr>
      </p:sp>
      <p:sp>
        <p:nvSpPr>
          <p:cNvPr id="16" name="Shape 13"/>
          <p:cNvSpPr/>
          <p:nvPr/>
        </p:nvSpPr>
        <p:spPr>
          <a:xfrm>
            <a:off x="4480560" y="1828800"/>
            <a:ext cx="292608" cy="2743200"/>
          </a:xfrm>
          <a:prstGeom prst="roundRect">
            <a:avLst>
              <a:gd name="adj" fmla="val 12500"/>
            </a:avLst>
          </a:prstGeom>
          <a:solidFill>
            <a:srgbClr val="F6D39B"/>
          </a:solidFill>
          <a:ln w="12700">
            <a:solidFill>
              <a:srgbClr val="C98A1B"/>
            </a:solidFill>
            <a:prstDash val="solid"/>
          </a:ln>
        </p:spPr>
      </p:sp>
      <p:sp>
        <p:nvSpPr>
          <p:cNvPr id="17" name="Shape 14"/>
          <p:cNvSpPr/>
          <p:nvPr/>
        </p:nvSpPr>
        <p:spPr>
          <a:xfrm>
            <a:off x="4568342" y="1901952"/>
            <a:ext cx="117043" cy="2633472"/>
          </a:xfrm>
          <a:prstGeom prst="rect">
            <a:avLst/>
          </a:prstGeom>
          <a:solidFill>
            <a:srgbClr val="FBE7C6"/>
          </a:solidFill>
          <a:ln/>
        </p:spPr>
      </p:sp>
      <p:sp>
        <p:nvSpPr>
          <p:cNvPr id="18" name="Shape 15"/>
          <p:cNvSpPr/>
          <p:nvPr/>
        </p:nvSpPr>
        <p:spPr>
          <a:xfrm>
            <a:off x="1618488" y="2331720"/>
            <a:ext cx="274320" cy="0"/>
          </a:xfrm>
          <a:prstGeom prst="line">
            <a:avLst/>
          </a:prstGeom>
          <a:noFill/>
          <a:ln w="12700">
            <a:solidFill>
              <a:srgbClr val="8C96A3"/>
            </a:solidFill>
            <a:prstDash val="solid"/>
          </a:ln>
        </p:spPr>
      </p:sp>
      <p:sp>
        <p:nvSpPr>
          <p:cNvPr id="19" name="Text 16"/>
          <p:cNvSpPr txBox="1"/>
          <p:nvPr/>
        </p:nvSpPr>
        <p:spPr>
          <a:xfrm>
            <a:off x="1938528" y="2185416"/>
            <a:ext cx="2377440" cy="292608"/>
          </a:xfrm>
          <a:prstGeom prst="rect">
            <a:avLst/>
          </a:prstGeom>
          <a:noFill/>
          <a:ln/>
        </p:spPr>
        <p:txBody>
          <a:bodyPr wrap="square" lIns="0" tIns="0" rIns="0" bIns="0" rtlCol="0" anchor="ctr"/>
          <a:lstStyle/>
          <a:p>
            <a:pPr indent="0" marL="0">
              <a:buNone/>
            </a:pPr>
            <a:r>
              <a:rPr lang="en-US" sz="1250" b="1" dirty="0">
                <a:solidFill>
                  <a:srgbClr val="1C2430"/>
                </a:solidFill>
                <a:latin typeface="Arial" pitchFamily="34" charset="0"/>
                <a:ea typeface="Yu Gothic"/>
                <a:cs typeface="Arial" pitchFamily="34" charset="-120"/>
              </a:rPr>
              <a:t>キャパシタ（電荷の器）</a:t>
            </a:r>
            <a:endParaRPr lang="en-US" sz="1250" dirty="0"/>
          </a:p>
        </p:txBody>
      </p:sp>
      <p:sp>
        <p:nvSpPr>
          <p:cNvPr id="20" name="Text 17"/>
          <p:cNvSpPr txBox="1"/>
          <p:nvPr/>
        </p:nvSpPr>
        <p:spPr>
          <a:xfrm>
            <a:off x="1874520" y="3703320"/>
            <a:ext cx="2377440" cy="292608"/>
          </a:xfrm>
          <a:prstGeom prst="rect">
            <a:avLst/>
          </a:prstGeom>
          <a:noFill/>
          <a:ln/>
        </p:spPr>
        <p:txBody>
          <a:bodyPr wrap="square" lIns="0" tIns="0" rIns="0" bIns="0" rtlCol="0" anchor="ctr"/>
          <a:lstStyle/>
          <a:p>
            <a:pPr algn="ctr" indent="0" marL="0">
              <a:buNone/>
            </a:pPr>
            <a:r>
              <a:rPr lang="en-US" sz="1250" b="1" dirty="0">
                <a:solidFill>
                  <a:srgbClr val="1C2430"/>
                </a:solidFill>
                <a:latin typeface="Arial" pitchFamily="34" charset="0"/>
                <a:ea typeface="Yu Gothic"/>
                <a:cs typeface="Arial" pitchFamily="34" charset="-120"/>
              </a:rPr>
              <a:t>ビット線（読み出す線）</a:t>
            </a:r>
            <a:endParaRPr lang="en-US" sz="1250" dirty="0"/>
          </a:p>
        </p:txBody>
      </p:sp>
      <p:sp>
        <p:nvSpPr>
          <p:cNvPr id="21" name="Shape 18"/>
          <p:cNvSpPr/>
          <p:nvPr/>
        </p:nvSpPr>
        <p:spPr>
          <a:xfrm>
            <a:off x="2157984" y="5285232"/>
            <a:ext cx="0" cy="429768"/>
          </a:xfrm>
          <a:prstGeom prst="line">
            <a:avLst/>
          </a:prstGeom>
          <a:noFill/>
          <a:ln w="12700">
            <a:solidFill>
              <a:srgbClr val="8C96A3"/>
            </a:solidFill>
            <a:prstDash val="solid"/>
          </a:ln>
        </p:spPr>
      </p:sp>
      <p:sp>
        <p:nvSpPr>
          <p:cNvPr id="22" name="Shape 19"/>
          <p:cNvSpPr/>
          <p:nvPr/>
        </p:nvSpPr>
        <p:spPr>
          <a:xfrm>
            <a:off x="3941064" y="5285232"/>
            <a:ext cx="0" cy="429768"/>
          </a:xfrm>
          <a:prstGeom prst="line">
            <a:avLst/>
          </a:prstGeom>
          <a:noFill/>
          <a:ln w="12700">
            <a:solidFill>
              <a:srgbClr val="8C96A3"/>
            </a:solidFill>
            <a:prstDash val="solid"/>
          </a:ln>
        </p:spPr>
      </p:sp>
      <p:sp>
        <p:nvSpPr>
          <p:cNvPr id="23" name="Text 20"/>
          <p:cNvSpPr txBox="1"/>
          <p:nvPr/>
        </p:nvSpPr>
        <p:spPr>
          <a:xfrm>
            <a:off x="1645920" y="5696712"/>
            <a:ext cx="2834640" cy="292608"/>
          </a:xfrm>
          <a:prstGeom prst="rect">
            <a:avLst/>
          </a:prstGeom>
          <a:noFill/>
          <a:ln/>
        </p:spPr>
        <p:txBody>
          <a:bodyPr wrap="square" lIns="0" tIns="0" rIns="0" bIns="0" rtlCol="0" anchor="ctr"/>
          <a:lstStyle/>
          <a:p>
            <a:pPr algn="ctr" indent="0" marL="0">
              <a:buNone/>
            </a:pPr>
            <a:r>
              <a:rPr lang="en-US" sz="1250" b="1" dirty="0">
                <a:solidFill>
                  <a:srgbClr val="1C2430"/>
                </a:solidFill>
                <a:latin typeface="Arial" pitchFamily="34" charset="0"/>
                <a:ea typeface="Yu Gothic"/>
                <a:cs typeface="Arial" pitchFamily="34" charset="-120"/>
              </a:rPr>
              <a:t>埋め込みワード線（スイッチ）</a:t>
            </a:r>
            <a:endParaRPr lang="en-US" sz="1250" dirty="0"/>
          </a:p>
        </p:txBody>
      </p:sp>
      <p:sp>
        <p:nvSpPr>
          <p:cNvPr id="24" name="Shape 21"/>
          <p:cNvSpPr/>
          <p:nvPr/>
        </p:nvSpPr>
        <p:spPr>
          <a:xfrm>
            <a:off x="4983480" y="1828800"/>
            <a:ext cx="0" cy="2743200"/>
          </a:xfrm>
          <a:prstGeom prst="line">
            <a:avLst/>
          </a:prstGeom>
          <a:noFill/>
          <a:ln w="12700">
            <a:solidFill>
              <a:srgbClr val="1C2430"/>
            </a:solidFill>
            <a:prstDash val="solid"/>
            <a:headEnd type="triangle"/>
            <a:tailEnd type="triangle"/>
          </a:ln>
        </p:spPr>
      </p:sp>
      <p:sp>
        <p:nvSpPr>
          <p:cNvPr id="25" name="Text 22"/>
          <p:cNvSpPr txBox="1"/>
          <p:nvPr/>
        </p:nvSpPr>
        <p:spPr>
          <a:xfrm>
            <a:off x="5074920" y="2880360"/>
            <a:ext cx="914400" cy="640080"/>
          </a:xfrm>
          <a:prstGeom prst="rect">
            <a:avLst/>
          </a:prstGeom>
          <a:noFill/>
          <a:ln/>
        </p:spPr>
        <p:txBody>
          <a:bodyPr wrap="square" lIns="0" tIns="0" rIns="0" bIns="0" rtlCol="0" anchor="ctr"/>
          <a:lstStyle/>
          <a:p>
            <a:pPr indent="0" marL="0">
              <a:buNone/>
            </a:pPr>
            <a:r>
              <a:rPr lang="en-US" sz="1250" b="1" dirty="0">
                <a:solidFill>
                  <a:srgbClr val="ED7D31"/>
                </a:solidFill>
                <a:latin typeface="Arial" pitchFamily="34" charset="0"/>
                <a:ea typeface="Yu Gothic"/>
                <a:cs typeface="Arial" pitchFamily="34" charset="-120"/>
              </a:rPr>
              <a:t>高さ：幅</a:t>
            </a:r>
            <a:endParaRPr lang="en-US" sz="1250" dirty="0"/>
          </a:p>
          <a:p>
            <a:pPr indent="0" marL="0">
              <a:buNone/>
            </a:pPr>
            <a:r>
              <a:rPr lang="en-US" sz="1250" b="1" dirty="0">
                <a:solidFill>
                  <a:srgbClr val="ED7D31"/>
                </a:solidFill>
                <a:latin typeface="Arial" pitchFamily="34" charset="0"/>
                <a:ea typeface="Yu Gothic"/>
                <a:cs typeface="Arial" pitchFamily="34" charset="-120"/>
              </a:rPr>
              <a:t>≈ 50：1</a:t>
            </a:r>
            <a:endParaRPr lang="en-US" sz="1250" dirty="0"/>
          </a:p>
        </p:txBody>
      </p:sp>
      <p:sp>
        <p:nvSpPr>
          <p:cNvPr id="26" name="Shape 23"/>
          <p:cNvSpPr/>
          <p:nvPr/>
        </p:nvSpPr>
        <p:spPr>
          <a:xfrm>
            <a:off x="6400800" y="1828800"/>
            <a:ext cx="384048" cy="384048"/>
          </a:xfrm>
          <a:prstGeom prst="ellipse">
            <a:avLst/>
          </a:prstGeom>
          <a:solidFill>
            <a:srgbClr val="3C8D5A"/>
          </a:solidFill>
          <a:ln/>
        </p:spPr>
      </p:sp>
      <p:sp>
        <p:nvSpPr>
          <p:cNvPr id="27" name="Text 24"/>
          <p:cNvSpPr txBox="1"/>
          <p:nvPr/>
        </p:nvSpPr>
        <p:spPr>
          <a:xfrm>
            <a:off x="6400800"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Yu Gothic"/>
                <a:cs typeface="Arial" pitchFamily="34" charset="-120"/>
              </a:rPr>
              <a:t>1</a:t>
            </a:r>
            <a:endParaRPr lang="en-US" sz="1500" dirty="0"/>
          </a:p>
        </p:txBody>
      </p:sp>
      <p:sp>
        <p:nvSpPr>
          <p:cNvPr id="28" name="Text 25"/>
          <p:cNvSpPr txBox="1"/>
          <p:nvPr/>
        </p:nvSpPr>
        <p:spPr>
          <a:xfrm>
            <a:off x="6949440" y="1783080"/>
            <a:ext cx="4663440" cy="45720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器（キャパシタ）</a:t>
            </a:r>
            <a:endParaRPr lang="en-US" sz="1700" dirty="0"/>
          </a:p>
        </p:txBody>
      </p:sp>
      <p:sp>
        <p:nvSpPr>
          <p:cNvPr id="29" name="Text 26"/>
          <p:cNvSpPr txBox="1"/>
          <p:nvPr/>
        </p:nvSpPr>
        <p:spPr>
          <a:xfrm>
            <a:off x="6949440" y="2286000"/>
            <a:ext cx="4663440" cy="822960"/>
          </a:xfrm>
          <a:prstGeom prst="rect">
            <a:avLst/>
          </a:prstGeom>
          <a:noFill/>
          <a:ln/>
        </p:spPr>
        <p:txBody>
          <a:bodyPr wrap="square" lIns="0" tIns="0" rIns="0" bIns="0" rtlCol="0" anchor="t"/>
          <a:lstStyle/>
          <a:p>
            <a:pPr indent="0" marL="0">
              <a:buNone/>
            </a:pPr>
            <a:r>
              <a:rPr lang="en-US" sz="1450" dirty="0">
                <a:solidFill>
                  <a:srgbClr val="333D4A"/>
                </a:solidFill>
                <a:latin typeface="Arial" pitchFamily="34" charset="0"/>
                <a:ea typeface="Yu Gothic"/>
                <a:cs typeface="Arial" pitchFamily="34" charset="-120"/>
              </a:rPr>
              <a:t>面積が減っても容量を保つため、細く高くしてきた。高さと幅の比は約50：1が限界に近い。</a:t>
            </a:r>
            <a:endParaRPr lang="en-US" sz="1450" dirty="0"/>
          </a:p>
        </p:txBody>
      </p:sp>
      <p:sp>
        <p:nvSpPr>
          <p:cNvPr id="30" name="Shape 27"/>
          <p:cNvSpPr/>
          <p:nvPr/>
        </p:nvSpPr>
        <p:spPr>
          <a:xfrm>
            <a:off x="6400800" y="3246120"/>
            <a:ext cx="384048" cy="384048"/>
          </a:xfrm>
          <a:prstGeom prst="ellipse">
            <a:avLst/>
          </a:prstGeom>
          <a:solidFill>
            <a:srgbClr val="3C8D5A"/>
          </a:solidFill>
          <a:ln/>
        </p:spPr>
      </p:sp>
      <p:sp>
        <p:nvSpPr>
          <p:cNvPr id="31" name="Text 28"/>
          <p:cNvSpPr txBox="1"/>
          <p:nvPr/>
        </p:nvSpPr>
        <p:spPr>
          <a:xfrm>
            <a:off x="6400800" y="32461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Yu Gothic"/>
                <a:cs typeface="Arial" pitchFamily="34" charset="-120"/>
              </a:rPr>
              <a:t>2</a:t>
            </a:r>
            <a:endParaRPr lang="en-US" sz="1500" dirty="0"/>
          </a:p>
        </p:txBody>
      </p:sp>
      <p:sp>
        <p:nvSpPr>
          <p:cNvPr id="32" name="Text 29"/>
          <p:cNvSpPr txBox="1"/>
          <p:nvPr/>
        </p:nvSpPr>
        <p:spPr>
          <a:xfrm>
            <a:off x="6949440" y="3200400"/>
            <a:ext cx="4663440" cy="45720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スイッチ（トランジスタ）</a:t>
            </a:r>
            <a:endParaRPr lang="en-US" sz="1700" dirty="0"/>
          </a:p>
        </p:txBody>
      </p:sp>
      <p:sp>
        <p:nvSpPr>
          <p:cNvPr id="33" name="Text 30"/>
          <p:cNvSpPr txBox="1"/>
          <p:nvPr/>
        </p:nvSpPr>
        <p:spPr>
          <a:xfrm>
            <a:off x="6949440" y="3703320"/>
            <a:ext cx="4663440" cy="822960"/>
          </a:xfrm>
          <a:prstGeom prst="rect">
            <a:avLst/>
          </a:prstGeom>
          <a:noFill/>
          <a:ln/>
        </p:spPr>
        <p:txBody>
          <a:bodyPr wrap="square" lIns="0" tIns="0" rIns="0" bIns="0" rtlCol="0" anchor="t"/>
          <a:lstStyle/>
          <a:p>
            <a:pPr indent="0" marL="0">
              <a:buNone/>
            </a:pPr>
            <a:r>
              <a:rPr lang="en-US" sz="1450" dirty="0">
                <a:solidFill>
                  <a:srgbClr val="333D4A"/>
                </a:solidFill>
                <a:latin typeface="Arial" pitchFamily="34" charset="0"/>
                <a:ea typeface="Yu Gothic"/>
                <a:cs typeface="Arial" pitchFamily="34" charset="-120"/>
              </a:rPr>
              <a:t>電荷が漏れないよう、ゲートを基板に埋め込んだ（BCAT・埋め込みワード線、2008年〜）。</a:t>
            </a:r>
            <a:endParaRPr lang="en-US" sz="1450" dirty="0"/>
          </a:p>
        </p:txBody>
      </p:sp>
      <p:sp>
        <p:nvSpPr>
          <p:cNvPr id="34" name="Shape 31"/>
          <p:cNvSpPr/>
          <p:nvPr/>
        </p:nvSpPr>
        <p:spPr>
          <a:xfrm>
            <a:off x="6400800" y="4663440"/>
            <a:ext cx="384048" cy="384048"/>
          </a:xfrm>
          <a:prstGeom prst="ellipse">
            <a:avLst/>
          </a:prstGeom>
          <a:solidFill>
            <a:srgbClr val="3C8D5A"/>
          </a:solidFill>
          <a:ln/>
        </p:spPr>
      </p:sp>
      <p:sp>
        <p:nvSpPr>
          <p:cNvPr id="35" name="Text 32"/>
          <p:cNvSpPr txBox="1"/>
          <p:nvPr/>
        </p:nvSpPr>
        <p:spPr>
          <a:xfrm>
            <a:off x="6400800" y="46634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Yu Gothic"/>
                <a:cs typeface="Arial" pitchFamily="34" charset="-120"/>
              </a:rPr>
              <a:t>3</a:t>
            </a:r>
            <a:endParaRPr lang="en-US" sz="1500" dirty="0"/>
          </a:p>
        </p:txBody>
      </p:sp>
      <p:sp>
        <p:nvSpPr>
          <p:cNvPr id="36" name="Text 33"/>
          <p:cNvSpPr txBox="1"/>
          <p:nvPr/>
        </p:nvSpPr>
        <p:spPr>
          <a:xfrm>
            <a:off x="6949440" y="4617720"/>
            <a:ext cx="4663440" cy="45720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この構造の寿命</a:t>
            </a:r>
            <a:endParaRPr lang="en-US" sz="1700" dirty="0"/>
          </a:p>
        </p:txBody>
      </p:sp>
      <p:sp>
        <p:nvSpPr>
          <p:cNvPr id="37" name="Text 34"/>
          <p:cNvSpPr txBox="1"/>
          <p:nvPr/>
        </p:nvSpPr>
        <p:spPr>
          <a:xfrm>
            <a:off x="6949440" y="5120640"/>
            <a:ext cx="4663440" cy="822960"/>
          </a:xfrm>
          <a:prstGeom prst="rect">
            <a:avLst/>
          </a:prstGeom>
          <a:noFill/>
          <a:ln/>
        </p:spPr>
        <p:txBody>
          <a:bodyPr wrap="square" lIns="0" tIns="0" rIns="0" bIns="0" rtlCol="0" anchor="t"/>
          <a:lstStyle/>
          <a:p>
            <a:pPr indent="0" marL="0">
              <a:buNone/>
            </a:pPr>
            <a:r>
              <a:rPr lang="en-US" sz="1450" dirty="0">
                <a:solidFill>
                  <a:srgbClr val="333D4A"/>
                </a:solidFill>
                <a:latin typeface="Arial" pitchFamily="34" charset="0"/>
                <a:ea typeface="Yu Gothic"/>
                <a:cs typeface="Arial" pitchFamily="34" charset="-120"/>
              </a:rPr>
              <a:t>今の6F²セルは1d（2027〜28年）までとされ、10nm未満から作り方が変わる。</a:t>
            </a:r>
            <a:endParaRPr lang="en-US" sz="1450" dirty="0"/>
          </a:p>
        </p:txBody>
      </p:sp>
      <p:sp>
        <p:nvSpPr>
          <p:cNvPr id="38" name="Text 3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出典：TechInsights、SemiAnalysis（VLSI 2025）、Eugenus、EE Times（埋め込みワード線とZAZ）</a:t>
            </a:r>
            <a:endParaRPr lang="en-US" sz="950" dirty="0"/>
          </a:p>
        </p:txBody>
      </p:sp>
      <p:sp>
        <p:nvSpPr>
          <p:cNvPr id="39" name="Text 36"/>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3C8D5A"/>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3C8D5A"/>
                </a:solidFill>
                <a:latin typeface="Arial" pitchFamily="34" charset="0"/>
                <a:ea typeface="Yu Gothic"/>
                <a:cs typeface="Arial" pitchFamily="34" charset="-120"/>
              </a:rPr>
              <a:t>DRAM</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DRAM：セルは6F² → 4F²（縦型）→ 3Dへ。面積は2/3、その次は積層</a:t>
            </a:r>
            <a:endParaRPr lang="en-US" sz="2400" dirty="0"/>
          </a:p>
        </p:txBody>
      </p:sp>
      <p:sp>
        <p:nvSpPr>
          <p:cNvPr id="6" name="Text 3"/>
          <p:cNvSpPr txBox="1"/>
          <p:nvPr/>
        </p:nvSpPr>
        <p:spPr>
          <a:xfrm>
            <a:off x="548640" y="1783080"/>
            <a:ext cx="3520440" cy="36576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6F²（今の構造）</a:t>
            </a:r>
            <a:endParaRPr lang="en-US" sz="1700" dirty="0"/>
          </a:p>
        </p:txBody>
      </p:sp>
      <p:sp>
        <p:nvSpPr>
          <p:cNvPr id="7" name="Shape 4"/>
          <p:cNvSpPr/>
          <p:nvPr/>
        </p:nvSpPr>
        <p:spPr>
          <a:xfrm>
            <a:off x="2560320" y="2286000"/>
            <a:ext cx="219456" cy="219456"/>
          </a:xfrm>
          <a:prstGeom prst="rect">
            <a:avLst/>
          </a:prstGeom>
          <a:solidFill>
            <a:srgbClr val="D9EBDF"/>
          </a:solidFill>
          <a:ln w="9525">
            <a:solidFill>
              <a:srgbClr val="8FBFA0"/>
            </a:solidFill>
            <a:prstDash val="solid"/>
          </a:ln>
        </p:spPr>
      </p:sp>
      <p:sp>
        <p:nvSpPr>
          <p:cNvPr id="8" name="Shape 5"/>
          <p:cNvSpPr/>
          <p:nvPr/>
        </p:nvSpPr>
        <p:spPr>
          <a:xfrm>
            <a:off x="2560320" y="2505456"/>
            <a:ext cx="219456" cy="219456"/>
          </a:xfrm>
          <a:prstGeom prst="rect">
            <a:avLst/>
          </a:prstGeom>
          <a:solidFill>
            <a:srgbClr val="D9EBDF"/>
          </a:solidFill>
          <a:ln w="9525">
            <a:solidFill>
              <a:srgbClr val="8FBFA0"/>
            </a:solidFill>
            <a:prstDash val="solid"/>
          </a:ln>
        </p:spPr>
      </p:sp>
      <p:sp>
        <p:nvSpPr>
          <p:cNvPr id="9" name="Shape 6"/>
          <p:cNvSpPr/>
          <p:nvPr/>
        </p:nvSpPr>
        <p:spPr>
          <a:xfrm>
            <a:off x="2779776" y="2286000"/>
            <a:ext cx="219456" cy="219456"/>
          </a:xfrm>
          <a:prstGeom prst="rect">
            <a:avLst/>
          </a:prstGeom>
          <a:solidFill>
            <a:srgbClr val="D9EBDF"/>
          </a:solidFill>
          <a:ln w="9525">
            <a:solidFill>
              <a:srgbClr val="8FBFA0"/>
            </a:solidFill>
            <a:prstDash val="solid"/>
          </a:ln>
        </p:spPr>
      </p:sp>
      <p:sp>
        <p:nvSpPr>
          <p:cNvPr id="10" name="Shape 7"/>
          <p:cNvSpPr/>
          <p:nvPr/>
        </p:nvSpPr>
        <p:spPr>
          <a:xfrm>
            <a:off x="2779776" y="2505456"/>
            <a:ext cx="219456" cy="219456"/>
          </a:xfrm>
          <a:prstGeom prst="rect">
            <a:avLst/>
          </a:prstGeom>
          <a:solidFill>
            <a:srgbClr val="D9EBDF"/>
          </a:solidFill>
          <a:ln w="9525">
            <a:solidFill>
              <a:srgbClr val="8FBFA0"/>
            </a:solidFill>
            <a:prstDash val="solid"/>
          </a:ln>
        </p:spPr>
      </p:sp>
      <p:sp>
        <p:nvSpPr>
          <p:cNvPr id="11" name="Shape 8"/>
          <p:cNvSpPr/>
          <p:nvPr/>
        </p:nvSpPr>
        <p:spPr>
          <a:xfrm>
            <a:off x="2999232" y="2286000"/>
            <a:ext cx="219456" cy="219456"/>
          </a:xfrm>
          <a:prstGeom prst="rect">
            <a:avLst/>
          </a:prstGeom>
          <a:solidFill>
            <a:srgbClr val="D9EBDF"/>
          </a:solidFill>
          <a:ln w="9525">
            <a:solidFill>
              <a:srgbClr val="8FBFA0"/>
            </a:solidFill>
            <a:prstDash val="solid"/>
          </a:ln>
        </p:spPr>
      </p:sp>
      <p:sp>
        <p:nvSpPr>
          <p:cNvPr id="12" name="Shape 9"/>
          <p:cNvSpPr/>
          <p:nvPr/>
        </p:nvSpPr>
        <p:spPr>
          <a:xfrm>
            <a:off x="2999232" y="2505456"/>
            <a:ext cx="219456" cy="219456"/>
          </a:xfrm>
          <a:prstGeom prst="rect">
            <a:avLst/>
          </a:prstGeom>
          <a:solidFill>
            <a:srgbClr val="D9EBDF"/>
          </a:solidFill>
          <a:ln w="9525">
            <a:solidFill>
              <a:srgbClr val="8FBFA0"/>
            </a:solidFill>
            <a:prstDash val="solid"/>
          </a:ln>
        </p:spPr>
      </p:sp>
      <p:sp>
        <p:nvSpPr>
          <p:cNvPr id="13" name="Text 10"/>
          <p:cNvSpPr txBox="1"/>
          <p:nvPr/>
        </p:nvSpPr>
        <p:spPr>
          <a:xfrm>
            <a:off x="3310128" y="2286000"/>
            <a:ext cx="1280160" cy="438912"/>
          </a:xfrm>
          <a:prstGeom prst="rect">
            <a:avLst/>
          </a:prstGeom>
          <a:noFill/>
          <a:ln/>
        </p:spPr>
        <p:txBody>
          <a:bodyPr wrap="square" lIns="0" tIns="0" rIns="0" bIns="0" rtlCol="0" anchor="ctr"/>
          <a:lstStyle/>
          <a:p>
            <a:pPr indent="0" marL="0">
              <a:buNone/>
            </a:pPr>
            <a:r>
              <a:rPr lang="en-US" sz="1200" b="1" dirty="0">
                <a:solidFill>
                  <a:srgbClr val="3C8D5A"/>
                </a:solidFill>
                <a:latin typeface="Arial" pitchFamily="34" charset="0"/>
                <a:ea typeface="Yu Gothic"/>
                <a:cs typeface="Arial" pitchFamily="34" charset="-120"/>
              </a:rPr>
              <a:t>3F×2F</a:t>
            </a:r>
            <a:endParaRPr lang="en-US" sz="1200" dirty="0"/>
          </a:p>
        </p:txBody>
      </p:sp>
      <p:sp>
        <p:nvSpPr>
          <p:cNvPr id="14" name="Shape 11"/>
          <p:cNvSpPr/>
          <p:nvPr/>
        </p:nvSpPr>
        <p:spPr>
          <a:xfrm>
            <a:off x="731520" y="4160520"/>
            <a:ext cx="2011680" cy="502920"/>
          </a:xfrm>
          <a:prstGeom prst="rect">
            <a:avLst/>
          </a:prstGeom>
          <a:solidFill>
            <a:srgbClr val="AEB6C2"/>
          </a:solidFill>
          <a:ln w="9525">
            <a:solidFill>
              <a:srgbClr val="7D8896"/>
            </a:solidFill>
            <a:prstDash val="solid"/>
          </a:ln>
        </p:spPr>
      </p:sp>
      <p:sp>
        <p:nvSpPr>
          <p:cNvPr id="15" name="Shape 12"/>
          <p:cNvSpPr/>
          <p:nvPr/>
        </p:nvSpPr>
        <p:spPr>
          <a:xfrm>
            <a:off x="1371600" y="4224528"/>
            <a:ext cx="329184" cy="329184"/>
          </a:xfrm>
          <a:prstGeom prst="roundRect">
            <a:avLst>
              <a:gd name="adj" fmla="val 13889"/>
            </a:avLst>
          </a:prstGeom>
          <a:solidFill>
            <a:srgbClr val="F2B38A"/>
          </a:solidFill>
          <a:ln w="12700">
            <a:solidFill>
              <a:srgbClr val="C8683A"/>
            </a:solidFill>
            <a:prstDash val="solid"/>
          </a:ln>
        </p:spPr>
      </p:sp>
      <p:sp>
        <p:nvSpPr>
          <p:cNvPr id="16" name="Shape 13"/>
          <p:cNvSpPr/>
          <p:nvPr/>
        </p:nvSpPr>
        <p:spPr>
          <a:xfrm>
            <a:off x="1874520" y="3749040"/>
            <a:ext cx="91440" cy="411480"/>
          </a:xfrm>
          <a:prstGeom prst="rect">
            <a:avLst/>
          </a:prstGeom>
          <a:solidFill>
            <a:srgbClr val="56607A"/>
          </a:solidFill>
          <a:ln/>
        </p:spPr>
      </p:sp>
      <p:sp>
        <p:nvSpPr>
          <p:cNvPr id="17" name="Shape 14"/>
          <p:cNvSpPr/>
          <p:nvPr/>
        </p:nvSpPr>
        <p:spPr>
          <a:xfrm>
            <a:off x="1691640" y="3611880"/>
            <a:ext cx="548640" cy="137160"/>
          </a:xfrm>
          <a:prstGeom prst="rect">
            <a:avLst/>
          </a:prstGeom>
          <a:solidFill>
            <a:srgbClr val="6F9BD1"/>
          </a:solidFill>
          <a:ln w="9525">
            <a:solidFill>
              <a:srgbClr val="2F5597"/>
            </a:solidFill>
            <a:prstDash val="solid"/>
          </a:ln>
        </p:spPr>
      </p:sp>
      <p:sp>
        <p:nvSpPr>
          <p:cNvPr id="18" name="Shape 15"/>
          <p:cNvSpPr/>
          <p:nvPr/>
        </p:nvSpPr>
        <p:spPr>
          <a:xfrm>
            <a:off x="1005840" y="3977640"/>
            <a:ext cx="91440" cy="182880"/>
          </a:xfrm>
          <a:prstGeom prst="rect">
            <a:avLst/>
          </a:prstGeom>
          <a:solidFill>
            <a:srgbClr val="56607A"/>
          </a:solidFill>
          <a:ln/>
        </p:spPr>
      </p:sp>
      <p:sp>
        <p:nvSpPr>
          <p:cNvPr id="19" name="Shape 16"/>
          <p:cNvSpPr/>
          <p:nvPr/>
        </p:nvSpPr>
        <p:spPr>
          <a:xfrm>
            <a:off x="905256" y="2148840"/>
            <a:ext cx="274320" cy="1828800"/>
          </a:xfrm>
          <a:prstGeom prst="roundRect">
            <a:avLst>
              <a:gd name="adj" fmla="val 13333"/>
            </a:avLst>
          </a:prstGeom>
          <a:solidFill>
            <a:srgbClr val="F6D39B"/>
          </a:solidFill>
          <a:ln w="12700">
            <a:solidFill>
              <a:srgbClr val="C98A1B"/>
            </a:solidFill>
            <a:prstDash val="solid"/>
          </a:ln>
        </p:spPr>
      </p:sp>
      <p:sp>
        <p:nvSpPr>
          <p:cNvPr id="20" name="Shape 17"/>
          <p:cNvSpPr/>
          <p:nvPr/>
        </p:nvSpPr>
        <p:spPr>
          <a:xfrm>
            <a:off x="987552" y="2221992"/>
            <a:ext cx="109728" cy="1719072"/>
          </a:xfrm>
          <a:prstGeom prst="rect">
            <a:avLst/>
          </a:prstGeom>
          <a:solidFill>
            <a:srgbClr val="FBE7C6"/>
          </a:solidFill>
          <a:ln/>
        </p:spPr>
      </p:sp>
      <p:sp>
        <p:nvSpPr>
          <p:cNvPr id="21" name="Shape 18"/>
          <p:cNvSpPr/>
          <p:nvPr/>
        </p:nvSpPr>
        <p:spPr>
          <a:xfrm>
            <a:off x="548640" y="5029200"/>
            <a:ext cx="2377440" cy="310896"/>
          </a:xfrm>
          <a:prstGeom prst="roundRect">
            <a:avLst>
              <a:gd name="adj" fmla="val 17647"/>
            </a:avLst>
          </a:prstGeom>
          <a:solidFill>
            <a:srgbClr val="2F5597"/>
          </a:solidFill>
          <a:ln/>
        </p:spPr>
      </p:sp>
      <p:sp>
        <p:nvSpPr>
          <p:cNvPr id="22" name="Text 19"/>
          <p:cNvSpPr txBox="1"/>
          <p:nvPr/>
        </p:nvSpPr>
        <p:spPr>
          <a:xfrm>
            <a:off x="548640" y="5029200"/>
            <a:ext cx="23774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Yu Gothic"/>
                <a:cs typeface="Arial" pitchFamily="34" charset="-120"/>
              </a:rPr>
              <a:t>〜2027〜28年（1dまで）</a:t>
            </a:r>
            <a:endParaRPr lang="en-US" sz="1150" dirty="0"/>
          </a:p>
        </p:txBody>
      </p:sp>
      <p:sp>
        <p:nvSpPr>
          <p:cNvPr id="23" name="Text 20"/>
          <p:cNvSpPr txBox="1"/>
          <p:nvPr/>
        </p:nvSpPr>
        <p:spPr>
          <a:xfrm>
            <a:off x="548640" y="5440680"/>
            <a:ext cx="3429000" cy="73152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埋め込みワード線（BCAT）＋縦長のキャパシタ。今のすべてのDRAM。</a:t>
            </a:r>
            <a:endParaRPr lang="en-US" sz="1300" dirty="0"/>
          </a:p>
        </p:txBody>
      </p:sp>
      <p:sp>
        <p:nvSpPr>
          <p:cNvPr id="24" name="Text 21"/>
          <p:cNvSpPr txBox="1"/>
          <p:nvPr/>
        </p:nvSpPr>
        <p:spPr>
          <a:xfrm>
            <a:off x="4334256" y="1783080"/>
            <a:ext cx="3520440" cy="36576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4F²（縦型トランジスタ）</a:t>
            </a:r>
            <a:endParaRPr lang="en-US" sz="1700" dirty="0"/>
          </a:p>
        </p:txBody>
      </p:sp>
      <p:sp>
        <p:nvSpPr>
          <p:cNvPr id="25" name="Shape 22"/>
          <p:cNvSpPr/>
          <p:nvPr/>
        </p:nvSpPr>
        <p:spPr>
          <a:xfrm>
            <a:off x="6345936" y="2286000"/>
            <a:ext cx="219456" cy="219456"/>
          </a:xfrm>
          <a:prstGeom prst="rect">
            <a:avLst/>
          </a:prstGeom>
          <a:solidFill>
            <a:srgbClr val="D9EBDF"/>
          </a:solidFill>
          <a:ln w="9525">
            <a:solidFill>
              <a:srgbClr val="8FBFA0"/>
            </a:solidFill>
            <a:prstDash val="solid"/>
          </a:ln>
        </p:spPr>
      </p:sp>
      <p:sp>
        <p:nvSpPr>
          <p:cNvPr id="26" name="Shape 23"/>
          <p:cNvSpPr/>
          <p:nvPr/>
        </p:nvSpPr>
        <p:spPr>
          <a:xfrm>
            <a:off x="6345936" y="2505456"/>
            <a:ext cx="219456" cy="219456"/>
          </a:xfrm>
          <a:prstGeom prst="rect">
            <a:avLst/>
          </a:prstGeom>
          <a:solidFill>
            <a:srgbClr val="D9EBDF"/>
          </a:solidFill>
          <a:ln w="9525">
            <a:solidFill>
              <a:srgbClr val="8FBFA0"/>
            </a:solidFill>
            <a:prstDash val="solid"/>
          </a:ln>
        </p:spPr>
      </p:sp>
      <p:sp>
        <p:nvSpPr>
          <p:cNvPr id="27" name="Shape 24"/>
          <p:cNvSpPr/>
          <p:nvPr/>
        </p:nvSpPr>
        <p:spPr>
          <a:xfrm>
            <a:off x="6565392" y="2286000"/>
            <a:ext cx="219456" cy="219456"/>
          </a:xfrm>
          <a:prstGeom prst="rect">
            <a:avLst/>
          </a:prstGeom>
          <a:solidFill>
            <a:srgbClr val="D9EBDF"/>
          </a:solidFill>
          <a:ln w="9525">
            <a:solidFill>
              <a:srgbClr val="8FBFA0"/>
            </a:solidFill>
            <a:prstDash val="solid"/>
          </a:ln>
        </p:spPr>
      </p:sp>
      <p:sp>
        <p:nvSpPr>
          <p:cNvPr id="28" name="Shape 25"/>
          <p:cNvSpPr/>
          <p:nvPr/>
        </p:nvSpPr>
        <p:spPr>
          <a:xfrm>
            <a:off x="6565392" y="2505456"/>
            <a:ext cx="219456" cy="219456"/>
          </a:xfrm>
          <a:prstGeom prst="rect">
            <a:avLst/>
          </a:prstGeom>
          <a:solidFill>
            <a:srgbClr val="D9EBDF"/>
          </a:solidFill>
          <a:ln w="9525">
            <a:solidFill>
              <a:srgbClr val="8FBFA0"/>
            </a:solidFill>
            <a:prstDash val="solid"/>
          </a:ln>
        </p:spPr>
      </p:sp>
      <p:sp>
        <p:nvSpPr>
          <p:cNvPr id="29" name="Text 26"/>
          <p:cNvSpPr txBox="1"/>
          <p:nvPr/>
        </p:nvSpPr>
        <p:spPr>
          <a:xfrm>
            <a:off x="6876288" y="2286000"/>
            <a:ext cx="1280160" cy="438912"/>
          </a:xfrm>
          <a:prstGeom prst="rect">
            <a:avLst/>
          </a:prstGeom>
          <a:noFill/>
          <a:ln/>
        </p:spPr>
        <p:txBody>
          <a:bodyPr wrap="square" lIns="0" tIns="0" rIns="0" bIns="0" rtlCol="0" anchor="ctr"/>
          <a:lstStyle/>
          <a:p>
            <a:pPr indent="0" marL="0">
              <a:buNone/>
            </a:pPr>
            <a:r>
              <a:rPr lang="en-US" sz="1200" b="1" dirty="0">
                <a:solidFill>
                  <a:srgbClr val="3C8D5A"/>
                </a:solidFill>
                <a:latin typeface="Arial" pitchFamily="34" charset="0"/>
                <a:ea typeface="Yu Gothic"/>
                <a:cs typeface="Arial" pitchFamily="34" charset="-120"/>
              </a:rPr>
              <a:t>2F×2F</a:t>
            </a:r>
            <a:endParaRPr lang="en-US" sz="1200" dirty="0"/>
          </a:p>
        </p:txBody>
      </p:sp>
      <p:sp>
        <p:nvSpPr>
          <p:cNvPr id="30" name="Shape 27"/>
          <p:cNvSpPr/>
          <p:nvPr/>
        </p:nvSpPr>
        <p:spPr>
          <a:xfrm>
            <a:off x="4517136" y="4160520"/>
            <a:ext cx="2011680" cy="502920"/>
          </a:xfrm>
          <a:prstGeom prst="rect">
            <a:avLst/>
          </a:prstGeom>
          <a:solidFill>
            <a:srgbClr val="AEB6C2"/>
          </a:solidFill>
          <a:ln w="9525">
            <a:solidFill>
              <a:srgbClr val="7D8896"/>
            </a:solidFill>
            <a:prstDash val="solid"/>
          </a:ln>
        </p:spPr>
      </p:sp>
      <p:sp>
        <p:nvSpPr>
          <p:cNvPr id="31" name="Shape 28"/>
          <p:cNvSpPr/>
          <p:nvPr/>
        </p:nvSpPr>
        <p:spPr>
          <a:xfrm>
            <a:off x="4562856" y="4434840"/>
            <a:ext cx="1920240" cy="146304"/>
          </a:xfrm>
          <a:prstGeom prst="rect">
            <a:avLst/>
          </a:prstGeom>
          <a:solidFill>
            <a:srgbClr val="6F9BD1"/>
          </a:solidFill>
          <a:ln w="9525">
            <a:solidFill>
              <a:srgbClr val="2F5597"/>
            </a:solidFill>
            <a:prstDash val="solid"/>
          </a:ln>
        </p:spPr>
      </p:sp>
      <p:sp>
        <p:nvSpPr>
          <p:cNvPr id="32" name="Text 29"/>
          <p:cNvSpPr txBox="1"/>
          <p:nvPr/>
        </p:nvSpPr>
        <p:spPr>
          <a:xfrm>
            <a:off x="4517136" y="4709160"/>
            <a:ext cx="2011680" cy="237744"/>
          </a:xfrm>
          <a:prstGeom prst="rect">
            <a:avLst/>
          </a:prstGeom>
          <a:noFill/>
          <a:ln/>
        </p:spPr>
        <p:txBody>
          <a:bodyPr wrap="square" lIns="0" tIns="0" rIns="0" bIns="0" rtlCol="0" anchor="ctr"/>
          <a:lstStyle/>
          <a:p>
            <a:pPr algn="ctr" indent="0" marL="0">
              <a:buNone/>
            </a:pPr>
            <a:r>
              <a:rPr lang="en-US" sz="1050" dirty="0">
                <a:solidFill>
                  <a:srgbClr val="6A7380"/>
                </a:solidFill>
                <a:latin typeface="Arial" pitchFamily="34" charset="0"/>
                <a:ea typeface="Yu Gothic"/>
                <a:cs typeface="Arial" pitchFamily="34" charset="-120"/>
              </a:rPr>
              <a:t>埋め込みビット線</a:t>
            </a:r>
            <a:endParaRPr lang="en-US" sz="1050" dirty="0"/>
          </a:p>
        </p:txBody>
      </p:sp>
      <p:sp>
        <p:nvSpPr>
          <p:cNvPr id="33" name="Shape 30"/>
          <p:cNvSpPr/>
          <p:nvPr/>
        </p:nvSpPr>
        <p:spPr>
          <a:xfrm>
            <a:off x="5321808" y="3291840"/>
            <a:ext cx="274320" cy="868680"/>
          </a:xfrm>
          <a:prstGeom prst="rect">
            <a:avLst/>
          </a:prstGeom>
          <a:solidFill>
            <a:srgbClr val="AEB6C2"/>
          </a:solidFill>
          <a:ln w="9525">
            <a:solidFill>
              <a:srgbClr val="7D8896"/>
            </a:solidFill>
            <a:prstDash val="solid"/>
          </a:ln>
        </p:spPr>
      </p:sp>
      <p:sp>
        <p:nvSpPr>
          <p:cNvPr id="34" name="Shape 31"/>
          <p:cNvSpPr/>
          <p:nvPr/>
        </p:nvSpPr>
        <p:spPr>
          <a:xfrm>
            <a:off x="5157216" y="3383280"/>
            <a:ext cx="146304" cy="640080"/>
          </a:xfrm>
          <a:prstGeom prst="rect">
            <a:avLst/>
          </a:prstGeom>
          <a:solidFill>
            <a:srgbClr val="F2B38A"/>
          </a:solidFill>
          <a:ln w="9525">
            <a:solidFill>
              <a:srgbClr val="C8683A"/>
            </a:solidFill>
            <a:prstDash val="solid"/>
          </a:ln>
        </p:spPr>
      </p:sp>
      <p:sp>
        <p:nvSpPr>
          <p:cNvPr id="35" name="Shape 32"/>
          <p:cNvSpPr/>
          <p:nvPr/>
        </p:nvSpPr>
        <p:spPr>
          <a:xfrm>
            <a:off x="5614416" y="3383280"/>
            <a:ext cx="146304" cy="640080"/>
          </a:xfrm>
          <a:prstGeom prst="rect">
            <a:avLst/>
          </a:prstGeom>
          <a:solidFill>
            <a:srgbClr val="F2B38A"/>
          </a:solidFill>
          <a:ln w="9525">
            <a:solidFill>
              <a:srgbClr val="C8683A"/>
            </a:solidFill>
            <a:prstDash val="solid"/>
          </a:ln>
        </p:spPr>
      </p:sp>
      <p:sp>
        <p:nvSpPr>
          <p:cNvPr id="36" name="Shape 33"/>
          <p:cNvSpPr/>
          <p:nvPr/>
        </p:nvSpPr>
        <p:spPr>
          <a:xfrm>
            <a:off x="5321808" y="2286000"/>
            <a:ext cx="274320" cy="1005840"/>
          </a:xfrm>
          <a:prstGeom prst="roundRect">
            <a:avLst>
              <a:gd name="adj" fmla="val 13333"/>
            </a:avLst>
          </a:prstGeom>
          <a:solidFill>
            <a:srgbClr val="F6D39B"/>
          </a:solidFill>
          <a:ln w="12700">
            <a:solidFill>
              <a:srgbClr val="C98A1B"/>
            </a:solidFill>
            <a:prstDash val="solid"/>
          </a:ln>
        </p:spPr>
      </p:sp>
      <p:sp>
        <p:nvSpPr>
          <p:cNvPr id="37" name="Shape 34"/>
          <p:cNvSpPr/>
          <p:nvPr/>
        </p:nvSpPr>
        <p:spPr>
          <a:xfrm>
            <a:off x="5404104" y="2359152"/>
            <a:ext cx="109728" cy="896112"/>
          </a:xfrm>
          <a:prstGeom prst="rect">
            <a:avLst/>
          </a:prstGeom>
          <a:solidFill>
            <a:srgbClr val="FBE7C6"/>
          </a:solidFill>
          <a:ln/>
        </p:spPr>
      </p:sp>
      <p:sp>
        <p:nvSpPr>
          <p:cNvPr id="38" name="Shape 35"/>
          <p:cNvSpPr/>
          <p:nvPr/>
        </p:nvSpPr>
        <p:spPr>
          <a:xfrm>
            <a:off x="4334256" y="5029200"/>
            <a:ext cx="2377440" cy="310896"/>
          </a:xfrm>
          <a:prstGeom prst="roundRect">
            <a:avLst>
              <a:gd name="adj" fmla="val 17647"/>
            </a:avLst>
          </a:prstGeom>
          <a:solidFill>
            <a:srgbClr val="ED7D31"/>
          </a:solidFill>
          <a:ln/>
        </p:spPr>
      </p:sp>
      <p:sp>
        <p:nvSpPr>
          <p:cNvPr id="39" name="Text 36"/>
          <p:cNvSpPr txBox="1"/>
          <p:nvPr/>
        </p:nvSpPr>
        <p:spPr>
          <a:xfrm>
            <a:off x="4334256" y="5029200"/>
            <a:ext cx="23774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Yu Gothic"/>
                <a:cs typeface="Arial" pitchFamily="34" charset="-120"/>
              </a:rPr>
              <a:t>2028〜32年（0a〜0b）</a:t>
            </a:r>
            <a:endParaRPr lang="en-US" sz="1150" dirty="0"/>
          </a:p>
        </p:txBody>
      </p:sp>
      <p:sp>
        <p:nvSpPr>
          <p:cNvPr id="40" name="Text 37"/>
          <p:cNvSpPr txBox="1"/>
          <p:nvPr/>
        </p:nvSpPr>
        <p:spPr>
          <a:xfrm>
            <a:off x="4334256" y="5440680"/>
            <a:ext cx="3429000" cy="73152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チャネルを縦に立て、ビット線を下、キャパシタを上に置く。SamsungはVCT、SK hynixはVGと呼ぶ。</a:t>
            </a:r>
            <a:endParaRPr lang="en-US" sz="1300" dirty="0"/>
          </a:p>
        </p:txBody>
      </p:sp>
      <p:sp>
        <p:nvSpPr>
          <p:cNvPr id="41" name="Text 38"/>
          <p:cNvSpPr txBox="1"/>
          <p:nvPr/>
        </p:nvSpPr>
        <p:spPr>
          <a:xfrm>
            <a:off x="8119872" y="1783080"/>
            <a:ext cx="3520440" cy="36576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3D DRAM（積層）</a:t>
            </a:r>
            <a:endParaRPr lang="en-US" sz="1700" dirty="0"/>
          </a:p>
        </p:txBody>
      </p:sp>
      <p:sp>
        <p:nvSpPr>
          <p:cNvPr id="42" name="Text 39"/>
          <p:cNvSpPr txBox="1"/>
          <p:nvPr/>
        </p:nvSpPr>
        <p:spPr>
          <a:xfrm>
            <a:off x="10131552" y="2240280"/>
            <a:ext cx="1463040" cy="548640"/>
          </a:xfrm>
          <a:prstGeom prst="rect">
            <a:avLst/>
          </a:prstGeom>
          <a:noFill/>
          <a:ln/>
        </p:spPr>
        <p:txBody>
          <a:bodyPr wrap="square" lIns="0" tIns="0" rIns="0" bIns="0" rtlCol="0" anchor="ctr"/>
          <a:lstStyle/>
          <a:p>
            <a:pPr indent="0" marL="0">
              <a:buNone/>
            </a:pPr>
            <a:r>
              <a:rPr lang="en-US" sz="1200" b="1" dirty="0">
                <a:solidFill>
                  <a:srgbClr val="3C8D5A"/>
                </a:solidFill>
                <a:latin typeface="Arial" pitchFamily="34" charset="0"/>
                <a:ea typeface="Yu Gothic"/>
                <a:cs typeface="Arial" pitchFamily="34" charset="-120"/>
              </a:rPr>
              <a:t>層の数で</a:t>
            </a:r>
            <a:endParaRPr lang="en-US" sz="1200" dirty="0"/>
          </a:p>
          <a:p>
            <a:pPr indent="0" marL="0">
              <a:buNone/>
            </a:pPr>
            <a:r>
              <a:rPr lang="en-US" sz="1200" b="1" dirty="0">
                <a:solidFill>
                  <a:srgbClr val="3C8D5A"/>
                </a:solidFill>
                <a:latin typeface="Arial" pitchFamily="34" charset="0"/>
                <a:ea typeface="Yu Gothic"/>
                <a:cs typeface="Arial" pitchFamily="34" charset="-120"/>
              </a:rPr>
              <a:t>密度を上げる</a:t>
            </a:r>
            <a:endParaRPr lang="en-US" sz="1200" dirty="0"/>
          </a:p>
        </p:txBody>
      </p:sp>
      <p:sp>
        <p:nvSpPr>
          <p:cNvPr id="43" name="Shape 40"/>
          <p:cNvSpPr/>
          <p:nvPr/>
        </p:nvSpPr>
        <p:spPr>
          <a:xfrm>
            <a:off x="8302752" y="4160520"/>
            <a:ext cx="2377440" cy="502920"/>
          </a:xfrm>
          <a:prstGeom prst="rect">
            <a:avLst/>
          </a:prstGeom>
          <a:solidFill>
            <a:srgbClr val="AEB6C2"/>
          </a:solidFill>
          <a:ln w="9525">
            <a:solidFill>
              <a:srgbClr val="7D8896"/>
            </a:solidFill>
            <a:prstDash val="solid"/>
          </a:ln>
        </p:spPr>
      </p:sp>
      <p:sp>
        <p:nvSpPr>
          <p:cNvPr id="44" name="Shape 41"/>
          <p:cNvSpPr/>
          <p:nvPr/>
        </p:nvSpPr>
        <p:spPr>
          <a:xfrm>
            <a:off x="8394192" y="2606040"/>
            <a:ext cx="146304" cy="1554480"/>
          </a:xfrm>
          <a:prstGeom prst="rect">
            <a:avLst/>
          </a:prstGeom>
          <a:solidFill>
            <a:srgbClr val="6F9BD1"/>
          </a:solidFill>
          <a:ln w="9525">
            <a:solidFill>
              <a:srgbClr val="2F5597"/>
            </a:solidFill>
            <a:prstDash val="solid"/>
          </a:ln>
        </p:spPr>
      </p:sp>
      <p:sp>
        <p:nvSpPr>
          <p:cNvPr id="45" name="Shape 42"/>
          <p:cNvSpPr/>
          <p:nvPr/>
        </p:nvSpPr>
        <p:spPr>
          <a:xfrm>
            <a:off x="8540496" y="2752344"/>
            <a:ext cx="731520" cy="146304"/>
          </a:xfrm>
          <a:prstGeom prst="rect">
            <a:avLst/>
          </a:prstGeom>
          <a:solidFill>
            <a:srgbClr val="AEB6C2"/>
          </a:solidFill>
          <a:ln w="9525">
            <a:solidFill>
              <a:srgbClr val="7D8896"/>
            </a:solidFill>
            <a:prstDash val="solid"/>
          </a:ln>
        </p:spPr>
      </p:sp>
      <p:sp>
        <p:nvSpPr>
          <p:cNvPr id="46" name="Shape 43"/>
          <p:cNvSpPr/>
          <p:nvPr/>
        </p:nvSpPr>
        <p:spPr>
          <a:xfrm>
            <a:off x="8723376" y="2697480"/>
            <a:ext cx="201168" cy="256032"/>
          </a:xfrm>
          <a:prstGeom prst="rect">
            <a:avLst/>
          </a:prstGeom>
          <a:solidFill>
            <a:srgbClr val="F2B38A"/>
          </a:solidFill>
          <a:ln w="9525">
            <a:solidFill>
              <a:srgbClr val="C8683A"/>
            </a:solidFill>
            <a:prstDash val="solid"/>
          </a:ln>
        </p:spPr>
      </p:sp>
      <p:sp>
        <p:nvSpPr>
          <p:cNvPr id="47" name="Shape 44"/>
          <p:cNvSpPr/>
          <p:nvPr/>
        </p:nvSpPr>
        <p:spPr>
          <a:xfrm>
            <a:off x="9308592" y="2724912"/>
            <a:ext cx="1280160" cy="201168"/>
          </a:xfrm>
          <a:prstGeom prst="roundRect">
            <a:avLst>
              <a:gd name="adj" fmla="val 22727"/>
            </a:avLst>
          </a:prstGeom>
          <a:solidFill>
            <a:srgbClr val="F6D39B"/>
          </a:solidFill>
          <a:ln w="12700">
            <a:solidFill>
              <a:srgbClr val="C98A1B"/>
            </a:solidFill>
            <a:prstDash val="solid"/>
          </a:ln>
        </p:spPr>
      </p:sp>
      <p:sp>
        <p:nvSpPr>
          <p:cNvPr id="48" name="Shape 45"/>
          <p:cNvSpPr/>
          <p:nvPr/>
        </p:nvSpPr>
        <p:spPr>
          <a:xfrm>
            <a:off x="8540496" y="3118104"/>
            <a:ext cx="731520" cy="146304"/>
          </a:xfrm>
          <a:prstGeom prst="rect">
            <a:avLst/>
          </a:prstGeom>
          <a:solidFill>
            <a:srgbClr val="AEB6C2"/>
          </a:solidFill>
          <a:ln w="9525">
            <a:solidFill>
              <a:srgbClr val="7D8896"/>
            </a:solidFill>
            <a:prstDash val="solid"/>
          </a:ln>
        </p:spPr>
      </p:sp>
      <p:sp>
        <p:nvSpPr>
          <p:cNvPr id="49" name="Shape 46"/>
          <p:cNvSpPr/>
          <p:nvPr/>
        </p:nvSpPr>
        <p:spPr>
          <a:xfrm>
            <a:off x="8723376" y="3063240"/>
            <a:ext cx="201168" cy="256032"/>
          </a:xfrm>
          <a:prstGeom prst="rect">
            <a:avLst/>
          </a:prstGeom>
          <a:solidFill>
            <a:srgbClr val="F2B38A"/>
          </a:solidFill>
          <a:ln w="9525">
            <a:solidFill>
              <a:srgbClr val="C8683A"/>
            </a:solidFill>
            <a:prstDash val="solid"/>
          </a:ln>
        </p:spPr>
      </p:sp>
      <p:sp>
        <p:nvSpPr>
          <p:cNvPr id="50" name="Shape 47"/>
          <p:cNvSpPr/>
          <p:nvPr/>
        </p:nvSpPr>
        <p:spPr>
          <a:xfrm>
            <a:off x="9308592" y="3090672"/>
            <a:ext cx="1280160" cy="201168"/>
          </a:xfrm>
          <a:prstGeom prst="roundRect">
            <a:avLst>
              <a:gd name="adj" fmla="val 22727"/>
            </a:avLst>
          </a:prstGeom>
          <a:solidFill>
            <a:srgbClr val="F6D39B"/>
          </a:solidFill>
          <a:ln w="12700">
            <a:solidFill>
              <a:srgbClr val="C98A1B"/>
            </a:solidFill>
            <a:prstDash val="solid"/>
          </a:ln>
        </p:spPr>
      </p:sp>
      <p:sp>
        <p:nvSpPr>
          <p:cNvPr id="51" name="Shape 48"/>
          <p:cNvSpPr/>
          <p:nvPr/>
        </p:nvSpPr>
        <p:spPr>
          <a:xfrm>
            <a:off x="8540496" y="3483864"/>
            <a:ext cx="731520" cy="146304"/>
          </a:xfrm>
          <a:prstGeom prst="rect">
            <a:avLst/>
          </a:prstGeom>
          <a:solidFill>
            <a:srgbClr val="AEB6C2"/>
          </a:solidFill>
          <a:ln w="9525">
            <a:solidFill>
              <a:srgbClr val="7D8896"/>
            </a:solidFill>
            <a:prstDash val="solid"/>
          </a:ln>
        </p:spPr>
      </p:sp>
      <p:sp>
        <p:nvSpPr>
          <p:cNvPr id="52" name="Shape 49"/>
          <p:cNvSpPr/>
          <p:nvPr/>
        </p:nvSpPr>
        <p:spPr>
          <a:xfrm>
            <a:off x="8723376" y="3429000"/>
            <a:ext cx="201168" cy="256032"/>
          </a:xfrm>
          <a:prstGeom prst="rect">
            <a:avLst/>
          </a:prstGeom>
          <a:solidFill>
            <a:srgbClr val="F2B38A"/>
          </a:solidFill>
          <a:ln w="9525">
            <a:solidFill>
              <a:srgbClr val="C8683A"/>
            </a:solidFill>
            <a:prstDash val="solid"/>
          </a:ln>
        </p:spPr>
      </p:sp>
      <p:sp>
        <p:nvSpPr>
          <p:cNvPr id="53" name="Shape 50"/>
          <p:cNvSpPr/>
          <p:nvPr/>
        </p:nvSpPr>
        <p:spPr>
          <a:xfrm>
            <a:off x="9308592" y="3456432"/>
            <a:ext cx="1280160" cy="201168"/>
          </a:xfrm>
          <a:prstGeom prst="roundRect">
            <a:avLst>
              <a:gd name="adj" fmla="val 22727"/>
            </a:avLst>
          </a:prstGeom>
          <a:solidFill>
            <a:srgbClr val="F6D39B"/>
          </a:solidFill>
          <a:ln w="12700">
            <a:solidFill>
              <a:srgbClr val="C98A1B"/>
            </a:solidFill>
            <a:prstDash val="solid"/>
          </a:ln>
        </p:spPr>
      </p:sp>
      <p:sp>
        <p:nvSpPr>
          <p:cNvPr id="54" name="Shape 51"/>
          <p:cNvSpPr/>
          <p:nvPr/>
        </p:nvSpPr>
        <p:spPr>
          <a:xfrm>
            <a:off x="8540496" y="3849624"/>
            <a:ext cx="731520" cy="146304"/>
          </a:xfrm>
          <a:prstGeom prst="rect">
            <a:avLst/>
          </a:prstGeom>
          <a:solidFill>
            <a:srgbClr val="AEB6C2"/>
          </a:solidFill>
          <a:ln w="9525">
            <a:solidFill>
              <a:srgbClr val="7D8896"/>
            </a:solidFill>
            <a:prstDash val="solid"/>
          </a:ln>
        </p:spPr>
      </p:sp>
      <p:sp>
        <p:nvSpPr>
          <p:cNvPr id="55" name="Shape 52"/>
          <p:cNvSpPr/>
          <p:nvPr/>
        </p:nvSpPr>
        <p:spPr>
          <a:xfrm>
            <a:off x="8723376" y="3794760"/>
            <a:ext cx="201168" cy="256032"/>
          </a:xfrm>
          <a:prstGeom prst="rect">
            <a:avLst/>
          </a:prstGeom>
          <a:solidFill>
            <a:srgbClr val="F2B38A"/>
          </a:solidFill>
          <a:ln w="9525">
            <a:solidFill>
              <a:srgbClr val="C8683A"/>
            </a:solidFill>
            <a:prstDash val="solid"/>
          </a:ln>
        </p:spPr>
      </p:sp>
      <p:sp>
        <p:nvSpPr>
          <p:cNvPr id="56" name="Shape 53"/>
          <p:cNvSpPr/>
          <p:nvPr/>
        </p:nvSpPr>
        <p:spPr>
          <a:xfrm>
            <a:off x="9308592" y="3822192"/>
            <a:ext cx="1280160" cy="201168"/>
          </a:xfrm>
          <a:prstGeom prst="roundRect">
            <a:avLst>
              <a:gd name="adj" fmla="val 22727"/>
            </a:avLst>
          </a:prstGeom>
          <a:solidFill>
            <a:srgbClr val="F6D39B"/>
          </a:solidFill>
          <a:ln w="12700">
            <a:solidFill>
              <a:srgbClr val="C98A1B"/>
            </a:solidFill>
            <a:prstDash val="solid"/>
          </a:ln>
        </p:spPr>
      </p:sp>
      <p:sp>
        <p:nvSpPr>
          <p:cNvPr id="57" name="Shape 54"/>
          <p:cNvSpPr/>
          <p:nvPr/>
        </p:nvSpPr>
        <p:spPr>
          <a:xfrm>
            <a:off x="8119872" y="5029200"/>
            <a:ext cx="2377440" cy="310896"/>
          </a:xfrm>
          <a:prstGeom prst="roundRect">
            <a:avLst>
              <a:gd name="adj" fmla="val 17647"/>
            </a:avLst>
          </a:prstGeom>
          <a:solidFill>
            <a:srgbClr val="FFF2E6"/>
          </a:solidFill>
          <a:ln w="12700">
            <a:solidFill>
              <a:srgbClr val="C55A11"/>
            </a:solidFill>
            <a:prstDash val="dash"/>
          </a:ln>
        </p:spPr>
      </p:sp>
      <p:sp>
        <p:nvSpPr>
          <p:cNvPr id="58" name="Text 55"/>
          <p:cNvSpPr txBox="1"/>
          <p:nvPr/>
        </p:nvSpPr>
        <p:spPr>
          <a:xfrm>
            <a:off x="8119872" y="5029200"/>
            <a:ext cx="2377440" cy="310896"/>
          </a:xfrm>
          <a:prstGeom prst="rect">
            <a:avLst/>
          </a:prstGeom>
          <a:noFill/>
          <a:ln/>
        </p:spPr>
        <p:txBody>
          <a:bodyPr wrap="square" lIns="0" tIns="0" rIns="0" bIns="0" rtlCol="0" anchor="ctr"/>
          <a:lstStyle/>
          <a:p>
            <a:pPr algn="ctr" indent="0" marL="0">
              <a:buNone/>
            </a:pPr>
            <a:r>
              <a:rPr lang="en-US" sz="1150" b="1" dirty="0">
                <a:solidFill>
                  <a:srgbClr val="843C0C"/>
                </a:solidFill>
                <a:latin typeface="Arial" pitchFamily="34" charset="0"/>
                <a:ea typeface="Yu Gothic"/>
                <a:cs typeface="Arial" pitchFamily="34" charset="-120"/>
              </a:rPr>
              <a:t>2030年代</a:t>
            </a:r>
            <a:endParaRPr lang="en-US" sz="1150" dirty="0"/>
          </a:p>
        </p:txBody>
      </p:sp>
      <p:sp>
        <p:nvSpPr>
          <p:cNvPr id="59" name="Text 56"/>
          <p:cNvSpPr txBox="1"/>
          <p:nvPr/>
        </p:nvSpPr>
        <p:spPr>
          <a:xfrm>
            <a:off x="8119872" y="5440680"/>
            <a:ext cx="3429000" cy="73152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セルを横倒しにしてNANDのように積む。各社の目標は2030年頃、本格化は2030年代。</a:t>
            </a:r>
            <a:endParaRPr lang="en-US" sz="1300" dirty="0"/>
          </a:p>
        </p:txBody>
      </p:sp>
      <p:sp>
        <p:nvSpPr>
          <p:cNvPr id="60" name="Shape 57"/>
          <p:cNvSpPr/>
          <p:nvPr/>
        </p:nvSpPr>
        <p:spPr>
          <a:xfrm>
            <a:off x="3291840" y="3291840"/>
            <a:ext cx="822960" cy="0"/>
          </a:xfrm>
          <a:prstGeom prst="line">
            <a:avLst/>
          </a:prstGeom>
          <a:noFill/>
          <a:ln w="22225">
            <a:solidFill>
              <a:srgbClr val="8C96A3"/>
            </a:solidFill>
            <a:prstDash val="solid"/>
            <a:tailEnd type="triangle"/>
          </a:ln>
        </p:spPr>
      </p:sp>
      <p:sp>
        <p:nvSpPr>
          <p:cNvPr id="61" name="Shape 58"/>
          <p:cNvSpPr/>
          <p:nvPr/>
        </p:nvSpPr>
        <p:spPr>
          <a:xfrm>
            <a:off x="7077456" y="3291840"/>
            <a:ext cx="822960" cy="0"/>
          </a:xfrm>
          <a:prstGeom prst="line">
            <a:avLst/>
          </a:prstGeom>
          <a:noFill/>
          <a:ln w="22225">
            <a:solidFill>
              <a:srgbClr val="8C96A3"/>
            </a:solidFill>
            <a:prstDash val="solid"/>
            <a:tailEnd type="triangle"/>
          </a:ln>
        </p:spPr>
      </p:sp>
      <p:sp>
        <p:nvSpPr>
          <p:cNvPr id="62" name="Text 59"/>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出典：TrendForce・The Elec（Samsung 10a）、SK hynix（VLSI 2025）、Tom's Hardware（IMW 2024）、Yole、SemiAnalysis</a:t>
            </a:r>
            <a:endParaRPr lang="en-US" sz="950" dirty="0"/>
          </a:p>
        </p:txBody>
      </p:sp>
      <p:sp>
        <p:nvSpPr>
          <p:cNvPr id="63" name="Text 60"/>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3C8D5A"/>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3C8D5A"/>
                </a:solidFill>
                <a:latin typeface="Arial" pitchFamily="34" charset="0"/>
                <a:ea typeface="Yu Gothic"/>
                <a:cs typeface="Arial" pitchFamily="34" charset="-120"/>
              </a:rPr>
              <a:t>DRAM</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DRAM：大手3社は1d（2027〜28年）まで今の構造、その後に大きく変える</a:t>
            </a:r>
            <a:endParaRPr lang="en-US" sz="2400" dirty="0"/>
          </a:p>
        </p:txBody>
      </p:sp>
      <p:sp>
        <p:nvSpPr>
          <p:cNvPr id="6" name="Shape 3"/>
          <p:cNvSpPr/>
          <p:nvPr/>
        </p:nvSpPr>
        <p:spPr>
          <a:xfrm>
            <a:off x="1783080" y="2011680"/>
            <a:ext cx="0" cy="3758184"/>
          </a:xfrm>
          <a:prstGeom prst="line">
            <a:avLst/>
          </a:prstGeom>
          <a:noFill/>
          <a:ln w="9525">
            <a:solidFill>
              <a:srgbClr val="DDE1E6"/>
            </a:solidFill>
            <a:prstDash val="solid"/>
          </a:ln>
        </p:spPr>
      </p:sp>
      <p:sp>
        <p:nvSpPr>
          <p:cNvPr id="7" name="Text 4"/>
          <p:cNvSpPr txBox="1"/>
          <p:nvPr/>
        </p:nvSpPr>
        <p:spPr>
          <a:xfrm>
            <a:off x="18196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2024</a:t>
            </a:r>
            <a:endParaRPr lang="en-US" sz="1100" dirty="0"/>
          </a:p>
        </p:txBody>
      </p:sp>
      <p:sp>
        <p:nvSpPr>
          <p:cNvPr id="8" name="Shape 5"/>
          <p:cNvSpPr/>
          <p:nvPr/>
        </p:nvSpPr>
        <p:spPr>
          <a:xfrm>
            <a:off x="2494280" y="2011680"/>
            <a:ext cx="0" cy="3758184"/>
          </a:xfrm>
          <a:prstGeom prst="line">
            <a:avLst/>
          </a:prstGeom>
          <a:noFill/>
          <a:ln w="9525">
            <a:solidFill>
              <a:srgbClr val="DDE1E6"/>
            </a:solidFill>
            <a:prstDash val="solid"/>
          </a:ln>
        </p:spPr>
      </p:sp>
      <p:sp>
        <p:nvSpPr>
          <p:cNvPr id="9" name="Text 6"/>
          <p:cNvSpPr txBox="1"/>
          <p:nvPr/>
        </p:nvSpPr>
        <p:spPr>
          <a:xfrm>
            <a:off x="25308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2025</a:t>
            </a:r>
            <a:endParaRPr lang="en-US" sz="1100" dirty="0"/>
          </a:p>
        </p:txBody>
      </p:sp>
      <p:sp>
        <p:nvSpPr>
          <p:cNvPr id="10" name="Shape 7"/>
          <p:cNvSpPr/>
          <p:nvPr/>
        </p:nvSpPr>
        <p:spPr>
          <a:xfrm>
            <a:off x="3205480" y="2011680"/>
            <a:ext cx="0" cy="3758184"/>
          </a:xfrm>
          <a:prstGeom prst="line">
            <a:avLst/>
          </a:prstGeom>
          <a:noFill/>
          <a:ln w="9525">
            <a:solidFill>
              <a:srgbClr val="DDE1E6"/>
            </a:solidFill>
            <a:prstDash val="solid"/>
          </a:ln>
        </p:spPr>
      </p:sp>
      <p:sp>
        <p:nvSpPr>
          <p:cNvPr id="11" name="Text 8"/>
          <p:cNvSpPr txBox="1"/>
          <p:nvPr/>
        </p:nvSpPr>
        <p:spPr>
          <a:xfrm>
            <a:off x="32420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2026</a:t>
            </a:r>
            <a:endParaRPr lang="en-US" sz="1100" dirty="0"/>
          </a:p>
        </p:txBody>
      </p:sp>
      <p:sp>
        <p:nvSpPr>
          <p:cNvPr id="12" name="Shape 9"/>
          <p:cNvSpPr/>
          <p:nvPr/>
        </p:nvSpPr>
        <p:spPr>
          <a:xfrm>
            <a:off x="3916680" y="2011680"/>
            <a:ext cx="0" cy="3758184"/>
          </a:xfrm>
          <a:prstGeom prst="line">
            <a:avLst/>
          </a:prstGeom>
          <a:noFill/>
          <a:ln w="9525">
            <a:solidFill>
              <a:srgbClr val="DDE1E6"/>
            </a:solidFill>
            <a:prstDash val="solid"/>
          </a:ln>
        </p:spPr>
      </p:sp>
      <p:sp>
        <p:nvSpPr>
          <p:cNvPr id="13" name="Text 10"/>
          <p:cNvSpPr txBox="1"/>
          <p:nvPr/>
        </p:nvSpPr>
        <p:spPr>
          <a:xfrm>
            <a:off x="39532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2027</a:t>
            </a:r>
            <a:endParaRPr lang="en-US" sz="1100" dirty="0"/>
          </a:p>
        </p:txBody>
      </p:sp>
      <p:sp>
        <p:nvSpPr>
          <p:cNvPr id="14" name="Shape 11"/>
          <p:cNvSpPr/>
          <p:nvPr/>
        </p:nvSpPr>
        <p:spPr>
          <a:xfrm>
            <a:off x="4627880" y="2011680"/>
            <a:ext cx="0" cy="3758184"/>
          </a:xfrm>
          <a:prstGeom prst="line">
            <a:avLst/>
          </a:prstGeom>
          <a:noFill/>
          <a:ln w="9525">
            <a:solidFill>
              <a:srgbClr val="DDE1E6"/>
            </a:solidFill>
            <a:prstDash val="solid"/>
          </a:ln>
        </p:spPr>
      </p:sp>
      <p:sp>
        <p:nvSpPr>
          <p:cNvPr id="15" name="Text 12"/>
          <p:cNvSpPr txBox="1"/>
          <p:nvPr/>
        </p:nvSpPr>
        <p:spPr>
          <a:xfrm>
            <a:off x="46644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2028</a:t>
            </a:r>
            <a:endParaRPr lang="en-US" sz="1100" dirty="0"/>
          </a:p>
        </p:txBody>
      </p:sp>
      <p:sp>
        <p:nvSpPr>
          <p:cNvPr id="16" name="Shape 13"/>
          <p:cNvSpPr/>
          <p:nvPr/>
        </p:nvSpPr>
        <p:spPr>
          <a:xfrm>
            <a:off x="5339080" y="2011680"/>
            <a:ext cx="0" cy="3758184"/>
          </a:xfrm>
          <a:prstGeom prst="line">
            <a:avLst/>
          </a:prstGeom>
          <a:noFill/>
          <a:ln w="9525">
            <a:solidFill>
              <a:srgbClr val="DDE1E6"/>
            </a:solidFill>
            <a:prstDash val="solid"/>
          </a:ln>
        </p:spPr>
      </p:sp>
      <p:sp>
        <p:nvSpPr>
          <p:cNvPr id="17" name="Text 14"/>
          <p:cNvSpPr txBox="1"/>
          <p:nvPr/>
        </p:nvSpPr>
        <p:spPr>
          <a:xfrm>
            <a:off x="53756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2029</a:t>
            </a:r>
            <a:endParaRPr lang="en-US" sz="1100" dirty="0"/>
          </a:p>
        </p:txBody>
      </p:sp>
      <p:sp>
        <p:nvSpPr>
          <p:cNvPr id="18" name="Shape 15"/>
          <p:cNvSpPr/>
          <p:nvPr/>
        </p:nvSpPr>
        <p:spPr>
          <a:xfrm>
            <a:off x="6050280" y="2011680"/>
            <a:ext cx="0" cy="3758184"/>
          </a:xfrm>
          <a:prstGeom prst="line">
            <a:avLst/>
          </a:prstGeom>
          <a:noFill/>
          <a:ln w="9525">
            <a:solidFill>
              <a:srgbClr val="DDE1E6"/>
            </a:solidFill>
            <a:prstDash val="solid"/>
          </a:ln>
        </p:spPr>
      </p:sp>
      <p:sp>
        <p:nvSpPr>
          <p:cNvPr id="19" name="Text 16"/>
          <p:cNvSpPr txBox="1"/>
          <p:nvPr/>
        </p:nvSpPr>
        <p:spPr>
          <a:xfrm>
            <a:off x="60868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2030</a:t>
            </a:r>
            <a:endParaRPr lang="en-US" sz="1100" dirty="0"/>
          </a:p>
        </p:txBody>
      </p:sp>
      <p:sp>
        <p:nvSpPr>
          <p:cNvPr id="20" name="Shape 17"/>
          <p:cNvSpPr/>
          <p:nvPr/>
        </p:nvSpPr>
        <p:spPr>
          <a:xfrm>
            <a:off x="6761480" y="2011680"/>
            <a:ext cx="0" cy="3758184"/>
          </a:xfrm>
          <a:prstGeom prst="line">
            <a:avLst/>
          </a:prstGeom>
          <a:noFill/>
          <a:ln w="9525">
            <a:solidFill>
              <a:srgbClr val="DDE1E6"/>
            </a:solidFill>
            <a:prstDash val="solid"/>
          </a:ln>
        </p:spPr>
      </p:sp>
      <p:sp>
        <p:nvSpPr>
          <p:cNvPr id="21" name="Text 18"/>
          <p:cNvSpPr txBox="1"/>
          <p:nvPr/>
        </p:nvSpPr>
        <p:spPr>
          <a:xfrm>
            <a:off x="67980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2031</a:t>
            </a:r>
            <a:endParaRPr lang="en-US" sz="1100" dirty="0"/>
          </a:p>
        </p:txBody>
      </p:sp>
      <p:sp>
        <p:nvSpPr>
          <p:cNvPr id="22" name="Shape 19"/>
          <p:cNvSpPr/>
          <p:nvPr/>
        </p:nvSpPr>
        <p:spPr>
          <a:xfrm>
            <a:off x="7472680" y="2011680"/>
            <a:ext cx="0" cy="3758184"/>
          </a:xfrm>
          <a:prstGeom prst="line">
            <a:avLst/>
          </a:prstGeom>
          <a:noFill/>
          <a:ln w="9525">
            <a:solidFill>
              <a:srgbClr val="DDE1E6"/>
            </a:solidFill>
            <a:prstDash val="solid"/>
          </a:ln>
        </p:spPr>
      </p:sp>
      <p:sp>
        <p:nvSpPr>
          <p:cNvPr id="23" name="Text 20"/>
          <p:cNvSpPr txBox="1"/>
          <p:nvPr/>
        </p:nvSpPr>
        <p:spPr>
          <a:xfrm>
            <a:off x="75092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2032</a:t>
            </a:r>
            <a:endParaRPr lang="en-US" sz="1100" dirty="0"/>
          </a:p>
        </p:txBody>
      </p:sp>
      <p:sp>
        <p:nvSpPr>
          <p:cNvPr id="24" name="Shape 21"/>
          <p:cNvSpPr/>
          <p:nvPr/>
        </p:nvSpPr>
        <p:spPr>
          <a:xfrm>
            <a:off x="8183880" y="2011680"/>
            <a:ext cx="0" cy="3758184"/>
          </a:xfrm>
          <a:prstGeom prst="line">
            <a:avLst/>
          </a:prstGeom>
          <a:noFill/>
          <a:ln w="9525">
            <a:solidFill>
              <a:srgbClr val="DDE1E6"/>
            </a:solidFill>
            <a:prstDash val="solid"/>
          </a:ln>
        </p:spPr>
      </p:sp>
      <p:sp>
        <p:nvSpPr>
          <p:cNvPr id="25" name="Shape 22"/>
          <p:cNvSpPr/>
          <p:nvPr/>
        </p:nvSpPr>
        <p:spPr>
          <a:xfrm>
            <a:off x="548640" y="2029968"/>
            <a:ext cx="7635240" cy="905256"/>
          </a:xfrm>
          <a:prstGeom prst="rect">
            <a:avLst/>
          </a:prstGeom>
          <a:solidFill>
            <a:srgbClr val="F6F7F9"/>
          </a:solidFill>
          <a:ln/>
        </p:spPr>
      </p:sp>
      <p:sp>
        <p:nvSpPr>
          <p:cNvPr id="26" name="Text 23"/>
          <p:cNvSpPr txBox="1"/>
          <p:nvPr/>
        </p:nvSpPr>
        <p:spPr>
          <a:xfrm>
            <a:off x="621792" y="2029968"/>
            <a:ext cx="1124712" cy="905256"/>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Samsung</a:t>
            </a:r>
            <a:endParaRPr lang="en-US" sz="1300" dirty="0"/>
          </a:p>
        </p:txBody>
      </p:sp>
      <p:sp>
        <p:nvSpPr>
          <p:cNvPr id="27" name="Text 24"/>
          <p:cNvSpPr txBox="1"/>
          <p:nvPr/>
        </p:nvSpPr>
        <p:spPr>
          <a:xfrm>
            <a:off x="621792" y="2935224"/>
            <a:ext cx="1124712" cy="905256"/>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SK hynix</a:t>
            </a:r>
            <a:endParaRPr lang="en-US" sz="1300" dirty="0"/>
          </a:p>
        </p:txBody>
      </p:sp>
      <p:sp>
        <p:nvSpPr>
          <p:cNvPr id="28" name="Shape 25"/>
          <p:cNvSpPr/>
          <p:nvPr/>
        </p:nvSpPr>
        <p:spPr>
          <a:xfrm>
            <a:off x="548640" y="3840480"/>
            <a:ext cx="7635240" cy="905256"/>
          </a:xfrm>
          <a:prstGeom prst="rect">
            <a:avLst/>
          </a:prstGeom>
          <a:solidFill>
            <a:srgbClr val="F6F7F9"/>
          </a:solidFill>
          <a:ln/>
        </p:spPr>
      </p:sp>
      <p:sp>
        <p:nvSpPr>
          <p:cNvPr id="29" name="Text 26"/>
          <p:cNvSpPr txBox="1"/>
          <p:nvPr/>
        </p:nvSpPr>
        <p:spPr>
          <a:xfrm>
            <a:off x="621792" y="3840480"/>
            <a:ext cx="1124712" cy="905256"/>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Micron</a:t>
            </a:r>
            <a:endParaRPr lang="en-US" sz="1300" dirty="0"/>
          </a:p>
        </p:txBody>
      </p:sp>
      <p:sp>
        <p:nvSpPr>
          <p:cNvPr id="30" name="Text 27"/>
          <p:cNvSpPr txBox="1"/>
          <p:nvPr/>
        </p:nvSpPr>
        <p:spPr>
          <a:xfrm>
            <a:off x="621792" y="4745736"/>
            <a:ext cx="1124712" cy="512064"/>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Nanya</a:t>
            </a:r>
            <a:endParaRPr lang="en-US" sz="1300" dirty="0"/>
          </a:p>
        </p:txBody>
      </p:sp>
      <p:sp>
        <p:nvSpPr>
          <p:cNvPr id="31" name="Shape 28"/>
          <p:cNvSpPr/>
          <p:nvPr/>
        </p:nvSpPr>
        <p:spPr>
          <a:xfrm>
            <a:off x="548640" y="5257800"/>
            <a:ext cx="7635240" cy="512064"/>
          </a:xfrm>
          <a:prstGeom prst="rect">
            <a:avLst/>
          </a:prstGeom>
          <a:solidFill>
            <a:srgbClr val="F6F7F9"/>
          </a:solidFill>
          <a:ln/>
        </p:spPr>
      </p:sp>
      <p:sp>
        <p:nvSpPr>
          <p:cNvPr id="32" name="Text 29"/>
          <p:cNvSpPr txBox="1"/>
          <p:nvPr/>
        </p:nvSpPr>
        <p:spPr>
          <a:xfrm>
            <a:off x="621792" y="5257800"/>
            <a:ext cx="1124712" cy="512064"/>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CXMT</a:t>
            </a:r>
            <a:endParaRPr lang="en-US" sz="1300" dirty="0"/>
          </a:p>
        </p:txBody>
      </p:sp>
      <p:sp>
        <p:nvSpPr>
          <p:cNvPr id="33" name="Shape 30"/>
          <p:cNvSpPr/>
          <p:nvPr/>
        </p:nvSpPr>
        <p:spPr>
          <a:xfrm>
            <a:off x="3738880" y="2011680"/>
            <a:ext cx="0" cy="3758184"/>
          </a:xfrm>
          <a:prstGeom prst="line">
            <a:avLst/>
          </a:prstGeom>
          <a:noFill/>
          <a:ln w="19050">
            <a:solidFill>
              <a:srgbClr val="C00000"/>
            </a:solidFill>
            <a:prstDash val="dash"/>
          </a:ln>
        </p:spPr>
      </p:sp>
      <p:sp>
        <p:nvSpPr>
          <p:cNvPr id="34" name="Text 31"/>
          <p:cNvSpPr txBox="1"/>
          <p:nvPr/>
        </p:nvSpPr>
        <p:spPr>
          <a:xfrm>
            <a:off x="3418840" y="1737360"/>
            <a:ext cx="640080" cy="237744"/>
          </a:xfrm>
          <a:prstGeom prst="rect">
            <a:avLst/>
          </a:prstGeom>
          <a:noFill/>
          <a:ln/>
        </p:spPr>
        <p:txBody>
          <a:bodyPr wrap="square" lIns="0" tIns="0" rIns="0" bIns="0" rtlCol="0" anchor="ctr"/>
          <a:lstStyle/>
          <a:p>
            <a:pPr algn="ctr" indent="0" marL="0">
              <a:buNone/>
            </a:pPr>
            <a:r>
              <a:rPr lang="en-US" sz="1050" b="1" dirty="0">
                <a:solidFill>
                  <a:srgbClr val="C00000"/>
                </a:solidFill>
                <a:latin typeface="Arial" pitchFamily="34" charset="0"/>
                <a:ea typeface="Yu Gothic"/>
                <a:cs typeface="Arial" pitchFamily="34" charset="-120"/>
              </a:rPr>
              <a:t>現在</a:t>
            </a:r>
            <a:endParaRPr lang="en-US" sz="1050" dirty="0"/>
          </a:p>
        </p:txBody>
      </p:sp>
      <p:sp>
        <p:nvSpPr>
          <p:cNvPr id="35" name="Shape 32"/>
          <p:cNvSpPr/>
          <p:nvPr/>
        </p:nvSpPr>
        <p:spPr>
          <a:xfrm>
            <a:off x="1783080" y="2112264"/>
            <a:ext cx="1394968" cy="347472"/>
          </a:xfrm>
          <a:prstGeom prst="homePlate">
            <a:avLst/>
          </a:prstGeom>
          <a:solidFill>
            <a:srgbClr val="2F5597"/>
          </a:solidFill>
          <a:ln/>
        </p:spPr>
      </p:sp>
      <p:sp>
        <p:nvSpPr>
          <p:cNvPr id="36" name="Text 33"/>
          <p:cNvSpPr txBox="1"/>
          <p:nvPr/>
        </p:nvSpPr>
        <p:spPr>
          <a:xfrm>
            <a:off x="1837944" y="2112264"/>
            <a:ext cx="12184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1b</a:t>
            </a:r>
            <a:endParaRPr lang="en-US" sz="1050" dirty="0"/>
          </a:p>
        </p:txBody>
      </p:sp>
      <p:sp>
        <p:nvSpPr>
          <p:cNvPr id="37" name="Shape 34"/>
          <p:cNvSpPr/>
          <p:nvPr/>
        </p:nvSpPr>
        <p:spPr>
          <a:xfrm>
            <a:off x="3205480" y="2112264"/>
            <a:ext cx="533400" cy="347472"/>
          </a:xfrm>
          <a:prstGeom prst="rect">
            <a:avLst/>
          </a:prstGeom>
          <a:solidFill>
            <a:srgbClr val="2F5597"/>
          </a:solidFill>
          <a:ln/>
        </p:spPr>
      </p:sp>
      <p:sp>
        <p:nvSpPr>
          <p:cNvPr id="38" name="Shape 35"/>
          <p:cNvSpPr/>
          <p:nvPr/>
        </p:nvSpPr>
        <p:spPr>
          <a:xfrm>
            <a:off x="3738880" y="2112264"/>
            <a:ext cx="683768" cy="347472"/>
          </a:xfrm>
          <a:prstGeom prst="homePlate">
            <a:avLst/>
          </a:prstGeom>
          <a:solidFill>
            <a:srgbClr val="ED7D31"/>
          </a:solidFill>
          <a:ln/>
        </p:spPr>
      </p:sp>
      <p:sp>
        <p:nvSpPr>
          <p:cNvPr id="39" name="Text 36"/>
          <p:cNvSpPr txBox="1"/>
          <p:nvPr/>
        </p:nvSpPr>
        <p:spPr>
          <a:xfrm>
            <a:off x="3260344" y="2112264"/>
            <a:ext cx="10406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1c</a:t>
            </a:r>
            <a:endParaRPr lang="en-US" sz="1050" dirty="0"/>
          </a:p>
          <a:p>
            <a:pPr algn="l" indent="0" marL="0">
              <a:buNone/>
            </a:pPr>
            <a:r>
              <a:rPr lang="en-US" sz="900" dirty="0">
                <a:solidFill>
                  <a:srgbClr val="FFFFFF"/>
                </a:solidFill>
                <a:latin typeface="Arial" pitchFamily="34" charset="0"/>
                <a:ea typeface="Yu Gothic"/>
                <a:cs typeface="Arial" pitchFamily="34" charset="-120"/>
              </a:rPr>
              <a:t>EUV 6〜7層</a:t>
            </a:r>
            <a:endParaRPr lang="en-US" sz="1050" dirty="0"/>
          </a:p>
        </p:txBody>
      </p:sp>
      <p:sp>
        <p:nvSpPr>
          <p:cNvPr id="40" name="Shape 37"/>
          <p:cNvSpPr/>
          <p:nvPr/>
        </p:nvSpPr>
        <p:spPr>
          <a:xfrm>
            <a:off x="4450080" y="2112264"/>
            <a:ext cx="505968" cy="347472"/>
          </a:xfrm>
          <a:prstGeom prst="homePlate">
            <a:avLst/>
          </a:prstGeom>
          <a:solidFill>
            <a:srgbClr val="ED7D31"/>
          </a:solidFill>
          <a:ln/>
        </p:spPr>
      </p:sp>
      <p:sp>
        <p:nvSpPr>
          <p:cNvPr id="41" name="Text 38"/>
          <p:cNvSpPr txBox="1"/>
          <p:nvPr/>
        </p:nvSpPr>
        <p:spPr>
          <a:xfrm>
            <a:off x="4504944" y="2112264"/>
            <a:ext cx="3294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1d</a:t>
            </a:r>
            <a:endParaRPr lang="en-US" sz="1050" dirty="0"/>
          </a:p>
        </p:txBody>
      </p:sp>
      <p:sp>
        <p:nvSpPr>
          <p:cNvPr id="42" name="Shape 39"/>
          <p:cNvSpPr/>
          <p:nvPr/>
        </p:nvSpPr>
        <p:spPr>
          <a:xfrm>
            <a:off x="4983480" y="2112264"/>
            <a:ext cx="1394968" cy="347472"/>
          </a:xfrm>
          <a:prstGeom prst="homePlate">
            <a:avLst/>
          </a:prstGeom>
          <a:solidFill>
            <a:srgbClr val="FFF2E6"/>
          </a:solidFill>
          <a:ln w="15875">
            <a:solidFill>
              <a:srgbClr val="C55A11"/>
            </a:solidFill>
            <a:prstDash val="dash"/>
          </a:ln>
        </p:spPr>
      </p:sp>
      <p:sp>
        <p:nvSpPr>
          <p:cNvPr id="43" name="Text 40"/>
          <p:cNvSpPr txBox="1"/>
          <p:nvPr/>
        </p:nvSpPr>
        <p:spPr>
          <a:xfrm>
            <a:off x="5038344" y="2112264"/>
            <a:ext cx="1218489" cy="347472"/>
          </a:xfrm>
          <a:prstGeom prst="rect">
            <a:avLst/>
          </a:prstGeom>
          <a:noFill/>
          <a:ln/>
        </p:spPr>
        <p:txBody>
          <a:bodyPr wrap="square" lIns="0" tIns="0" rIns="0" bIns="0" rtlCol="0" anchor="ctr">
            <a:normAutofit/>
          </a:bodyPr>
          <a:lstStyle/>
          <a:p>
            <a:pPr algn="l" indent="0" marL="0">
              <a:buNone/>
            </a:pPr>
            <a:r>
              <a:rPr lang="en-US" sz="1050" b="1" dirty="0">
                <a:solidFill>
                  <a:srgbClr val="843C0C"/>
                </a:solidFill>
                <a:latin typeface="Arial" pitchFamily="34" charset="0"/>
                <a:ea typeface="Yu Gothic"/>
                <a:cs typeface="Arial" pitchFamily="34" charset="-120"/>
              </a:rPr>
              <a:t>0a（D0a）</a:t>
            </a:r>
            <a:endParaRPr lang="en-US" sz="1050" dirty="0"/>
          </a:p>
          <a:p>
            <a:pPr algn="l" indent="0" marL="0">
              <a:buNone/>
            </a:pPr>
            <a:r>
              <a:rPr lang="en-US" sz="900" dirty="0">
                <a:solidFill>
                  <a:srgbClr val="843C0C"/>
                </a:solidFill>
                <a:latin typeface="Arial" pitchFamily="34" charset="0"/>
                <a:ea typeface="Yu Gothic"/>
                <a:cs typeface="Arial" pitchFamily="34" charset="-120"/>
              </a:rPr>
              <a:t>周辺の貼り合わせ</a:t>
            </a:r>
            <a:endParaRPr lang="en-US" sz="1050" dirty="0"/>
          </a:p>
        </p:txBody>
      </p:sp>
      <p:sp>
        <p:nvSpPr>
          <p:cNvPr id="44" name="Shape 41"/>
          <p:cNvSpPr/>
          <p:nvPr/>
        </p:nvSpPr>
        <p:spPr>
          <a:xfrm>
            <a:off x="4983480" y="2505456"/>
            <a:ext cx="1394968" cy="347472"/>
          </a:xfrm>
          <a:prstGeom prst="homePlate">
            <a:avLst/>
          </a:prstGeom>
          <a:solidFill>
            <a:srgbClr val="FFF2E6"/>
          </a:solidFill>
          <a:ln w="15875">
            <a:solidFill>
              <a:srgbClr val="C55A11"/>
            </a:solidFill>
            <a:prstDash val="dash"/>
          </a:ln>
        </p:spPr>
      </p:sp>
      <p:sp>
        <p:nvSpPr>
          <p:cNvPr id="45" name="Text 42"/>
          <p:cNvSpPr txBox="1"/>
          <p:nvPr/>
        </p:nvSpPr>
        <p:spPr>
          <a:xfrm>
            <a:off x="5038344" y="2505456"/>
            <a:ext cx="1218489" cy="347472"/>
          </a:xfrm>
          <a:prstGeom prst="rect">
            <a:avLst/>
          </a:prstGeom>
          <a:noFill/>
          <a:ln/>
        </p:spPr>
        <p:txBody>
          <a:bodyPr wrap="square" lIns="0" tIns="0" rIns="0" bIns="0" rtlCol="0" anchor="ctr">
            <a:normAutofit/>
          </a:bodyPr>
          <a:lstStyle/>
          <a:p>
            <a:pPr algn="l" indent="0" marL="0">
              <a:buNone/>
            </a:pPr>
            <a:r>
              <a:rPr lang="en-US" sz="1050" b="1" dirty="0">
                <a:solidFill>
                  <a:srgbClr val="843C0C"/>
                </a:solidFill>
                <a:latin typeface="Arial" pitchFamily="34" charset="0"/>
                <a:ea typeface="Yu Gothic"/>
                <a:cs typeface="Arial" pitchFamily="34" charset="-120"/>
              </a:rPr>
              <a:t>4F² VCT</a:t>
            </a:r>
            <a:endParaRPr lang="en-US" sz="1050" dirty="0"/>
          </a:p>
        </p:txBody>
      </p:sp>
      <p:sp>
        <p:nvSpPr>
          <p:cNvPr id="46" name="Shape 43"/>
          <p:cNvSpPr/>
          <p:nvPr/>
        </p:nvSpPr>
        <p:spPr>
          <a:xfrm>
            <a:off x="6405880" y="2505456"/>
            <a:ext cx="1750568" cy="347472"/>
          </a:xfrm>
          <a:prstGeom prst="homePlate">
            <a:avLst/>
          </a:prstGeom>
          <a:solidFill>
            <a:srgbClr val="FFF2E6"/>
          </a:solidFill>
          <a:ln w="15875">
            <a:solidFill>
              <a:srgbClr val="C55A11"/>
            </a:solidFill>
            <a:prstDash val="dash"/>
          </a:ln>
        </p:spPr>
      </p:sp>
      <p:sp>
        <p:nvSpPr>
          <p:cNvPr id="47" name="Text 44"/>
          <p:cNvSpPr txBox="1"/>
          <p:nvPr/>
        </p:nvSpPr>
        <p:spPr>
          <a:xfrm>
            <a:off x="6460744" y="2505456"/>
            <a:ext cx="1574089" cy="347472"/>
          </a:xfrm>
          <a:prstGeom prst="rect">
            <a:avLst/>
          </a:prstGeom>
          <a:noFill/>
          <a:ln/>
        </p:spPr>
        <p:txBody>
          <a:bodyPr wrap="square" lIns="0" tIns="0" rIns="0" bIns="0" rtlCol="0" anchor="ctr">
            <a:normAutofit/>
          </a:bodyPr>
          <a:lstStyle/>
          <a:p>
            <a:pPr algn="l" indent="0" marL="0">
              <a:buNone/>
            </a:pPr>
            <a:r>
              <a:rPr lang="en-US" sz="1050" b="1" dirty="0">
                <a:solidFill>
                  <a:srgbClr val="843C0C"/>
                </a:solidFill>
                <a:latin typeface="Arial" pitchFamily="34" charset="0"/>
                <a:ea typeface="Yu Gothic"/>
                <a:cs typeface="Arial" pitchFamily="34" charset="-120"/>
              </a:rPr>
              <a:t>3D DRAM</a:t>
            </a:r>
            <a:endParaRPr lang="en-US" sz="1050" dirty="0"/>
          </a:p>
          <a:p>
            <a:pPr algn="l" indent="0" marL="0">
              <a:buNone/>
            </a:pPr>
            <a:r>
              <a:rPr lang="en-US" sz="900" dirty="0">
                <a:solidFill>
                  <a:srgbClr val="843C0C"/>
                </a:solidFill>
                <a:latin typeface="Arial" pitchFamily="34" charset="0"/>
                <a:ea typeface="Yu Gothic"/>
                <a:cs typeface="Arial" pitchFamily="34" charset="-120"/>
              </a:rPr>
              <a:t>2030年目標</a:t>
            </a:r>
            <a:endParaRPr lang="en-US" sz="1050" dirty="0"/>
          </a:p>
        </p:txBody>
      </p:sp>
      <p:sp>
        <p:nvSpPr>
          <p:cNvPr id="48" name="Shape 45"/>
          <p:cNvSpPr/>
          <p:nvPr/>
        </p:nvSpPr>
        <p:spPr>
          <a:xfrm>
            <a:off x="1783080" y="3017520"/>
            <a:ext cx="1039368" cy="347472"/>
          </a:xfrm>
          <a:prstGeom prst="homePlate">
            <a:avLst/>
          </a:prstGeom>
          <a:solidFill>
            <a:srgbClr val="2F5597"/>
          </a:solidFill>
          <a:ln/>
        </p:spPr>
      </p:sp>
      <p:sp>
        <p:nvSpPr>
          <p:cNvPr id="49" name="Text 46"/>
          <p:cNvSpPr txBox="1"/>
          <p:nvPr/>
        </p:nvSpPr>
        <p:spPr>
          <a:xfrm>
            <a:off x="1837944" y="3017520"/>
            <a:ext cx="8628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1b</a:t>
            </a:r>
            <a:endParaRPr lang="en-US" sz="1050" dirty="0"/>
          </a:p>
        </p:txBody>
      </p:sp>
      <p:sp>
        <p:nvSpPr>
          <p:cNvPr id="50" name="Shape 47"/>
          <p:cNvSpPr/>
          <p:nvPr/>
        </p:nvSpPr>
        <p:spPr>
          <a:xfrm>
            <a:off x="2849880" y="3017520"/>
            <a:ext cx="889000" cy="347472"/>
          </a:xfrm>
          <a:prstGeom prst="rect">
            <a:avLst/>
          </a:prstGeom>
          <a:solidFill>
            <a:srgbClr val="2F5597"/>
          </a:solidFill>
          <a:ln/>
        </p:spPr>
      </p:sp>
      <p:sp>
        <p:nvSpPr>
          <p:cNvPr id="51" name="Shape 48"/>
          <p:cNvSpPr/>
          <p:nvPr/>
        </p:nvSpPr>
        <p:spPr>
          <a:xfrm>
            <a:off x="3738880" y="3017520"/>
            <a:ext cx="505968" cy="347472"/>
          </a:xfrm>
          <a:prstGeom prst="homePlate">
            <a:avLst/>
          </a:prstGeom>
          <a:solidFill>
            <a:srgbClr val="ED7D31"/>
          </a:solidFill>
          <a:ln/>
        </p:spPr>
      </p:sp>
      <p:sp>
        <p:nvSpPr>
          <p:cNvPr id="52" name="Text 49"/>
          <p:cNvSpPr txBox="1"/>
          <p:nvPr/>
        </p:nvSpPr>
        <p:spPr>
          <a:xfrm>
            <a:off x="2904744" y="3017520"/>
            <a:ext cx="12184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1c</a:t>
            </a:r>
            <a:endParaRPr lang="en-US" sz="1050" dirty="0"/>
          </a:p>
          <a:p>
            <a:pPr algn="l" indent="0" marL="0">
              <a:buNone/>
            </a:pPr>
            <a:r>
              <a:rPr lang="en-US" sz="900" dirty="0">
                <a:solidFill>
                  <a:srgbClr val="FFFFFF"/>
                </a:solidFill>
                <a:latin typeface="Arial" pitchFamily="34" charset="0"/>
                <a:ea typeface="Yu Gothic"/>
                <a:cs typeface="Arial" pitchFamily="34" charset="-120"/>
              </a:rPr>
              <a:t>EUV 6層</a:t>
            </a:r>
            <a:endParaRPr lang="en-US" sz="1050" dirty="0"/>
          </a:p>
        </p:txBody>
      </p:sp>
      <p:sp>
        <p:nvSpPr>
          <p:cNvPr id="53" name="Shape 50"/>
          <p:cNvSpPr/>
          <p:nvPr/>
        </p:nvSpPr>
        <p:spPr>
          <a:xfrm>
            <a:off x="4272280" y="3017520"/>
            <a:ext cx="1039368" cy="347472"/>
          </a:xfrm>
          <a:prstGeom prst="homePlate">
            <a:avLst/>
          </a:prstGeom>
          <a:solidFill>
            <a:srgbClr val="ED7D31"/>
          </a:solidFill>
          <a:ln/>
        </p:spPr>
      </p:sp>
      <p:sp>
        <p:nvSpPr>
          <p:cNvPr id="54" name="Text 51"/>
          <p:cNvSpPr txBox="1"/>
          <p:nvPr/>
        </p:nvSpPr>
        <p:spPr>
          <a:xfrm>
            <a:off x="4327144" y="3017520"/>
            <a:ext cx="8628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1d</a:t>
            </a:r>
            <a:endParaRPr lang="en-US" sz="1050" dirty="0"/>
          </a:p>
        </p:txBody>
      </p:sp>
      <p:sp>
        <p:nvSpPr>
          <p:cNvPr id="55" name="Shape 52"/>
          <p:cNvSpPr/>
          <p:nvPr/>
        </p:nvSpPr>
        <p:spPr>
          <a:xfrm>
            <a:off x="5339080" y="3017520"/>
            <a:ext cx="1039368" cy="347472"/>
          </a:xfrm>
          <a:prstGeom prst="homePlate">
            <a:avLst/>
          </a:prstGeom>
          <a:solidFill>
            <a:srgbClr val="FFF2E6"/>
          </a:solidFill>
          <a:ln w="15875">
            <a:solidFill>
              <a:srgbClr val="C55A11"/>
            </a:solidFill>
            <a:prstDash val="dash"/>
          </a:ln>
        </p:spPr>
      </p:sp>
      <p:sp>
        <p:nvSpPr>
          <p:cNvPr id="56" name="Text 53"/>
          <p:cNvSpPr txBox="1"/>
          <p:nvPr/>
        </p:nvSpPr>
        <p:spPr>
          <a:xfrm>
            <a:off x="5393944" y="3017520"/>
            <a:ext cx="862889" cy="347472"/>
          </a:xfrm>
          <a:prstGeom prst="rect">
            <a:avLst/>
          </a:prstGeom>
          <a:noFill/>
          <a:ln/>
        </p:spPr>
        <p:txBody>
          <a:bodyPr wrap="square" lIns="0" tIns="0" rIns="0" bIns="0" rtlCol="0" anchor="ctr">
            <a:normAutofit/>
          </a:bodyPr>
          <a:lstStyle/>
          <a:p>
            <a:pPr algn="l" indent="0" marL="0">
              <a:buNone/>
            </a:pPr>
            <a:r>
              <a:rPr lang="en-US" sz="1050" b="1" dirty="0">
                <a:solidFill>
                  <a:srgbClr val="843C0C"/>
                </a:solidFill>
                <a:latin typeface="Arial" pitchFamily="34" charset="0"/>
                <a:ea typeface="Yu Gothic"/>
                <a:cs typeface="Arial" pitchFamily="34" charset="-120"/>
              </a:rPr>
              <a:t>0a</a:t>
            </a:r>
            <a:endParaRPr lang="en-US" sz="1050" dirty="0"/>
          </a:p>
        </p:txBody>
      </p:sp>
      <p:sp>
        <p:nvSpPr>
          <p:cNvPr id="57" name="Shape 54"/>
          <p:cNvSpPr/>
          <p:nvPr/>
        </p:nvSpPr>
        <p:spPr>
          <a:xfrm>
            <a:off x="6405880" y="3410712"/>
            <a:ext cx="1750568" cy="347472"/>
          </a:xfrm>
          <a:prstGeom prst="homePlate">
            <a:avLst/>
          </a:prstGeom>
          <a:solidFill>
            <a:srgbClr val="FFF2E6"/>
          </a:solidFill>
          <a:ln w="15875">
            <a:solidFill>
              <a:srgbClr val="C55A11"/>
            </a:solidFill>
            <a:prstDash val="dash"/>
          </a:ln>
        </p:spPr>
      </p:sp>
      <p:sp>
        <p:nvSpPr>
          <p:cNvPr id="58" name="Text 55"/>
          <p:cNvSpPr txBox="1"/>
          <p:nvPr/>
        </p:nvSpPr>
        <p:spPr>
          <a:xfrm>
            <a:off x="6460744" y="3410712"/>
            <a:ext cx="1574089" cy="347472"/>
          </a:xfrm>
          <a:prstGeom prst="rect">
            <a:avLst/>
          </a:prstGeom>
          <a:noFill/>
          <a:ln/>
        </p:spPr>
        <p:txBody>
          <a:bodyPr wrap="square" lIns="0" tIns="0" rIns="0" bIns="0" rtlCol="0" anchor="ctr">
            <a:normAutofit/>
          </a:bodyPr>
          <a:lstStyle/>
          <a:p>
            <a:pPr algn="l" indent="0" marL="0">
              <a:buNone/>
            </a:pPr>
            <a:r>
              <a:rPr lang="en-US" sz="1050" b="1" dirty="0">
                <a:solidFill>
                  <a:srgbClr val="843C0C"/>
                </a:solidFill>
                <a:latin typeface="Arial" pitchFamily="34" charset="0"/>
                <a:ea typeface="Yu Gothic"/>
                <a:cs typeface="Arial" pitchFamily="34" charset="-120"/>
              </a:rPr>
              <a:t>4F² VG → 3D</a:t>
            </a:r>
            <a:endParaRPr lang="en-US" sz="1050" dirty="0"/>
          </a:p>
          <a:p>
            <a:pPr algn="l" indent="0" marL="0">
              <a:buNone/>
            </a:pPr>
            <a:r>
              <a:rPr lang="en-US" sz="900" dirty="0">
                <a:solidFill>
                  <a:srgbClr val="843C0C"/>
                </a:solidFill>
                <a:latin typeface="Arial" pitchFamily="34" charset="0"/>
                <a:ea typeface="Yu Gothic"/>
                <a:cs typeface="Arial" pitchFamily="34" charset="-120"/>
              </a:rPr>
              <a:t>2029〜31年の枠</a:t>
            </a:r>
            <a:endParaRPr lang="en-US" sz="1050" dirty="0"/>
          </a:p>
        </p:txBody>
      </p:sp>
      <p:sp>
        <p:nvSpPr>
          <p:cNvPr id="59" name="Shape 56"/>
          <p:cNvSpPr/>
          <p:nvPr/>
        </p:nvSpPr>
        <p:spPr>
          <a:xfrm>
            <a:off x="1783080" y="3922776"/>
            <a:ext cx="683768" cy="347472"/>
          </a:xfrm>
          <a:prstGeom prst="homePlate">
            <a:avLst/>
          </a:prstGeom>
          <a:solidFill>
            <a:srgbClr val="2F5597"/>
          </a:solidFill>
          <a:ln/>
        </p:spPr>
      </p:sp>
      <p:sp>
        <p:nvSpPr>
          <p:cNvPr id="60" name="Text 57"/>
          <p:cNvSpPr txBox="1"/>
          <p:nvPr/>
        </p:nvSpPr>
        <p:spPr>
          <a:xfrm>
            <a:off x="1837944" y="3922776"/>
            <a:ext cx="5072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1β</a:t>
            </a:r>
            <a:endParaRPr lang="en-US" sz="1050" dirty="0"/>
          </a:p>
        </p:txBody>
      </p:sp>
      <p:sp>
        <p:nvSpPr>
          <p:cNvPr id="61" name="Shape 58"/>
          <p:cNvSpPr/>
          <p:nvPr/>
        </p:nvSpPr>
        <p:spPr>
          <a:xfrm>
            <a:off x="2494280" y="3922776"/>
            <a:ext cx="1244600" cy="347472"/>
          </a:xfrm>
          <a:prstGeom prst="rect">
            <a:avLst/>
          </a:prstGeom>
          <a:solidFill>
            <a:srgbClr val="2F5597"/>
          </a:solidFill>
          <a:ln/>
        </p:spPr>
      </p:sp>
      <p:sp>
        <p:nvSpPr>
          <p:cNvPr id="62" name="Shape 59"/>
          <p:cNvSpPr/>
          <p:nvPr/>
        </p:nvSpPr>
        <p:spPr>
          <a:xfrm>
            <a:off x="3738880" y="3922776"/>
            <a:ext cx="505968" cy="347472"/>
          </a:xfrm>
          <a:prstGeom prst="homePlate">
            <a:avLst/>
          </a:prstGeom>
          <a:solidFill>
            <a:srgbClr val="ED7D31"/>
          </a:solidFill>
          <a:ln/>
        </p:spPr>
      </p:sp>
      <p:sp>
        <p:nvSpPr>
          <p:cNvPr id="63" name="Text 60"/>
          <p:cNvSpPr txBox="1"/>
          <p:nvPr/>
        </p:nvSpPr>
        <p:spPr>
          <a:xfrm>
            <a:off x="2549144" y="3922776"/>
            <a:ext cx="15740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1γ</a:t>
            </a:r>
            <a:endParaRPr lang="en-US" sz="1050" dirty="0"/>
          </a:p>
          <a:p>
            <a:pPr algn="l" indent="0" marL="0">
              <a:buNone/>
            </a:pPr>
            <a:r>
              <a:rPr lang="en-US" sz="900" dirty="0">
                <a:solidFill>
                  <a:srgbClr val="FFFFFF"/>
                </a:solidFill>
                <a:latin typeface="Arial" pitchFamily="34" charset="0"/>
                <a:ea typeface="Yu Gothic"/>
                <a:cs typeface="Arial" pitchFamily="34" charset="-120"/>
              </a:rPr>
              <a:t>初のEUV</a:t>
            </a:r>
            <a:endParaRPr lang="en-US" sz="1050" dirty="0"/>
          </a:p>
        </p:txBody>
      </p:sp>
      <p:sp>
        <p:nvSpPr>
          <p:cNvPr id="64" name="Shape 61"/>
          <p:cNvSpPr/>
          <p:nvPr/>
        </p:nvSpPr>
        <p:spPr>
          <a:xfrm>
            <a:off x="4272280" y="3922776"/>
            <a:ext cx="1394968" cy="347472"/>
          </a:xfrm>
          <a:prstGeom prst="homePlate">
            <a:avLst/>
          </a:prstGeom>
          <a:solidFill>
            <a:srgbClr val="FFF2E6"/>
          </a:solidFill>
          <a:ln w="15875">
            <a:solidFill>
              <a:srgbClr val="C55A11"/>
            </a:solidFill>
            <a:prstDash val="dash"/>
          </a:ln>
        </p:spPr>
      </p:sp>
      <p:sp>
        <p:nvSpPr>
          <p:cNvPr id="65" name="Text 62"/>
          <p:cNvSpPr txBox="1"/>
          <p:nvPr/>
        </p:nvSpPr>
        <p:spPr>
          <a:xfrm>
            <a:off x="4327144" y="3922776"/>
            <a:ext cx="1218489" cy="347472"/>
          </a:xfrm>
          <a:prstGeom prst="rect">
            <a:avLst/>
          </a:prstGeom>
          <a:noFill/>
          <a:ln/>
        </p:spPr>
        <p:txBody>
          <a:bodyPr wrap="square" lIns="0" tIns="0" rIns="0" bIns="0" rtlCol="0" anchor="ctr">
            <a:normAutofit/>
          </a:bodyPr>
          <a:lstStyle/>
          <a:p>
            <a:pPr algn="l" indent="0" marL="0">
              <a:buNone/>
            </a:pPr>
            <a:r>
              <a:rPr lang="en-US" sz="1050" b="1" dirty="0">
                <a:solidFill>
                  <a:srgbClr val="843C0C"/>
                </a:solidFill>
                <a:latin typeface="Arial" pitchFamily="34" charset="0"/>
                <a:ea typeface="Yu Gothic"/>
                <a:cs typeface="Arial" pitchFamily="34" charset="-120"/>
              </a:rPr>
              <a:t>1δ</a:t>
            </a:r>
            <a:endParaRPr lang="en-US" sz="1050" dirty="0"/>
          </a:p>
        </p:txBody>
      </p:sp>
      <p:sp>
        <p:nvSpPr>
          <p:cNvPr id="66" name="Shape 63"/>
          <p:cNvSpPr/>
          <p:nvPr/>
        </p:nvSpPr>
        <p:spPr>
          <a:xfrm>
            <a:off x="6050280" y="4315968"/>
            <a:ext cx="2106168" cy="347472"/>
          </a:xfrm>
          <a:prstGeom prst="homePlate">
            <a:avLst/>
          </a:prstGeom>
          <a:solidFill>
            <a:srgbClr val="FFF2E6"/>
          </a:solidFill>
          <a:ln w="15875">
            <a:solidFill>
              <a:srgbClr val="C55A11"/>
            </a:solidFill>
            <a:prstDash val="dash"/>
          </a:ln>
        </p:spPr>
      </p:sp>
      <p:sp>
        <p:nvSpPr>
          <p:cNvPr id="67" name="Text 64"/>
          <p:cNvSpPr txBox="1"/>
          <p:nvPr/>
        </p:nvSpPr>
        <p:spPr>
          <a:xfrm>
            <a:off x="6105144" y="4315968"/>
            <a:ext cx="1929689" cy="347472"/>
          </a:xfrm>
          <a:prstGeom prst="rect">
            <a:avLst/>
          </a:prstGeom>
          <a:noFill/>
          <a:ln/>
        </p:spPr>
        <p:txBody>
          <a:bodyPr wrap="square" lIns="0" tIns="0" rIns="0" bIns="0" rtlCol="0" anchor="ctr">
            <a:normAutofit/>
          </a:bodyPr>
          <a:lstStyle/>
          <a:p>
            <a:pPr algn="l" indent="0" marL="0">
              <a:buNone/>
            </a:pPr>
            <a:r>
              <a:rPr lang="en-US" sz="1050" b="1" dirty="0">
                <a:solidFill>
                  <a:srgbClr val="843C0C"/>
                </a:solidFill>
                <a:latin typeface="Arial" pitchFamily="34" charset="0"/>
                <a:ea typeface="Yu Gothic"/>
                <a:cs typeface="Arial" pitchFamily="34" charset="-120"/>
              </a:rPr>
              <a:t>3D DRAM</a:t>
            </a:r>
            <a:endParaRPr lang="en-US" sz="1050" dirty="0"/>
          </a:p>
          <a:p>
            <a:pPr algn="l" indent="0" marL="0">
              <a:buNone/>
            </a:pPr>
            <a:r>
              <a:rPr lang="en-US" sz="900" dirty="0">
                <a:solidFill>
                  <a:srgbClr val="843C0C"/>
                </a:solidFill>
                <a:latin typeface="Arial" pitchFamily="34" charset="0"/>
                <a:ea typeface="Yu Gothic"/>
                <a:cs typeface="Arial" pitchFamily="34" charset="-120"/>
              </a:rPr>
              <a:t>4F²を飛ばす（報道）</a:t>
            </a:r>
            <a:endParaRPr lang="en-US" sz="1050" dirty="0"/>
          </a:p>
        </p:txBody>
      </p:sp>
      <p:sp>
        <p:nvSpPr>
          <p:cNvPr id="68" name="Shape 65"/>
          <p:cNvSpPr/>
          <p:nvPr/>
        </p:nvSpPr>
        <p:spPr>
          <a:xfrm>
            <a:off x="1783080" y="4828032"/>
            <a:ext cx="1750568" cy="347472"/>
          </a:xfrm>
          <a:prstGeom prst="homePlate">
            <a:avLst/>
          </a:prstGeom>
          <a:solidFill>
            <a:srgbClr val="2F5597"/>
          </a:solidFill>
          <a:ln/>
        </p:spPr>
      </p:sp>
      <p:sp>
        <p:nvSpPr>
          <p:cNvPr id="69" name="Text 66"/>
          <p:cNvSpPr txBox="1"/>
          <p:nvPr/>
        </p:nvSpPr>
        <p:spPr>
          <a:xfrm>
            <a:off x="1837944" y="4828032"/>
            <a:ext cx="15740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1B</a:t>
            </a:r>
            <a:endParaRPr lang="en-US" sz="1050" dirty="0"/>
          </a:p>
        </p:txBody>
      </p:sp>
      <p:sp>
        <p:nvSpPr>
          <p:cNvPr id="70" name="Shape 67"/>
          <p:cNvSpPr/>
          <p:nvPr/>
        </p:nvSpPr>
        <p:spPr>
          <a:xfrm>
            <a:off x="3561080" y="4828032"/>
            <a:ext cx="177800" cy="347472"/>
          </a:xfrm>
          <a:prstGeom prst="rect">
            <a:avLst/>
          </a:prstGeom>
          <a:solidFill>
            <a:srgbClr val="2F5597"/>
          </a:solidFill>
          <a:ln/>
        </p:spPr>
      </p:sp>
      <p:sp>
        <p:nvSpPr>
          <p:cNvPr id="71" name="Shape 68"/>
          <p:cNvSpPr/>
          <p:nvPr/>
        </p:nvSpPr>
        <p:spPr>
          <a:xfrm>
            <a:off x="3738880" y="4828032"/>
            <a:ext cx="505968" cy="347472"/>
          </a:xfrm>
          <a:prstGeom prst="homePlate">
            <a:avLst/>
          </a:prstGeom>
          <a:solidFill>
            <a:srgbClr val="ED7D31"/>
          </a:solidFill>
          <a:ln/>
        </p:spPr>
      </p:sp>
      <p:sp>
        <p:nvSpPr>
          <p:cNvPr id="72" name="Text 69"/>
          <p:cNvSpPr txBox="1"/>
          <p:nvPr/>
        </p:nvSpPr>
        <p:spPr>
          <a:xfrm>
            <a:off x="3615944" y="4828032"/>
            <a:ext cx="5072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1C</a:t>
            </a:r>
            <a:endParaRPr lang="en-US" sz="1050" dirty="0"/>
          </a:p>
        </p:txBody>
      </p:sp>
      <p:sp>
        <p:nvSpPr>
          <p:cNvPr id="73" name="Shape 70"/>
          <p:cNvSpPr/>
          <p:nvPr/>
        </p:nvSpPr>
        <p:spPr>
          <a:xfrm>
            <a:off x="4272280" y="4828032"/>
            <a:ext cx="1750568" cy="347472"/>
          </a:xfrm>
          <a:prstGeom prst="homePlate">
            <a:avLst/>
          </a:prstGeom>
          <a:solidFill>
            <a:srgbClr val="ED7D31"/>
          </a:solidFill>
          <a:ln/>
        </p:spPr>
      </p:sp>
      <p:sp>
        <p:nvSpPr>
          <p:cNvPr id="74" name="Text 71"/>
          <p:cNvSpPr txBox="1"/>
          <p:nvPr/>
        </p:nvSpPr>
        <p:spPr>
          <a:xfrm>
            <a:off x="4327144" y="4828032"/>
            <a:ext cx="15740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1D</a:t>
            </a:r>
            <a:endParaRPr lang="en-US" sz="1050" dirty="0"/>
          </a:p>
          <a:p>
            <a:pPr algn="l" indent="0" marL="0">
              <a:buNone/>
            </a:pPr>
            <a:r>
              <a:rPr lang="en-US" sz="900" dirty="0">
                <a:solidFill>
                  <a:srgbClr val="FFFFFF"/>
                </a:solidFill>
                <a:latin typeface="Arial" pitchFamily="34" charset="0"/>
                <a:ea typeface="Yu Gothic"/>
                <a:cs typeface="Arial" pitchFamily="34" charset="-120"/>
              </a:rPr>
              <a:t>EUVを導入</a:t>
            </a:r>
            <a:endParaRPr lang="en-US" sz="1050" dirty="0"/>
          </a:p>
        </p:txBody>
      </p:sp>
      <p:sp>
        <p:nvSpPr>
          <p:cNvPr id="75" name="Shape 72"/>
          <p:cNvSpPr/>
          <p:nvPr/>
        </p:nvSpPr>
        <p:spPr>
          <a:xfrm>
            <a:off x="1783080" y="5340096"/>
            <a:ext cx="683768" cy="347472"/>
          </a:xfrm>
          <a:prstGeom prst="homePlate">
            <a:avLst/>
          </a:prstGeom>
          <a:solidFill>
            <a:srgbClr val="2F5597"/>
          </a:solidFill>
          <a:ln/>
        </p:spPr>
      </p:sp>
      <p:sp>
        <p:nvSpPr>
          <p:cNvPr id="76" name="Text 73"/>
          <p:cNvSpPr txBox="1"/>
          <p:nvPr/>
        </p:nvSpPr>
        <p:spPr>
          <a:xfrm>
            <a:off x="1837944" y="5340096"/>
            <a:ext cx="5072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G3</a:t>
            </a:r>
            <a:endParaRPr lang="en-US" sz="1050" dirty="0"/>
          </a:p>
        </p:txBody>
      </p:sp>
      <p:sp>
        <p:nvSpPr>
          <p:cNvPr id="77" name="Shape 74"/>
          <p:cNvSpPr/>
          <p:nvPr/>
        </p:nvSpPr>
        <p:spPr>
          <a:xfrm>
            <a:off x="2494280" y="5340096"/>
            <a:ext cx="1039368" cy="347472"/>
          </a:xfrm>
          <a:prstGeom prst="homePlate">
            <a:avLst/>
          </a:prstGeom>
          <a:solidFill>
            <a:srgbClr val="2F5597"/>
          </a:solidFill>
          <a:ln/>
        </p:spPr>
      </p:sp>
      <p:sp>
        <p:nvSpPr>
          <p:cNvPr id="78" name="Text 75"/>
          <p:cNvSpPr txBox="1"/>
          <p:nvPr/>
        </p:nvSpPr>
        <p:spPr>
          <a:xfrm>
            <a:off x="2549144" y="5340096"/>
            <a:ext cx="8628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G4</a:t>
            </a:r>
            <a:endParaRPr lang="en-US" sz="1050" dirty="0"/>
          </a:p>
          <a:p>
            <a:pPr algn="l" indent="0" marL="0">
              <a:buNone/>
            </a:pPr>
            <a:r>
              <a:rPr lang="en-US" sz="900" dirty="0">
                <a:solidFill>
                  <a:srgbClr val="FFFFFF"/>
                </a:solidFill>
                <a:latin typeface="Arial" pitchFamily="34" charset="0"/>
                <a:ea typeface="Yu Gothic"/>
                <a:cs typeface="Arial" pitchFamily="34" charset="-120"/>
              </a:rPr>
              <a:t>16nm</a:t>
            </a:r>
            <a:endParaRPr lang="en-US" sz="1050" dirty="0"/>
          </a:p>
        </p:txBody>
      </p:sp>
      <p:sp>
        <p:nvSpPr>
          <p:cNvPr id="79" name="Shape 76"/>
          <p:cNvSpPr/>
          <p:nvPr/>
        </p:nvSpPr>
        <p:spPr>
          <a:xfrm>
            <a:off x="3561080" y="5340096"/>
            <a:ext cx="177800" cy="347472"/>
          </a:xfrm>
          <a:prstGeom prst="rect">
            <a:avLst/>
          </a:prstGeom>
          <a:solidFill>
            <a:srgbClr val="2F5597"/>
          </a:solidFill>
          <a:ln/>
        </p:spPr>
      </p:sp>
      <p:sp>
        <p:nvSpPr>
          <p:cNvPr id="80" name="Shape 77"/>
          <p:cNvSpPr/>
          <p:nvPr/>
        </p:nvSpPr>
        <p:spPr>
          <a:xfrm>
            <a:off x="3738880" y="5340096"/>
            <a:ext cx="1217168" cy="347472"/>
          </a:xfrm>
          <a:prstGeom prst="homePlate">
            <a:avLst/>
          </a:prstGeom>
          <a:solidFill>
            <a:srgbClr val="ED7D31"/>
          </a:solidFill>
          <a:ln/>
        </p:spPr>
      </p:sp>
      <p:sp>
        <p:nvSpPr>
          <p:cNvPr id="81" name="Text 78"/>
          <p:cNvSpPr txBox="1"/>
          <p:nvPr/>
        </p:nvSpPr>
        <p:spPr>
          <a:xfrm>
            <a:off x="3615944" y="5340096"/>
            <a:ext cx="1218489" cy="34747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rial" pitchFamily="34" charset="0"/>
                <a:ea typeface="Yu Gothic"/>
                <a:cs typeface="Arial" pitchFamily="34" charset="-120"/>
              </a:rPr>
              <a:t>G5</a:t>
            </a:r>
            <a:endParaRPr lang="en-US" sz="1050" dirty="0"/>
          </a:p>
          <a:p>
            <a:pPr algn="l" indent="0" marL="0">
              <a:buNone/>
            </a:pPr>
            <a:r>
              <a:rPr lang="en-US" sz="900" dirty="0">
                <a:solidFill>
                  <a:srgbClr val="FFFFFF"/>
                </a:solidFill>
                <a:latin typeface="Arial" pitchFamily="34" charset="0"/>
                <a:ea typeface="Yu Gothic"/>
                <a:cs typeface="Arial" pitchFamily="34" charset="-120"/>
              </a:rPr>
              <a:t>11.95nm※・EUVなし</a:t>
            </a:r>
            <a:endParaRPr lang="en-US" sz="1050" dirty="0"/>
          </a:p>
        </p:txBody>
      </p:sp>
      <p:sp>
        <p:nvSpPr>
          <p:cNvPr id="82" name="Shape 79"/>
          <p:cNvSpPr/>
          <p:nvPr/>
        </p:nvSpPr>
        <p:spPr>
          <a:xfrm>
            <a:off x="1783080" y="5907024"/>
            <a:ext cx="365760" cy="237744"/>
          </a:xfrm>
          <a:prstGeom prst="homePlate">
            <a:avLst/>
          </a:prstGeom>
          <a:solidFill>
            <a:srgbClr val="2F5597"/>
          </a:solidFill>
          <a:ln/>
        </p:spPr>
      </p:sp>
      <p:sp>
        <p:nvSpPr>
          <p:cNvPr id="83" name="Text 80"/>
          <p:cNvSpPr txBox="1"/>
          <p:nvPr/>
        </p:nvSpPr>
        <p:spPr>
          <a:xfrm>
            <a:off x="2221992" y="5907024"/>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実績</a:t>
            </a:r>
            <a:endParaRPr lang="en-US" sz="1050" dirty="0"/>
          </a:p>
        </p:txBody>
      </p:sp>
      <p:sp>
        <p:nvSpPr>
          <p:cNvPr id="84" name="Shape 81"/>
          <p:cNvSpPr/>
          <p:nvPr/>
        </p:nvSpPr>
        <p:spPr>
          <a:xfrm>
            <a:off x="2779776" y="5907024"/>
            <a:ext cx="365760" cy="237744"/>
          </a:xfrm>
          <a:prstGeom prst="homePlate">
            <a:avLst/>
          </a:prstGeom>
          <a:solidFill>
            <a:srgbClr val="ED7D31"/>
          </a:solidFill>
          <a:ln/>
        </p:spPr>
      </p:sp>
      <p:sp>
        <p:nvSpPr>
          <p:cNvPr id="85" name="Text 82"/>
          <p:cNvSpPr txBox="1"/>
          <p:nvPr/>
        </p:nvSpPr>
        <p:spPr>
          <a:xfrm>
            <a:off x="3218688" y="5907024"/>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計画・見通し</a:t>
            </a:r>
            <a:endParaRPr lang="en-US" sz="1050" dirty="0"/>
          </a:p>
        </p:txBody>
      </p:sp>
      <p:sp>
        <p:nvSpPr>
          <p:cNvPr id="86" name="Shape 83"/>
          <p:cNvSpPr/>
          <p:nvPr/>
        </p:nvSpPr>
        <p:spPr>
          <a:xfrm>
            <a:off x="4251960" y="5907024"/>
            <a:ext cx="365760" cy="237744"/>
          </a:xfrm>
          <a:prstGeom prst="homePlate">
            <a:avLst/>
          </a:prstGeom>
          <a:solidFill>
            <a:srgbClr val="FFF2E6"/>
          </a:solidFill>
          <a:ln w="12700">
            <a:solidFill>
              <a:srgbClr val="C55A11"/>
            </a:solidFill>
            <a:prstDash val="dash"/>
          </a:ln>
        </p:spPr>
      </p:sp>
      <p:sp>
        <p:nvSpPr>
          <p:cNvPr id="87" name="Text 84"/>
          <p:cNvSpPr txBox="1"/>
          <p:nvPr/>
        </p:nvSpPr>
        <p:spPr>
          <a:xfrm>
            <a:off x="4690872" y="5907024"/>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報道・確度の低い予想</a:t>
            </a:r>
            <a:endParaRPr lang="en-US" sz="1050" dirty="0"/>
          </a:p>
        </p:txBody>
      </p:sp>
      <p:sp>
        <p:nvSpPr>
          <p:cNvPr id="88" name="Text 85"/>
          <p:cNvSpPr txBox="1"/>
          <p:nvPr/>
        </p:nvSpPr>
        <p:spPr>
          <a:xfrm>
            <a:off x="8458200" y="1783080"/>
            <a:ext cx="3182112" cy="4206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大手3社は1d（2027〜28年）まで今の6F²を使う</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Samsungの0a（10nm未満）は周辺回路の貼り合わせから。VCT版は別扱いに（2026年9月の報道）</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Micronは4F²を飛ばして3D DRAMへ（報道）</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NanyaはEUVを2027年に導入。CXMTはEUVなしで量産を続ける</a:t>
            </a:r>
            <a:endParaRPr lang="en-US" sz="1400" dirty="0"/>
          </a:p>
        </p:txBody>
      </p:sp>
      <p:sp>
        <p:nvSpPr>
          <p:cNvPr id="89" name="Text 86"/>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出典：Samsung・SK hynix・Micron・Nanya・CXMTの発表、DIGITIMES、ZDNet Korea、The Elec、TrendForce（※CXMTの値は他社と数え方が違う）</a:t>
            </a:r>
            <a:endParaRPr lang="en-US" sz="950" dirty="0"/>
          </a:p>
        </p:txBody>
      </p:sp>
      <p:sp>
        <p:nvSpPr>
          <p:cNvPr id="90" name="Text 87"/>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3C8D5A"/>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3C8D5A"/>
                </a:solidFill>
                <a:latin typeface="Arial" pitchFamily="34" charset="0"/>
                <a:ea typeface="Yu Gothic"/>
                <a:cs typeface="Arial" pitchFamily="34" charset="-120"/>
              </a:rPr>
              <a:t>DRAM</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DRAM：10nm未満を支える4つの技術</a:t>
            </a:r>
            <a:endParaRPr lang="en-US" sz="2400" dirty="0"/>
          </a:p>
        </p:txBody>
      </p:sp>
      <p:sp>
        <p:nvSpPr>
          <p:cNvPr id="6" name="Shape 3"/>
          <p:cNvSpPr/>
          <p:nvPr/>
        </p:nvSpPr>
        <p:spPr>
          <a:xfrm>
            <a:off x="548640" y="1737360"/>
            <a:ext cx="5449824" cy="1993392"/>
          </a:xfrm>
          <a:prstGeom prst="roundRect">
            <a:avLst>
              <a:gd name="adj" fmla="val 4587"/>
            </a:avLst>
          </a:prstGeom>
          <a:solidFill>
            <a:srgbClr val="F3F5F8"/>
          </a:solidFill>
          <a:ln/>
        </p:spPr>
      </p:sp>
      <p:sp>
        <p:nvSpPr>
          <p:cNvPr id="7" name="Shape 4"/>
          <p:cNvSpPr/>
          <p:nvPr/>
        </p:nvSpPr>
        <p:spPr>
          <a:xfrm>
            <a:off x="777240" y="1938528"/>
            <a:ext cx="548640" cy="548640"/>
          </a:xfrm>
          <a:prstGeom prst="ellipse">
            <a:avLst/>
          </a:prstGeom>
          <a:solidFill>
            <a:srgbClr val="3C8D5A"/>
          </a:solidFill>
          <a:ln/>
        </p:spPr>
      </p:sp>
      <p:pic>
        <p:nvPicPr>
          <p:cNvPr id="8" name="Image 1" descr="preencoded.png">    </p:cNvPr>
          <p:cNvPicPr>
            <a:picLocks noChangeAspect="1"/>
          </p:cNvPicPr>
          <p:nvPr/>
        </p:nvPicPr>
        <p:blipFill>
          <a:blip r:embed="rId2"/>
          <a:stretch>
            <a:fillRect/>
          </a:stretch>
        </p:blipFill>
        <p:spPr>
          <a:xfrm>
            <a:off x="914400" y="2075688"/>
            <a:ext cx="274320" cy="274320"/>
          </a:xfrm>
          <a:prstGeom prst="rect">
            <a:avLst/>
          </a:prstGeom>
        </p:spPr>
      </p:pic>
      <p:sp>
        <p:nvSpPr>
          <p:cNvPr id="9" name="Text 5"/>
          <p:cNvSpPr txBox="1"/>
          <p:nvPr/>
        </p:nvSpPr>
        <p:spPr>
          <a:xfrm>
            <a:off x="1463040" y="1938528"/>
            <a:ext cx="2340864" cy="54864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周辺回路の貼り合わせ</a:t>
            </a:r>
            <a:endParaRPr lang="en-US" sz="1700" dirty="0"/>
          </a:p>
        </p:txBody>
      </p:sp>
      <p:sp>
        <p:nvSpPr>
          <p:cNvPr id="10" name="Shape 6"/>
          <p:cNvSpPr/>
          <p:nvPr/>
        </p:nvSpPr>
        <p:spPr>
          <a:xfrm>
            <a:off x="3877056" y="2093976"/>
            <a:ext cx="603504" cy="237744"/>
          </a:xfrm>
          <a:prstGeom prst="roundRect">
            <a:avLst>
              <a:gd name="adj" fmla="val 19231"/>
            </a:avLst>
          </a:prstGeom>
          <a:solidFill>
            <a:srgbClr val="ED7D31"/>
          </a:solidFill>
          <a:ln/>
        </p:spPr>
      </p:sp>
      <p:sp>
        <p:nvSpPr>
          <p:cNvPr id="11" name="Text 7"/>
          <p:cNvSpPr txBox="1"/>
          <p:nvPr/>
        </p:nvSpPr>
        <p:spPr>
          <a:xfrm>
            <a:off x="3877056" y="2093976"/>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研究</a:t>
            </a:r>
            <a:endParaRPr lang="en-US" sz="1000" dirty="0"/>
          </a:p>
        </p:txBody>
      </p:sp>
      <p:sp>
        <p:nvSpPr>
          <p:cNvPr id="12" name="Shape 8"/>
          <p:cNvSpPr/>
          <p:nvPr/>
        </p:nvSpPr>
        <p:spPr>
          <a:xfrm>
            <a:off x="4535424" y="2093976"/>
            <a:ext cx="603504" cy="237744"/>
          </a:xfrm>
          <a:prstGeom prst="roundRect">
            <a:avLst>
              <a:gd name="adj" fmla="val 19231"/>
            </a:avLst>
          </a:prstGeom>
          <a:solidFill>
            <a:srgbClr val="ED7D31"/>
          </a:solidFill>
          <a:ln/>
        </p:spPr>
      </p:sp>
      <p:sp>
        <p:nvSpPr>
          <p:cNvPr id="13" name="Text 9"/>
          <p:cNvSpPr txBox="1"/>
          <p:nvPr/>
        </p:nvSpPr>
        <p:spPr>
          <a:xfrm>
            <a:off x="4535424" y="2093976"/>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試作</a:t>
            </a:r>
            <a:endParaRPr lang="en-US" sz="1000" dirty="0"/>
          </a:p>
        </p:txBody>
      </p:sp>
      <p:sp>
        <p:nvSpPr>
          <p:cNvPr id="14" name="Shape 10"/>
          <p:cNvSpPr/>
          <p:nvPr/>
        </p:nvSpPr>
        <p:spPr>
          <a:xfrm>
            <a:off x="5193792" y="2093976"/>
            <a:ext cx="603504" cy="237744"/>
          </a:xfrm>
          <a:prstGeom prst="roundRect">
            <a:avLst>
              <a:gd name="adj" fmla="val 19231"/>
            </a:avLst>
          </a:prstGeom>
          <a:solidFill>
            <a:srgbClr val="ECEEF1"/>
          </a:solidFill>
          <a:ln/>
        </p:spPr>
      </p:sp>
      <p:sp>
        <p:nvSpPr>
          <p:cNvPr id="15" name="Text 11"/>
          <p:cNvSpPr txBox="1"/>
          <p:nvPr/>
        </p:nvSpPr>
        <p:spPr>
          <a:xfrm>
            <a:off x="5193792" y="2093976"/>
            <a:ext cx="603504" cy="237744"/>
          </a:xfrm>
          <a:prstGeom prst="rect">
            <a:avLst/>
          </a:prstGeom>
          <a:noFill/>
          <a:ln/>
        </p:spPr>
        <p:txBody>
          <a:bodyPr wrap="square" lIns="0" tIns="0" rIns="0" bIns="0" rtlCol="0" anchor="ctr"/>
          <a:lstStyle/>
          <a:p>
            <a:pPr algn="ctr" indent="0" marL="0">
              <a:buNone/>
            </a:pPr>
            <a:r>
              <a:rPr lang="en-US" sz="1000" dirty="0">
                <a:solidFill>
                  <a:srgbClr val="6A7380"/>
                </a:solidFill>
                <a:latin typeface="Arial" pitchFamily="34" charset="0"/>
                <a:ea typeface="Yu Gothic"/>
                <a:cs typeface="Arial" pitchFamily="34" charset="-120"/>
              </a:rPr>
              <a:t>量産</a:t>
            </a:r>
            <a:endParaRPr lang="en-US" sz="1000" dirty="0"/>
          </a:p>
        </p:txBody>
      </p:sp>
      <p:sp>
        <p:nvSpPr>
          <p:cNvPr id="16" name="Text 12"/>
          <p:cNvSpPr txBox="1"/>
          <p:nvPr/>
        </p:nvSpPr>
        <p:spPr>
          <a:xfrm>
            <a:off x="822960" y="2606040"/>
            <a:ext cx="4901184" cy="685800"/>
          </a:xfrm>
          <a:prstGeom prst="rect">
            <a:avLst/>
          </a:prstGeom>
          <a:noFill/>
          <a:ln/>
        </p:spPr>
        <p:txBody>
          <a:bodyPr wrap="square" lIns="0" tIns="0" rIns="0" bIns="0" rtlCol="0" anchor="t"/>
          <a:lstStyle/>
          <a:p>
            <a:pPr indent="0" marL="0">
              <a:buNone/>
            </a:pPr>
            <a:r>
              <a:rPr lang="en-US" sz="1400" dirty="0">
                <a:solidFill>
                  <a:srgbClr val="333D4A"/>
                </a:solidFill>
                <a:latin typeface="Arial" pitchFamily="34" charset="0"/>
                <a:ea typeface="Yu Gothic"/>
                <a:cs typeface="Arial" pitchFamily="34" charset="-120"/>
              </a:rPr>
              <a:t>セル（記憶部）と周辺回路を別々のウェハで作り、重ねて接合する。NANDでは量産済み。</a:t>
            </a:r>
            <a:endParaRPr lang="en-US" sz="1400" dirty="0"/>
          </a:p>
        </p:txBody>
      </p:sp>
      <p:sp>
        <p:nvSpPr>
          <p:cNvPr id="17" name="Text 13"/>
          <p:cNvSpPr txBox="1"/>
          <p:nvPr/>
        </p:nvSpPr>
        <p:spPr>
          <a:xfrm>
            <a:off x="822960" y="3291840"/>
            <a:ext cx="4901184" cy="320040"/>
          </a:xfrm>
          <a:prstGeom prst="rect">
            <a:avLst/>
          </a:prstGeom>
          <a:noFill/>
          <a:ln/>
        </p:spPr>
        <p:txBody>
          <a:bodyPr wrap="square" lIns="0" tIns="0" rIns="0" bIns="0" rtlCol="0" anchor="ctr"/>
          <a:lstStyle/>
          <a:p>
            <a:pPr indent="0" marL="0">
              <a:buNone/>
            </a:pPr>
            <a:r>
              <a:rPr lang="en-US" sz="1400" b="1" dirty="0">
                <a:solidFill>
                  <a:srgbClr val="ED7D31"/>
                </a:solidFill>
                <a:latin typeface="Arial" pitchFamily="34" charset="0"/>
                <a:ea typeface="Yu Gothic"/>
                <a:cs typeface="Arial" pitchFamily="34" charset="-120"/>
              </a:rPr>
              <a:t>2028年頃〜（Samsung 0a）</a:t>
            </a:r>
            <a:endParaRPr lang="en-US" sz="1400" dirty="0"/>
          </a:p>
        </p:txBody>
      </p:sp>
      <p:sp>
        <p:nvSpPr>
          <p:cNvPr id="18" name="Shape 14"/>
          <p:cNvSpPr/>
          <p:nvPr/>
        </p:nvSpPr>
        <p:spPr>
          <a:xfrm>
            <a:off x="6190488" y="1737360"/>
            <a:ext cx="5449824" cy="1993392"/>
          </a:xfrm>
          <a:prstGeom prst="roundRect">
            <a:avLst>
              <a:gd name="adj" fmla="val 4587"/>
            </a:avLst>
          </a:prstGeom>
          <a:solidFill>
            <a:srgbClr val="F3F5F8"/>
          </a:solidFill>
          <a:ln/>
        </p:spPr>
      </p:sp>
      <p:sp>
        <p:nvSpPr>
          <p:cNvPr id="19" name="Shape 15"/>
          <p:cNvSpPr/>
          <p:nvPr/>
        </p:nvSpPr>
        <p:spPr>
          <a:xfrm>
            <a:off x="6419088" y="1938528"/>
            <a:ext cx="548640" cy="548640"/>
          </a:xfrm>
          <a:prstGeom prst="ellipse">
            <a:avLst/>
          </a:prstGeom>
          <a:solidFill>
            <a:srgbClr val="3C8D5A"/>
          </a:solidFill>
          <a:ln/>
        </p:spPr>
      </p:sp>
      <p:pic>
        <p:nvPicPr>
          <p:cNvPr id="20" name="Image 2" descr="preencoded.png">    </p:cNvPr>
          <p:cNvPicPr>
            <a:picLocks noChangeAspect="1"/>
          </p:cNvPicPr>
          <p:nvPr/>
        </p:nvPicPr>
        <p:blipFill>
          <a:blip r:embed="rId3"/>
          <a:stretch>
            <a:fillRect/>
          </a:stretch>
        </p:blipFill>
        <p:spPr>
          <a:xfrm>
            <a:off x="6556248" y="2075688"/>
            <a:ext cx="274320" cy="274320"/>
          </a:xfrm>
          <a:prstGeom prst="rect">
            <a:avLst/>
          </a:prstGeom>
        </p:spPr>
      </p:pic>
      <p:sp>
        <p:nvSpPr>
          <p:cNvPr id="21" name="Text 16"/>
          <p:cNvSpPr txBox="1"/>
          <p:nvPr/>
        </p:nvSpPr>
        <p:spPr>
          <a:xfrm>
            <a:off x="7104888" y="1938528"/>
            <a:ext cx="2340864" cy="54864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High-NA EUV</a:t>
            </a:r>
            <a:endParaRPr lang="en-US" sz="1700" dirty="0"/>
          </a:p>
        </p:txBody>
      </p:sp>
      <p:sp>
        <p:nvSpPr>
          <p:cNvPr id="22" name="Shape 17"/>
          <p:cNvSpPr/>
          <p:nvPr/>
        </p:nvSpPr>
        <p:spPr>
          <a:xfrm>
            <a:off x="9518904" y="2093976"/>
            <a:ext cx="603504" cy="237744"/>
          </a:xfrm>
          <a:prstGeom prst="roundRect">
            <a:avLst>
              <a:gd name="adj" fmla="val 19231"/>
            </a:avLst>
          </a:prstGeom>
          <a:solidFill>
            <a:srgbClr val="ED7D31"/>
          </a:solidFill>
          <a:ln/>
        </p:spPr>
      </p:sp>
      <p:sp>
        <p:nvSpPr>
          <p:cNvPr id="23" name="Text 18"/>
          <p:cNvSpPr txBox="1"/>
          <p:nvPr/>
        </p:nvSpPr>
        <p:spPr>
          <a:xfrm>
            <a:off x="9518904" y="2093976"/>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研究</a:t>
            </a:r>
            <a:endParaRPr lang="en-US" sz="1000" dirty="0"/>
          </a:p>
        </p:txBody>
      </p:sp>
      <p:sp>
        <p:nvSpPr>
          <p:cNvPr id="24" name="Shape 19"/>
          <p:cNvSpPr/>
          <p:nvPr/>
        </p:nvSpPr>
        <p:spPr>
          <a:xfrm>
            <a:off x="10177272" y="2093976"/>
            <a:ext cx="603504" cy="237744"/>
          </a:xfrm>
          <a:prstGeom prst="roundRect">
            <a:avLst>
              <a:gd name="adj" fmla="val 19231"/>
            </a:avLst>
          </a:prstGeom>
          <a:solidFill>
            <a:srgbClr val="ED7D31"/>
          </a:solidFill>
          <a:ln/>
        </p:spPr>
      </p:sp>
      <p:sp>
        <p:nvSpPr>
          <p:cNvPr id="25" name="Text 20"/>
          <p:cNvSpPr txBox="1"/>
          <p:nvPr/>
        </p:nvSpPr>
        <p:spPr>
          <a:xfrm>
            <a:off x="10177272" y="2093976"/>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試作</a:t>
            </a:r>
            <a:endParaRPr lang="en-US" sz="1000" dirty="0"/>
          </a:p>
        </p:txBody>
      </p:sp>
      <p:sp>
        <p:nvSpPr>
          <p:cNvPr id="26" name="Shape 21"/>
          <p:cNvSpPr/>
          <p:nvPr/>
        </p:nvSpPr>
        <p:spPr>
          <a:xfrm>
            <a:off x="10835640" y="2093976"/>
            <a:ext cx="603504" cy="237744"/>
          </a:xfrm>
          <a:prstGeom prst="roundRect">
            <a:avLst>
              <a:gd name="adj" fmla="val 19231"/>
            </a:avLst>
          </a:prstGeom>
          <a:solidFill>
            <a:srgbClr val="ECEEF1"/>
          </a:solidFill>
          <a:ln/>
        </p:spPr>
      </p:sp>
      <p:sp>
        <p:nvSpPr>
          <p:cNvPr id="27" name="Text 22"/>
          <p:cNvSpPr txBox="1"/>
          <p:nvPr/>
        </p:nvSpPr>
        <p:spPr>
          <a:xfrm>
            <a:off x="10835640" y="2093976"/>
            <a:ext cx="603504" cy="237744"/>
          </a:xfrm>
          <a:prstGeom prst="rect">
            <a:avLst/>
          </a:prstGeom>
          <a:noFill/>
          <a:ln/>
        </p:spPr>
        <p:txBody>
          <a:bodyPr wrap="square" lIns="0" tIns="0" rIns="0" bIns="0" rtlCol="0" anchor="ctr"/>
          <a:lstStyle/>
          <a:p>
            <a:pPr algn="ctr" indent="0" marL="0">
              <a:buNone/>
            </a:pPr>
            <a:r>
              <a:rPr lang="en-US" sz="1000" dirty="0">
                <a:solidFill>
                  <a:srgbClr val="6A7380"/>
                </a:solidFill>
                <a:latin typeface="Arial" pitchFamily="34" charset="0"/>
                <a:ea typeface="Yu Gothic"/>
                <a:cs typeface="Arial" pitchFamily="34" charset="-120"/>
              </a:rPr>
              <a:t>量産</a:t>
            </a:r>
            <a:endParaRPr lang="en-US" sz="1000" dirty="0"/>
          </a:p>
        </p:txBody>
      </p:sp>
      <p:sp>
        <p:nvSpPr>
          <p:cNvPr id="28" name="Text 23"/>
          <p:cNvSpPr txBox="1"/>
          <p:nvPr/>
        </p:nvSpPr>
        <p:spPr>
          <a:xfrm>
            <a:off x="6464808" y="2606040"/>
            <a:ext cx="4901184" cy="685800"/>
          </a:xfrm>
          <a:prstGeom prst="rect">
            <a:avLst/>
          </a:prstGeom>
          <a:noFill/>
          <a:ln/>
        </p:spPr>
        <p:txBody>
          <a:bodyPr wrap="square" lIns="0" tIns="0" rIns="0" bIns="0" rtlCol="0" anchor="t"/>
          <a:lstStyle/>
          <a:p>
            <a:pPr indent="0" marL="0">
              <a:buNone/>
            </a:pPr>
            <a:r>
              <a:rPr lang="en-US" sz="1400" dirty="0">
                <a:solidFill>
                  <a:srgbClr val="333D4A"/>
                </a:solidFill>
                <a:latin typeface="Arial" pitchFamily="34" charset="0"/>
                <a:ea typeface="Yu Gothic"/>
                <a:cs typeface="Arial" pitchFamily="34" charset="-120"/>
              </a:rPr>
              <a:t>より細い線を一度で描ける露光装置。SK hynixが2025年9月に導入した。</a:t>
            </a:r>
            <a:endParaRPr lang="en-US" sz="1400" dirty="0"/>
          </a:p>
        </p:txBody>
      </p:sp>
      <p:sp>
        <p:nvSpPr>
          <p:cNvPr id="29" name="Text 24"/>
          <p:cNvSpPr txBox="1"/>
          <p:nvPr/>
        </p:nvSpPr>
        <p:spPr>
          <a:xfrm>
            <a:off x="6464808" y="3291840"/>
            <a:ext cx="4901184" cy="320040"/>
          </a:xfrm>
          <a:prstGeom prst="rect">
            <a:avLst/>
          </a:prstGeom>
          <a:noFill/>
          <a:ln/>
        </p:spPr>
        <p:txBody>
          <a:bodyPr wrap="square" lIns="0" tIns="0" rIns="0" bIns="0" rtlCol="0" anchor="ctr"/>
          <a:lstStyle/>
          <a:p>
            <a:pPr indent="0" marL="0">
              <a:buNone/>
            </a:pPr>
            <a:r>
              <a:rPr lang="en-US" sz="1400" b="1" dirty="0">
                <a:solidFill>
                  <a:srgbClr val="ED7D31"/>
                </a:solidFill>
                <a:latin typeface="Arial" pitchFamily="34" charset="0"/>
                <a:ea typeface="Yu Gothic"/>
                <a:cs typeface="Arial" pitchFamily="34" charset="-120"/>
              </a:rPr>
              <a:t>2028年に量産へ（Samsung・SK hynix）</a:t>
            </a:r>
            <a:endParaRPr lang="en-US" sz="1400" dirty="0"/>
          </a:p>
        </p:txBody>
      </p:sp>
      <p:sp>
        <p:nvSpPr>
          <p:cNvPr id="30" name="Shape 25"/>
          <p:cNvSpPr/>
          <p:nvPr/>
        </p:nvSpPr>
        <p:spPr>
          <a:xfrm>
            <a:off x="548640" y="3858768"/>
            <a:ext cx="5449824" cy="1993392"/>
          </a:xfrm>
          <a:prstGeom prst="roundRect">
            <a:avLst>
              <a:gd name="adj" fmla="val 4587"/>
            </a:avLst>
          </a:prstGeom>
          <a:solidFill>
            <a:srgbClr val="F3F5F8"/>
          </a:solidFill>
          <a:ln/>
        </p:spPr>
      </p:sp>
      <p:sp>
        <p:nvSpPr>
          <p:cNvPr id="31" name="Shape 26"/>
          <p:cNvSpPr/>
          <p:nvPr/>
        </p:nvSpPr>
        <p:spPr>
          <a:xfrm>
            <a:off x="777240" y="4059936"/>
            <a:ext cx="548640" cy="548640"/>
          </a:xfrm>
          <a:prstGeom prst="ellipse">
            <a:avLst/>
          </a:prstGeom>
          <a:solidFill>
            <a:srgbClr val="3C8D5A"/>
          </a:solidFill>
          <a:ln/>
        </p:spPr>
      </p:sp>
      <p:pic>
        <p:nvPicPr>
          <p:cNvPr id="32" name="Image 3" descr="preencoded.png">    </p:cNvPr>
          <p:cNvPicPr>
            <a:picLocks noChangeAspect="1"/>
          </p:cNvPicPr>
          <p:nvPr/>
        </p:nvPicPr>
        <p:blipFill>
          <a:blip r:embed="rId4"/>
          <a:stretch>
            <a:fillRect/>
          </a:stretch>
        </p:blipFill>
        <p:spPr>
          <a:xfrm>
            <a:off x="914400" y="4197096"/>
            <a:ext cx="274320" cy="274320"/>
          </a:xfrm>
          <a:prstGeom prst="rect">
            <a:avLst/>
          </a:prstGeom>
        </p:spPr>
      </p:pic>
      <p:sp>
        <p:nvSpPr>
          <p:cNvPr id="33" name="Text 27"/>
          <p:cNvSpPr txBox="1"/>
          <p:nvPr/>
        </p:nvSpPr>
        <p:spPr>
          <a:xfrm>
            <a:off x="1463040" y="4059936"/>
            <a:ext cx="2340864" cy="54864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IGZO（酸化物）</a:t>
            </a:r>
            <a:endParaRPr lang="en-US" sz="1700" dirty="0"/>
          </a:p>
        </p:txBody>
      </p:sp>
      <p:sp>
        <p:nvSpPr>
          <p:cNvPr id="34" name="Shape 28"/>
          <p:cNvSpPr/>
          <p:nvPr/>
        </p:nvSpPr>
        <p:spPr>
          <a:xfrm>
            <a:off x="3877056" y="4215384"/>
            <a:ext cx="603504" cy="237744"/>
          </a:xfrm>
          <a:prstGeom prst="roundRect">
            <a:avLst>
              <a:gd name="adj" fmla="val 19231"/>
            </a:avLst>
          </a:prstGeom>
          <a:solidFill>
            <a:srgbClr val="ED7D31"/>
          </a:solidFill>
          <a:ln/>
        </p:spPr>
      </p:sp>
      <p:sp>
        <p:nvSpPr>
          <p:cNvPr id="35" name="Text 29"/>
          <p:cNvSpPr txBox="1"/>
          <p:nvPr/>
        </p:nvSpPr>
        <p:spPr>
          <a:xfrm>
            <a:off x="3877056" y="4215384"/>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研究</a:t>
            </a:r>
            <a:endParaRPr lang="en-US" sz="1000" dirty="0"/>
          </a:p>
        </p:txBody>
      </p:sp>
      <p:sp>
        <p:nvSpPr>
          <p:cNvPr id="36" name="Shape 30"/>
          <p:cNvSpPr/>
          <p:nvPr/>
        </p:nvSpPr>
        <p:spPr>
          <a:xfrm>
            <a:off x="4535424" y="4215384"/>
            <a:ext cx="603504" cy="237744"/>
          </a:xfrm>
          <a:prstGeom prst="roundRect">
            <a:avLst>
              <a:gd name="adj" fmla="val 19231"/>
            </a:avLst>
          </a:prstGeom>
          <a:solidFill>
            <a:srgbClr val="ECEEF1"/>
          </a:solidFill>
          <a:ln/>
        </p:spPr>
      </p:sp>
      <p:sp>
        <p:nvSpPr>
          <p:cNvPr id="37" name="Text 31"/>
          <p:cNvSpPr txBox="1"/>
          <p:nvPr/>
        </p:nvSpPr>
        <p:spPr>
          <a:xfrm>
            <a:off x="4535424" y="4215384"/>
            <a:ext cx="603504" cy="237744"/>
          </a:xfrm>
          <a:prstGeom prst="rect">
            <a:avLst/>
          </a:prstGeom>
          <a:noFill/>
          <a:ln/>
        </p:spPr>
        <p:txBody>
          <a:bodyPr wrap="square" lIns="0" tIns="0" rIns="0" bIns="0" rtlCol="0" anchor="ctr"/>
          <a:lstStyle/>
          <a:p>
            <a:pPr algn="ctr" indent="0" marL="0">
              <a:buNone/>
            </a:pPr>
            <a:r>
              <a:rPr lang="en-US" sz="1000" dirty="0">
                <a:solidFill>
                  <a:srgbClr val="6A7380"/>
                </a:solidFill>
                <a:latin typeface="Arial" pitchFamily="34" charset="0"/>
                <a:ea typeface="Yu Gothic"/>
                <a:cs typeface="Arial" pitchFamily="34" charset="-120"/>
              </a:rPr>
              <a:t>試作</a:t>
            </a:r>
            <a:endParaRPr lang="en-US" sz="1000" dirty="0"/>
          </a:p>
        </p:txBody>
      </p:sp>
      <p:sp>
        <p:nvSpPr>
          <p:cNvPr id="38" name="Shape 32"/>
          <p:cNvSpPr/>
          <p:nvPr/>
        </p:nvSpPr>
        <p:spPr>
          <a:xfrm>
            <a:off x="5193792" y="4215384"/>
            <a:ext cx="603504" cy="237744"/>
          </a:xfrm>
          <a:prstGeom prst="roundRect">
            <a:avLst>
              <a:gd name="adj" fmla="val 19231"/>
            </a:avLst>
          </a:prstGeom>
          <a:solidFill>
            <a:srgbClr val="ECEEF1"/>
          </a:solidFill>
          <a:ln/>
        </p:spPr>
      </p:sp>
      <p:sp>
        <p:nvSpPr>
          <p:cNvPr id="39" name="Text 33"/>
          <p:cNvSpPr txBox="1"/>
          <p:nvPr/>
        </p:nvSpPr>
        <p:spPr>
          <a:xfrm>
            <a:off x="5193792" y="4215384"/>
            <a:ext cx="603504" cy="237744"/>
          </a:xfrm>
          <a:prstGeom prst="rect">
            <a:avLst/>
          </a:prstGeom>
          <a:noFill/>
          <a:ln/>
        </p:spPr>
        <p:txBody>
          <a:bodyPr wrap="square" lIns="0" tIns="0" rIns="0" bIns="0" rtlCol="0" anchor="ctr"/>
          <a:lstStyle/>
          <a:p>
            <a:pPr algn="ctr" indent="0" marL="0">
              <a:buNone/>
            </a:pPr>
            <a:r>
              <a:rPr lang="en-US" sz="1000" dirty="0">
                <a:solidFill>
                  <a:srgbClr val="6A7380"/>
                </a:solidFill>
                <a:latin typeface="Arial" pitchFamily="34" charset="0"/>
                <a:ea typeface="Yu Gothic"/>
                <a:cs typeface="Arial" pitchFamily="34" charset="-120"/>
              </a:rPr>
              <a:t>量産</a:t>
            </a:r>
            <a:endParaRPr lang="en-US" sz="1000" dirty="0"/>
          </a:p>
        </p:txBody>
      </p:sp>
      <p:sp>
        <p:nvSpPr>
          <p:cNvPr id="40" name="Text 34"/>
          <p:cNvSpPr txBox="1"/>
          <p:nvPr/>
        </p:nvSpPr>
        <p:spPr>
          <a:xfrm>
            <a:off x="822960" y="4727448"/>
            <a:ext cx="4901184" cy="685800"/>
          </a:xfrm>
          <a:prstGeom prst="rect">
            <a:avLst/>
          </a:prstGeom>
          <a:noFill/>
          <a:ln/>
        </p:spPr>
        <p:txBody>
          <a:bodyPr wrap="square" lIns="0" tIns="0" rIns="0" bIns="0" rtlCol="0" anchor="t"/>
          <a:lstStyle/>
          <a:p>
            <a:pPr indent="0" marL="0">
              <a:buNone/>
            </a:pPr>
            <a:r>
              <a:rPr lang="en-US" sz="1400" dirty="0">
                <a:solidFill>
                  <a:srgbClr val="333D4A"/>
                </a:solidFill>
                <a:latin typeface="Arial" pitchFamily="34" charset="0"/>
                <a:ea typeface="Yu Gothic"/>
                <a:cs typeface="Arial" pitchFamily="34" charset="-120"/>
              </a:rPr>
              <a:t>酸化物半導体のチャネル。漏れ電流がシリコンより桁違いに小さく、4F²や3Dの候補。</a:t>
            </a:r>
            <a:endParaRPr lang="en-US" sz="1400" dirty="0"/>
          </a:p>
        </p:txBody>
      </p:sp>
      <p:sp>
        <p:nvSpPr>
          <p:cNvPr id="41" name="Text 35"/>
          <p:cNvSpPr txBox="1"/>
          <p:nvPr/>
        </p:nvSpPr>
        <p:spPr>
          <a:xfrm>
            <a:off x="822960" y="5413248"/>
            <a:ext cx="4901184" cy="320040"/>
          </a:xfrm>
          <a:prstGeom prst="rect">
            <a:avLst/>
          </a:prstGeom>
          <a:noFill/>
          <a:ln/>
        </p:spPr>
        <p:txBody>
          <a:bodyPr wrap="square" lIns="0" tIns="0" rIns="0" bIns="0" rtlCol="0" anchor="ctr"/>
          <a:lstStyle/>
          <a:p>
            <a:pPr indent="0" marL="0">
              <a:buNone/>
            </a:pPr>
            <a:r>
              <a:rPr lang="en-US" sz="1400" b="1" dirty="0">
                <a:solidFill>
                  <a:srgbClr val="ED7D31"/>
                </a:solidFill>
                <a:latin typeface="Arial" pitchFamily="34" charset="0"/>
                <a:ea typeface="Yu Gothic"/>
                <a:cs typeface="Arial" pitchFamily="34" charset="-120"/>
              </a:rPr>
              <a:t>2030年代（研究段階）</a:t>
            </a:r>
            <a:endParaRPr lang="en-US" sz="1400" dirty="0"/>
          </a:p>
        </p:txBody>
      </p:sp>
      <p:sp>
        <p:nvSpPr>
          <p:cNvPr id="42" name="Shape 36"/>
          <p:cNvSpPr/>
          <p:nvPr/>
        </p:nvSpPr>
        <p:spPr>
          <a:xfrm>
            <a:off x="6190488" y="3858768"/>
            <a:ext cx="5449824" cy="1993392"/>
          </a:xfrm>
          <a:prstGeom prst="roundRect">
            <a:avLst>
              <a:gd name="adj" fmla="val 4587"/>
            </a:avLst>
          </a:prstGeom>
          <a:solidFill>
            <a:srgbClr val="F3F5F8"/>
          </a:solidFill>
          <a:ln/>
        </p:spPr>
      </p:sp>
      <p:sp>
        <p:nvSpPr>
          <p:cNvPr id="43" name="Shape 37"/>
          <p:cNvSpPr/>
          <p:nvPr/>
        </p:nvSpPr>
        <p:spPr>
          <a:xfrm>
            <a:off x="6419088" y="4059936"/>
            <a:ext cx="548640" cy="548640"/>
          </a:xfrm>
          <a:prstGeom prst="ellipse">
            <a:avLst/>
          </a:prstGeom>
          <a:solidFill>
            <a:srgbClr val="3C8D5A"/>
          </a:solidFill>
          <a:ln/>
        </p:spPr>
      </p:sp>
      <p:pic>
        <p:nvPicPr>
          <p:cNvPr id="44" name="Image 4" descr="preencoded.png">    </p:cNvPr>
          <p:cNvPicPr>
            <a:picLocks noChangeAspect="1"/>
          </p:cNvPicPr>
          <p:nvPr/>
        </p:nvPicPr>
        <p:blipFill>
          <a:blip r:embed="rId5"/>
          <a:stretch>
            <a:fillRect/>
          </a:stretch>
        </p:blipFill>
        <p:spPr>
          <a:xfrm>
            <a:off x="6556248" y="4197096"/>
            <a:ext cx="274320" cy="274320"/>
          </a:xfrm>
          <a:prstGeom prst="rect">
            <a:avLst/>
          </a:prstGeom>
        </p:spPr>
      </p:pic>
      <p:sp>
        <p:nvSpPr>
          <p:cNvPr id="45" name="Text 38"/>
          <p:cNvSpPr txBox="1"/>
          <p:nvPr/>
        </p:nvSpPr>
        <p:spPr>
          <a:xfrm>
            <a:off x="7104888" y="4059936"/>
            <a:ext cx="2340864" cy="548640"/>
          </a:xfrm>
          <a:prstGeom prst="rect">
            <a:avLst/>
          </a:prstGeom>
          <a:noFill/>
          <a:ln/>
        </p:spPr>
        <p:txBody>
          <a:bodyPr wrap="square" lIns="0" tIns="0" rIns="0" bIns="0" rtlCol="0" anchor="ctr"/>
          <a:lstStyle/>
          <a:p>
            <a:pPr indent="0" marL="0">
              <a:buNone/>
            </a:pPr>
            <a:r>
              <a:rPr lang="en-US" sz="1700" b="1" dirty="0">
                <a:solidFill>
                  <a:srgbClr val="1C2430"/>
                </a:solidFill>
                <a:latin typeface="Arial" pitchFamily="34" charset="0"/>
                <a:ea typeface="Yu Gothic"/>
                <a:cs typeface="Arial" pitchFamily="34" charset="-120"/>
              </a:rPr>
              <a:t>3D DRAM</a:t>
            </a:r>
            <a:endParaRPr lang="en-US" sz="1700" dirty="0"/>
          </a:p>
        </p:txBody>
      </p:sp>
      <p:sp>
        <p:nvSpPr>
          <p:cNvPr id="46" name="Shape 39"/>
          <p:cNvSpPr/>
          <p:nvPr/>
        </p:nvSpPr>
        <p:spPr>
          <a:xfrm>
            <a:off x="9518904" y="4215384"/>
            <a:ext cx="603504" cy="237744"/>
          </a:xfrm>
          <a:prstGeom prst="roundRect">
            <a:avLst>
              <a:gd name="adj" fmla="val 19231"/>
            </a:avLst>
          </a:prstGeom>
          <a:solidFill>
            <a:srgbClr val="ED7D31"/>
          </a:solidFill>
          <a:ln/>
        </p:spPr>
      </p:sp>
      <p:sp>
        <p:nvSpPr>
          <p:cNvPr id="47" name="Text 40"/>
          <p:cNvSpPr txBox="1"/>
          <p:nvPr/>
        </p:nvSpPr>
        <p:spPr>
          <a:xfrm>
            <a:off x="9518904" y="4215384"/>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研究</a:t>
            </a:r>
            <a:endParaRPr lang="en-US" sz="1000" dirty="0"/>
          </a:p>
        </p:txBody>
      </p:sp>
      <p:sp>
        <p:nvSpPr>
          <p:cNvPr id="48" name="Shape 41"/>
          <p:cNvSpPr/>
          <p:nvPr/>
        </p:nvSpPr>
        <p:spPr>
          <a:xfrm>
            <a:off x="10177272" y="4215384"/>
            <a:ext cx="603504" cy="237744"/>
          </a:xfrm>
          <a:prstGeom prst="roundRect">
            <a:avLst>
              <a:gd name="adj" fmla="val 19231"/>
            </a:avLst>
          </a:prstGeom>
          <a:solidFill>
            <a:srgbClr val="ED7D31"/>
          </a:solidFill>
          <a:ln/>
        </p:spPr>
      </p:sp>
      <p:sp>
        <p:nvSpPr>
          <p:cNvPr id="49" name="Text 42"/>
          <p:cNvSpPr txBox="1"/>
          <p:nvPr/>
        </p:nvSpPr>
        <p:spPr>
          <a:xfrm>
            <a:off x="10177272" y="4215384"/>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試作</a:t>
            </a:r>
            <a:endParaRPr lang="en-US" sz="1000" dirty="0"/>
          </a:p>
        </p:txBody>
      </p:sp>
      <p:sp>
        <p:nvSpPr>
          <p:cNvPr id="50" name="Shape 43"/>
          <p:cNvSpPr/>
          <p:nvPr/>
        </p:nvSpPr>
        <p:spPr>
          <a:xfrm>
            <a:off x="10835640" y="4215384"/>
            <a:ext cx="603504" cy="237744"/>
          </a:xfrm>
          <a:prstGeom prst="roundRect">
            <a:avLst>
              <a:gd name="adj" fmla="val 19231"/>
            </a:avLst>
          </a:prstGeom>
          <a:solidFill>
            <a:srgbClr val="ECEEF1"/>
          </a:solidFill>
          <a:ln/>
        </p:spPr>
      </p:sp>
      <p:sp>
        <p:nvSpPr>
          <p:cNvPr id="51" name="Text 44"/>
          <p:cNvSpPr txBox="1"/>
          <p:nvPr/>
        </p:nvSpPr>
        <p:spPr>
          <a:xfrm>
            <a:off x="10835640" y="4215384"/>
            <a:ext cx="603504" cy="237744"/>
          </a:xfrm>
          <a:prstGeom prst="rect">
            <a:avLst/>
          </a:prstGeom>
          <a:noFill/>
          <a:ln/>
        </p:spPr>
        <p:txBody>
          <a:bodyPr wrap="square" lIns="0" tIns="0" rIns="0" bIns="0" rtlCol="0" anchor="ctr"/>
          <a:lstStyle/>
          <a:p>
            <a:pPr algn="ctr" indent="0" marL="0">
              <a:buNone/>
            </a:pPr>
            <a:r>
              <a:rPr lang="en-US" sz="1000" dirty="0">
                <a:solidFill>
                  <a:srgbClr val="6A7380"/>
                </a:solidFill>
                <a:latin typeface="Arial" pitchFamily="34" charset="0"/>
                <a:ea typeface="Yu Gothic"/>
                <a:cs typeface="Arial" pitchFamily="34" charset="-120"/>
              </a:rPr>
              <a:t>量産</a:t>
            </a:r>
            <a:endParaRPr lang="en-US" sz="1000" dirty="0"/>
          </a:p>
        </p:txBody>
      </p:sp>
      <p:sp>
        <p:nvSpPr>
          <p:cNvPr id="52" name="Text 45"/>
          <p:cNvSpPr txBox="1"/>
          <p:nvPr/>
        </p:nvSpPr>
        <p:spPr>
          <a:xfrm>
            <a:off x="6464808" y="4727448"/>
            <a:ext cx="4901184" cy="685800"/>
          </a:xfrm>
          <a:prstGeom prst="rect">
            <a:avLst/>
          </a:prstGeom>
          <a:noFill/>
          <a:ln/>
        </p:spPr>
        <p:txBody>
          <a:bodyPr wrap="square" lIns="0" tIns="0" rIns="0" bIns="0" rtlCol="0" anchor="t"/>
          <a:lstStyle/>
          <a:p>
            <a:pPr indent="0" marL="0">
              <a:buNone/>
            </a:pPr>
            <a:r>
              <a:rPr lang="en-US" sz="1400" dirty="0">
                <a:solidFill>
                  <a:srgbClr val="333D4A"/>
                </a:solidFill>
                <a:latin typeface="Arial" pitchFamily="34" charset="0"/>
                <a:ea typeface="Yu Gothic"/>
                <a:cs typeface="Arial" pitchFamily="34" charset="-120"/>
              </a:rPr>
              <a:t>セルを横倒しにして積む。SK hynixが5層で試作（歩留まり56%）。</a:t>
            </a:r>
            <a:endParaRPr lang="en-US" sz="1400" dirty="0"/>
          </a:p>
        </p:txBody>
      </p:sp>
      <p:sp>
        <p:nvSpPr>
          <p:cNvPr id="53" name="Text 46"/>
          <p:cNvSpPr txBox="1"/>
          <p:nvPr/>
        </p:nvSpPr>
        <p:spPr>
          <a:xfrm>
            <a:off x="6464808" y="5413248"/>
            <a:ext cx="4901184" cy="320040"/>
          </a:xfrm>
          <a:prstGeom prst="rect">
            <a:avLst/>
          </a:prstGeom>
          <a:noFill/>
          <a:ln/>
        </p:spPr>
        <p:txBody>
          <a:bodyPr wrap="square" lIns="0" tIns="0" rIns="0" bIns="0" rtlCol="0" anchor="ctr"/>
          <a:lstStyle/>
          <a:p>
            <a:pPr indent="0" marL="0">
              <a:buNone/>
            </a:pPr>
            <a:r>
              <a:rPr lang="en-US" sz="1400" b="1" dirty="0">
                <a:solidFill>
                  <a:srgbClr val="ED7D31"/>
                </a:solidFill>
                <a:latin typeface="Arial" pitchFamily="34" charset="0"/>
                <a:ea typeface="Yu Gothic"/>
                <a:cs typeface="Arial" pitchFamily="34" charset="-120"/>
              </a:rPr>
              <a:t>各社の目標は2030年頃</a:t>
            </a:r>
            <a:endParaRPr lang="en-US" sz="1400" dirty="0"/>
          </a:p>
        </p:txBody>
      </p:sp>
      <p:sp>
        <p:nvSpPr>
          <p:cNvPr id="54" name="Text 47"/>
          <p:cNvSpPr txBox="1"/>
          <p:nvPr/>
        </p:nvSpPr>
        <p:spPr>
          <a:xfrm>
            <a:off x="548640" y="6016752"/>
            <a:ext cx="11094415" cy="274320"/>
          </a:xfrm>
          <a:prstGeom prst="rect">
            <a:avLst/>
          </a:prstGeom>
          <a:noFill/>
          <a:ln/>
        </p:spPr>
        <p:txBody>
          <a:bodyPr wrap="square" lIns="0" tIns="0" rIns="0" bIns="0" rtlCol="0" anchor="ctr"/>
          <a:lstStyle/>
          <a:p>
            <a:pPr indent="0" marL="0">
              <a:buNone/>
            </a:pPr>
            <a:r>
              <a:rPr lang="en-US" sz="1150" dirty="0">
                <a:solidFill>
                  <a:srgbClr val="6A7380"/>
                </a:solidFill>
                <a:latin typeface="Arial" pitchFamily="34" charset="0"/>
                <a:ea typeface="Yu Gothic"/>
                <a:cs typeface="Arial" pitchFamily="34" charset="-120"/>
              </a:rPr>
              <a:t>右上の3段階：研究 → 試作 → 量産。オレンジが今の到達段階。</a:t>
            </a:r>
            <a:endParaRPr lang="en-US" sz="1150" dirty="0"/>
          </a:p>
        </p:txBody>
      </p:sp>
      <p:sp>
        <p:nvSpPr>
          <p:cNvPr id="55" name="Text 48"/>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出典：The Elec（ISSCC 2026）、ZDNet Korea、SK hynix、eeNews Europe、TrendForce、imec、Kioxia、Yole</a:t>
            </a:r>
            <a:endParaRPr lang="en-US" sz="950" dirty="0"/>
          </a:p>
        </p:txBody>
      </p:sp>
      <p:sp>
        <p:nvSpPr>
          <p:cNvPr id="56" name="Text 49"/>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7B5EA7"/>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7B5EA7"/>
                </a:solidFill>
                <a:latin typeface="Arial" pitchFamily="34" charset="0"/>
                <a:ea typeface="Yu Gothic"/>
                <a:cs typeface="Arial" pitchFamily="34" charset="-120"/>
              </a:rPr>
              <a:t>NAND</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NAND：層数は9年で6倍超。2030〜31年に1000層級へ</a:t>
            </a:r>
            <a:endParaRPr lang="en-US" sz="2400" dirty="0"/>
          </a:p>
        </p:txBody>
      </p:sp>
      <p:graphicFrame>
        <p:nvGraphicFramePr>
          <p:cNvPr id="6" name="Chart 0" descr=""/>
          <p:cNvGraphicFramePr/>
          <p:nvPr/>
        </p:nvGraphicFramePr>
        <p:xfrm>
          <a:off x="548640" y="1737360"/>
          <a:ext cx="7315200" cy="43434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8229600" y="1828800"/>
            <a:ext cx="3429000" cy="640080"/>
          </a:xfrm>
          <a:prstGeom prst="rect">
            <a:avLst/>
          </a:prstGeom>
          <a:noFill/>
          <a:ln/>
        </p:spPr>
        <p:txBody>
          <a:bodyPr wrap="square" lIns="0" tIns="0" rIns="0" bIns="0" rtlCol="0" anchor="ctr"/>
          <a:lstStyle/>
          <a:p>
            <a:pPr indent="0" marL="0">
              <a:buNone/>
            </a:pPr>
            <a:r>
              <a:rPr lang="en-US" sz="3000" b="1" dirty="0">
                <a:solidFill>
                  <a:srgbClr val="7B5EA7"/>
                </a:solidFill>
                <a:latin typeface="Arial" pitchFamily="34" charset="0"/>
                <a:ea typeface="Yu Gothic"/>
                <a:cs typeface="Arial" pitchFamily="34" charset="-120"/>
              </a:rPr>
              <a:t>64層 → 400層超</a:t>
            </a:r>
            <a:endParaRPr lang="en-US" sz="3000" dirty="0"/>
          </a:p>
        </p:txBody>
      </p:sp>
      <p:sp>
        <p:nvSpPr>
          <p:cNvPr id="8" name="Text 4"/>
          <p:cNvSpPr txBox="1"/>
          <p:nvPr/>
        </p:nvSpPr>
        <p:spPr>
          <a:xfrm>
            <a:off x="8229600" y="2468880"/>
            <a:ext cx="3429000" cy="320040"/>
          </a:xfrm>
          <a:prstGeom prst="rect">
            <a:avLst/>
          </a:prstGeom>
          <a:noFill/>
          <a:ln/>
        </p:spPr>
        <p:txBody>
          <a:bodyPr wrap="square" lIns="0" tIns="0" rIns="0" bIns="0" rtlCol="0" anchor="ctr"/>
          <a:lstStyle/>
          <a:p>
            <a:pPr indent="0" marL="0">
              <a:buNone/>
            </a:pPr>
            <a:r>
              <a:rPr lang="en-US" sz="1300" dirty="0">
                <a:solidFill>
                  <a:srgbClr val="6A7380"/>
                </a:solidFill>
                <a:latin typeface="Arial" pitchFamily="34" charset="0"/>
                <a:ea typeface="Yu Gothic"/>
                <a:cs typeface="Arial" pitchFamily="34" charset="-120"/>
              </a:rPr>
              <a:t>2017年 → 2026年（Samsung V10）</a:t>
            </a:r>
            <a:endParaRPr lang="en-US" sz="1300" dirty="0"/>
          </a:p>
        </p:txBody>
      </p:sp>
      <p:sp>
        <p:nvSpPr>
          <p:cNvPr id="9" name="Text 5"/>
          <p:cNvSpPr txBox="1"/>
          <p:nvPr/>
        </p:nvSpPr>
        <p:spPr>
          <a:xfrm>
            <a:off x="8229600" y="3063240"/>
            <a:ext cx="3429000" cy="640080"/>
          </a:xfrm>
          <a:prstGeom prst="rect">
            <a:avLst/>
          </a:prstGeom>
          <a:noFill/>
          <a:ln/>
        </p:spPr>
        <p:txBody>
          <a:bodyPr wrap="square" lIns="0" tIns="0" rIns="0" bIns="0" rtlCol="0" anchor="ctr"/>
          <a:lstStyle/>
          <a:p>
            <a:pPr indent="0" marL="0">
              <a:buNone/>
            </a:pPr>
            <a:r>
              <a:rPr lang="en-US" sz="3000" b="1" dirty="0">
                <a:solidFill>
                  <a:srgbClr val="ED7D31"/>
                </a:solidFill>
                <a:latin typeface="Arial" pitchFamily="34" charset="0"/>
                <a:ea typeface="Yu Gothic"/>
                <a:cs typeface="Arial" pitchFamily="34" charset="-120"/>
              </a:rPr>
              <a:t>1000層級</a:t>
            </a:r>
            <a:endParaRPr lang="en-US" sz="3000" dirty="0"/>
          </a:p>
        </p:txBody>
      </p:sp>
      <p:sp>
        <p:nvSpPr>
          <p:cNvPr id="10" name="Text 6"/>
          <p:cNvSpPr txBox="1"/>
          <p:nvPr/>
        </p:nvSpPr>
        <p:spPr>
          <a:xfrm>
            <a:off x="8229600" y="3703320"/>
            <a:ext cx="3429000" cy="548640"/>
          </a:xfrm>
          <a:prstGeom prst="rect">
            <a:avLst/>
          </a:prstGeom>
          <a:noFill/>
          <a:ln/>
        </p:spPr>
        <p:txBody>
          <a:bodyPr wrap="square" lIns="0" tIns="0" rIns="0" bIns="0" rtlCol="0" anchor="t"/>
          <a:lstStyle/>
          <a:p>
            <a:pPr indent="0" marL="0">
              <a:buNone/>
            </a:pPr>
            <a:r>
              <a:rPr lang="en-US" sz="1300" dirty="0">
                <a:solidFill>
                  <a:srgbClr val="6A7380"/>
                </a:solidFill>
                <a:latin typeface="Arial" pitchFamily="34" charset="0"/>
                <a:ea typeface="Yu Gothic"/>
                <a:cs typeface="Arial" pitchFamily="34" charset="-120"/>
              </a:rPr>
              <a:t>Samsung 2030年まで、Kioxia 2031年まで（目標）</a:t>
            </a:r>
            <a:endParaRPr lang="en-US" sz="1300" dirty="0"/>
          </a:p>
        </p:txBody>
      </p:sp>
      <p:sp>
        <p:nvSpPr>
          <p:cNvPr id="11" name="Text 7"/>
          <p:cNvSpPr txBox="1"/>
          <p:nvPr/>
        </p:nvSpPr>
        <p:spPr>
          <a:xfrm>
            <a:off x="8229600" y="4434840"/>
            <a:ext cx="3429000" cy="1097280"/>
          </a:xfrm>
          <a:prstGeom prst="rect">
            <a:avLst/>
          </a:prstGeom>
          <a:noFill/>
          <a:ln/>
        </p:spPr>
        <p:txBody>
          <a:bodyPr wrap="square" lIns="0" tIns="0" rIns="0" bIns="0" rtlCol="0" anchor="t"/>
          <a:lstStyle/>
          <a:p>
            <a:pPr indent="0" marL="0">
              <a:buNone/>
            </a:pPr>
            <a:r>
              <a:rPr lang="en-US" sz="1500" b="1" dirty="0">
                <a:solidFill>
                  <a:srgbClr val="1C2430"/>
                </a:solidFill>
                <a:latin typeface="Arial" pitchFamily="34" charset="0"/>
                <a:ea typeface="Yu Gothic"/>
                <a:cs typeface="Arial" pitchFamily="34" charset="-120"/>
              </a:rPr>
              <a:t>層を増やす方法は「デッキを重ねる」から「ウェハごと重ねる」へ変わる。</a:t>
            </a:r>
            <a:endParaRPr lang="en-US" sz="1500" dirty="0"/>
          </a:p>
        </p:txBody>
      </p:sp>
      <p:sp>
        <p:nvSpPr>
          <p:cNvPr id="12" name="Text 8"/>
          <p:cNvSpPr txBox="1"/>
          <p:nvPr/>
        </p:nvSpPr>
        <p:spPr>
          <a:xfrm>
            <a:off x="548640" y="6089904"/>
            <a:ext cx="7315200" cy="274320"/>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最初の3D NANDは2013年の24層（Samsung）。2028年は約500層（Samsung V11の報道）、2030年は各社の目標。</a:t>
            </a:r>
            <a:endParaRPr lang="en-US" sz="1050" dirty="0"/>
          </a:p>
        </p:txBody>
      </p:sp>
      <p:sp>
        <p:nvSpPr>
          <p:cNvPr id="13" name="Text 9"/>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出典：Samsung・SK hynix・Kioxia・Micronの発表、TechInsights、The Elec</a:t>
            </a:r>
            <a:endParaRPr lang="en-US" sz="950" dirty="0"/>
          </a:p>
        </p:txBody>
      </p:sp>
      <p:sp>
        <p:nvSpPr>
          <p:cNvPr id="14" name="Text 10"/>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7B5EA7"/>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7B5EA7"/>
                </a:solidFill>
                <a:latin typeface="Arial" pitchFamily="34" charset="0"/>
                <a:ea typeface="Yu Gothic"/>
                <a:cs typeface="Arial" pitchFamily="34" charset="-120"/>
              </a:rPr>
              <a:t>NAND</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NAND：周辺回路は「別々に作って貼り合わせる」方式が主流に</a:t>
            </a:r>
            <a:endParaRPr lang="en-US" sz="2400" dirty="0"/>
          </a:p>
        </p:txBody>
      </p:sp>
      <p:sp>
        <p:nvSpPr>
          <p:cNvPr id="6" name="Shape 3"/>
          <p:cNvSpPr/>
          <p:nvPr/>
        </p:nvSpPr>
        <p:spPr>
          <a:xfrm>
            <a:off x="640080" y="4114800"/>
            <a:ext cx="2304288" cy="137160"/>
          </a:xfrm>
          <a:prstGeom prst="rect">
            <a:avLst/>
          </a:prstGeom>
          <a:solidFill>
            <a:srgbClr val="E4E8ED"/>
          </a:solidFill>
          <a:ln w="9525">
            <a:solidFill>
              <a:srgbClr val="B9C0CA"/>
            </a:solidFill>
            <a:prstDash val="solid"/>
          </a:ln>
        </p:spPr>
      </p:sp>
      <p:sp>
        <p:nvSpPr>
          <p:cNvPr id="7" name="Shape 4"/>
          <p:cNvSpPr/>
          <p:nvPr/>
        </p:nvSpPr>
        <p:spPr>
          <a:xfrm>
            <a:off x="685800" y="2743200"/>
            <a:ext cx="1371600" cy="137160"/>
          </a:xfrm>
          <a:prstGeom prst="rect">
            <a:avLst/>
          </a:prstGeom>
          <a:solidFill>
            <a:srgbClr val="C9D3E6"/>
          </a:solidFill>
          <a:ln/>
        </p:spPr>
      </p:sp>
      <p:sp>
        <p:nvSpPr>
          <p:cNvPr id="8" name="Shape 5"/>
          <p:cNvSpPr/>
          <p:nvPr/>
        </p:nvSpPr>
        <p:spPr>
          <a:xfrm>
            <a:off x="685800" y="2880360"/>
            <a:ext cx="1371600" cy="137160"/>
          </a:xfrm>
          <a:prstGeom prst="rect">
            <a:avLst/>
          </a:prstGeom>
          <a:solidFill>
            <a:srgbClr val="EEF1F7"/>
          </a:solidFill>
          <a:ln/>
        </p:spPr>
      </p:sp>
      <p:sp>
        <p:nvSpPr>
          <p:cNvPr id="9" name="Shape 6"/>
          <p:cNvSpPr/>
          <p:nvPr/>
        </p:nvSpPr>
        <p:spPr>
          <a:xfrm>
            <a:off x="685800" y="3017520"/>
            <a:ext cx="1371600" cy="137160"/>
          </a:xfrm>
          <a:prstGeom prst="rect">
            <a:avLst/>
          </a:prstGeom>
          <a:solidFill>
            <a:srgbClr val="C9D3E6"/>
          </a:solidFill>
          <a:ln/>
        </p:spPr>
      </p:sp>
      <p:sp>
        <p:nvSpPr>
          <p:cNvPr id="10" name="Shape 7"/>
          <p:cNvSpPr/>
          <p:nvPr/>
        </p:nvSpPr>
        <p:spPr>
          <a:xfrm>
            <a:off x="685800" y="3154680"/>
            <a:ext cx="1371600" cy="137160"/>
          </a:xfrm>
          <a:prstGeom prst="rect">
            <a:avLst/>
          </a:prstGeom>
          <a:solidFill>
            <a:srgbClr val="EEF1F7"/>
          </a:solidFill>
          <a:ln/>
        </p:spPr>
      </p:sp>
      <p:sp>
        <p:nvSpPr>
          <p:cNvPr id="11" name="Shape 8"/>
          <p:cNvSpPr/>
          <p:nvPr/>
        </p:nvSpPr>
        <p:spPr>
          <a:xfrm>
            <a:off x="685800" y="3291840"/>
            <a:ext cx="1371600" cy="137160"/>
          </a:xfrm>
          <a:prstGeom prst="rect">
            <a:avLst/>
          </a:prstGeom>
          <a:solidFill>
            <a:srgbClr val="C9D3E6"/>
          </a:solidFill>
          <a:ln/>
        </p:spPr>
      </p:sp>
      <p:sp>
        <p:nvSpPr>
          <p:cNvPr id="12" name="Shape 9"/>
          <p:cNvSpPr/>
          <p:nvPr/>
        </p:nvSpPr>
        <p:spPr>
          <a:xfrm>
            <a:off x="685800" y="3429000"/>
            <a:ext cx="1371600" cy="137160"/>
          </a:xfrm>
          <a:prstGeom prst="rect">
            <a:avLst/>
          </a:prstGeom>
          <a:solidFill>
            <a:srgbClr val="EEF1F7"/>
          </a:solidFill>
          <a:ln/>
        </p:spPr>
      </p:sp>
      <p:sp>
        <p:nvSpPr>
          <p:cNvPr id="13" name="Shape 10"/>
          <p:cNvSpPr/>
          <p:nvPr/>
        </p:nvSpPr>
        <p:spPr>
          <a:xfrm>
            <a:off x="685800" y="3566160"/>
            <a:ext cx="1371600" cy="137160"/>
          </a:xfrm>
          <a:prstGeom prst="rect">
            <a:avLst/>
          </a:prstGeom>
          <a:solidFill>
            <a:srgbClr val="C9D3E6"/>
          </a:solidFill>
          <a:ln/>
        </p:spPr>
      </p:sp>
      <p:sp>
        <p:nvSpPr>
          <p:cNvPr id="14" name="Shape 11"/>
          <p:cNvSpPr/>
          <p:nvPr/>
        </p:nvSpPr>
        <p:spPr>
          <a:xfrm>
            <a:off x="685800" y="3703320"/>
            <a:ext cx="1371600" cy="137160"/>
          </a:xfrm>
          <a:prstGeom prst="rect">
            <a:avLst/>
          </a:prstGeom>
          <a:solidFill>
            <a:srgbClr val="EEF1F7"/>
          </a:solidFill>
          <a:ln/>
        </p:spPr>
      </p:sp>
      <p:sp>
        <p:nvSpPr>
          <p:cNvPr id="15" name="Shape 12"/>
          <p:cNvSpPr/>
          <p:nvPr/>
        </p:nvSpPr>
        <p:spPr>
          <a:xfrm>
            <a:off x="685800" y="3840480"/>
            <a:ext cx="1371600" cy="137160"/>
          </a:xfrm>
          <a:prstGeom prst="rect">
            <a:avLst/>
          </a:prstGeom>
          <a:solidFill>
            <a:srgbClr val="C9D3E6"/>
          </a:solidFill>
          <a:ln/>
        </p:spPr>
      </p:sp>
      <p:sp>
        <p:nvSpPr>
          <p:cNvPr id="16" name="Shape 13"/>
          <p:cNvSpPr/>
          <p:nvPr/>
        </p:nvSpPr>
        <p:spPr>
          <a:xfrm>
            <a:off x="685800" y="3977640"/>
            <a:ext cx="1371600" cy="137160"/>
          </a:xfrm>
          <a:prstGeom prst="rect">
            <a:avLst/>
          </a:prstGeom>
          <a:solidFill>
            <a:srgbClr val="EEF1F7"/>
          </a:solidFill>
          <a:ln/>
        </p:spPr>
      </p:sp>
      <p:sp>
        <p:nvSpPr>
          <p:cNvPr id="17" name="Shape 14"/>
          <p:cNvSpPr/>
          <p:nvPr/>
        </p:nvSpPr>
        <p:spPr>
          <a:xfrm>
            <a:off x="685800" y="2743200"/>
            <a:ext cx="1371600" cy="1371600"/>
          </a:xfrm>
          <a:prstGeom prst="rect">
            <a:avLst/>
          </a:prstGeom>
          <a:ln w="9525">
            <a:solidFill>
              <a:srgbClr val="7D8AA5"/>
            </a:solidFill>
            <a:prstDash val="solid"/>
          </a:ln>
        </p:spPr>
      </p:sp>
      <p:sp>
        <p:nvSpPr>
          <p:cNvPr id="18" name="Shape 15"/>
          <p:cNvSpPr/>
          <p:nvPr/>
        </p:nvSpPr>
        <p:spPr>
          <a:xfrm>
            <a:off x="1001268" y="2770632"/>
            <a:ext cx="54864" cy="1316736"/>
          </a:xfrm>
          <a:prstGeom prst="rect">
            <a:avLst/>
          </a:prstGeom>
          <a:solidFill>
            <a:srgbClr val="56607A"/>
          </a:solidFill>
          <a:ln/>
        </p:spPr>
      </p:sp>
      <p:sp>
        <p:nvSpPr>
          <p:cNvPr id="19" name="Shape 16"/>
          <p:cNvSpPr/>
          <p:nvPr/>
        </p:nvSpPr>
        <p:spPr>
          <a:xfrm>
            <a:off x="1344168" y="2770632"/>
            <a:ext cx="54864" cy="1316736"/>
          </a:xfrm>
          <a:prstGeom prst="rect">
            <a:avLst/>
          </a:prstGeom>
          <a:solidFill>
            <a:srgbClr val="56607A"/>
          </a:solidFill>
          <a:ln/>
        </p:spPr>
      </p:sp>
      <p:sp>
        <p:nvSpPr>
          <p:cNvPr id="20" name="Shape 17"/>
          <p:cNvSpPr/>
          <p:nvPr/>
        </p:nvSpPr>
        <p:spPr>
          <a:xfrm>
            <a:off x="1687068" y="2770632"/>
            <a:ext cx="54864" cy="1316736"/>
          </a:xfrm>
          <a:prstGeom prst="rect">
            <a:avLst/>
          </a:prstGeom>
          <a:solidFill>
            <a:srgbClr val="56607A"/>
          </a:solidFill>
          <a:ln/>
        </p:spPr>
      </p:sp>
      <p:sp>
        <p:nvSpPr>
          <p:cNvPr id="21" name="Shape 18"/>
          <p:cNvSpPr/>
          <p:nvPr/>
        </p:nvSpPr>
        <p:spPr>
          <a:xfrm>
            <a:off x="2148840" y="3566160"/>
            <a:ext cx="777240" cy="548640"/>
          </a:xfrm>
          <a:prstGeom prst="rect">
            <a:avLst/>
          </a:prstGeom>
          <a:solidFill>
            <a:srgbClr val="A8D5BA"/>
          </a:solidFill>
          <a:ln w="9525">
            <a:solidFill>
              <a:srgbClr val="3C8D5A"/>
            </a:solidFill>
            <a:prstDash val="solid"/>
          </a:ln>
        </p:spPr>
      </p:sp>
      <p:sp>
        <p:nvSpPr>
          <p:cNvPr id="22" name="Text 19"/>
          <p:cNvSpPr txBox="1"/>
          <p:nvPr/>
        </p:nvSpPr>
        <p:spPr>
          <a:xfrm>
            <a:off x="2148840" y="3566160"/>
            <a:ext cx="777240" cy="548640"/>
          </a:xfrm>
          <a:prstGeom prst="rect">
            <a:avLst/>
          </a:prstGeom>
          <a:noFill/>
          <a:ln/>
        </p:spPr>
        <p:txBody>
          <a:bodyPr wrap="square" lIns="0" tIns="0" rIns="0" bIns="0" rtlCol="0" anchor="ctr"/>
          <a:lstStyle/>
          <a:p>
            <a:pPr algn="ctr" indent="0" marL="0">
              <a:buNone/>
            </a:pPr>
            <a:r>
              <a:rPr lang="en-US" sz="1100" b="1" dirty="0">
                <a:solidFill>
                  <a:srgbClr val="1E4D2E"/>
                </a:solidFill>
                <a:latin typeface="Arial" pitchFamily="34" charset="0"/>
                <a:ea typeface="Yu Gothic"/>
                <a:cs typeface="Arial" pitchFamily="34" charset="-120"/>
              </a:rPr>
              <a:t>周辺</a:t>
            </a:r>
            <a:endParaRPr lang="en-US" sz="1100" dirty="0"/>
          </a:p>
        </p:txBody>
      </p:sp>
      <p:sp>
        <p:nvSpPr>
          <p:cNvPr id="23" name="Shape 20"/>
          <p:cNvSpPr/>
          <p:nvPr/>
        </p:nvSpPr>
        <p:spPr>
          <a:xfrm>
            <a:off x="3557016" y="3703320"/>
            <a:ext cx="2212848" cy="411480"/>
          </a:xfrm>
          <a:prstGeom prst="rect">
            <a:avLst/>
          </a:prstGeom>
          <a:solidFill>
            <a:srgbClr val="A8D5BA"/>
          </a:solidFill>
          <a:ln w="9525">
            <a:solidFill>
              <a:srgbClr val="3C8D5A"/>
            </a:solidFill>
            <a:prstDash val="solid"/>
          </a:ln>
        </p:spPr>
      </p:sp>
      <p:sp>
        <p:nvSpPr>
          <p:cNvPr id="24" name="Text 21"/>
          <p:cNvSpPr txBox="1"/>
          <p:nvPr/>
        </p:nvSpPr>
        <p:spPr>
          <a:xfrm>
            <a:off x="3557016" y="3703320"/>
            <a:ext cx="2212848" cy="411480"/>
          </a:xfrm>
          <a:prstGeom prst="rect">
            <a:avLst/>
          </a:prstGeom>
          <a:noFill/>
          <a:ln/>
        </p:spPr>
        <p:txBody>
          <a:bodyPr wrap="square" lIns="0" tIns="0" rIns="0" bIns="0" rtlCol="0" anchor="ctr"/>
          <a:lstStyle/>
          <a:p>
            <a:pPr algn="ctr" indent="0" marL="0">
              <a:buNone/>
            </a:pPr>
            <a:r>
              <a:rPr lang="en-US" sz="1100" b="1" dirty="0">
                <a:solidFill>
                  <a:srgbClr val="1E4D2E"/>
                </a:solidFill>
                <a:latin typeface="Arial" pitchFamily="34" charset="0"/>
                <a:ea typeface="Yu Gothic"/>
                <a:cs typeface="Arial" pitchFamily="34" charset="-120"/>
              </a:rPr>
              <a:t>周辺回路（CMOS）</a:t>
            </a:r>
            <a:endParaRPr lang="en-US" sz="1100" dirty="0"/>
          </a:p>
        </p:txBody>
      </p:sp>
      <p:sp>
        <p:nvSpPr>
          <p:cNvPr id="25" name="Shape 22"/>
          <p:cNvSpPr/>
          <p:nvPr/>
        </p:nvSpPr>
        <p:spPr>
          <a:xfrm>
            <a:off x="3557016" y="2331720"/>
            <a:ext cx="2212848" cy="137160"/>
          </a:xfrm>
          <a:prstGeom prst="rect">
            <a:avLst/>
          </a:prstGeom>
          <a:solidFill>
            <a:srgbClr val="C9D3E6"/>
          </a:solidFill>
          <a:ln/>
        </p:spPr>
      </p:sp>
      <p:sp>
        <p:nvSpPr>
          <p:cNvPr id="26" name="Shape 23"/>
          <p:cNvSpPr/>
          <p:nvPr/>
        </p:nvSpPr>
        <p:spPr>
          <a:xfrm>
            <a:off x="3557016" y="2468880"/>
            <a:ext cx="2212848" cy="137160"/>
          </a:xfrm>
          <a:prstGeom prst="rect">
            <a:avLst/>
          </a:prstGeom>
          <a:solidFill>
            <a:srgbClr val="EEF1F7"/>
          </a:solidFill>
          <a:ln/>
        </p:spPr>
      </p:sp>
      <p:sp>
        <p:nvSpPr>
          <p:cNvPr id="27" name="Shape 24"/>
          <p:cNvSpPr/>
          <p:nvPr/>
        </p:nvSpPr>
        <p:spPr>
          <a:xfrm>
            <a:off x="3557016" y="2606040"/>
            <a:ext cx="2212848" cy="137160"/>
          </a:xfrm>
          <a:prstGeom prst="rect">
            <a:avLst/>
          </a:prstGeom>
          <a:solidFill>
            <a:srgbClr val="C9D3E6"/>
          </a:solidFill>
          <a:ln/>
        </p:spPr>
      </p:sp>
      <p:sp>
        <p:nvSpPr>
          <p:cNvPr id="28" name="Shape 25"/>
          <p:cNvSpPr/>
          <p:nvPr/>
        </p:nvSpPr>
        <p:spPr>
          <a:xfrm>
            <a:off x="3557016" y="2743200"/>
            <a:ext cx="2212848" cy="137160"/>
          </a:xfrm>
          <a:prstGeom prst="rect">
            <a:avLst/>
          </a:prstGeom>
          <a:solidFill>
            <a:srgbClr val="EEF1F7"/>
          </a:solidFill>
          <a:ln/>
        </p:spPr>
      </p:sp>
      <p:sp>
        <p:nvSpPr>
          <p:cNvPr id="29" name="Shape 26"/>
          <p:cNvSpPr/>
          <p:nvPr/>
        </p:nvSpPr>
        <p:spPr>
          <a:xfrm>
            <a:off x="3557016" y="2880360"/>
            <a:ext cx="2212848" cy="137160"/>
          </a:xfrm>
          <a:prstGeom prst="rect">
            <a:avLst/>
          </a:prstGeom>
          <a:solidFill>
            <a:srgbClr val="C9D3E6"/>
          </a:solidFill>
          <a:ln/>
        </p:spPr>
      </p:sp>
      <p:sp>
        <p:nvSpPr>
          <p:cNvPr id="30" name="Shape 27"/>
          <p:cNvSpPr/>
          <p:nvPr/>
        </p:nvSpPr>
        <p:spPr>
          <a:xfrm>
            <a:off x="3557016" y="3017520"/>
            <a:ext cx="2212848" cy="137160"/>
          </a:xfrm>
          <a:prstGeom prst="rect">
            <a:avLst/>
          </a:prstGeom>
          <a:solidFill>
            <a:srgbClr val="EEF1F7"/>
          </a:solidFill>
          <a:ln/>
        </p:spPr>
      </p:sp>
      <p:sp>
        <p:nvSpPr>
          <p:cNvPr id="31" name="Shape 28"/>
          <p:cNvSpPr/>
          <p:nvPr/>
        </p:nvSpPr>
        <p:spPr>
          <a:xfrm>
            <a:off x="3557016" y="3154680"/>
            <a:ext cx="2212848" cy="137160"/>
          </a:xfrm>
          <a:prstGeom prst="rect">
            <a:avLst/>
          </a:prstGeom>
          <a:solidFill>
            <a:srgbClr val="C9D3E6"/>
          </a:solidFill>
          <a:ln/>
        </p:spPr>
      </p:sp>
      <p:sp>
        <p:nvSpPr>
          <p:cNvPr id="32" name="Shape 29"/>
          <p:cNvSpPr/>
          <p:nvPr/>
        </p:nvSpPr>
        <p:spPr>
          <a:xfrm>
            <a:off x="3557016" y="3291840"/>
            <a:ext cx="2212848" cy="137160"/>
          </a:xfrm>
          <a:prstGeom prst="rect">
            <a:avLst/>
          </a:prstGeom>
          <a:solidFill>
            <a:srgbClr val="EEF1F7"/>
          </a:solidFill>
          <a:ln/>
        </p:spPr>
      </p:sp>
      <p:sp>
        <p:nvSpPr>
          <p:cNvPr id="33" name="Shape 30"/>
          <p:cNvSpPr/>
          <p:nvPr/>
        </p:nvSpPr>
        <p:spPr>
          <a:xfrm>
            <a:off x="3557016" y="3429000"/>
            <a:ext cx="2212848" cy="137160"/>
          </a:xfrm>
          <a:prstGeom prst="rect">
            <a:avLst/>
          </a:prstGeom>
          <a:solidFill>
            <a:srgbClr val="C9D3E6"/>
          </a:solidFill>
          <a:ln/>
        </p:spPr>
      </p:sp>
      <p:sp>
        <p:nvSpPr>
          <p:cNvPr id="34" name="Shape 31"/>
          <p:cNvSpPr/>
          <p:nvPr/>
        </p:nvSpPr>
        <p:spPr>
          <a:xfrm>
            <a:off x="3557016" y="3566160"/>
            <a:ext cx="2212848" cy="137160"/>
          </a:xfrm>
          <a:prstGeom prst="rect">
            <a:avLst/>
          </a:prstGeom>
          <a:solidFill>
            <a:srgbClr val="EEF1F7"/>
          </a:solidFill>
          <a:ln/>
        </p:spPr>
      </p:sp>
      <p:sp>
        <p:nvSpPr>
          <p:cNvPr id="35" name="Shape 32"/>
          <p:cNvSpPr/>
          <p:nvPr/>
        </p:nvSpPr>
        <p:spPr>
          <a:xfrm>
            <a:off x="3557016" y="2331720"/>
            <a:ext cx="2212848" cy="1371600"/>
          </a:xfrm>
          <a:prstGeom prst="rect">
            <a:avLst/>
          </a:prstGeom>
          <a:ln w="9525">
            <a:solidFill>
              <a:srgbClr val="7D8AA5"/>
            </a:solidFill>
            <a:prstDash val="solid"/>
          </a:ln>
        </p:spPr>
      </p:sp>
      <p:sp>
        <p:nvSpPr>
          <p:cNvPr id="36" name="Shape 33"/>
          <p:cNvSpPr/>
          <p:nvPr/>
        </p:nvSpPr>
        <p:spPr>
          <a:xfrm>
            <a:off x="3972154" y="2359152"/>
            <a:ext cx="54864" cy="1316736"/>
          </a:xfrm>
          <a:prstGeom prst="rect">
            <a:avLst/>
          </a:prstGeom>
          <a:solidFill>
            <a:srgbClr val="56607A"/>
          </a:solidFill>
          <a:ln/>
        </p:spPr>
      </p:sp>
      <p:sp>
        <p:nvSpPr>
          <p:cNvPr id="37" name="Shape 34"/>
          <p:cNvSpPr/>
          <p:nvPr/>
        </p:nvSpPr>
        <p:spPr>
          <a:xfrm>
            <a:off x="4414723" y="2359152"/>
            <a:ext cx="54864" cy="1316736"/>
          </a:xfrm>
          <a:prstGeom prst="rect">
            <a:avLst/>
          </a:prstGeom>
          <a:solidFill>
            <a:srgbClr val="56607A"/>
          </a:solidFill>
          <a:ln/>
        </p:spPr>
      </p:sp>
      <p:sp>
        <p:nvSpPr>
          <p:cNvPr id="38" name="Shape 35"/>
          <p:cNvSpPr/>
          <p:nvPr/>
        </p:nvSpPr>
        <p:spPr>
          <a:xfrm>
            <a:off x="4857293" y="2359152"/>
            <a:ext cx="54864" cy="1316736"/>
          </a:xfrm>
          <a:prstGeom prst="rect">
            <a:avLst/>
          </a:prstGeom>
          <a:solidFill>
            <a:srgbClr val="56607A"/>
          </a:solidFill>
          <a:ln/>
        </p:spPr>
      </p:sp>
      <p:sp>
        <p:nvSpPr>
          <p:cNvPr id="39" name="Shape 36"/>
          <p:cNvSpPr/>
          <p:nvPr/>
        </p:nvSpPr>
        <p:spPr>
          <a:xfrm>
            <a:off x="5299862" y="2359152"/>
            <a:ext cx="54864" cy="1316736"/>
          </a:xfrm>
          <a:prstGeom prst="rect">
            <a:avLst/>
          </a:prstGeom>
          <a:solidFill>
            <a:srgbClr val="56607A"/>
          </a:solidFill>
          <a:ln/>
        </p:spPr>
      </p:sp>
      <p:sp>
        <p:nvSpPr>
          <p:cNvPr id="40" name="Shape 37"/>
          <p:cNvSpPr/>
          <p:nvPr/>
        </p:nvSpPr>
        <p:spPr>
          <a:xfrm>
            <a:off x="6428232" y="3703320"/>
            <a:ext cx="2212848" cy="411480"/>
          </a:xfrm>
          <a:prstGeom prst="rect">
            <a:avLst/>
          </a:prstGeom>
          <a:solidFill>
            <a:srgbClr val="A8D5BA"/>
          </a:solidFill>
          <a:ln w="9525">
            <a:solidFill>
              <a:srgbClr val="3C8D5A"/>
            </a:solidFill>
            <a:prstDash val="solid"/>
          </a:ln>
        </p:spPr>
      </p:sp>
      <p:sp>
        <p:nvSpPr>
          <p:cNvPr id="41" name="Text 38"/>
          <p:cNvSpPr txBox="1"/>
          <p:nvPr/>
        </p:nvSpPr>
        <p:spPr>
          <a:xfrm>
            <a:off x="6428232" y="3703320"/>
            <a:ext cx="2212848" cy="411480"/>
          </a:xfrm>
          <a:prstGeom prst="rect">
            <a:avLst/>
          </a:prstGeom>
          <a:noFill/>
          <a:ln/>
        </p:spPr>
        <p:txBody>
          <a:bodyPr wrap="square" lIns="0" tIns="0" rIns="0" bIns="0" rtlCol="0" anchor="ctr"/>
          <a:lstStyle/>
          <a:p>
            <a:pPr algn="ctr" indent="0" marL="0">
              <a:buNone/>
            </a:pPr>
            <a:r>
              <a:rPr lang="en-US" sz="1100" b="1" dirty="0">
                <a:solidFill>
                  <a:srgbClr val="1E4D2E"/>
                </a:solidFill>
                <a:latin typeface="Arial" pitchFamily="34" charset="0"/>
                <a:ea typeface="Yu Gothic"/>
                <a:cs typeface="Arial" pitchFamily="34" charset="-120"/>
              </a:rPr>
              <a:t>周辺回路（CMOS）</a:t>
            </a:r>
            <a:endParaRPr lang="en-US" sz="1100" dirty="0"/>
          </a:p>
        </p:txBody>
      </p:sp>
      <p:sp>
        <p:nvSpPr>
          <p:cNvPr id="42" name="Shape 39"/>
          <p:cNvSpPr/>
          <p:nvPr/>
        </p:nvSpPr>
        <p:spPr>
          <a:xfrm>
            <a:off x="6537960" y="3630168"/>
            <a:ext cx="128016" cy="73152"/>
          </a:xfrm>
          <a:prstGeom prst="rect">
            <a:avLst/>
          </a:prstGeom>
          <a:solidFill>
            <a:srgbClr val="C98A1B"/>
          </a:solidFill>
          <a:ln/>
        </p:spPr>
      </p:sp>
      <p:sp>
        <p:nvSpPr>
          <p:cNvPr id="43" name="Shape 40"/>
          <p:cNvSpPr/>
          <p:nvPr/>
        </p:nvSpPr>
        <p:spPr>
          <a:xfrm>
            <a:off x="6848856" y="3630168"/>
            <a:ext cx="128016" cy="73152"/>
          </a:xfrm>
          <a:prstGeom prst="rect">
            <a:avLst/>
          </a:prstGeom>
          <a:solidFill>
            <a:srgbClr val="C98A1B"/>
          </a:solidFill>
          <a:ln/>
        </p:spPr>
      </p:sp>
      <p:sp>
        <p:nvSpPr>
          <p:cNvPr id="44" name="Shape 41"/>
          <p:cNvSpPr/>
          <p:nvPr/>
        </p:nvSpPr>
        <p:spPr>
          <a:xfrm>
            <a:off x="7159752" y="3630168"/>
            <a:ext cx="128016" cy="73152"/>
          </a:xfrm>
          <a:prstGeom prst="rect">
            <a:avLst/>
          </a:prstGeom>
          <a:solidFill>
            <a:srgbClr val="C98A1B"/>
          </a:solidFill>
          <a:ln/>
        </p:spPr>
      </p:sp>
      <p:sp>
        <p:nvSpPr>
          <p:cNvPr id="45" name="Shape 42"/>
          <p:cNvSpPr/>
          <p:nvPr/>
        </p:nvSpPr>
        <p:spPr>
          <a:xfrm>
            <a:off x="7470648" y="3630168"/>
            <a:ext cx="128016" cy="73152"/>
          </a:xfrm>
          <a:prstGeom prst="rect">
            <a:avLst/>
          </a:prstGeom>
          <a:solidFill>
            <a:srgbClr val="C98A1B"/>
          </a:solidFill>
          <a:ln/>
        </p:spPr>
      </p:sp>
      <p:sp>
        <p:nvSpPr>
          <p:cNvPr id="46" name="Shape 43"/>
          <p:cNvSpPr/>
          <p:nvPr/>
        </p:nvSpPr>
        <p:spPr>
          <a:xfrm>
            <a:off x="7781544" y="3630168"/>
            <a:ext cx="128016" cy="73152"/>
          </a:xfrm>
          <a:prstGeom prst="rect">
            <a:avLst/>
          </a:prstGeom>
          <a:solidFill>
            <a:srgbClr val="C98A1B"/>
          </a:solidFill>
          <a:ln/>
        </p:spPr>
      </p:sp>
      <p:sp>
        <p:nvSpPr>
          <p:cNvPr id="47" name="Shape 44"/>
          <p:cNvSpPr/>
          <p:nvPr/>
        </p:nvSpPr>
        <p:spPr>
          <a:xfrm>
            <a:off x="8092440" y="3630168"/>
            <a:ext cx="128016" cy="73152"/>
          </a:xfrm>
          <a:prstGeom prst="rect">
            <a:avLst/>
          </a:prstGeom>
          <a:solidFill>
            <a:srgbClr val="C98A1B"/>
          </a:solidFill>
          <a:ln/>
        </p:spPr>
      </p:sp>
      <p:sp>
        <p:nvSpPr>
          <p:cNvPr id="48" name="Shape 45"/>
          <p:cNvSpPr/>
          <p:nvPr/>
        </p:nvSpPr>
        <p:spPr>
          <a:xfrm>
            <a:off x="8403336" y="3630168"/>
            <a:ext cx="128016" cy="73152"/>
          </a:xfrm>
          <a:prstGeom prst="rect">
            <a:avLst/>
          </a:prstGeom>
          <a:solidFill>
            <a:srgbClr val="C98A1B"/>
          </a:solidFill>
          <a:ln/>
        </p:spPr>
      </p:sp>
      <p:sp>
        <p:nvSpPr>
          <p:cNvPr id="49" name="Shape 46"/>
          <p:cNvSpPr/>
          <p:nvPr/>
        </p:nvSpPr>
        <p:spPr>
          <a:xfrm>
            <a:off x="6428232" y="2240280"/>
            <a:ext cx="2212848" cy="137160"/>
          </a:xfrm>
          <a:prstGeom prst="rect">
            <a:avLst/>
          </a:prstGeom>
          <a:solidFill>
            <a:srgbClr val="C9D3E6"/>
          </a:solidFill>
          <a:ln/>
        </p:spPr>
      </p:sp>
      <p:sp>
        <p:nvSpPr>
          <p:cNvPr id="50" name="Shape 47"/>
          <p:cNvSpPr/>
          <p:nvPr/>
        </p:nvSpPr>
        <p:spPr>
          <a:xfrm>
            <a:off x="6428232" y="2377440"/>
            <a:ext cx="2212848" cy="137160"/>
          </a:xfrm>
          <a:prstGeom prst="rect">
            <a:avLst/>
          </a:prstGeom>
          <a:solidFill>
            <a:srgbClr val="EEF1F7"/>
          </a:solidFill>
          <a:ln/>
        </p:spPr>
      </p:sp>
      <p:sp>
        <p:nvSpPr>
          <p:cNvPr id="51" name="Shape 48"/>
          <p:cNvSpPr/>
          <p:nvPr/>
        </p:nvSpPr>
        <p:spPr>
          <a:xfrm>
            <a:off x="6428232" y="2514600"/>
            <a:ext cx="2212848" cy="137160"/>
          </a:xfrm>
          <a:prstGeom prst="rect">
            <a:avLst/>
          </a:prstGeom>
          <a:solidFill>
            <a:srgbClr val="C9D3E6"/>
          </a:solidFill>
          <a:ln/>
        </p:spPr>
      </p:sp>
      <p:sp>
        <p:nvSpPr>
          <p:cNvPr id="52" name="Shape 49"/>
          <p:cNvSpPr/>
          <p:nvPr/>
        </p:nvSpPr>
        <p:spPr>
          <a:xfrm>
            <a:off x="6428232" y="2651760"/>
            <a:ext cx="2212848" cy="137160"/>
          </a:xfrm>
          <a:prstGeom prst="rect">
            <a:avLst/>
          </a:prstGeom>
          <a:solidFill>
            <a:srgbClr val="EEF1F7"/>
          </a:solidFill>
          <a:ln/>
        </p:spPr>
      </p:sp>
      <p:sp>
        <p:nvSpPr>
          <p:cNvPr id="53" name="Shape 50"/>
          <p:cNvSpPr/>
          <p:nvPr/>
        </p:nvSpPr>
        <p:spPr>
          <a:xfrm>
            <a:off x="6428232" y="2788920"/>
            <a:ext cx="2212848" cy="137160"/>
          </a:xfrm>
          <a:prstGeom prst="rect">
            <a:avLst/>
          </a:prstGeom>
          <a:solidFill>
            <a:srgbClr val="C9D3E6"/>
          </a:solidFill>
          <a:ln/>
        </p:spPr>
      </p:sp>
      <p:sp>
        <p:nvSpPr>
          <p:cNvPr id="54" name="Shape 51"/>
          <p:cNvSpPr/>
          <p:nvPr/>
        </p:nvSpPr>
        <p:spPr>
          <a:xfrm>
            <a:off x="6428232" y="2926080"/>
            <a:ext cx="2212848" cy="137160"/>
          </a:xfrm>
          <a:prstGeom prst="rect">
            <a:avLst/>
          </a:prstGeom>
          <a:solidFill>
            <a:srgbClr val="EEF1F7"/>
          </a:solidFill>
          <a:ln/>
        </p:spPr>
      </p:sp>
      <p:sp>
        <p:nvSpPr>
          <p:cNvPr id="55" name="Shape 52"/>
          <p:cNvSpPr/>
          <p:nvPr/>
        </p:nvSpPr>
        <p:spPr>
          <a:xfrm>
            <a:off x="6428232" y="3063240"/>
            <a:ext cx="2212848" cy="137160"/>
          </a:xfrm>
          <a:prstGeom prst="rect">
            <a:avLst/>
          </a:prstGeom>
          <a:solidFill>
            <a:srgbClr val="C9D3E6"/>
          </a:solidFill>
          <a:ln/>
        </p:spPr>
      </p:sp>
      <p:sp>
        <p:nvSpPr>
          <p:cNvPr id="56" name="Shape 53"/>
          <p:cNvSpPr/>
          <p:nvPr/>
        </p:nvSpPr>
        <p:spPr>
          <a:xfrm>
            <a:off x="6428232" y="3200400"/>
            <a:ext cx="2212848" cy="137160"/>
          </a:xfrm>
          <a:prstGeom prst="rect">
            <a:avLst/>
          </a:prstGeom>
          <a:solidFill>
            <a:srgbClr val="EEF1F7"/>
          </a:solidFill>
          <a:ln/>
        </p:spPr>
      </p:sp>
      <p:sp>
        <p:nvSpPr>
          <p:cNvPr id="57" name="Shape 54"/>
          <p:cNvSpPr/>
          <p:nvPr/>
        </p:nvSpPr>
        <p:spPr>
          <a:xfrm>
            <a:off x="6428232" y="3337560"/>
            <a:ext cx="2212848" cy="137160"/>
          </a:xfrm>
          <a:prstGeom prst="rect">
            <a:avLst/>
          </a:prstGeom>
          <a:solidFill>
            <a:srgbClr val="C9D3E6"/>
          </a:solidFill>
          <a:ln/>
        </p:spPr>
      </p:sp>
      <p:sp>
        <p:nvSpPr>
          <p:cNvPr id="58" name="Shape 55"/>
          <p:cNvSpPr/>
          <p:nvPr/>
        </p:nvSpPr>
        <p:spPr>
          <a:xfrm>
            <a:off x="6428232" y="3474720"/>
            <a:ext cx="2212848" cy="137160"/>
          </a:xfrm>
          <a:prstGeom prst="rect">
            <a:avLst/>
          </a:prstGeom>
          <a:solidFill>
            <a:srgbClr val="EEF1F7"/>
          </a:solidFill>
          <a:ln/>
        </p:spPr>
      </p:sp>
      <p:sp>
        <p:nvSpPr>
          <p:cNvPr id="59" name="Shape 56"/>
          <p:cNvSpPr/>
          <p:nvPr/>
        </p:nvSpPr>
        <p:spPr>
          <a:xfrm>
            <a:off x="6428232" y="2240280"/>
            <a:ext cx="2212848" cy="1371600"/>
          </a:xfrm>
          <a:prstGeom prst="rect">
            <a:avLst/>
          </a:prstGeom>
          <a:ln w="9525">
            <a:solidFill>
              <a:srgbClr val="7D8AA5"/>
            </a:solidFill>
            <a:prstDash val="solid"/>
          </a:ln>
        </p:spPr>
      </p:sp>
      <p:sp>
        <p:nvSpPr>
          <p:cNvPr id="60" name="Shape 57"/>
          <p:cNvSpPr/>
          <p:nvPr/>
        </p:nvSpPr>
        <p:spPr>
          <a:xfrm>
            <a:off x="6843370" y="2267712"/>
            <a:ext cx="54864" cy="1316736"/>
          </a:xfrm>
          <a:prstGeom prst="rect">
            <a:avLst/>
          </a:prstGeom>
          <a:solidFill>
            <a:srgbClr val="56607A"/>
          </a:solidFill>
          <a:ln/>
        </p:spPr>
      </p:sp>
      <p:sp>
        <p:nvSpPr>
          <p:cNvPr id="61" name="Shape 58"/>
          <p:cNvSpPr/>
          <p:nvPr/>
        </p:nvSpPr>
        <p:spPr>
          <a:xfrm>
            <a:off x="7285939" y="2267712"/>
            <a:ext cx="54864" cy="1316736"/>
          </a:xfrm>
          <a:prstGeom prst="rect">
            <a:avLst/>
          </a:prstGeom>
          <a:solidFill>
            <a:srgbClr val="56607A"/>
          </a:solidFill>
          <a:ln/>
        </p:spPr>
      </p:sp>
      <p:sp>
        <p:nvSpPr>
          <p:cNvPr id="62" name="Shape 59"/>
          <p:cNvSpPr/>
          <p:nvPr/>
        </p:nvSpPr>
        <p:spPr>
          <a:xfrm>
            <a:off x="7728509" y="2267712"/>
            <a:ext cx="54864" cy="1316736"/>
          </a:xfrm>
          <a:prstGeom prst="rect">
            <a:avLst/>
          </a:prstGeom>
          <a:solidFill>
            <a:srgbClr val="56607A"/>
          </a:solidFill>
          <a:ln/>
        </p:spPr>
      </p:sp>
      <p:sp>
        <p:nvSpPr>
          <p:cNvPr id="63" name="Shape 60"/>
          <p:cNvSpPr/>
          <p:nvPr/>
        </p:nvSpPr>
        <p:spPr>
          <a:xfrm>
            <a:off x="8171078" y="2267712"/>
            <a:ext cx="54864" cy="1316736"/>
          </a:xfrm>
          <a:prstGeom prst="rect">
            <a:avLst/>
          </a:prstGeom>
          <a:solidFill>
            <a:srgbClr val="56607A"/>
          </a:solidFill>
          <a:ln/>
        </p:spPr>
      </p:sp>
      <p:sp>
        <p:nvSpPr>
          <p:cNvPr id="64" name="Text 61"/>
          <p:cNvSpPr txBox="1"/>
          <p:nvPr/>
        </p:nvSpPr>
        <p:spPr>
          <a:xfrm>
            <a:off x="6428232" y="1920240"/>
            <a:ext cx="2212848" cy="274320"/>
          </a:xfrm>
          <a:prstGeom prst="rect">
            <a:avLst/>
          </a:prstGeom>
          <a:noFill/>
          <a:ln/>
        </p:spPr>
        <p:txBody>
          <a:bodyPr wrap="square" lIns="0" tIns="0" rIns="0" bIns="0" rtlCol="0" anchor="ctr"/>
          <a:lstStyle/>
          <a:p>
            <a:pPr algn="ctr" indent="0" marL="0">
              <a:buNone/>
            </a:pPr>
            <a:r>
              <a:rPr lang="en-US" sz="1100" b="1" dirty="0">
                <a:solidFill>
                  <a:srgbClr val="C98A1B"/>
                </a:solidFill>
                <a:latin typeface="Arial" pitchFamily="34" charset="0"/>
                <a:ea typeface="Yu Gothic"/>
                <a:cs typeface="Arial" pitchFamily="34" charset="-120"/>
              </a:rPr>
              <a:t>Cu同士を接合</a:t>
            </a:r>
            <a:endParaRPr lang="en-US" sz="1100" dirty="0"/>
          </a:p>
        </p:txBody>
      </p:sp>
      <p:sp>
        <p:nvSpPr>
          <p:cNvPr id="65" name="Shape 62"/>
          <p:cNvSpPr/>
          <p:nvPr/>
        </p:nvSpPr>
        <p:spPr>
          <a:xfrm>
            <a:off x="9299448" y="3749040"/>
            <a:ext cx="2212848" cy="365760"/>
          </a:xfrm>
          <a:prstGeom prst="rect">
            <a:avLst/>
          </a:prstGeom>
          <a:solidFill>
            <a:srgbClr val="A8D5BA"/>
          </a:solidFill>
          <a:ln w="9525">
            <a:solidFill>
              <a:srgbClr val="3C8D5A"/>
            </a:solidFill>
            <a:prstDash val="solid"/>
          </a:ln>
        </p:spPr>
      </p:sp>
      <p:sp>
        <p:nvSpPr>
          <p:cNvPr id="66" name="Text 63"/>
          <p:cNvSpPr txBox="1"/>
          <p:nvPr/>
        </p:nvSpPr>
        <p:spPr>
          <a:xfrm>
            <a:off x="9299448" y="3749040"/>
            <a:ext cx="2212848" cy="365760"/>
          </a:xfrm>
          <a:prstGeom prst="rect">
            <a:avLst/>
          </a:prstGeom>
          <a:noFill/>
          <a:ln/>
        </p:spPr>
        <p:txBody>
          <a:bodyPr wrap="square" lIns="0" tIns="0" rIns="0" bIns="0" rtlCol="0" anchor="ctr"/>
          <a:lstStyle/>
          <a:p>
            <a:pPr algn="ctr" indent="0" marL="0">
              <a:buNone/>
            </a:pPr>
            <a:r>
              <a:rPr lang="en-US" sz="1100" b="1" dirty="0">
                <a:solidFill>
                  <a:srgbClr val="1E4D2E"/>
                </a:solidFill>
                <a:latin typeface="Arial" pitchFamily="34" charset="0"/>
                <a:ea typeface="Yu Gothic"/>
                <a:cs typeface="Arial" pitchFamily="34" charset="-120"/>
              </a:rPr>
              <a:t>周辺回路（CMOS）</a:t>
            </a:r>
            <a:endParaRPr lang="en-US" sz="1100" dirty="0"/>
          </a:p>
        </p:txBody>
      </p:sp>
      <p:sp>
        <p:nvSpPr>
          <p:cNvPr id="67" name="Shape 64"/>
          <p:cNvSpPr/>
          <p:nvPr/>
        </p:nvSpPr>
        <p:spPr>
          <a:xfrm>
            <a:off x="9409176" y="3675888"/>
            <a:ext cx="128016" cy="73152"/>
          </a:xfrm>
          <a:prstGeom prst="rect">
            <a:avLst/>
          </a:prstGeom>
          <a:solidFill>
            <a:srgbClr val="C98A1B"/>
          </a:solidFill>
          <a:ln/>
        </p:spPr>
      </p:sp>
      <p:sp>
        <p:nvSpPr>
          <p:cNvPr id="68" name="Shape 65"/>
          <p:cNvSpPr/>
          <p:nvPr/>
        </p:nvSpPr>
        <p:spPr>
          <a:xfrm>
            <a:off x="9720072" y="3675888"/>
            <a:ext cx="128016" cy="73152"/>
          </a:xfrm>
          <a:prstGeom prst="rect">
            <a:avLst/>
          </a:prstGeom>
          <a:solidFill>
            <a:srgbClr val="C98A1B"/>
          </a:solidFill>
          <a:ln/>
        </p:spPr>
      </p:sp>
      <p:sp>
        <p:nvSpPr>
          <p:cNvPr id="69" name="Shape 66"/>
          <p:cNvSpPr/>
          <p:nvPr/>
        </p:nvSpPr>
        <p:spPr>
          <a:xfrm>
            <a:off x="10030968" y="3675888"/>
            <a:ext cx="128016" cy="73152"/>
          </a:xfrm>
          <a:prstGeom prst="rect">
            <a:avLst/>
          </a:prstGeom>
          <a:solidFill>
            <a:srgbClr val="C98A1B"/>
          </a:solidFill>
          <a:ln/>
        </p:spPr>
      </p:sp>
      <p:sp>
        <p:nvSpPr>
          <p:cNvPr id="70" name="Shape 67"/>
          <p:cNvSpPr/>
          <p:nvPr/>
        </p:nvSpPr>
        <p:spPr>
          <a:xfrm>
            <a:off x="10341864" y="3675888"/>
            <a:ext cx="128016" cy="73152"/>
          </a:xfrm>
          <a:prstGeom prst="rect">
            <a:avLst/>
          </a:prstGeom>
          <a:solidFill>
            <a:srgbClr val="C98A1B"/>
          </a:solidFill>
          <a:ln/>
        </p:spPr>
      </p:sp>
      <p:sp>
        <p:nvSpPr>
          <p:cNvPr id="71" name="Shape 68"/>
          <p:cNvSpPr/>
          <p:nvPr/>
        </p:nvSpPr>
        <p:spPr>
          <a:xfrm>
            <a:off x="10652760" y="3675888"/>
            <a:ext cx="128016" cy="73152"/>
          </a:xfrm>
          <a:prstGeom prst="rect">
            <a:avLst/>
          </a:prstGeom>
          <a:solidFill>
            <a:srgbClr val="C98A1B"/>
          </a:solidFill>
          <a:ln/>
        </p:spPr>
      </p:sp>
      <p:sp>
        <p:nvSpPr>
          <p:cNvPr id="72" name="Shape 69"/>
          <p:cNvSpPr/>
          <p:nvPr/>
        </p:nvSpPr>
        <p:spPr>
          <a:xfrm>
            <a:off x="10963656" y="3675888"/>
            <a:ext cx="128016" cy="73152"/>
          </a:xfrm>
          <a:prstGeom prst="rect">
            <a:avLst/>
          </a:prstGeom>
          <a:solidFill>
            <a:srgbClr val="C98A1B"/>
          </a:solidFill>
          <a:ln/>
        </p:spPr>
      </p:sp>
      <p:sp>
        <p:nvSpPr>
          <p:cNvPr id="73" name="Shape 70"/>
          <p:cNvSpPr/>
          <p:nvPr/>
        </p:nvSpPr>
        <p:spPr>
          <a:xfrm>
            <a:off x="11274552" y="3675888"/>
            <a:ext cx="128016" cy="73152"/>
          </a:xfrm>
          <a:prstGeom prst="rect">
            <a:avLst/>
          </a:prstGeom>
          <a:solidFill>
            <a:srgbClr val="C98A1B"/>
          </a:solidFill>
          <a:ln/>
        </p:spPr>
      </p:sp>
      <p:sp>
        <p:nvSpPr>
          <p:cNvPr id="74" name="Shape 71"/>
          <p:cNvSpPr/>
          <p:nvPr/>
        </p:nvSpPr>
        <p:spPr>
          <a:xfrm>
            <a:off x="9299448" y="2807208"/>
            <a:ext cx="2212848" cy="120178"/>
          </a:xfrm>
          <a:prstGeom prst="rect">
            <a:avLst/>
          </a:prstGeom>
          <a:solidFill>
            <a:srgbClr val="C9D3E6"/>
          </a:solidFill>
          <a:ln/>
        </p:spPr>
      </p:sp>
      <p:sp>
        <p:nvSpPr>
          <p:cNvPr id="75" name="Shape 72"/>
          <p:cNvSpPr/>
          <p:nvPr/>
        </p:nvSpPr>
        <p:spPr>
          <a:xfrm>
            <a:off x="9299448" y="2927386"/>
            <a:ext cx="2212848" cy="120178"/>
          </a:xfrm>
          <a:prstGeom prst="rect">
            <a:avLst/>
          </a:prstGeom>
          <a:solidFill>
            <a:srgbClr val="EEF1F7"/>
          </a:solidFill>
          <a:ln/>
        </p:spPr>
      </p:sp>
      <p:sp>
        <p:nvSpPr>
          <p:cNvPr id="76" name="Shape 73"/>
          <p:cNvSpPr/>
          <p:nvPr/>
        </p:nvSpPr>
        <p:spPr>
          <a:xfrm>
            <a:off x="9299448" y="3047565"/>
            <a:ext cx="2212848" cy="120178"/>
          </a:xfrm>
          <a:prstGeom prst="rect">
            <a:avLst/>
          </a:prstGeom>
          <a:solidFill>
            <a:srgbClr val="C9D3E6"/>
          </a:solidFill>
          <a:ln/>
        </p:spPr>
      </p:sp>
      <p:sp>
        <p:nvSpPr>
          <p:cNvPr id="77" name="Shape 74"/>
          <p:cNvSpPr/>
          <p:nvPr/>
        </p:nvSpPr>
        <p:spPr>
          <a:xfrm>
            <a:off x="9299448" y="3167743"/>
            <a:ext cx="2212848" cy="120178"/>
          </a:xfrm>
          <a:prstGeom prst="rect">
            <a:avLst/>
          </a:prstGeom>
          <a:solidFill>
            <a:srgbClr val="EEF1F7"/>
          </a:solidFill>
          <a:ln/>
        </p:spPr>
      </p:sp>
      <p:sp>
        <p:nvSpPr>
          <p:cNvPr id="78" name="Shape 75"/>
          <p:cNvSpPr/>
          <p:nvPr/>
        </p:nvSpPr>
        <p:spPr>
          <a:xfrm>
            <a:off x="9299448" y="3287921"/>
            <a:ext cx="2212848" cy="120178"/>
          </a:xfrm>
          <a:prstGeom prst="rect">
            <a:avLst/>
          </a:prstGeom>
          <a:solidFill>
            <a:srgbClr val="C9D3E6"/>
          </a:solidFill>
          <a:ln/>
        </p:spPr>
      </p:sp>
      <p:sp>
        <p:nvSpPr>
          <p:cNvPr id="79" name="Shape 76"/>
          <p:cNvSpPr/>
          <p:nvPr/>
        </p:nvSpPr>
        <p:spPr>
          <a:xfrm>
            <a:off x="9299448" y="3408099"/>
            <a:ext cx="2212848" cy="120178"/>
          </a:xfrm>
          <a:prstGeom prst="rect">
            <a:avLst/>
          </a:prstGeom>
          <a:solidFill>
            <a:srgbClr val="EEF1F7"/>
          </a:solidFill>
          <a:ln/>
        </p:spPr>
      </p:sp>
      <p:sp>
        <p:nvSpPr>
          <p:cNvPr id="80" name="Shape 77"/>
          <p:cNvSpPr/>
          <p:nvPr/>
        </p:nvSpPr>
        <p:spPr>
          <a:xfrm>
            <a:off x="9299448" y="3528278"/>
            <a:ext cx="2212848" cy="120178"/>
          </a:xfrm>
          <a:prstGeom prst="rect">
            <a:avLst/>
          </a:prstGeom>
          <a:solidFill>
            <a:srgbClr val="C9D3E6"/>
          </a:solidFill>
          <a:ln/>
        </p:spPr>
      </p:sp>
      <p:sp>
        <p:nvSpPr>
          <p:cNvPr id="81" name="Shape 78"/>
          <p:cNvSpPr/>
          <p:nvPr/>
        </p:nvSpPr>
        <p:spPr>
          <a:xfrm>
            <a:off x="9299448" y="2807208"/>
            <a:ext cx="2212848" cy="841248"/>
          </a:xfrm>
          <a:prstGeom prst="rect">
            <a:avLst/>
          </a:prstGeom>
          <a:ln w="9525">
            <a:solidFill>
              <a:srgbClr val="7D8AA5"/>
            </a:solidFill>
            <a:prstDash val="solid"/>
          </a:ln>
        </p:spPr>
      </p:sp>
      <p:sp>
        <p:nvSpPr>
          <p:cNvPr id="82" name="Shape 79"/>
          <p:cNvSpPr/>
          <p:nvPr/>
        </p:nvSpPr>
        <p:spPr>
          <a:xfrm>
            <a:off x="9714586" y="2834640"/>
            <a:ext cx="54864" cy="786384"/>
          </a:xfrm>
          <a:prstGeom prst="rect">
            <a:avLst/>
          </a:prstGeom>
          <a:solidFill>
            <a:srgbClr val="56607A"/>
          </a:solidFill>
          <a:ln/>
        </p:spPr>
      </p:sp>
      <p:sp>
        <p:nvSpPr>
          <p:cNvPr id="83" name="Shape 80"/>
          <p:cNvSpPr/>
          <p:nvPr/>
        </p:nvSpPr>
        <p:spPr>
          <a:xfrm>
            <a:off x="10157155" y="2834640"/>
            <a:ext cx="54864" cy="786384"/>
          </a:xfrm>
          <a:prstGeom prst="rect">
            <a:avLst/>
          </a:prstGeom>
          <a:solidFill>
            <a:srgbClr val="56607A"/>
          </a:solidFill>
          <a:ln/>
        </p:spPr>
      </p:sp>
      <p:sp>
        <p:nvSpPr>
          <p:cNvPr id="84" name="Shape 81"/>
          <p:cNvSpPr/>
          <p:nvPr/>
        </p:nvSpPr>
        <p:spPr>
          <a:xfrm>
            <a:off x="10599725" y="2834640"/>
            <a:ext cx="54864" cy="786384"/>
          </a:xfrm>
          <a:prstGeom prst="rect">
            <a:avLst/>
          </a:prstGeom>
          <a:solidFill>
            <a:srgbClr val="56607A"/>
          </a:solidFill>
          <a:ln/>
        </p:spPr>
      </p:sp>
      <p:sp>
        <p:nvSpPr>
          <p:cNvPr id="85" name="Shape 82"/>
          <p:cNvSpPr/>
          <p:nvPr/>
        </p:nvSpPr>
        <p:spPr>
          <a:xfrm>
            <a:off x="11042294" y="2834640"/>
            <a:ext cx="54864" cy="786384"/>
          </a:xfrm>
          <a:prstGeom prst="rect">
            <a:avLst/>
          </a:prstGeom>
          <a:solidFill>
            <a:srgbClr val="56607A"/>
          </a:solidFill>
          <a:ln/>
        </p:spPr>
      </p:sp>
      <p:sp>
        <p:nvSpPr>
          <p:cNvPr id="86" name="Shape 83"/>
          <p:cNvSpPr/>
          <p:nvPr/>
        </p:nvSpPr>
        <p:spPr>
          <a:xfrm>
            <a:off x="9409176" y="2734056"/>
            <a:ext cx="128016" cy="73152"/>
          </a:xfrm>
          <a:prstGeom prst="rect">
            <a:avLst/>
          </a:prstGeom>
          <a:solidFill>
            <a:srgbClr val="C98A1B"/>
          </a:solidFill>
          <a:ln/>
        </p:spPr>
      </p:sp>
      <p:sp>
        <p:nvSpPr>
          <p:cNvPr id="87" name="Shape 84"/>
          <p:cNvSpPr/>
          <p:nvPr/>
        </p:nvSpPr>
        <p:spPr>
          <a:xfrm>
            <a:off x="9720072" y="2734056"/>
            <a:ext cx="128016" cy="73152"/>
          </a:xfrm>
          <a:prstGeom prst="rect">
            <a:avLst/>
          </a:prstGeom>
          <a:solidFill>
            <a:srgbClr val="C98A1B"/>
          </a:solidFill>
          <a:ln/>
        </p:spPr>
      </p:sp>
      <p:sp>
        <p:nvSpPr>
          <p:cNvPr id="88" name="Shape 85"/>
          <p:cNvSpPr/>
          <p:nvPr/>
        </p:nvSpPr>
        <p:spPr>
          <a:xfrm>
            <a:off x="10030968" y="2734056"/>
            <a:ext cx="128016" cy="73152"/>
          </a:xfrm>
          <a:prstGeom prst="rect">
            <a:avLst/>
          </a:prstGeom>
          <a:solidFill>
            <a:srgbClr val="C98A1B"/>
          </a:solidFill>
          <a:ln/>
        </p:spPr>
      </p:sp>
      <p:sp>
        <p:nvSpPr>
          <p:cNvPr id="89" name="Shape 86"/>
          <p:cNvSpPr/>
          <p:nvPr/>
        </p:nvSpPr>
        <p:spPr>
          <a:xfrm>
            <a:off x="10341864" y="2734056"/>
            <a:ext cx="128016" cy="73152"/>
          </a:xfrm>
          <a:prstGeom prst="rect">
            <a:avLst/>
          </a:prstGeom>
          <a:solidFill>
            <a:srgbClr val="C98A1B"/>
          </a:solidFill>
          <a:ln/>
        </p:spPr>
      </p:sp>
      <p:sp>
        <p:nvSpPr>
          <p:cNvPr id="90" name="Shape 87"/>
          <p:cNvSpPr/>
          <p:nvPr/>
        </p:nvSpPr>
        <p:spPr>
          <a:xfrm>
            <a:off x="10652760" y="2734056"/>
            <a:ext cx="128016" cy="73152"/>
          </a:xfrm>
          <a:prstGeom prst="rect">
            <a:avLst/>
          </a:prstGeom>
          <a:solidFill>
            <a:srgbClr val="C98A1B"/>
          </a:solidFill>
          <a:ln/>
        </p:spPr>
      </p:sp>
      <p:sp>
        <p:nvSpPr>
          <p:cNvPr id="91" name="Shape 88"/>
          <p:cNvSpPr/>
          <p:nvPr/>
        </p:nvSpPr>
        <p:spPr>
          <a:xfrm>
            <a:off x="10963656" y="2734056"/>
            <a:ext cx="128016" cy="73152"/>
          </a:xfrm>
          <a:prstGeom prst="rect">
            <a:avLst/>
          </a:prstGeom>
          <a:solidFill>
            <a:srgbClr val="C98A1B"/>
          </a:solidFill>
          <a:ln/>
        </p:spPr>
      </p:sp>
      <p:sp>
        <p:nvSpPr>
          <p:cNvPr id="92" name="Shape 89"/>
          <p:cNvSpPr/>
          <p:nvPr/>
        </p:nvSpPr>
        <p:spPr>
          <a:xfrm>
            <a:off x="11274552" y="2734056"/>
            <a:ext cx="128016" cy="73152"/>
          </a:xfrm>
          <a:prstGeom prst="rect">
            <a:avLst/>
          </a:prstGeom>
          <a:solidFill>
            <a:srgbClr val="C98A1B"/>
          </a:solidFill>
          <a:ln/>
        </p:spPr>
      </p:sp>
      <p:sp>
        <p:nvSpPr>
          <p:cNvPr id="93" name="Shape 90"/>
          <p:cNvSpPr/>
          <p:nvPr/>
        </p:nvSpPr>
        <p:spPr>
          <a:xfrm>
            <a:off x="9299448" y="1865376"/>
            <a:ext cx="2212848" cy="120178"/>
          </a:xfrm>
          <a:prstGeom prst="rect">
            <a:avLst/>
          </a:prstGeom>
          <a:solidFill>
            <a:srgbClr val="C9D3E6"/>
          </a:solidFill>
          <a:ln/>
        </p:spPr>
      </p:sp>
      <p:sp>
        <p:nvSpPr>
          <p:cNvPr id="94" name="Shape 91"/>
          <p:cNvSpPr/>
          <p:nvPr/>
        </p:nvSpPr>
        <p:spPr>
          <a:xfrm>
            <a:off x="9299448" y="1985554"/>
            <a:ext cx="2212848" cy="120178"/>
          </a:xfrm>
          <a:prstGeom prst="rect">
            <a:avLst/>
          </a:prstGeom>
          <a:solidFill>
            <a:srgbClr val="EEF1F7"/>
          </a:solidFill>
          <a:ln/>
        </p:spPr>
      </p:sp>
      <p:sp>
        <p:nvSpPr>
          <p:cNvPr id="95" name="Shape 92"/>
          <p:cNvSpPr/>
          <p:nvPr/>
        </p:nvSpPr>
        <p:spPr>
          <a:xfrm>
            <a:off x="9299448" y="2105733"/>
            <a:ext cx="2212848" cy="120178"/>
          </a:xfrm>
          <a:prstGeom prst="rect">
            <a:avLst/>
          </a:prstGeom>
          <a:solidFill>
            <a:srgbClr val="C9D3E6"/>
          </a:solidFill>
          <a:ln/>
        </p:spPr>
      </p:sp>
      <p:sp>
        <p:nvSpPr>
          <p:cNvPr id="96" name="Shape 93"/>
          <p:cNvSpPr/>
          <p:nvPr/>
        </p:nvSpPr>
        <p:spPr>
          <a:xfrm>
            <a:off x="9299448" y="2225911"/>
            <a:ext cx="2212848" cy="120178"/>
          </a:xfrm>
          <a:prstGeom prst="rect">
            <a:avLst/>
          </a:prstGeom>
          <a:solidFill>
            <a:srgbClr val="EEF1F7"/>
          </a:solidFill>
          <a:ln/>
        </p:spPr>
      </p:sp>
      <p:sp>
        <p:nvSpPr>
          <p:cNvPr id="97" name="Shape 94"/>
          <p:cNvSpPr/>
          <p:nvPr/>
        </p:nvSpPr>
        <p:spPr>
          <a:xfrm>
            <a:off x="9299448" y="2346089"/>
            <a:ext cx="2212848" cy="120178"/>
          </a:xfrm>
          <a:prstGeom prst="rect">
            <a:avLst/>
          </a:prstGeom>
          <a:solidFill>
            <a:srgbClr val="C9D3E6"/>
          </a:solidFill>
          <a:ln/>
        </p:spPr>
      </p:sp>
      <p:sp>
        <p:nvSpPr>
          <p:cNvPr id="98" name="Shape 95"/>
          <p:cNvSpPr/>
          <p:nvPr/>
        </p:nvSpPr>
        <p:spPr>
          <a:xfrm>
            <a:off x="9299448" y="2466267"/>
            <a:ext cx="2212848" cy="120178"/>
          </a:xfrm>
          <a:prstGeom prst="rect">
            <a:avLst/>
          </a:prstGeom>
          <a:solidFill>
            <a:srgbClr val="EEF1F7"/>
          </a:solidFill>
          <a:ln/>
        </p:spPr>
      </p:sp>
      <p:sp>
        <p:nvSpPr>
          <p:cNvPr id="99" name="Shape 96"/>
          <p:cNvSpPr/>
          <p:nvPr/>
        </p:nvSpPr>
        <p:spPr>
          <a:xfrm>
            <a:off x="9299448" y="2586446"/>
            <a:ext cx="2212848" cy="120178"/>
          </a:xfrm>
          <a:prstGeom prst="rect">
            <a:avLst/>
          </a:prstGeom>
          <a:solidFill>
            <a:srgbClr val="C9D3E6"/>
          </a:solidFill>
          <a:ln/>
        </p:spPr>
      </p:sp>
      <p:sp>
        <p:nvSpPr>
          <p:cNvPr id="100" name="Shape 97"/>
          <p:cNvSpPr/>
          <p:nvPr/>
        </p:nvSpPr>
        <p:spPr>
          <a:xfrm>
            <a:off x="9299448" y="1865376"/>
            <a:ext cx="2212848" cy="841248"/>
          </a:xfrm>
          <a:prstGeom prst="rect">
            <a:avLst/>
          </a:prstGeom>
          <a:ln w="9525">
            <a:solidFill>
              <a:srgbClr val="7D8AA5"/>
            </a:solidFill>
            <a:prstDash val="solid"/>
          </a:ln>
        </p:spPr>
      </p:sp>
      <p:sp>
        <p:nvSpPr>
          <p:cNvPr id="101" name="Shape 98"/>
          <p:cNvSpPr/>
          <p:nvPr/>
        </p:nvSpPr>
        <p:spPr>
          <a:xfrm>
            <a:off x="9714586" y="1892808"/>
            <a:ext cx="54864" cy="786384"/>
          </a:xfrm>
          <a:prstGeom prst="rect">
            <a:avLst/>
          </a:prstGeom>
          <a:solidFill>
            <a:srgbClr val="56607A"/>
          </a:solidFill>
          <a:ln/>
        </p:spPr>
      </p:sp>
      <p:sp>
        <p:nvSpPr>
          <p:cNvPr id="102" name="Shape 99"/>
          <p:cNvSpPr/>
          <p:nvPr/>
        </p:nvSpPr>
        <p:spPr>
          <a:xfrm>
            <a:off x="10157155" y="1892808"/>
            <a:ext cx="54864" cy="786384"/>
          </a:xfrm>
          <a:prstGeom prst="rect">
            <a:avLst/>
          </a:prstGeom>
          <a:solidFill>
            <a:srgbClr val="56607A"/>
          </a:solidFill>
          <a:ln/>
        </p:spPr>
      </p:sp>
      <p:sp>
        <p:nvSpPr>
          <p:cNvPr id="103" name="Shape 100"/>
          <p:cNvSpPr/>
          <p:nvPr/>
        </p:nvSpPr>
        <p:spPr>
          <a:xfrm>
            <a:off x="10599725" y="1892808"/>
            <a:ext cx="54864" cy="786384"/>
          </a:xfrm>
          <a:prstGeom prst="rect">
            <a:avLst/>
          </a:prstGeom>
          <a:solidFill>
            <a:srgbClr val="56607A"/>
          </a:solidFill>
          <a:ln/>
        </p:spPr>
      </p:sp>
      <p:sp>
        <p:nvSpPr>
          <p:cNvPr id="104" name="Shape 101"/>
          <p:cNvSpPr/>
          <p:nvPr/>
        </p:nvSpPr>
        <p:spPr>
          <a:xfrm>
            <a:off x="11042294" y="1892808"/>
            <a:ext cx="54864" cy="786384"/>
          </a:xfrm>
          <a:prstGeom prst="rect">
            <a:avLst/>
          </a:prstGeom>
          <a:solidFill>
            <a:srgbClr val="56607A"/>
          </a:solidFill>
          <a:ln/>
        </p:spPr>
      </p:sp>
      <p:sp>
        <p:nvSpPr>
          <p:cNvPr id="105" name="Shape 102"/>
          <p:cNvSpPr/>
          <p:nvPr/>
        </p:nvSpPr>
        <p:spPr>
          <a:xfrm>
            <a:off x="3072384" y="3200400"/>
            <a:ext cx="310896" cy="0"/>
          </a:xfrm>
          <a:prstGeom prst="line">
            <a:avLst/>
          </a:prstGeom>
          <a:noFill/>
          <a:ln w="22225">
            <a:solidFill>
              <a:srgbClr val="8C96A3"/>
            </a:solidFill>
            <a:prstDash val="solid"/>
            <a:tailEnd type="triangle"/>
          </a:ln>
        </p:spPr>
      </p:sp>
      <p:sp>
        <p:nvSpPr>
          <p:cNvPr id="106" name="Shape 103"/>
          <p:cNvSpPr/>
          <p:nvPr/>
        </p:nvSpPr>
        <p:spPr>
          <a:xfrm>
            <a:off x="5943600" y="3200400"/>
            <a:ext cx="310896" cy="0"/>
          </a:xfrm>
          <a:prstGeom prst="line">
            <a:avLst/>
          </a:prstGeom>
          <a:noFill/>
          <a:ln w="22225">
            <a:solidFill>
              <a:srgbClr val="8C96A3"/>
            </a:solidFill>
            <a:prstDash val="solid"/>
            <a:tailEnd type="triangle"/>
          </a:ln>
        </p:spPr>
      </p:sp>
      <p:sp>
        <p:nvSpPr>
          <p:cNvPr id="107" name="Shape 104"/>
          <p:cNvSpPr/>
          <p:nvPr/>
        </p:nvSpPr>
        <p:spPr>
          <a:xfrm>
            <a:off x="8814816" y="3200400"/>
            <a:ext cx="310896" cy="0"/>
          </a:xfrm>
          <a:prstGeom prst="line">
            <a:avLst/>
          </a:prstGeom>
          <a:noFill/>
          <a:ln w="22225">
            <a:solidFill>
              <a:srgbClr val="8C96A3"/>
            </a:solidFill>
            <a:prstDash val="solid"/>
            <a:tailEnd type="triangle"/>
          </a:ln>
        </p:spPr>
      </p:sp>
      <p:sp>
        <p:nvSpPr>
          <p:cNvPr id="108" name="Text 105"/>
          <p:cNvSpPr txBox="1"/>
          <p:nvPr/>
        </p:nvSpPr>
        <p:spPr>
          <a:xfrm>
            <a:off x="548640" y="4343400"/>
            <a:ext cx="2487168" cy="365760"/>
          </a:xfrm>
          <a:prstGeom prst="rect">
            <a:avLst/>
          </a:prstGeom>
          <a:noFill/>
          <a:ln/>
        </p:spPr>
        <p:txBody>
          <a:bodyPr wrap="square" lIns="0" tIns="0" rIns="0" bIns="0" rtlCol="0" anchor="ctr"/>
          <a:lstStyle/>
          <a:p>
            <a:pPr indent="0" marL="0">
              <a:buNone/>
            </a:pPr>
            <a:r>
              <a:rPr lang="en-US" sz="1450" b="1" dirty="0">
                <a:solidFill>
                  <a:srgbClr val="1C2430"/>
                </a:solidFill>
                <a:latin typeface="Arial" pitchFamily="34" charset="0"/>
                <a:ea typeface="Yu Gothic"/>
                <a:cs typeface="Arial" pitchFamily="34" charset="-120"/>
              </a:rPr>
              <a:t>周辺回路を横に置く</a:t>
            </a:r>
            <a:endParaRPr lang="en-US" sz="1450" dirty="0"/>
          </a:p>
        </p:txBody>
      </p:sp>
      <p:sp>
        <p:nvSpPr>
          <p:cNvPr id="109" name="Shape 106"/>
          <p:cNvSpPr/>
          <p:nvPr/>
        </p:nvSpPr>
        <p:spPr>
          <a:xfrm>
            <a:off x="548640" y="4754880"/>
            <a:ext cx="2487168" cy="329184"/>
          </a:xfrm>
          <a:prstGeom prst="roundRect">
            <a:avLst>
              <a:gd name="adj" fmla="val 16667"/>
            </a:avLst>
          </a:prstGeom>
          <a:solidFill>
            <a:srgbClr val="2F5597"/>
          </a:solidFill>
          <a:ln/>
        </p:spPr>
      </p:sp>
      <p:sp>
        <p:nvSpPr>
          <p:cNvPr id="110" name="Text 107"/>
          <p:cNvSpPr txBox="1"/>
          <p:nvPr/>
        </p:nvSpPr>
        <p:spPr>
          <a:xfrm>
            <a:off x="548640" y="4754880"/>
            <a:ext cx="2487168"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Yu Gothic"/>
                <a:cs typeface="Arial" pitchFamily="34" charset="-120"/>
              </a:rPr>
              <a:t>初期の3D NAND</a:t>
            </a:r>
            <a:endParaRPr lang="en-US" sz="1150" dirty="0"/>
          </a:p>
        </p:txBody>
      </p:sp>
      <p:sp>
        <p:nvSpPr>
          <p:cNvPr id="111" name="Text 108"/>
          <p:cNvSpPr txBox="1"/>
          <p:nvPr/>
        </p:nvSpPr>
        <p:spPr>
          <a:xfrm>
            <a:off x="548640" y="5193792"/>
            <a:ext cx="2487168" cy="1097280"/>
          </a:xfrm>
          <a:prstGeom prst="rect">
            <a:avLst/>
          </a:prstGeom>
          <a:noFill/>
          <a:ln/>
        </p:spPr>
        <p:txBody>
          <a:bodyPr wrap="square" lIns="0" tIns="0" rIns="0" bIns="0" rtlCol="0" anchor="t"/>
          <a:lstStyle/>
          <a:p>
            <a:pPr indent="0" marL="0">
              <a:buNone/>
            </a:pPr>
            <a:r>
              <a:rPr lang="en-US" sz="1250" dirty="0">
                <a:solidFill>
                  <a:srgbClr val="333D4A"/>
                </a:solidFill>
                <a:latin typeface="Arial" pitchFamily="34" charset="0"/>
                <a:ea typeface="Yu Gothic"/>
                <a:cs typeface="Arial" pitchFamily="34" charset="-120"/>
              </a:rPr>
              <a:t>セル（記憶部）の横に周辺回路。チップの面積が大きい。</a:t>
            </a:r>
            <a:endParaRPr lang="en-US" sz="1250" dirty="0"/>
          </a:p>
        </p:txBody>
      </p:sp>
      <p:sp>
        <p:nvSpPr>
          <p:cNvPr id="112" name="Text 109"/>
          <p:cNvSpPr txBox="1"/>
          <p:nvPr/>
        </p:nvSpPr>
        <p:spPr>
          <a:xfrm>
            <a:off x="3419856" y="4343400"/>
            <a:ext cx="2487168" cy="365760"/>
          </a:xfrm>
          <a:prstGeom prst="rect">
            <a:avLst/>
          </a:prstGeom>
          <a:noFill/>
          <a:ln/>
        </p:spPr>
        <p:txBody>
          <a:bodyPr wrap="square" lIns="0" tIns="0" rIns="0" bIns="0" rtlCol="0" anchor="ctr"/>
          <a:lstStyle/>
          <a:p>
            <a:pPr indent="0" marL="0">
              <a:buNone/>
            </a:pPr>
            <a:r>
              <a:rPr lang="en-US" sz="1450" b="1" dirty="0">
                <a:solidFill>
                  <a:srgbClr val="1C2430"/>
                </a:solidFill>
                <a:latin typeface="Arial" pitchFamily="34" charset="0"/>
                <a:ea typeface="Yu Gothic"/>
                <a:cs typeface="Arial" pitchFamily="34" charset="-120"/>
              </a:rPr>
              <a:t>セルの下に置く（CuA）</a:t>
            </a:r>
            <a:endParaRPr lang="en-US" sz="1450" dirty="0"/>
          </a:p>
        </p:txBody>
      </p:sp>
      <p:sp>
        <p:nvSpPr>
          <p:cNvPr id="113" name="Shape 110"/>
          <p:cNvSpPr/>
          <p:nvPr/>
        </p:nvSpPr>
        <p:spPr>
          <a:xfrm>
            <a:off x="3419856" y="4754880"/>
            <a:ext cx="2487168" cy="329184"/>
          </a:xfrm>
          <a:prstGeom prst="roundRect">
            <a:avLst>
              <a:gd name="adj" fmla="val 16667"/>
            </a:avLst>
          </a:prstGeom>
          <a:solidFill>
            <a:srgbClr val="2F5597"/>
          </a:solidFill>
          <a:ln/>
        </p:spPr>
      </p:sp>
      <p:sp>
        <p:nvSpPr>
          <p:cNvPr id="114" name="Text 111"/>
          <p:cNvSpPr txBox="1"/>
          <p:nvPr/>
        </p:nvSpPr>
        <p:spPr>
          <a:xfrm>
            <a:off x="3419856" y="4754880"/>
            <a:ext cx="2487168"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Yu Gothic"/>
                <a:cs typeface="Arial" pitchFamily="34" charset="-120"/>
              </a:rPr>
              <a:t>2015年〜（Micronが最初）</a:t>
            </a:r>
            <a:endParaRPr lang="en-US" sz="1150" dirty="0"/>
          </a:p>
        </p:txBody>
      </p:sp>
      <p:sp>
        <p:nvSpPr>
          <p:cNvPr id="115" name="Text 112"/>
          <p:cNvSpPr txBox="1"/>
          <p:nvPr/>
        </p:nvSpPr>
        <p:spPr>
          <a:xfrm>
            <a:off x="3419856" y="5193792"/>
            <a:ext cx="2487168" cy="1097280"/>
          </a:xfrm>
          <a:prstGeom prst="rect">
            <a:avLst/>
          </a:prstGeom>
          <a:noFill/>
          <a:ln/>
        </p:spPr>
        <p:txBody>
          <a:bodyPr wrap="square" lIns="0" tIns="0" rIns="0" bIns="0" rtlCol="0" anchor="t"/>
          <a:lstStyle/>
          <a:p>
            <a:pPr indent="0" marL="0">
              <a:buNone/>
            </a:pPr>
            <a:r>
              <a:rPr lang="en-US" sz="1250" dirty="0">
                <a:solidFill>
                  <a:srgbClr val="333D4A"/>
                </a:solidFill>
                <a:latin typeface="Arial" pitchFamily="34" charset="0"/>
                <a:ea typeface="Yu Gothic"/>
                <a:cs typeface="Arial" pitchFamily="34" charset="-120"/>
              </a:rPr>
              <a:t>SK hynix 2018年、Samsung 2021年。面積は減るが、セルを作る高温で周辺回路が傷みやすい。</a:t>
            </a:r>
            <a:endParaRPr lang="en-US" sz="1250" dirty="0"/>
          </a:p>
        </p:txBody>
      </p:sp>
      <p:sp>
        <p:nvSpPr>
          <p:cNvPr id="116" name="Text 113"/>
          <p:cNvSpPr txBox="1"/>
          <p:nvPr/>
        </p:nvSpPr>
        <p:spPr>
          <a:xfrm>
            <a:off x="6291072" y="4343400"/>
            <a:ext cx="2487168" cy="365760"/>
          </a:xfrm>
          <a:prstGeom prst="rect">
            <a:avLst/>
          </a:prstGeom>
          <a:noFill/>
          <a:ln/>
        </p:spPr>
        <p:txBody>
          <a:bodyPr wrap="square" lIns="0" tIns="0" rIns="0" bIns="0" rtlCol="0" anchor="ctr"/>
          <a:lstStyle/>
          <a:p>
            <a:pPr indent="0" marL="0">
              <a:buNone/>
            </a:pPr>
            <a:r>
              <a:rPr lang="en-US" sz="1450" b="1" dirty="0">
                <a:solidFill>
                  <a:srgbClr val="1C2430"/>
                </a:solidFill>
                <a:latin typeface="Arial" pitchFamily="34" charset="0"/>
                <a:ea typeface="Yu Gothic"/>
                <a:cs typeface="Arial" pitchFamily="34" charset="-120"/>
              </a:rPr>
              <a:t>別々に作り貼り合わせる</a:t>
            </a:r>
            <a:endParaRPr lang="en-US" sz="1450" dirty="0"/>
          </a:p>
        </p:txBody>
      </p:sp>
      <p:sp>
        <p:nvSpPr>
          <p:cNvPr id="117" name="Shape 114"/>
          <p:cNvSpPr/>
          <p:nvPr/>
        </p:nvSpPr>
        <p:spPr>
          <a:xfrm>
            <a:off x="6291072" y="4754880"/>
            <a:ext cx="2487168" cy="329184"/>
          </a:xfrm>
          <a:prstGeom prst="roundRect">
            <a:avLst>
              <a:gd name="adj" fmla="val 16667"/>
            </a:avLst>
          </a:prstGeom>
          <a:solidFill>
            <a:srgbClr val="ED7D31"/>
          </a:solidFill>
          <a:ln/>
        </p:spPr>
      </p:sp>
      <p:sp>
        <p:nvSpPr>
          <p:cNvPr id="118" name="Text 115"/>
          <p:cNvSpPr txBox="1"/>
          <p:nvPr/>
        </p:nvSpPr>
        <p:spPr>
          <a:xfrm>
            <a:off x="6291072" y="4754880"/>
            <a:ext cx="2487168"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Yu Gothic"/>
                <a:cs typeface="Arial" pitchFamily="34" charset="-120"/>
              </a:rPr>
              <a:t>2019年〜（YMTCが最初）</a:t>
            </a:r>
            <a:endParaRPr lang="en-US" sz="1150" dirty="0"/>
          </a:p>
        </p:txBody>
      </p:sp>
      <p:sp>
        <p:nvSpPr>
          <p:cNvPr id="119" name="Text 116"/>
          <p:cNvSpPr txBox="1"/>
          <p:nvPr/>
        </p:nvSpPr>
        <p:spPr>
          <a:xfrm>
            <a:off x="6291072" y="5193792"/>
            <a:ext cx="2487168" cy="1097280"/>
          </a:xfrm>
          <a:prstGeom prst="rect">
            <a:avLst/>
          </a:prstGeom>
          <a:noFill/>
          <a:ln/>
        </p:spPr>
        <p:txBody>
          <a:bodyPr wrap="square" lIns="0" tIns="0" rIns="0" bIns="0" rtlCol="0" anchor="t"/>
          <a:lstStyle/>
          <a:p>
            <a:pPr indent="0" marL="0">
              <a:buNone/>
            </a:pPr>
            <a:r>
              <a:rPr lang="en-US" sz="1250" dirty="0">
                <a:solidFill>
                  <a:srgbClr val="333D4A"/>
                </a:solidFill>
                <a:latin typeface="Arial" pitchFamily="34" charset="0"/>
                <a:ea typeface="Yu Gothic"/>
                <a:cs typeface="Arial" pitchFamily="34" charset="-120"/>
              </a:rPr>
              <a:t>Kioxia 2024年、Samsung 2026年、SK hynix 2027年。周辺回路に速いトランジスタを使える。</a:t>
            </a:r>
            <a:endParaRPr lang="en-US" sz="1250" dirty="0"/>
          </a:p>
        </p:txBody>
      </p:sp>
      <p:sp>
        <p:nvSpPr>
          <p:cNvPr id="120" name="Text 117"/>
          <p:cNvSpPr txBox="1"/>
          <p:nvPr/>
        </p:nvSpPr>
        <p:spPr>
          <a:xfrm>
            <a:off x="9162288" y="4343400"/>
            <a:ext cx="2487168" cy="365760"/>
          </a:xfrm>
          <a:prstGeom prst="rect">
            <a:avLst/>
          </a:prstGeom>
          <a:noFill/>
          <a:ln/>
        </p:spPr>
        <p:txBody>
          <a:bodyPr wrap="square" lIns="0" tIns="0" rIns="0" bIns="0" rtlCol="0" anchor="ctr"/>
          <a:lstStyle/>
          <a:p>
            <a:pPr indent="0" marL="0">
              <a:buNone/>
            </a:pPr>
            <a:r>
              <a:rPr lang="en-US" sz="1450" b="1" dirty="0">
                <a:solidFill>
                  <a:srgbClr val="1C2430"/>
                </a:solidFill>
                <a:latin typeface="Arial" pitchFamily="34" charset="0"/>
                <a:ea typeface="Yu Gothic"/>
                <a:cs typeface="Arial" pitchFamily="34" charset="-120"/>
              </a:rPr>
              <a:t>セルのウェハも重ねる</a:t>
            </a:r>
            <a:endParaRPr lang="en-US" sz="1450" dirty="0"/>
          </a:p>
        </p:txBody>
      </p:sp>
      <p:sp>
        <p:nvSpPr>
          <p:cNvPr id="121" name="Shape 118"/>
          <p:cNvSpPr/>
          <p:nvPr/>
        </p:nvSpPr>
        <p:spPr>
          <a:xfrm>
            <a:off x="9162288" y="4754880"/>
            <a:ext cx="2487168" cy="329184"/>
          </a:xfrm>
          <a:prstGeom prst="roundRect">
            <a:avLst>
              <a:gd name="adj" fmla="val 16667"/>
            </a:avLst>
          </a:prstGeom>
          <a:solidFill>
            <a:srgbClr val="FFF2E6"/>
          </a:solidFill>
          <a:ln w="12700">
            <a:solidFill>
              <a:srgbClr val="C55A11"/>
            </a:solidFill>
            <a:prstDash val="dash"/>
          </a:ln>
        </p:spPr>
      </p:sp>
      <p:sp>
        <p:nvSpPr>
          <p:cNvPr id="122" name="Text 119"/>
          <p:cNvSpPr txBox="1"/>
          <p:nvPr/>
        </p:nvSpPr>
        <p:spPr>
          <a:xfrm>
            <a:off x="9162288" y="4754880"/>
            <a:ext cx="2487168" cy="329184"/>
          </a:xfrm>
          <a:prstGeom prst="rect">
            <a:avLst/>
          </a:prstGeom>
          <a:noFill/>
          <a:ln/>
        </p:spPr>
        <p:txBody>
          <a:bodyPr wrap="square" lIns="0" tIns="0" rIns="0" bIns="0" rtlCol="0" anchor="ctr"/>
          <a:lstStyle/>
          <a:p>
            <a:pPr algn="ctr" indent="0" marL="0">
              <a:buNone/>
            </a:pPr>
            <a:r>
              <a:rPr lang="en-US" sz="1150" b="1" dirty="0">
                <a:solidFill>
                  <a:srgbClr val="843C0C"/>
                </a:solidFill>
                <a:latin typeface="Arial" pitchFamily="34" charset="0"/>
                <a:ea typeface="Yu Gothic"/>
                <a:cs typeface="Arial" pitchFamily="34" charset="-120"/>
              </a:rPr>
              <a:t>2030〜31年（目標）</a:t>
            </a:r>
            <a:endParaRPr lang="en-US" sz="1150" dirty="0"/>
          </a:p>
        </p:txBody>
      </p:sp>
      <p:sp>
        <p:nvSpPr>
          <p:cNvPr id="123" name="Text 120"/>
          <p:cNvSpPr txBox="1"/>
          <p:nvPr/>
        </p:nvSpPr>
        <p:spPr>
          <a:xfrm>
            <a:off x="9162288" y="5193792"/>
            <a:ext cx="2487168" cy="1097280"/>
          </a:xfrm>
          <a:prstGeom prst="rect">
            <a:avLst/>
          </a:prstGeom>
          <a:noFill/>
          <a:ln/>
        </p:spPr>
        <p:txBody>
          <a:bodyPr wrap="square" lIns="0" tIns="0" rIns="0" bIns="0" rtlCol="0" anchor="t"/>
          <a:lstStyle/>
          <a:p>
            <a:pPr indent="0" marL="0">
              <a:buNone/>
            </a:pPr>
            <a:r>
              <a:rPr lang="en-US" sz="1250" dirty="0">
                <a:solidFill>
                  <a:srgbClr val="333D4A"/>
                </a:solidFill>
                <a:latin typeface="Arial" pitchFamily="34" charset="0"/>
                <a:ea typeface="Yu Gothic"/>
                <a:cs typeface="Arial" pitchFamily="34" charset="-120"/>
              </a:rPr>
              <a:t>1000層級で使う見込み。Kioxia/Sandiskが2026年に2枚重ねの動作を発表。</a:t>
            </a:r>
            <a:endParaRPr lang="en-US" sz="1250" dirty="0"/>
          </a:p>
        </p:txBody>
      </p:sp>
      <p:sp>
        <p:nvSpPr>
          <p:cNvPr id="124" name="Text 121"/>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出典：Intel/Micron（IEDM 2015）、SK hynix、Samsung（FMS 2026）、YMTC、Kioxia、TrendForce（VLSI 2026）</a:t>
            </a:r>
            <a:endParaRPr lang="en-US" sz="950" dirty="0"/>
          </a:p>
        </p:txBody>
      </p:sp>
      <p:sp>
        <p:nvSpPr>
          <p:cNvPr id="125" name="Text 12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7B5EA7"/>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7B5EA7"/>
                </a:solidFill>
                <a:latin typeface="Arial" pitchFamily="34" charset="0"/>
                <a:ea typeface="Yu Gothic"/>
                <a:cs typeface="Arial" pitchFamily="34" charset="-120"/>
              </a:rPr>
              <a:t>NAND</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NAND：各社とも2026〜27年に3xx〜4xx層へ、その先は1000層級</a:t>
            </a:r>
            <a:endParaRPr lang="en-US" sz="2400" dirty="0"/>
          </a:p>
        </p:txBody>
      </p:sp>
      <p:sp>
        <p:nvSpPr>
          <p:cNvPr id="6" name="Shape 3"/>
          <p:cNvSpPr/>
          <p:nvPr/>
        </p:nvSpPr>
        <p:spPr>
          <a:xfrm>
            <a:off x="1874520" y="2011680"/>
            <a:ext cx="0" cy="3584448"/>
          </a:xfrm>
          <a:prstGeom prst="line">
            <a:avLst/>
          </a:prstGeom>
          <a:noFill/>
          <a:ln w="9525">
            <a:solidFill>
              <a:srgbClr val="DDE1E6"/>
            </a:solidFill>
            <a:prstDash val="solid"/>
          </a:ln>
        </p:spPr>
      </p:sp>
      <p:sp>
        <p:nvSpPr>
          <p:cNvPr id="7" name="Text 4"/>
          <p:cNvSpPr txBox="1"/>
          <p:nvPr/>
        </p:nvSpPr>
        <p:spPr>
          <a:xfrm>
            <a:off x="191109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2024</a:t>
            </a:r>
            <a:endParaRPr lang="en-US" sz="1100" dirty="0"/>
          </a:p>
        </p:txBody>
      </p:sp>
      <p:sp>
        <p:nvSpPr>
          <p:cNvPr id="8" name="Shape 5"/>
          <p:cNvSpPr/>
          <p:nvPr/>
        </p:nvSpPr>
        <p:spPr>
          <a:xfrm>
            <a:off x="2575560" y="2011680"/>
            <a:ext cx="0" cy="3584448"/>
          </a:xfrm>
          <a:prstGeom prst="line">
            <a:avLst/>
          </a:prstGeom>
          <a:noFill/>
          <a:ln w="9525">
            <a:solidFill>
              <a:srgbClr val="DDE1E6"/>
            </a:solidFill>
            <a:prstDash val="solid"/>
          </a:ln>
        </p:spPr>
      </p:sp>
      <p:sp>
        <p:nvSpPr>
          <p:cNvPr id="9" name="Text 6"/>
          <p:cNvSpPr txBox="1"/>
          <p:nvPr/>
        </p:nvSpPr>
        <p:spPr>
          <a:xfrm>
            <a:off x="261213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2025</a:t>
            </a:r>
            <a:endParaRPr lang="en-US" sz="1100" dirty="0"/>
          </a:p>
        </p:txBody>
      </p:sp>
      <p:sp>
        <p:nvSpPr>
          <p:cNvPr id="10" name="Shape 7"/>
          <p:cNvSpPr/>
          <p:nvPr/>
        </p:nvSpPr>
        <p:spPr>
          <a:xfrm>
            <a:off x="3276600" y="2011680"/>
            <a:ext cx="0" cy="3584448"/>
          </a:xfrm>
          <a:prstGeom prst="line">
            <a:avLst/>
          </a:prstGeom>
          <a:noFill/>
          <a:ln w="9525">
            <a:solidFill>
              <a:srgbClr val="DDE1E6"/>
            </a:solidFill>
            <a:prstDash val="solid"/>
          </a:ln>
        </p:spPr>
      </p:sp>
      <p:sp>
        <p:nvSpPr>
          <p:cNvPr id="11" name="Text 8"/>
          <p:cNvSpPr txBox="1"/>
          <p:nvPr/>
        </p:nvSpPr>
        <p:spPr>
          <a:xfrm>
            <a:off x="331317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2026</a:t>
            </a:r>
            <a:endParaRPr lang="en-US" sz="1100" dirty="0"/>
          </a:p>
        </p:txBody>
      </p:sp>
      <p:sp>
        <p:nvSpPr>
          <p:cNvPr id="12" name="Shape 9"/>
          <p:cNvSpPr/>
          <p:nvPr/>
        </p:nvSpPr>
        <p:spPr>
          <a:xfrm>
            <a:off x="3977640" y="2011680"/>
            <a:ext cx="0" cy="3584448"/>
          </a:xfrm>
          <a:prstGeom prst="line">
            <a:avLst/>
          </a:prstGeom>
          <a:noFill/>
          <a:ln w="9525">
            <a:solidFill>
              <a:srgbClr val="DDE1E6"/>
            </a:solidFill>
            <a:prstDash val="solid"/>
          </a:ln>
        </p:spPr>
      </p:sp>
      <p:sp>
        <p:nvSpPr>
          <p:cNvPr id="13" name="Text 10"/>
          <p:cNvSpPr txBox="1"/>
          <p:nvPr/>
        </p:nvSpPr>
        <p:spPr>
          <a:xfrm>
            <a:off x="401421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2027</a:t>
            </a:r>
            <a:endParaRPr lang="en-US" sz="1100" dirty="0"/>
          </a:p>
        </p:txBody>
      </p:sp>
      <p:sp>
        <p:nvSpPr>
          <p:cNvPr id="14" name="Shape 11"/>
          <p:cNvSpPr/>
          <p:nvPr/>
        </p:nvSpPr>
        <p:spPr>
          <a:xfrm>
            <a:off x="4678680" y="2011680"/>
            <a:ext cx="0" cy="3584448"/>
          </a:xfrm>
          <a:prstGeom prst="line">
            <a:avLst/>
          </a:prstGeom>
          <a:noFill/>
          <a:ln w="9525">
            <a:solidFill>
              <a:srgbClr val="DDE1E6"/>
            </a:solidFill>
            <a:prstDash val="solid"/>
          </a:ln>
        </p:spPr>
      </p:sp>
      <p:sp>
        <p:nvSpPr>
          <p:cNvPr id="15" name="Text 12"/>
          <p:cNvSpPr txBox="1"/>
          <p:nvPr/>
        </p:nvSpPr>
        <p:spPr>
          <a:xfrm>
            <a:off x="471525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2028</a:t>
            </a:r>
            <a:endParaRPr lang="en-US" sz="1100" dirty="0"/>
          </a:p>
        </p:txBody>
      </p:sp>
      <p:sp>
        <p:nvSpPr>
          <p:cNvPr id="16" name="Shape 13"/>
          <p:cNvSpPr/>
          <p:nvPr/>
        </p:nvSpPr>
        <p:spPr>
          <a:xfrm>
            <a:off x="5379720" y="2011680"/>
            <a:ext cx="0" cy="3584448"/>
          </a:xfrm>
          <a:prstGeom prst="line">
            <a:avLst/>
          </a:prstGeom>
          <a:noFill/>
          <a:ln w="9525">
            <a:solidFill>
              <a:srgbClr val="DDE1E6"/>
            </a:solidFill>
            <a:prstDash val="solid"/>
          </a:ln>
        </p:spPr>
      </p:sp>
      <p:sp>
        <p:nvSpPr>
          <p:cNvPr id="17" name="Text 14"/>
          <p:cNvSpPr txBox="1"/>
          <p:nvPr/>
        </p:nvSpPr>
        <p:spPr>
          <a:xfrm>
            <a:off x="541629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2029</a:t>
            </a:r>
            <a:endParaRPr lang="en-US" sz="1100" dirty="0"/>
          </a:p>
        </p:txBody>
      </p:sp>
      <p:sp>
        <p:nvSpPr>
          <p:cNvPr id="18" name="Shape 15"/>
          <p:cNvSpPr/>
          <p:nvPr/>
        </p:nvSpPr>
        <p:spPr>
          <a:xfrm>
            <a:off x="6080760" y="2011680"/>
            <a:ext cx="0" cy="3584448"/>
          </a:xfrm>
          <a:prstGeom prst="line">
            <a:avLst/>
          </a:prstGeom>
          <a:noFill/>
          <a:ln w="9525">
            <a:solidFill>
              <a:srgbClr val="DDE1E6"/>
            </a:solidFill>
            <a:prstDash val="solid"/>
          </a:ln>
        </p:spPr>
      </p:sp>
      <p:sp>
        <p:nvSpPr>
          <p:cNvPr id="19" name="Text 16"/>
          <p:cNvSpPr txBox="1"/>
          <p:nvPr/>
        </p:nvSpPr>
        <p:spPr>
          <a:xfrm>
            <a:off x="611733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2030</a:t>
            </a:r>
            <a:endParaRPr lang="en-US" sz="1100" dirty="0"/>
          </a:p>
        </p:txBody>
      </p:sp>
      <p:sp>
        <p:nvSpPr>
          <p:cNvPr id="20" name="Shape 17"/>
          <p:cNvSpPr/>
          <p:nvPr/>
        </p:nvSpPr>
        <p:spPr>
          <a:xfrm>
            <a:off x="6781800" y="2011680"/>
            <a:ext cx="0" cy="3584448"/>
          </a:xfrm>
          <a:prstGeom prst="line">
            <a:avLst/>
          </a:prstGeom>
          <a:noFill/>
          <a:ln w="9525">
            <a:solidFill>
              <a:srgbClr val="DDE1E6"/>
            </a:solidFill>
            <a:prstDash val="solid"/>
          </a:ln>
        </p:spPr>
      </p:sp>
      <p:sp>
        <p:nvSpPr>
          <p:cNvPr id="21" name="Text 18"/>
          <p:cNvSpPr txBox="1"/>
          <p:nvPr/>
        </p:nvSpPr>
        <p:spPr>
          <a:xfrm>
            <a:off x="681837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2031</a:t>
            </a:r>
            <a:endParaRPr lang="en-US" sz="1100" dirty="0"/>
          </a:p>
        </p:txBody>
      </p:sp>
      <p:sp>
        <p:nvSpPr>
          <p:cNvPr id="22" name="Shape 19"/>
          <p:cNvSpPr/>
          <p:nvPr/>
        </p:nvSpPr>
        <p:spPr>
          <a:xfrm>
            <a:off x="7482840" y="2011680"/>
            <a:ext cx="0" cy="3584448"/>
          </a:xfrm>
          <a:prstGeom prst="line">
            <a:avLst/>
          </a:prstGeom>
          <a:noFill/>
          <a:ln w="9525">
            <a:solidFill>
              <a:srgbClr val="DDE1E6"/>
            </a:solidFill>
            <a:prstDash val="solid"/>
          </a:ln>
        </p:spPr>
      </p:sp>
      <p:sp>
        <p:nvSpPr>
          <p:cNvPr id="23" name="Text 20"/>
          <p:cNvSpPr txBox="1"/>
          <p:nvPr/>
        </p:nvSpPr>
        <p:spPr>
          <a:xfrm>
            <a:off x="7519416" y="1737360"/>
            <a:ext cx="731520" cy="256032"/>
          </a:xfrm>
          <a:prstGeom prst="rect">
            <a:avLst/>
          </a:prstGeom>
          <a:noFill/>
          <a:ln/>
        </p:spPr>
        <p:txBody>
          <a:bodyPr wrap="square" lIns="0" tIns="0" rIns="0" bIns="0" rtlCol="0" anchor="ctr"/>
          <a:lstStyle/>
          <a:p>
            <a:pPr indent="0" marL="0">
              <a:buNone/>
            </a:pPr>
            <a:r>
              <a:rPr lang="en-US" sz="1100" b="1" dirty="0">
                <a:solidFill>
                  <a:srgbClr val="6A7380"/>
                </a:solidFill>
                <a:latin typeface="Arial" pitchFamily="34" charset="0"/>
                <a:ea typeface="Yu Gothic"/>
                <a:cs typeface="Arial" pitchFamily="34" charset="-120"/>
              </a:rPr>
              <a:t>2032</a:t>
            </a:r>
            <a:endParaRPr lang="en-US" sz="1100" dirty="0"/>
          </a:p>
        </p:txBody>
      </p:sp>
      <p:sp>
        <p:nvSpPr>
          <p:cNvPr id="24" name="Shape 21"/>
          <p:cNvSpPr/>
          <p:nvPr/>
        </p:nvSpPr>
        <p:spPr>
          <a:xfrm>
            <a:off x="8183880" y="2011680"/>
            <a:ext cx="0" cy="3584448"/>
          </a:xfrm>
          <a:prstGeom prst="line">
            <a:avLst/>
          </a:prstGeom>
          <a:noFill/>
          <a:ln w="9525">
            <a:solidFill>
              <a:srgbClr val="DDE1E6"/>
            </a:solidFill>
            <a:prstDash val="solid"/>
          </a:ln>
        </p:spPr>
      </p:sp>
      <p:sp>
        <p:nvSpPr>
          <p:cNvPr id="25" name="Shape 22"/>
          <p:cNvSpPr/>
          <p:nvPr/>
        </p:nvSpPr>
        <p:spPr>
          <a:xfrm>
            <a:off x="548640" y="2029968"/>
            <a:ext cx="7635240" cy="713232"/>
          </a:xfrm>
          <a:prstGeom prst="rect">
            <a:avLst/>
          </a:prstGeom>
          <a:solidFill>
            <a:srgbClr val="F6F7F9"/>
          </a:solidFill>
          <a:ln/>
        </p:spPr>
      </p:sp>
      <p:sp>
        <p:nvSpPr>
          <p:cNvPr id="26" name="Text 23"/>
          <p:cNvSpPr txBox="1"/>
          <p:nvPr/>
        </p:nvSpPr>
        <p:spPr>
          <a:xfrm>
            <a:off x="621792" y="2029968"/>
            <a:ext cx="1216152" cy="71323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Samsung</a:t>
            </a:r>
            <a:endParaRPr lang="en-US" sz="1300" dirty="0"/>
          </a:p>
        </p:txBody>
      </p:sp>
      <p:sp>
        <p:nvSpPr>
          <p:cNvPr id="27" name="Text 24"/>
          <p:cNvSpPr txBox="1"/>
          <p:nvPr/>
        </p:nvSpPr>
        <p:spPr>
          <a:xfrm>
            <a:off x="621792" y="2743200"/>
            <a:ext cx="1216152" cy="71323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Kioxia / WD</a:t>
            </a:r>
            <a:endParaRPr lang="en-US" sz="1300" dirty="0"/>
          </a:p>
        </p:txBody>
      </p:sp>
      <p:sp>
        <p:nvSpPr>
          <p:cNvPr id="28" name="Shape 25"/>
          <p:cNvSpPr/>
          <p:nvPr/>
        </p:nvSpPr>
        <p:spPr>
          <a:xfrm>
            <a:off x="548640" y="3456432"/>
            <a:ext cx="7635240" cy="713232"/>
          </a:xfrm>
          <a:prstGeom prst="rect">
            <a:avLst/>
          </a:prstGeom>
          <a:solidFill>
            <a:srgbClr val="F6F7F9"/>
          </a:solidFill>
          <a:ln/>
        </p:spPr>
      </p:sp>
      <p:sp>
        <p:nvSpPr>
          <p:cNvPr id="29" name="Text 26"/>
          <p:cNvSpPr txBox="1"/>
          <p:nvPr/>
        </p:nvSpPr>
        <p:spPr>
          <a:xfrm>
            <a:off x="621792" y="3456432"/>
            <a:ext cx="1216152" cy="71323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SK hynix</a:t>
            </a:r>
            <a:endParaRPr lang="en-US" sz="1300" dirty="0"/>
          </a:p>
        </p:txBody>
      </p:sp>
      <p:sp>
        <p:nvSpPr>
          <p:cNvPr id="30" name="Text 27"/>
          <p:cNvSpPr txBox="1"/>
          <p:nvPr/>
        </p:nvSpPr>
        <p:spPr>
          <a:xfrm>
            <a:off x="621792" y="4169664"/>
            <a:ext cx="1216152" cy="71323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Micron</a:t>
            </a:r>
            <a:endParaRPr lang="en-US" sz="1300" dirty="0"/>
          </a:p>
        </p:txBody>
      </p:sp>
      <p:sp>
        <p:nvSpPr>
          <p:cNvPr id="31" name="Shape 28"/>
          <p:cNvSpPr/>
          <p:nvPr/>
        </p:nvSpPr>
        <p:spPr>
          <a:xfrm>
            <a:off x="548640" y="4882896"/>
            <a:ext cx="7635240" cy="713232"/>
          </a:xfrm>
          <a:prstGeom prst="rect">
            <a:avLst/>
          </a:prstGeom>
          <a:solidFill>
            <a:srgbClr val="F6F7F9"/>
          </a:solidFill>
          <a:ln/>
        </p:spPr>
      </p:sp>
      <p:sp>
        <p:nvSpPr>
          <p:cNvPr id="32" name="Text 29"/>
          <p:cNvSpPr txBox="1"/>
          <p:nvPr/>
        </p:nvSpPr>
        <p:spPr>
          <a:xfrm>
            <a:off x="621792" y="4882896"/>
            <a:ext cx="1216152" cy="713232"/>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Yu Gothic"/>
                <a:cs typeface="Arial" pitchFamily="34" charset="-120"/>
              </a:rPr>
              <a:t>YMTC</a:t>
            </a:r>
            <a:endParaRPr lang="en-US" sz="1300" dirty="0"/>
          </a:p>
        </p:txBody>
      </p:sp>
      <p:sp>
        <p:nvSpPr>
          <p:cNvPr id="33" name="Shape 30"/>
          <p:cNvSpPr/>
          <p:nvPr/>
        </p:nvSpPr>
        <p:spPr>
          <a:xfrm>
            <a:off x="3802380" y="2011680"/>
            <a:ext cx="0" cy="3584448"/>
          </a:xfrm>
          <a:prstGeom prst="line">
            <a:avLst/>
          </a:prstGeom>
          <a:noFill/>
          <a:ln w="19050">
            <a:solidFill>
              <a:srgbClr val="C00000"/>
            </a:solidFill>
            <a:prstDash val="dash"/>
          </a:ln>
        </p:spPr>
      </p:sp>
      <p:sp>
        <p:nvSpPr>
          <p:cNvPr id="34" name="Text 31"/>
          <p:cNvSpPr txBox="1"/>
          <p:nvPr/>
        </p:nvSpPr>
        <p:spPr>
          <a:xfrm>
            <a:off x="3482340" y="1737360"/>
            <a:ext cx="640080" cy="237744"/>
          </a:xfrm>
          <a:prstGeom prst="rect">
            <a:avLst/>
          </a:prstGeom>
          <a:noFill/>
          <a:ln/>
        </p:spPr>
        <p:txBody>
          <a:bodyPr wrap="square" lIns="0" tIns="0" rIns="0" bIns="0" rtlCol="0" anchor="ctr"/>
          <a:lstStyle/>
          <a:p>
            <a:pPr algn="ctr" indent="0" marL="0">
              <a:buNone/>
            </a:pPr>
            <a:r>
              <a:rPr lang="en-US" sz="1050" b="1" dirty="0">
                <a:solidFill>
                  <a:srgbClr val="C00000"/>
                </a:solidFill>
                <a:latin typeface="Arial" pitchFamily="34" charset="0"/>
                <a:ea typeface="Yu Gothic"/>
                <a:cs typeface="Arial" pitchFamily="34" charset="-120"/>
              </a:rPr>
              <a:t>現在</a:t>
            </a:r>
            <a:endParaRPr lang="en-US" sz="1050" dirty="0"/>
          </a:p>
        </p:txBody>
      </p:sp>
      <p:sp>
        <p:nvSpPr>
          <p:cNvPr id="35" name="Shape 32"/>
          <p:cNvSpPr/>
          <p:nvPr/>
        </p:nvSpPr>
        <p:spPr>
          <a:xfrm>
            <a:off x="2049780" y="2148840"/>
            <a:ext cx="1374648" cy="475488"/>
          </a:xfrm>
          <a:prstGeom prst="homePlate">
            <a:avLst/>
          </a:prstGeom>
          <a:solidFill>
            <a:srgbClr val="2F5597"/>
          </a:solidFill>
          <a:ln/>
        </p:spPr>
      </p:sp>
      <p:sp>
        <p:nvSpPr>
          <p:cNvPr id="36" name="Text 33"/>
          <p:cNvSpPr txBox="1"/>
          <p:nvPr/>
        </p:nvSpPr>
        <p:spPr>
          <a:xfrm>
            <a:off x="2104644" y="2148840"/>
            <a:ext cx="115336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V9</a:t>
            </a:r>
            <a:endParaRPr lang="en-US" sz="1100" dirty="0"/>
          </a:p>
          <a:p>
            <a:pPr algn="l" indent="0" marL="0">
              <a:buNone/>
            </a:pPr>
            <a:r>
              <a:rPr lang="en-US" sz="950" dirty="0">
                <a:solidFill>
                  <a:srgbClr val="FFFFFF"/>
                </a:solidFill>
                <a:latin typeface="Arial" pitchFamily="34" charset="0"/>
                <a:ea typeface="Yu Gothic"/>
                <a:cs typeface="Arial" pitchFamily="34" charset="-120"/>
              </a:rPr>
              <a:t>286層</a:t>
            </a:r>
            <a:endParaRPr lang="en-US" sz="1100" dirty="0"/>
          </a:p>
        </p:txBody>
      </p:sp>
      <p:sp>
        <p:nvSpPr>
          <p:cNvPr id="37" name="Shape 34"/>
          <p:cNvSpPr/>
          <p:nvPr/>
        </p:nvSpPr>
        <p:spPr>
          <a:xfrm>
            <a:off x="3451860" y="2148840"/>
            <a:ext cx="350520" cy="475488"/>
          </a:xfrm>
          <a:prstGeom prst="rect">
            <a:avLst/>
          </a:prstGeom>
          <a:solidFill>
            <a:srgbClr val="2F5597"/>
          </a:solidFill>
          <a:ln/>
        </p:spPr>
      </p:sp>
      <p:sp>
        <p:nvSpPr>
          <p:cNvPr id="38" name="Shape 35"/>
          <p:cNvSpPr/>
          <p:nvPr/>
        </p:nvSpPr>
        <p:spPr>
          <a:xfrm>
            <a:off x="3802380" y="2148840"/>
            <a:ext cx="848868" cy="475488"/>
          </a:xfrm>
          <a:prstGeom prst="homePlate">
            <a:avLst/>
          </a:prstGeom>
          <a:solidFill>
            <a:srgbClr val="ED7D31"/>
          </a:solidFill>
          <a:ln/>
        </p:spPr>
      </p:sp>
      <p:sp>
        <p:nvSpPr>
          <p:cNvPr id="39" name="Text 36"/>
          <p:cNvSpPr txBox="1"/>
          <p:nvPr/>
        </p:nvSpPr>
        <p:spPr>
          <a:xfrm>
            <a:off x="3506724" y="2148840"/>
            <a:ext cx="97810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V10 400層超</a:t>
            </a:r>
            <a:endParaRPr lang="en-US" sz="1100" dirty="0"/>
          </a:p>
          <a:p>
            <a:pPr algn="l" indent="0" marL="0">
              <a:buNone/>
            </a:pPr>
            <a:r>
              <a:rPr lang="en-US" sz="950" dirty="0">
                <a:solidFill>
                  <a:srgbClr val="FFFFFF"/>
                </a:solidFill>
                <a:latin typeface="Arial" pitchFamily="34" charset="0"/>
                <a:ea typeface="Yu Gothic"/>
                <a:cs typeface="Arial" pitchFamily="34" charset="-120"/>
              </a:rPr>
              <a:t>貼り合わせ</a:t>
            </a:r>
            <a:endParaRPr lang="en-US" sz="1100" dirty="0"/>
          </a:p>
        </p:txBody>
      </p:sp>
      <p:sp>
        <p:nvSpPr>
          <p:cNvPr id="40" name="Shape 37"/>
          <p:cNvSpPr/>
          <p:nvPr/>
        </p:nvSpPr>
        <p:spPr>
          <a:xfrm>
            <a:off x="4678680" y="2148840"/>
            <a:ext cx="1374648" cy="475488"/>
          </a:xfrm>
          <a:prstGeom prst="homePlate">
            <a:avLst/>
          </a:prstGeom>
          <a:solidFill>
            <a:srgbClr val="FFF2E6"/>
          </a:solidFill>
          <a:ln w="15875">
            <a:solidFill>
              <a:srgbClr val="C55A11"/>
            </a:solidFill>
            <a:prstDash val="dash"/>
          </a:ln>
        </p:spPr>
      </p:sp>
      <p:sp>
        <p:nvSpPr>
          <p:cNvPr id="41" name="Text 38"/>
          <p:cNvSpPr txBox="1"/>
          <p:nvPr/>
        </p:nvSpPr>
        <p:spPr>
          <a:xfrm>
            <a:off x="4733544" y="2148840"/>
            <a:ext cx="1153363" cy="47548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V11</a:t>
            </a:r>
            <a:endParaRPr lang="en-US" sz="1100" dirty="0"/>
          </a:p>
          <a:p>
            <a:pPr algn="l" indent="0" marL="0">
              <a:buNone/>
            </a:pPr>
            <a:r>
              <a:rPr lang="en-US" sz="950" dirty="0">
                <a:solidFill>
                  <a:srgbClr val="843C0C"/>
                </a:solidFill>
                <a:latin typeface="Arial" pitchFamily="34" charset="0"/>
                <a:ea typeface="Yu Gothic"/>
                <a:cs typeface="Arial" pitchFamily="34" charset="-120"/>
              </a:rPr>
              <a:t>約500層</a:t>
            </a:r>
            <a:endParaRPr lang="en-US" sz="1100" dirty="0"/>
          </a:p>
        </p:txBody>
      </p:sp>
      <p:sp>
        <p:nvSpPr>
          <p:cNvPr id="42" name="Shape 39"/>
          <p:cNvSpPr/>
          <p:nvPr/>
        </p:nvSpPr>
        <p:spPr>
          <a:xfrm>
            <a:off x="6080760" y="2148840"/>
            <a:ext cx="2075688" cy="475488"/>
          </a:xfrm>
          <a:prstGeom prst="homePlate">
            <a:avLst/>
          </a:prstGeom>
          <a:solidFill>
            <a:srgbClr val="FFF2E6"/>
          </a:solidFill>
          <a:ln w="15875">
            <a:solidFill>
              <a:srgbClr val="C55A11"/>
            </a:solidFill>
            <a:prstDash val="dash"/>
          </a:ln>
        </p:spPr>
      </p:sp>
      <p:sp>
        <p:nvSpPr>
          <p:cNvPr id="43" name="Text 40"/>
          <p:cNvSpPr txBox="1"/>
          <p:nvPr/>
        </p:nvSpPr>
        <p:spPr>
          <a:xfrm>
            <a:off x="6135624" y="2148840"/>
            <a:ext cx="1854403" cy="47548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1000層級</a:t>
            </a:r>
            <a:endParaRPr lang="en-US" sz="1100" dirty="0"/>
          </a:p>
          <a:p>
            <a:pPr algn="l" indent="0" marL="0">
              <a:buNone/>
            </a:pPr>
            <a:r>
              <a:rPr lang="en-US" sz="950" dirty="0">
                <a:solidFill>
                  <a:srgbClr val="843C0C"/>
                </a:solidFill>
                <a:latin typeface="Arial" pitchFamily="34" charset="0"/>
                <a:ea typeface="Yu Gothic"/>
                <a:cs typeface="Arial" pitchFamily="34" charset="-120"/>
              </a:rPr>
              <a:t>2030年目標</a:t>
            </a:r>
            <a:endParaRPr lang="en-US" sz="1100" dirty="0"/>
          </a:p>
        </p:txBody>
      </p:sp>
      <p:sp>
        <p:nvSpPr>
          <p:cNvPr id="44" name="Shape 41"/>
          <p:cNvSpPr/>
          <p:nvPr/>
        </p:nvSpPr>
        <p:spPr>
          <a:xfrm>
            <a:off x="2225040" y="2862072"/>
            <a:ext cx="1549908" cy="475488"/>
          </a:xfrm>
          <a:prstGeom prst="homePlate">
            <a:avLst/>
          </a:prstGeom>
          <a:solidFill>
            <a:srgbClr val="2F5597"/>
          </a:solidFill>
          <a:ln/>
        </p:spPr>
      </p:sp>
      <p:sp>
        <p:nvSpPr>
          <p:cNvPr id="45" name="Text 42"/>
          <p:cNvSpPr txBox="1"/>
          <p:nvPr/>
        </p:nvSpPr>
        <p:spPr>
          <a:xfrm>
            <a:off x="2279904" y="2862072"/>
            <a:ext cx="132862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BiCS8 218層</a:t>
            </a:r>
            <a:endParaRPr lang="en-US" sz="1100" dirty="0"/>
          </a:p>
          <a:p>
            <a:pPr algn="l" indent="0" marL="0">
              <a:buNone/>
            </a:pPr>
            <a:r>
              <a:rPr lang="en-US" sz="950" dirty="0">
                <a:solidFill>
                  <a:srgbClr val="FFFFFF"/>
                </a:solidFill>
                <a:latin typeface="Arial" pitchFamily="34" charset="0"/>
                <a:ea typeface="Yu Gothic"/>
                <a:cs typeface="Arial" pitchFamily="34" charset="-120"/>
              </a:rPr>
              <a:t>貼り合わせ（CBA）</a:t>
            </a:r>
            <a:endParaRPr lang="en-US" sz="1100" dirty="0"/>
          </a:p>
        </p:txBody>
      </p:sp>
      <p:sp>
        <p:nvSpPr>
          <p:cNvPr id="46" name="Shape 43"/>
          <p:cNvSpPr/>
          <p:nvPr/>
        </p:nvSpPr>
        <p:spPr>
          <a:xfrm>
            <a:off x="3802380" y="2862072"/>
            <a:ext cx="1199388" cy="475488"/>
          </a:xfrm>
          <a:prstGeom prst="homePlate">
            <a:avLst/>
          </a:prstGeom>
          <a:solidFill>
            <a:srgbClr val="ED7D31"/>
          </a:solidFill>
          <a:ln/>
        </p:spPr>
      </p:sp>
      <p:sp>
        <p:nvSpPr>
          <p:cNvPr id="47" name="Text 44"/>
          <p:cNvSpPr txBox="1"/>
          <p:nvPr/>
        </p:nvSpPr>
        <p:spPr>
          <a:xfrm>
            <a:off x="3857244" y="2862072"/>
            <a:ext cx="97810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BiCS10</a:t>
            </a:r>
            <a:endParaRPr lang="en-US" sz="1100" dirty="0"/>
          </a:p>
          <a:p>
            <a:pPr algn="l" indent="0" marL="0">
              <a:buNone/>
            </a:pPr>
            <a:r>
              <a:rPr lang="en-US" sz="950" dirty="0">
                <a:solidFill>
                  <a:srgbClr val="FFFFFF"/>
                </a:solidFill>
                <a:latin typeface="Arial" pitchFamily="34" charset="0"/>
                <a:ea typeface="Yu Gothic"/>
                <a:cs typeface="Arial" pitchFamily="34" charset="-120"/>
              </a:rPr>
              <a:t>332層</a:t>
            </a:r>
            <a:endParaRPr lang="en-US" sz="1100" dirty="0"/>
          </a:p>
        </p:txBody>
      </p:sp>
      <p:sp>
        <p:nvSpPr>
          <p:cNvPr id="48" name="Shape 45"/>
          <p:cNvSpPr/>
          <p:nvPr/>
        </p:nvSpPr>
        <p:spPr>
          <a:xfrm>
            <a:off x="5029200" y="2862072"/>
            <a:ext cx="1725168" cy="475488"/>
          </a:xfrm>
          <a:prstGeom prst="homePlate">
            <a:avLst/>
          </a:prstGeom>
          <a:solidFill>
            <a:srgbClr val="FFF2E6"/>
          </a:solidFill>
          <a:ln w="15875">
            <a:solidFill>
              <a:srgbClr val="C55A11"/>
            </a:solidFill>
            <a:prstDash val="dash"/>
          </a:ln>
        </p:spPr>
      </p:sp>
      <p:sp>
        <p:nvSpPr>
          <p:cNvPr id="49" name="Text 46"/>
          <p:cNvSpPr txBox="1"/>
          <p:nvPr/>
        </p:nvSpPr>
        <p:spPr>
          <a:xfrm>
            <a:off x="5084064" y="2862072"/>
            <a:ext cx="1503883" cy="47548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BiCS11</a:t>
            </a:r>
            <a:endParaRPr lang="en-US" sz="1100" dirty="0"/>
          </a:p>
        </p:txBody>
      </p:sp>
      <p:sp>
        <p:nvSpPr>
          <p:cNvPr id="50" name="Shape 47"/>
          <p:cNvSpPr/>
          <p:nvPr/>
        </p:nvSpPr>
        <p:spPr>
          <a:xfrm>
            <a:off x="6781800" y="2862072"/>
            <a:ext cx="1374648" cy="475488"/>
          </a:xfrm>
          <a:prstGeom prst="homePlate">
            <a:avLst/>
          </a:prstGeom>
          <a:solidFill>
            <a:srgbClr val="FFF2E6"/>
          </a:solidFill>
          <a:ln w="15875">
            <a:solidFill>
              <a:srgbClr val="C55A11"/>
            </a:solidFill>
            <a:prstDash val="dash"/>
          </a:ln>
        </p:spPr>
      </p:sp>
      <p:sp>
        <p:nvSpPr>
          <p:cNvPr id="51" name="Text 48"/>
          <p:cNvSpPr txBox="1"/>
          <p:nvPr/>
        </p:nvSpPr>
        <p:spPr>
          <a:xfrm>
            <a:off x="6836664" y="2862072"/>
            <a:ext cx="1153363" cy="47548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1000層級</a:t>
            </a:r>
            <a:endParaRPr lang="en-US" sz="1100" dirty="0"/>
          </a:p>
        </p:txBody>
      </p:sp>
      <p:sp>
        <p:nvSpPr>
          <p:cNvPr id="52" name="Shape 49"/>
          <p:cNvSpPr/>
          <p:nvPr/>
        </p:nvSpPr>
        <p:spPr>
          <a:xfrm>
            <a:off x="2400300" y="3575304"/>
            <a:ext cx="1374648" cy="475488"/>
          </a:xfrm>
          <a:prstGeom prst="homePlate">
            <a:avLst/>
          </a:prstGeom>
          <a:solidFill>
            <a:srgbClr val="2F5597"/>
          </a:solidFill>
          <a:ln/>
        </p:spPr>
      </p:sp>
      <p:sp>
        <p:nvSpPr>
          <p:cNvPr id="53" name="Text 50"/>
          <p:cNvSpPr txBox="1"/>
          <p:nvPr/>
        </p:nvSpPr>
        <p:spPr>
          <a:xfrm>
            <a:off x="2455164" y="3575304"/>
            <a:ext cx="115336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321層</a:t>
            </a:r>
            <a:endParaRPr lang="en-US" sz="1100" dirty="0"/>
          </a:p>
          <a:p>
            <a:pPr algn="l" indent="0" marL="0">
              <a:buNone/>
            </a:pPr>
            <a:r>
              <a:rPr lang="en-US" sz="950" dirty="0">
                <a:solidFill>
                  <a:srgbClr val="FFFFFF"/>
                </a:solidFill>
                <a:latin typeface="Arial" pitchFamily="34" charset="0"/>
                <a:ea typeface="Yu Gothic"/>
                <a:cs typeface="Arial" pitchFamily="34" charset="-120"/>
              </a:rPr>
              <a:t>3デッキ</a:t>
            </a:r>
            <a:endParaRPr lang="en-US" sz="1100" dirty="0"/>
          </a:p>
        </p:txBody>
      </p:sp>
      <p:sp>
        <p:nvSpPr>
          <p:cNvPr id="54" name="Shape 51"/>
          <p:cNvSpPr/>
          <p:nvPr/>
        </p:nvSpPr>
        <p:spPr>
          <a:xfrm>
            <a:off x="3802380" y="3575304"/>
            <a:ext cx="1199388" cy="475488"/>
          </a:xfrm>
          <a:prstGeom prst="homePlate">
            <a:avLst/>
          </a:prstGeom>
          <a:solidFill>
            <a:srgbClr val="ED7D31"/>
          </a:solidFill>
          <a:ln/>
        </p:spPr>
      </p:sp>
      <p:sp>
        <p:nvSpPr>
          <p:cNvPr id="55" name="Text 52"/>
          <p:cNvSpPr txBox="1"/>
          <p:nvPr/>
        </p:nvSpPr>
        <p:spPr>
          <a:xfrm>
            <a:off x="3857244" y="3575304"/>
            <a:ext cx="97810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375層</a:t>
            </a:r>
            <a:endParaRPr lang="en-US" sz="1100" dirty="0"/>
          </a:p>
          <a:p>
            <a:pPr algn="l" indent="0" marL="0">
              <a:buNone/>
            </a:pPr>
            <a:r>
              <a:rPr lang="en-US" sz="950" dirty="0">
                <a:solidFill>
                  <a:srgbClr val="FFFFFF"/>
                </a:solidFill>
                <a:latin typeface="Arial" pitchFamily="34" charset="0"/>
                <a:ea typeface="Yu Gothic"/>
                <a:cs typeface="Arial" pitchFamily="34" charset="-120"/>
              </a:rPr>
              <a:t>初の貼り合わせ</a:t>
            </a:r>
            <a:endParaRPr lang="en-US" sz="1100" dirty="0"/>
          </a:p>
        </p:txBody>
      </p:sp>
      <p:sp>
        <p:nvSpPr>
          <p:cNvPr id="56" name="Shape 53"/>
          <p:cNvSpPr/>
          <p:nvPr/>
        </p:nvSpPr>
        <p:spPr>
          <a:xfrm>
            <a:off x="5029200" y="3575304"/>
            <a:ext cx="1725168" cy="475488"/>
          </a:xfrm>
          <a:prstGeom prst="homePlate">
            <a:avLst/>
          </a:prstGeom>
          <a:solidFill>
            <a:srgbClr val="FFF2E6"/>
          </a:solidFill>
          <a:ln w="15875">
            <a:solidFill>
              <a:srgbClr val="C55A11"/>
            </a:solidFill>
            <a:prstDash val="dash"/>
          </a:ln>
        </p:spPr>
      </p:sp>
      <p:sp>
        <p:nvSpPr>
          <p:cNvPr id="57" name="Text 54"/>
          <p:cNvSpPr txBox="1"/>
          <p:nvPr/>
        </p:nvSpPr>
        <p:spPr>
          <a:xfrm>
            <a:off x="5084064" y="3575304"/>
            <a:ext cx="1503883" cy="47548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480層 → 604層</a:t>
            </a:r>
            <a:endParaRPr lang="en-US" sz="1100" dirty="0"/>
          </a:p>
          <a:p>
            <a:pPr algn="l" indent="0" marL="0">
              <a:buNone/>
            </a:pPr>
            <a:r>
              <a:rPr lang="en-US" sz="950" dirty="0">
                <a:solidFill>
                  <a:srgbClr val="843C0C"/>
                </a:solidFill>
                <a:latin typeface="Arial" pitchFamily="34" charset="0"/>
                <a:ea typeface="Yu Gothic"/>
                <a:cs typeface="Arial" pitchFamily="34" charset="-120"/>
              </a:rPr>
              <a:t>時期は未公表</a:t>
            </a:r>
            <a:endParaRPr lang="en-US" sz="1100" dirty="0"/>
          </a:p>
        </p:txBody>
      </p:sp>
      <p:sp>
        <p:nvSpPr>
          <p:cNvPr id="58" name="Shape 55"/>
          <p:cNvSpPr/>
          <p:nvPr/>
        </p:nvSpPr>
        <p:spPr>
          <a:xfrm>
            <a:off x="2225040" y="4288536"/>
            <a:ext cx="1577340" cy="475488"/>
          </a:xfrm>
          <a:prstGeom prst="rect">
            <a:avLst/>
          </a:prstGeom>
          <a:solidFill>
            <a:srgbClr val="2F5597"/>
          </a:solidFill>
          <a:ln/>
        </p:spPr>
      </p:sp>
      <p:sp>
        <p:nvSpPr>
          <p:cNvPr id="59" name="Shape 56"/>
          <p:cNvSpPr/>
          <p:nvPr/>
        </p:nvSpPr>
        <p:spPr>
          <a:xfrm>
            <a:off x="3802380" y="4288536"/>
            <a:ext cx="498348" cy="475488"/>
          </a:xfrm>
          <a:prstGeom prst="homePlate">
            <a:avLst/>
          </a:prstGeom>
          <a:solidFill>
            <a:srgbClr val="ED7D31"/>
          </a:solidFill>
          <a:ln/>
        </p:spPr>
      </p:sp>
      <p:sp>
        <p:nvSpPr>
          <p:cNvPr id="60" name="Text 57"/>
          <p:cNvSpPr txBox="1"/>
          <p:nvPr/>
        </p:nvSpPr>
        <p:spPr>
          <a:xfrm>
            <a:off x="2279904" y="4288536"/>
            <a:ext cx="185440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G9</a:t>
            </a:r>
            <a:endParaRPr lang="en-US" sz="1100" dirty="0"/>
          </a:p>
          <a:p>
            <a:pPr algn="l" indent="0" marL="0">
              <a:buNone/>
            </a:pPr>
            <a:r>
              <a:rPr lang="en-US" sz="950" dirty="0">
                <a:solidFill>
                  <a:srgbClr val="FFFFFF"/>
                </a:solidFill>
                <a:latin typeface="Arial" pitchFamily="34" charset="0"/>
                <a:ea typeface="Yu Gothic"/>
                <a:cs typeface="Arial" pitchFamily="34" charset="-120"/>
              </a:rPr>
              <a:t>276層</a:t>
            </a:r>
            <a:endParaRPr lang="en-US" sz="1100" dirty="0"/>
          </a:p>
        </p:txBody>
      </p:sp>
      <p:sp>
        <p:nvSpPr>
          <p:cNvPr id="61" name="Shape 58"/>
          <p:cNvSpPr/>
          <p:nvPr/>
        </p:nvSpPr>
        <p:spPr>
          <a:xfrm>
            <a:off x="4328160" y="4288536"/>
            <a:ext cx="1374648" cy="475488"/>
          </a:xfrm>
          <a:prstGeom prst="homePlate">
            <a:avLst/>
          </a:prstGeom>
          <a:solidFill>
            <a:srgbClr val="ED7D31"/>
          </a:solidFill>
          <a:ln/>
        </p:spPr>
      </p:sp>
      <p:sp>
        <p:nvSpPr>
          <p:cNvPr id="62" name="Text 59"/>
          <p:cNvSpPr txBox="1"/>
          <p:nvPr/>
        </p:nvSpPr>
        <p:spPr>
          <a:xfrm>
            <a:off x="4383024" y="4288536"/>
            <a:ext cx="115336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次世代</a:t>
            </a:r>
            <a:endParaRPr lang="en-US" sz="1100" dirty="0"/>
          </a:p>
          <a:p>
            <a:pPr algn="l" indent="0" marL="0">
              <a:buNone/>
            </a:pPr>
            <a:r>
              <a:rPr lang="en-US" sz="950" dirty="0">
                <a:solidFill>
                  <a:srgbClr val="FFFFFF"/>
                </a:solidFill>
                <a:latin typeface="Arial" pitchFamily="34" charset="0"/>
                <a:ea typeface="Yu Gothic"/>
                <a:cs typeface="Arial" pitchFamily="34" charset="-120"/>
              </a:rPr>
              <a:t>2027年下期</a:t>
            </a:r>
            <a:endParaRPr lang="en-US" sz="1100" dirty="0"/>
          </a:p>
        </p:txBody>
      </p:sp>
      <p:sp>
        <p:nvSpPr>
          <p:cNvPr id="63" name="Shape 60"/>
          <p:cNvSpPr/>
          <p:nvPr/>
        </p:nvSpPr>
        <p:spPr>
          <a:xfrm>
            <a:off x="1874520" y="5001768"/>
            <a:ext cx="673608" cy="475488"/>
          </a:xfrm>
          <a:prstGeom prst="homePlate">
            <a:avLst/>
          </a:prstGeom>
          <a:solidFill>
            <a:srgbClr val="2F5597"/>
          </a:solidFill>
          <a:ln/>
        </p:spPr>
      </p:sp>
      <p:sp>
        <p:nvSpPr>
          <p:cNvPr id="64" name="Text 61"/>
          <p:cNvSpPr txBox="1"/>
          <p:nvPr/>
        </p:nvSpPr>
        <p:spPr>
          <a:xfrm>
            <a:off x="1929384" y="5001768"/>
            <a:ext cx="45232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232層</a:t>
            </a:r>
            <a:endParaRPr lang="en-US" sz="1100" dirty="0"/>
          </a:p>
        </p:txBody>
      </p:sp>
      <p:sp>
        <p:nvSpPr>
          <p:cNvPr id="65" name="Shape 62"/>
          <p:cNvSpPr/>
          <p:nvPr/>
        </p:nvSpPr>
        <p:spPr>
          <a:xfrm>
            <a:off x="2575560" y="5001768"/>
            <a:ext cx="1226820" cy="475488"/>
          </a:xfrm>
          <a:prstGeom prst="rect">
            <a:avLst/>
          </a:prstGeom>
          <a:solidFill>
            <a:srgbClr val="2F5597"/>
          </a:solidFill>
          <a:ln/>
        </p:spPr>
      </p:sp>
      <p:sp>
        <p:nvSpPr>
          <p:cNvPr id="66" name="Shape 63"/>
          <p:cNvSpPr/>
          <p:nvPr/>
        </p:nvSpPr>
        <p:spPr>
          <a:xfrm>
            <a:off x="3802380" y="5001768"/>
            <a:ext cx="147828" cy="475488"/>
          </a:xfrm>
          <a:prstGeom prst="homePlate">
            <a:avLst/>
          </a:prstGeom>
          <a:solidFill>
            <a:srgbClr val="ED7D31"/>
          </a:solidFill>
          <a:ln/>
        </p:spPr>
      </p:sp>
      <p:sp>
        <p:nvSpPr>
          <p:cNvPr id="67" name="Text 64"/>
          <p:cNvSpPr txBox="1"/>
          <p:nvPr/>
        </p:nvSpPr>
        <p:spPr>
          <a:xfrm>
            <a:off x="2630424" y="5001768"/>
            <a:ext cx="1153363" cy="475488"/>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rial" pitchFamily="34" charset="0"/>
                <a:ea typeface="Yu Gothic"/>
                <a:cs typeface="Arial" pitchFamily="34" charset="-120"/>
              </a:rPr>
              <a:t>294層</a:t>
            </a:r>
            <a:endParaRPr lang="en-US" sz="1100" dirty="0"/>
          </a:p>
          <a:p>
            <a:pPr algn="l" indent="0" marL="0">
              <a:buNone/>
            </a:pPr>
            <a:r>
              <a:rPr lang="en-US" sz="950" dirty="0">
                <a:solidFill>
                  <a:srgbClr val="FFFFFF"/>
                </a:solidFill>
                <a:latin typeface="Arial" pitchFamily="34" charset="0"/>
                <a:ea typeface="Yu Gothic"/>
                <a:cs typeface="Arial" pitchFamily="34" charset="-120"/>
              </a:rPr>
              <a:t>貼り合わせ</a:t>
            </a:r>
            <a:endParaRPr lang="en-US" sz="1100" dirty="0"/>
          </a:p>
        </p:txBody>
      </p:sp>
      <p:sp>
        <p:nvSpPr>
          <p:cNvPr id="68" name="Shape 65"/>
          <p:cNvSpPr/>
          <p:nvPr/>
        </p:nvSpPr>
        <p:spPr>
          <a:xfrm>
            <a:off x="3977640" y="5001768"/>
            <a:ext cx="1374648" cy="475488"/>
          </a:xfrm>
          <a:prstGeom prst="homePlate">
            <a:avLst/>
          </a:prstGeom>
          <a:solidFill>
            <a:srgbClr val="FFF2E6"/>
          </a:solidFill>
          <a:ln w="15875">
            <a:solidFill>
              <a:srgbClr val="C55A11"/>
            </a:solidFill>
            <a:prstDash val="dash"/>
          </a:ln>
        </p:spPr>
      </p:sp>
      <p:sp>
        <p:nvSpPr>
          <p:cNvPr id="69" name="Text 66"/>
          <p:cNvSpPr txBox="1"/>
          <p:nvPr/>
        </p:nvSpPr>
        <p:spPr>
          <a:xfrm>
            <a:off x="4032504" y="5001768"/>
            <a:ext cx="1153363" cy="475488"/>
          </a:xfrm>
          <a:prstGeom prst="rect">
            <a:avLst/>
          </a:prstGeom>
          <a:noFill/>
          <a:ln/>
        </p:spPr>
        <p:txBody>
          <a:bodyPr wrap="square" lIns="0" tIns="0" rIns="0" bIns="0" rtlCol="0" anchor="ctr">
            <a:normAutofit/>
          </a:bodyPr>
          <a:lstStyle/>
          <a:p>
            <a:pPr algn="l" indent="0" marL="0">
              <a:buNone/>
            </a:pPr>
            <a:r>
              <a:rPr lang="en-US" sz="1100" b="1" dirty="0">
                <a:solidFill>
                  <a:srgbClr val="843C0C"/>
                </a:solidFill>
                <a:latin typeface="Arial" pitchFamily="34" charset="0"/>
                <a:ea typeface="Yu Gothic"/>
                <a:cs typeface="Arial" pitchFamily="34" charset="-120"/>
              </a:rPr>
              <a:t>300層超</a:t>
            </a:r>
            <a:endParaRPr lang="en-US" sz="1100" dirty="0"/>
          </a:p>
        </p:txBody>
      </p:sp>
      <p:sp>
        <p:nvSpPr>
          <p:cNvPr id="70" name="Shape 67"/>
          <p:cNvSpPr/>
          <p:nvPr/>
        </p:nvSpPr>
        <p:spPr>
          <a:xfrm>
            <a:off x="1874520" y="5760720"/>
            <a:ext cx="365760" cy="237744"/>
          </a:xfrm>
          <a:prstGeom prst="homePlate">
            <a:avLst/>
          </a:prstGeom>
          <a:solidFill>
            <a:srgbClr val="2F5597"/>
          </a:solidFill>
          <a:ln/>
        </p:spPr>
      </p:sp>
      <p:sp>
        <p:nvSpPr>
          <p:cNvPr id="71" name="Text 68"/>
          <p:cNvSpPr txBox="1"/>
          <p:nvPr/>
        </p:nvSpPr>
        <p:spPr>
          <a:xfrm>
            <a:off x="2313432" y="5760720"/>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実績</a:t>
            </a:r>
            <a:endParaRPr lang="en-US" sz="1050" dirty="0"/>
          </a:p>
        </p:txBody>
      </p:sp>
      <p:sp>
        <p:nvSpPr>
          <p:cNvPr id="72" name="Shape 69"/>
          <p:cNvSpPr/>
          <p:nvPr/>
        </p:nvSpPr>
        <p:spPr>
          <a:xfrm>
            <a:off x="2871216" y="5760720"/>
            <a:ext cx="365760" cy="237744"/>
          </a:xfrm>
          <a:prstGeom prst="homePlate">
            <a:avLst/>
          </a:prstGeom>
          <a:solidFill>
            <a:srgbClr val="ED7D31"/>
          </a:solidFill>
          <a:ln/>
        </p:spPr>
      </p:sp>
      <p:sp>
        <p:nvSpPr>
          <p:cNvPr id="73" name="Text 70"/>
          <p:cNvSpPr txBox="1"/>
          <p:nvPr/>
        </p:nvSpPr>
        <p:spPr>
          <a:xfrm>
            <a:off x="3310128" y="5760720"/>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計画・見通し</a:t>
            </a:r>
            <a:endParaRPr lang="en-US" sz="1050" dirty="0"/>
          </a:p>
        </p:txBody>
      </p:sp>
      <p:sp>
        <p:nvSpPr>
          <p:cNvPr id="74" name="Shape 71"/>
          <p:cNvSpPr/>
          <p:nvPr/>
        </p:nvSpPr>
        <p:spPr>
          <a:xfrm>
            <a:off x="4343400" y="5760720"/>
            <a:ext cx="365760" cy="237744"/>
          </a:xfrm>
          <a:prstGeom prst="homePlate">
            <a:avLst/>
          </a:prstGeom>
          <a:solidFill>
            <a:srgbClr val="FFF2E6"/>
          </a:solidFill>
          <a:ln w="12700">
            <a:solidFill>
              <a:srgbClr val="C55A11"/>
            </a:solidFill>
            <a:prstDash val="dash"/>
          </a:ln>
        </p:spPr>
      </p:sp>
      <p:sp>
        <p:nvSpPr>
          <p:cNvPr id="75" name="Text 72"/>
          <p:cNvSpPr txBox="1"/>
          <p:nvPr/>
        </p:nvSpPr>
        <p:spPr>
          <a:xfrm>
            <a:off x="4782312" y="5760720"/>
            <a:ext cx="2377440" cy="237744"/>
          </a:xfrm>
          <a:prstGeom prst="rect">
            <a:avLst/>
          </a:prstGeom>
          <a:noFill/>
          <a:ln/>
        </p:spPr>
        <p:txBody>
          <a:bodyPr wrap="square" lIns="0" tIns="0" rIns="0" bIns="0" rtlCol="0" anchor="ctr"/>
          <a:lstStyle/>
          <a:p>
            <a:pPr indent="0" marL="0">
              <a:buNone/>
            </a:pPr>
            <a:r>
              <a:rPr lang="en-US" sz="1050" dirty="0">
                <a:solidFill>
                  <a:srgbClr val="6A7380"/>
                </a:solidFill>
                <a:latin typeface="Arial" pitchFamily="34" charset="0"/>
                <a:ea typeface="Yu Gothic"/>
                <a:cs typeface="Arial" pitchFamily="34" charset="-120"/>
              </a:rPr>
              <a:t>報道・確度の低い予想</a:t>
            </a:r>
            <a:endParaRPr lang="en-US" sz="1050" dirty="0"/>
          </a:p>
        </p:txBody>
      </p:sp>
      <p:sp>
        <p:nvSpPr>
          <p:cNvPr id="76" name="Text 73"/>
          <p:cNvSpPr txBox="1"/>
          <p:nvPr/>
        </p:nvSpPr>
        <p:spPr>
          <a:xfrm>
            <a:off x="8458200" y="1783080"/>
            <a:ext cx="3182112" cy="4206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Samsung V10（2026年）が最初の400層超</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貼り合わせの採用：YMTC 2019年、Kioxia 2024年、Samsung 2026年、SK hynix 2027年。Micronは未公表</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1000層級はSamsung 2030年まで、Kioxia 2031年まで（目標）</a:t>
            </a:r>
            <a:endParaRPr lang="en-US" sz="1400" dirty="0"/>
          </a:p>
          <a:p>
            <a:pPr marL="342900" indent="-342900">
              <a:spcAft>
                <a:spcPts val="1000"/>
              </a:spcAft>
              <a:buSzPct val="100000"/>
              <a:buChar char="•"/>
            </a:pPr>
            <a:r>
              <a:rPr lang="en-US" sz="1400" dirty="0">
                <a:solidFill>
                  <a:srgbClr val="333D4A"/>
                </a:solidFill>
                <a:latin typeface="Arial" pitchFamily="34" charset="0"/>
                <a:ea typeface="Yu Gothic"/>
                <a:cs typeface="Arial" pitchFamily="34" charset="-120"/>
              </a:rPr>
              <a:t>YMTCは輸出規制の下でも294層。Micronと特許で争っている</a:t>
            </a:r>
            <a:endParaRPr lang="en-US" sz="1400" dirty="0"/>
          </a:p>
        </p:txBody>
      </p:sp>
      <p:sp>
        <p:nvSpPr>
          <p:cNvPr id="77" name="Text 74"/>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出典：Samsung・SK hynix（FMS 2026）、Kioxia（2026年7月）、Micron（FQ3 2026）、TechInsights・Tom's Hardware（YMTC）、TrendForce</a:t>
            </a:r>
            <a:endParaRPr lang="en-US" sz="950" dirty="0"/>
          </a:p>
        </p:txBody>
      </p:sp>
      <p:sp>
        <p:nvSpPr>
          <p:cNvPr id="78" name="Text 75"/>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7B5EA7"/>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7B5EA7"/>
                </a:solidFill>
                <a:latin typeface="Arial" pitchFamily="34" charset="0"/>
                <a:ea typeface="Yu Gothic"/>
                <a:cs typeface="Arial" pitchFamily="34" charset="-120"/>
              </a:rPr>
              <a:t>NAND</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NAND：1000層に向けて「積み方・材料・加工」を変える</a:t>
            </a:r>
            <a:endParaRPr lang="en-US" sz="2400" dirty="0"/>
          </a:p>
        </p:txBody>
      </p:sp>
      <p:sp>
        <p:nvSpPr>
          <p:cNvPr id="6" name="Shape 3"/>
          <p:cNvSpPr/>
          <p:nvPr/>
        </p:nvSpPr>
        <p:spPr>
          <a:xfrm>
            <a:off x="731520" y="3931920"/>
            <a:ext cx="868680" cy="114300"/>
          </a:xfrm>
          <a:prstGeom prst="rect">
            <a:avLst/>
          </a:prstGeom>
          <a:solidFill>
            <a:srgbClr val="C9D3E6"/>
          </a:solidFill>
          <a:ln/>
        </p:spPr>
      </p:sp>
      <p:sp>
        <p:nvSpPr>
          <p:cNvPr id="7" name="Shape 4"/>
          <p:cNvSpPr/>
          <p:nvPr/>
        </p:nvSpPr>
        <p:spPr>
          <a:xfrm>
            <a:off x="731520" y="4046220"/>
            <a:ext cx="868680" cy="114300"/>
          </a:xfrm>
          <a:prstGeom prst="rect">
            <a:avLst/>
          </a:prstGeom>
          <a:solidFill>
            <a:srgbClr val="EEF1F7"/>
          </a:solidFill>
          <a:ln/>
        </p:spPr>
      </p:sp>
      <p:sp>
        <p:nvSpPr>
          <p:cNvPr id="8" name="Shape 5"/>
          <p:cNvSpPr/>
          <p:nvPr/>
        </p:nvSpPr>
        <p:spPr>
          <a:xfrm>
            <a:off x="731520" y="4160520"/>
            <a:ext cx="868680" cy="114300"/>
          </a:xfrm>
          <a:prstGeom prst="rect">
            <a:avLst/>
          </a:prstGeom>
          <a:solidFill>
            <a:srgbClr val="C9D3E6"/>
          </a:solidFill>
          <a:ln/>
        </p:spPr>
      </p:sp>
      <p:sp>
        <p:nvSpPr>
          <p:cNvPr id="9" name="Shape 6"/>
          <p:cNvSpPr/>
          <p:nvPr/>
        </p:nvSpPr>
        <p:spPr>
          <a:xfrm>
            <a:off x="731520" y="4274820"/>
            <a:ext cx="868680" cy="114300"/>
          </a:xfrm>
          <a:prstGeom prst="rect">
            <a:avLst/>
          </a:prstGeom>
          <a:solidFill>
            <a:srgbClr val="EEF1F7"/>
          </a:solidFill>
          <a:ln/>
        </p:spPr>
      </p:sp>
      <p:sp>
        <p:nvSpPr>
          <p:cNvPr id="10" name="Shape 7"/>
          <p:cNvSpPr/>
          <p:nvPr/>
        </p:nvSpPr>
        <p:spPr>
          <a:xfrm>
            <a:off x="731520" y="4389120"/>
            <a:ext cx="868680" cy="114300"/>
          </a:xfrm>
          <a:prstGeom prst="rect">
            <a:avLst/>
          </a:prstGeom>
          <a:solidFill>
            <a:srgbClr val="C9D3E6"/>
          </a:solidFill>
          <a:ln/>
        </p:spPr>
      </p:sp>
      <p:sp>
        <p:nvSpPr>
          <p:cNvPr id="11" name="Shape 8"/>
          <p:cNvSpPr/>
          <p:nvPr/>
        </p:nvSpPr>
        <p:spPr>
          <a:xfrm>
            <a:off x="731520" y="4503420"/>
            <a:ext cx="868680" cy="114300"/>
          </a:xfrm>
          <a:prstGeom prst="rect">
            <a:avLst/>
          </a:prstGeom>
          <a:solidFill>
            <a:srgbClr val="EEF1F7"/>
          </a:solidFill>
          <a:ln/>
        </p:spPr>
      </p:sp>
      <p:sp>
        <p:nvSpPr>
          <p:cNvPr id="12" name="Shape 9"/>
          <p:cNvSpPr/>
          <p:nvPr/>
        </p:nvSpPr>
        <p:spPr>
          <a:xfrm>
            <a:off x="731520" y="4617720"/>
            <a:ext cx="868680" cy="114300"/>
          </a:xfrm>
          <a:prstGeom prst="rect">
            <a:avLst/>
          </a:prstGeom>
          <a:solidFill>
            <a:srgbClr val="C9D3E6"/>
          </a:solidFill>
          <a:ln/>
        </p:spPr>
      </p:sp>
      <p:sp>
        <p:nvSpPr>
          <p:cNvPr id="13" name="Shape 10"/>
          <p:cNvSpPr/>
          <p:nvPr/>
        </p:nvSpPr>
        <p:spPr>
          <a:xfrm>
            <a:off x="731520" y="4732020"/>
            <a:ext cx="868680" cy="114300"/>
          </a:xfrm>
          <a:prstGeom prst="rect">
            <a:avLst/>
          </a:prstGeom>
          <a:solidFill>
            <a:srgbClr val="EEF1F7"/>
          </a:solidFill>
          <a:ln/>
        </p:spPr>
      </p:sp>
      <p:sp>
        <p:nvSpPr>
          <p:cNvPr id="14" name="Shape 11"/>
          <p:cNvSpPr/>
          <p:nvPr/>
        </p:nvSpPr>
        <p:spPr>
          <a:xfrm>
            <a:off x="731520" y="3931920"/>
            <a:ext cx="868680" cy="914400"/>
          </a:xfrm>
          <a:prstGeom prst="rect">
            <a:avLst/>
          </a:prstGeom>
          <a:ln w="9525">
            <a:solidFill>
              <a:srgbClr val="7D8AA5"/>
            </a:solidFill>
            <a:prstDash val="solid"/>
          </a:ln>
        </p:spPr>
      </p:sp>
      <p:sp>
        <p:nvSpPr>
          <p:cNvPr id="15" name="Shape 12"/>
          <p:cNvSpPr/>
          <p:nvPr/>
        </p:nvSpPr>
        <p:spPr>
          <a:xfrm>
            <a:off x="993648" y="3959352"/>
            <a:ext cx="54864" cy="859536"/>
          </a:xfrm>
          <a:prstGeom prst="rect">
            <a:avLst/>
          </a:prstGeom>
          <a:solidFill>
            <a:srgbClr val="56607A"/>
          </a:solidFill>
          <a:ln/>
        </p:spPr>
      </p:sp>
      <p:sp>
        <p:nvSpPr>
          <p:cNvPr id="16" name="Shape 13"/>
          <p:cNvSpPr/>
          <p:nvPr/>
        </p:nvSpPr>
        <p:spPr>
          <a:xfrm>
            <a:off x="1283208" y="3959352"/>
            <a:ext cx="54864" cy="859536"/>
          </a:xfrm>
          <a:prstGeom prst="rect">
            <a:avLst/>
          </a:prstGeom>
          <a:solidFill>
            <a:srgbClr val="56607A"/>
          </a:solidFill>
          <a:ln/>
        </p:spPr>
      </p:sp>
      <p:sp>
        <p:nvSpPr>
          <p:cNvPr id="17" name="Shape 14"/>
          <p:cNvSpPr/>
          <p:nvPr/>
        </p:nvSpPr>
        <p:spPr>
          <a:xfrm>
            <a:off x="2057400" y="4069080"/>
            <a:ext cx="868680" cy="111034"/>
          </a:xfrm>
          <a:prstGeom prst="rect">
            <a:avLst/>
          </a:prstGeom>
          <a:solidFill>
            <a:srgbClr val="C9D3E6"/>
          </a:solidFill>
          <a:ln/>
        </p:spPr>
      </p:sp>
      <p:sp>
        <p:nvSpPr>
          <p:cNvPr id="18" name="Shape 15"/>
          <p:cNvSpPr/>
          <p:nvPr/>
        </p:nvSpPr>
        <p:spPr>
          <a:xfrm>
            <a:off x="2057400" y="4180114"/>
            <a:ext cx="868680" cy="111034"/>
          </a:xfrm>
          <a:prstGeom prst="rect">
            <a:avLst/>
          </a:prstGeom>
          <a:solidFill>
            <a:srgbClr val="EEF1F7"/>
          </a:solidFill>
          <a:ln/>
        </p:spPr>
      </p:sp>
      <p:sp>
        <p:nvSpPr>
          <p:cNvPr id="19" name="Shape 16"/>
          <p:cNvSpPr/>
          <p:nvPr/>
        </p:nvSpPr>
        <p:spPr>
          <a:xfrm>
            <a:off x="2057400" y="4291149"/>
            <a:ext cx="868680" cy="111034"/>
          </a:xfrm>
          <a:prstGeom prst="rect">
            <a:avLst/>
          </a:prstGeom>
          <a:solidFill>
            <a:srgbClr val="C9D3E6"/>
          </a:solidFill>
          <a:ln/>
        </p:spPr>
      </p:sp>
      <p:sp>
        <p:nvSpPr>
          <p:cNvPr id="20" name="Shape 17"/>
          <p:cNvSpPr/>
          <p:nvPr/>
        </p:nvSpPr>
        <p:spPr>
          <a:xfrm>
            <a:off x="2057400" y="4402183"/>
            <a:ext cx="868680" cy="111034"/>
          </a:xfrm>
          <a:prstGeom prst="rect">
            <a:avLst/>
          </a:prstGeom>
          <a:solidFill>
            <a:srgbClr val="EEF1F7"/>
          </a:solidFill>
          <a:ln/>
        </p:spPr>
      </p:sp>
      <p:sp>
        <p:nvSpPr>
          <p:cNvPr id="21" name="Shape 18"/>
          <p:cNvSpPr/>
          <p:nvPr/>
        </p:nvSpPr>
        <p:spPr>
          <a:xfrm>
            <a:off x="2057400" y="4513217"/>
            <a:ext cx="868680" cy="111034"/>
          </a:xfrm>
          <a:prstGeom prst="rect">
            <a:avLst/>
          </a:prstGeom>
          <a:solidFill>
            <a:srgbClr val="C9D3E6"/>
          </a:solidFill>
          <a:ln/>
        </p:spPr>
      </p:sp>
      <p:sp>
        <p:nvSpPr>
          <p:cNvPr id="22" name="Shape 19"/>
          <p:cNvSpPr/>
          <p:nvPr/>
        </p:nvSpPr>
        <p:spPr>
          <a:xfrm>
            <a:off x="2057400" y="4624251"/>
            <a:ext cx="868680" cy="111034"/>
          </a:xfrm>
          <a:prstGeom prst="rect">
            <a:avLst/>
          </a:prstGeom>
          <a:solidFill>
            <a:srgbClr val="EEF1F7"/>
          </a:solidFill>
          <a:ln/>
        </p:spPr>
      </p:sp>
      <p:sp>
        <p:nvSpPr>
          <p:cNvPr id="23" name="Shape 20"/>
          <p:cNvSpPr/>
          <p:nvPr/>
        </p:nvSpPr>
        <p:spPr>
          <a:xfrm>
            <a:off x="2057400" y="4735286"/>
            <a:ext cx="868680" cy="111034"/>
          </a:xfrm>
          <a:prstGeom prst="rect">
            <a:avLst/>
          </a:prstGeom>
          <a:solidFill>
            <a:srgbClr val="C9D3E6"/>
          </a:solidFill>
          <a:ln/>
        </p:spPr>
      </p:sp>
      <p:sp>
        <p:nvSpPr>
          <p:cNvPr id="24" name="Shape 21"/>
          <p:cNvSpPr/>
          <p:nvPr/>
        </p:nvSpPr>
        <p:spPr>
          <a:xfrm>
            <a:off x="2057400" y="4069080"/>
            <a:ext cx="868680" cy="777240"/>
          </a:xfrm>
          <a:prstGeom prst="rect">
            <a:avLst/>
          </a:prstGeom>
          <a:ln w="9525">
            <a:solidFill>
              <a:srgbClr val="7D8AA5"/>
            </a:solidFill>
            <a:prstDash val="solid"/>
          </a:ln>
        </p:spPr>
      </p:sp>
      <p:sp>
        <p:nvSpPr>
          <p:cNvPr id="25" name="Shape 22"/>
          <p:cNvSpPr/>
          <p:nvPr/>
        </p:nvSpPr>
        <p:spPr>
          <a:xfrm>
            <a:off x="2319528" y="4096512"/>
            <a:ext cx="54864" cy="722376"/>
          </a:xfrm>
          <a:prstGeom prst="rect">
            <a:avLst/>
          </a:prstGeom>
          <a:solidFill>
            <a:srgbClr val="56607A"/>
          </a:solidFill>
          <a:ln/>
        </p:spPr>
      </p:sp>
      <p:sp>
        <p:nvSpPr>
          <p:cNvPr id="26" name="Shape 23"/>
          <p:cNvSpPr/>
          <p:nvPr/>
        </p:nvSpPr>
        <p:spPr>
          <a:xfrm>
            <a:off x="2609088" y="4096512"/>
            <a:ext cx="54864" cy="722376"/>
          </a:xfrm>
          <a:prstGeom prst="rect">
            <a:avLst/>
          </a:prstGeom>
          <a:solidFill>
            <a:srgbClr val="56607A"/>
          </a:solidFill>
          <a:ln/>
        </p:spPr>
      </p:sp>
      <p:sp>
        <p:nvSpPr>
          <p:cNvPr id="27" name="Shape 24"/>
          <p:cNvSpPr/>
          <p:nvPr/>
        </p:nvSpPr>
        <p:spPr>
          <a:xfrm>
            <a:off x="2148840" y="4023360"/>
            <a:ext cx="685800" cy="45720"/>
          </a:xfrm>
          <a:prstGeom prst="rect">
            <a:avLst/>
          </a:prstGeom>
          <a:solidFill>
            <a:srgbClr val="56607A"/>
          </a:solidFill>
          <a:ln/>
        </p:spPr>
      </p:sp>
      <p:sp>
        <p:nvSpPr>
          <p:cNvPr id="28" name="Shape 25"/>
          <p:cNvSpPr/>
          <p:nvPr/>
        </p:nvSpPr>
        <p:spPr>
          <a:xfrm>
            <a:off x="2057400" y="3246120"/>
            <a:ext cx="868680" cy="111034"/>
          </a:xfrm>
          <a:prstGeom prst="rect">
            <a:avLst/>
          </a:prstGeom>
          <a:solidFill>
            <a:srgbClr val="C9D3E6"/>
          </a:solidFill>
          <a:ln/>
        </p:spPr>
      </p:sp>
      <p:sp>
        <p:nvSpPr>
          <p:cNvPr id="29" name="Shape 26"/>
          <p:cNvSpPr/>
          <p:nvPr/>
        </p:nvSpPr>
        <p:spPr>
          <a:xfrm>
            <a:off x="2057400" y="3357154"/>
            <a:ext cx="868680" cy="111034"/>
          </a:xfrm>
          <a:prstGeom prst="rect">
            <a:avLst/>
          </a:prstGeom>
          <a:solidFill>
            <a:srgbClr val="EEF1F7"/>
          </a:solidFill>
          <a:ln/>
        </p:spPr>
      </p:sp>
      <p:sp>
        <p:nvSpPr>
          <p:cNvPr id="30" name="Shape 27"/>
          <p:cNvSpPr/>
          <p:nvPr/>
        </p:nvSpPr>
        <p:spPr>
          <a:xfrm>
            <a:off x="2057400" y="3468189"/>
            <a:ext cx="868680" cy="111034"/>
          </a:xfrm>
          <a:prstGeom prst="rect">
            <a:avLst/>
          </a:prstGeom>
          <a:solidFill>
            <a:srgbClr val="C9D3E6"/>
          </a:solidFill>
          <a:ln/>
        </p:spPr>
      </p:sp>
      <p:sp>
        <p:nvSpPr>
          <p:cNvPr id="31" name="Shape 28"/>
          <p:cNvSpPr/>
          <p:nvPr/>
        </p:nvSpPr>
        <p:spPr>
          <a:xfrm>
            <a:off x="2057400" y="3579223"/>
            <a:ext cx="868680" cy="111034"/>
          </a:xfrm>
          <a:prstGeom prst="rect">
            <a:avLst/>
          </a:prstGeom>
          <a:solidFill>
            <a:srgbClr val="EEF1F7"/>
          </a:solidFill>
          <a:ln/>
        </p:spPr>
      </p:sp>
      <p:sp>
        <p:nvSpPr>
          <p:cNvPr id="32" name="Shape 29"/>
          <p:cNvSpPr/>
          <p:nvPr/>
        </p:nvSpPr>
        <p:spPr>
          <a:xfrm>
            <a:off x="2057400" y="3690257"/>
            <a:ext cx="868680" cy="111034"/>
          </a:xfrm>
          <a:prstGeom prst="rect">
            <a:avLst/>
          </a:prstGeom>
          <a:solidFill>
            <a:srgbClr val="C9D3E6"/>
          </a:solidFill>
          <a:ln/>
        </p:spPr>
      </p:sp>
      <p:sp>
        <p:nvSpPr>
          <p:cNvPr id="33" name="Shape 30"/>
          <p:cNvSpPr/>
          <p:nvPr/>
        </p:nvSpPr>
        <p:spPr>
          <a:xfrm>
            <a:off x="2057400" y="3801291"/>
            <a:ext cx="868680" cy="111034"/>
          </a:xfrm>
          <a:prstGeom prst="rect">
            <a:avLst/>
          </a:prstGeom>
          <a:solidFill>
            <a:srgbClr val="EEF1F7"/>
          </a:solidFill>
          <a:ln/>
        </p:spPr>
      </p:sp>
      <p:sp>
        <p:nvSpPr>
          <p:cNvPr id="34" name="Shape 31"/>
          <p:cNvSpPr/>
          <p:nvPr/>
        </p:nvSpPr>
        <p:spPr>
          <a:xfrm>
            <a:off x="2057400" y="3912326"/>
            <a:ext cx="868680" cy="111034"/>
          </a:xfrm>
          <a:prstGeom prst="rect">
            <a:avLst/>
          </a:prstGeom>
          <a:solidFill>
            <a:srgbClr val="C9D3E6"/>
          </a:solidFill>
          <a:ln/>
        </p:spPr>
      </p:sp>
      <p:sp>
        <p:nvSpPr>
          <p:cNvPr id="35" name="Shape 32"/>
          <p:cNvSpPr/>
          <p:nvPr/>
        </p:nvSpPr>
        <p:spPr>
          <a:xfrm>
            <a:off x="2057400" y="3246120"/>
            <a:ext cx="868680" cy="777240"/>
          </a:xfrm>
          <a:prstGeom prst="rect">
            <a:avLst/>
          </a:prstGeom>
          <a:ln w="9525">
            <a:solidFill>
              <a:srgbClr val="7D8AA5"/>
            </a:solidFill>
            <a:prstDash val="solid"/>
          </a:ln>
        </p:spPr>
      </p:sp>
      <p:sp>
        <p:nvSpPr>
          <p:cNvPr id="36" name="Shape 33"/>
          <p:cNvSpPr/>
          <p:nvPr/>
        </p:nvSpPr>
        <p:spPr>
          <a:xfrm>
            <a:off x="2319528" y="3273552"/>
            <a:ext cx="54864" cy="722376"/>
          </a:xfrm>
          <a:prstGeom prst="rect">
            <a:avLst/>
          </a:prstGeom>
          <a:solidFill>
            <a:srgbClr val="56607A"/>
          </a:solidFill>
          <a:ln/>
        </p:spPr>
      </p:sp>
      <p:sp>
        <p:nvSpPr>
          <p:cNvPr id="37" name="Shape 34"/>
          <p:cNvSpPr/>
          <p:nvPr/>
        </p:nvSpPr>
        <p:spPr>
          <a:xfrm>
            <a:off x="2609088" y="3273552"/>
            <a:ext cx="54864" cy="722376"/>
          </a:xfrm>
          <a:prstGeom prst="rect">
            <a:avLst/>
          </a:prstGeom>
          <a:solidFill>
            <a:srgbClr val="56607A"/>
          </a:solidFill>
          <a:ln/>
        </p:spPr>
      </p:sp>
      <p:sp>
        <p:nvSpPr>
          <p:cNvPr id="38" name="Shape 35"/>
          <p:cNvSpPr/>
          <p:nvPr/>
        </p:nvSpPr>
        <p:spPr>
          <a:xfrm>
            <a:off x="3383280" y="4160520"/>
            <a:ext cx="868680" cy="114300"/>
          </a:xfrm>
          <a:prstGeom prst="rect">
            <a:avLst/>
          </a:prstGeom>
          <a:solidFill>
            <a:srgbClr val="C9D3E6"/>
          </a:solidFill>
          <a:ln/>
        </p:spPr>
      </p:sp>
      <p:sp>
        <p:nvSpPr>
          <p:cNvPr id="39" name="Shape 36"/>
          <p:cNvSpPr/>
          <p:nvPr/>
        </p:nvSpPr>
        <p:spPr>
          <a:xfrm>
            <a:off x="3383280" y="4274820"/>
            <a:ext cx="868680" cy="114300"/>
          </a:xfrm>
          <a:prstGeom prst="rect">
            <a:avLst/>
          </a:prstGeom>
          <a:solidFill>
            <a:srgbClr val="EEF1F7"/>
          </a:solidFill>
          <a:ln/>
        </p:spPr>
      </p:sp>
      <p:sp>
        <p:nvSpPr>
          <p:cNvPr id="40" name="Shape 37"/>
          <p:cNvSpPr/>
          <p:nvPr/>
        </p:nvSpPr>
        <p:spPr>
          <a:xfrm>
            <a:off x="3383280" y="4389120"/>
            <a:ext cx="868680" cy="114300"/>
          </a:xfrm>
          <a:prstGeom prst="rect">
            <a:avLst/>
          </a:prstGeom>
          <a:solidFill>
            <a:srgbClr val="C9D3E6"/>
          </a:solidFill>
          <a:ln/>
        </p:spPr>
      </p:sp>
      <p:sp>
        <p:nvSpPr>
          <p:cNvPr id="41" name="Shape 38"/>
          <p:cNvSpPr/>
          <p:nvPr/>
        </p:nvSpPr>
        <p:spPr>
          <a:xfrm>
            <a:off x="3383280" y="4503420"/>
            <a:ext cx="868680" cy="114300"/>
          </a:xfrm>
          <a:prstGeom prst="rect">
            <a:avLst/>
          </a:prstGeom>
          <a:solidFill>
            <a:srgbClr val="EEF1F7"/>
          </a:solidFill>
          <a:ln/>
        </p:spPr>
      </p:sp>
      <p:sp>
        <p:nvSpPr>
          <p:cNvPr id="42" name="Shape 39"/>
          <p:cNvSpPr/>
          <p:nvPr/>
        </p:nvSpPr>
        <p:spPr>
          <a:xfrm>
            <a:off x="3383280" y="4617720"/>
            <a:ext cx="868680" cy="114300"/>
          </a:xfrm>
          <a:prstGeom prst="rect">
            <a:avLst/>
          </a:prstGeom>
          <a:solidFill>
            <a:srgbClr val="C9D3E6"/>
          </a:solidFill>
          <a:ln/>
        </p:spPr>
      </p:sp>
      <p:sp>
        <p:nvSpPr>
          <p:cNvPr id="43" name="Shape 40"/>
          <p:cNvSpPr/>
          <p:nvPr/>
        </p:nvSpPr>
        <p:spPr>
          <a:xfrm>
            <a:off x="3383280" y="4732020"/>
            <a:ext cx="868680" cy="114300"/>
          </a:xfrm>
          <a:prstGeom prst="rect">
            <a:avLst/>
          </a:prstGeom>
          <a:solidFill>
            <a:srgbClr val="EEF1F7"/>
          </a:solidFill>
          <a:ln/>
        </p:spPr>
      </p:sp>
      <p:sp>
        <p:nvSpPr>
          <p:cNvPr id="44" name="Shape 41"/>
          <p:cNvSpPr/>
          <p:nvPr/>
        </p:nvSpPr>
        <p:spPr>
          <a:xfrm>
            <a:off x="3383280" y="4160520"/>
            <a:ext cx="868680" cy="685800"/>
          </a:xfrm>
          <a:prstGeom prst="rect">
            <a:avLst/>
          </a:prstGeom>
          <a:ln w="9525">
            <a:solidFill>
              <a:srgbClr val="7D8AA5"/>
            </a:solidFill>
            <a:prstDash val="solid"/>
          </a:ln>
        </p:spPr>
      </p:sp>
      <p:sp>
        <p:nvSpPr>
          <p:cNvPr id="45" name="Shape 42"/>
          <p:cNvSpPr/>
          <p:nvPr/>
        </p:nvSpPr>
        <p:spPr>
          <a:xfrm>
            <a:off x="3645408" y="4187952"/>
            <a:ext cx="54864" cy="630936"/>
          </a:xfrm>
          <a:prstGeom prst="rect">
            <a:avLst/>
          </a:prstGeom>
          <a:solidFill>
            <a:srgbClr val="56607A"/>
          </a:solidFill>
          <a:ln/>
        </p:spPr>
      </p:sp>
      <p:sp>
        <p:nvSpPr>
          <p:cNvPr id="46" name="Shape 43"/>
          <p:cNvSpPr/>
          <p:nvPr/>
        </p:nvSpPr>
        <p:spPr>
          <a:xfrm>
            <a:off x="3934968" y="4187952"/>
            <a:ext cx="54864" cy="630936"/>
          </a:xfrm>
          <a:prstGeom prst="rect">
            <a:avLst/>
          </a:prstGeom>
          <a:solidFill>
            <a:srgbClr val="56607A"/>
          </a:solidFill>
          <a:ln/>
        </p:spPr>
      </p:sp>
      <p:sp>
        <p:nvSpPr>
          <p:cNvPr id="47" name="Shape 44"/>
          <p:cNvSpPr/>
          <p:nvPr/>
        </p:nvSpPr>
        <p:spPr>
          <a:xfrm>
            <a:off x="3474720" y="4114800"/>
            <a:ext cx="685800" cy="45720"/>
          </a:xfrm>
          <a:prstGeom prst="rect">
            <a:avLst/>
          </a:prstGeom>
          <a:solidFill>
            <a:srgbClr val="56607A"/>
          </a:solidFill>
          <a:ln/>
        </p:spPr>
      </p:sp>
      <p:sp>
        <p:nvSpPr>
          <p:cNvPr id="48" name="Shape 45"/>
          <p:cNvSpPr/>
          <p:nvPr/>
        </p:nvSpPr>
        <p:spPr>
          <a:xfrm>
            <a:off x="3383280" y="3429000"/>
            <a:ext cx="868680" cy="114300"/>
          </a:xfrm>
          <a:prstGeom prst="rect">
            <a:avLst/>
          </a:prstGeom>
          <a:solidFill>
            <a:srgbClr val="C9D3E6"/>
          </a:solidFill>
          <a:ln/>
        </p:spPr>
      </p:sp>
      <p:sp>
        <p:nvSpPr>
          <p:cNvPr id="49" name="Shape 46"/>
          <p:cNvSpPr/>
          <p:nvPr/>
        </p:nvSpPr>
        <p:spPr>
          <a:xfrm>
            <a:off x="3383280" y="3543300"/>
            <a:ext cx="868680" cy="114300"/>
          </a:xfrm>
          <a:prstGeom prst="rect">
            <a:avLst/>
          </a:prstGeom>
          <a:solidFill>
            <a:srgbClr val="EEF1F7"/>
          </a:solidFill>
          <a:ln/>
        </p:spPr>
      </p:sp>
      <p:sp>
        <p:nvSpPr>
          <p:cNvPr id="50" name="Shape 47"/>
          <p:cNvSpPr/>
          <p:nvPr/>
        </p:nvSpPr>
        <p:spPr>
          <a:xfrm>
            <a:off x="3383280" y="3657600"/>
            <a:ext cx="868680" cy="114300"/>
          </a:xfrm>
          <a:prstGeom prst="rect">
            <a:avLst/>
          </a:prstGeom>
          <a:solidFill>
            <a:srgbClr val="C9D3E6"/>
          </a:solidFill>
          <a:ln/>
        </p:spPr>
      </p:sp>
      <p:sp>
        <p:nvSpPr>
          <p:cNvPr id="51" name="Shape 48"/>
          <p:cNvSpPr/>
          <p:nvPr/>
        </p:nvSpPr>
        <p:spPr>
          <a:xfrm>
            <a:off x="3383280" y="3771900"/>
            <a:ext cx="868680" cy="114300"/>
          </a:xfrm>
          <a:prstGeom prst="rect">
            <a:avLst/>
          </a:prstGeom>
          <a:solidFill>
            <a:srgbClr val="EEF1F7"/>
          </a:solidFill>
          <a:ln/>
        </p:spPr>
      </p:sp>
      <p:sp>
        <p:nvSpPr>
          <p:cNvPr id="52" name="Shape 49"/>
          <p:cNvSpPr/>
          <p:nvPr/>
        </p:nvSpPr>
        <p:spPr>
          <a:xfrm>
            <a:off x="3383280" y="3886200"/>
            <a:ext cx="868680" cy="114300"/>
          </a:xfrm>
          <a:prstGeom prst="rect">
            <a:avLst/>
          </a:prstGeom>
          <a:solidFill>
            <a:srgbClr val="C9D3E6"/>
          </a:solidFill>
          <a:ln/>
        </p:spPr>
      </p:sp>
      <p:sp>
        <p:nvSpPr>
          <p:cNvPr id="53" name="Shape 50"/>
          <p:cNvSpPr/>
          <p:nvPr/>
        </p:nvSpPr>
        <p:spPr>
          <a:xfrm>
            <a:off x="3383280" y="4000500"/>
            <a:ext cx="868680" cy="114300"/>
          </a:xfrm>
          <a:prstGeom prst="rect">
            <a:avLst/>
          </a:prstGeom>
          <a:solidFill>
            <a:srgbClr val="EEF1F7"/>
          </a:solidFill>
          <a:ln/>
        </p:spPr>
      </p:sp>
      <p:sp>
        <p:nvSpPr>
          <p:cNvPr id="54" name="Shape 51"/>
          <p:cNvSpPr/>
          <p:nvPr/>
        </p:nvSpPr>
        <p:spPr>
          <a:xfrm>
            <a:off x="3383280" y="3429000"/>
            <a:ext cx="868680" cy="685800"/>
          </a:xfrm>
          <a:prstGeom prst="rect">
            <a:avLst/>
          </a:prstGeom>
          <a:ln w="9525">
            <a:solidFill>
              <a:srgbClr val="7D8AA5"/>
            </a:solidFill>
            <a:prstDash val="solid"/>
          </a:ln>
        </p:spPr>
      </p:sp>
      <p:sp>
        <p:nvSpPr>
          <p:cNvPr id="55" name="Shape 52"/>
          <p:cNvSpPr/>
          <p:nvPr/>
        </p:nvSpPr>
        <p:spPr>
          <a:xfrm>
            <a:off x="3645408" y="3456432"/>
            <a:ext cx="54864" cy="630936"/>
          </a:xfrm>
          <a:prstGeom prst="rect">
            <a:avLst/>
          </a:prstGeom>
          <a:solidFill>
            <a:srgbClr val="56607A"/>
          </a:solidFill>
          <a:ln/>
        </p:spPr>
      </p:sp>
      <p:sp>
        <p:nvSpPr>
          <p:cNvPr id="56" name="Shape 53"/>
          <p:cNvSpPr/>
          <p:nvPr/>
        </p:nvSpPr>
        <p:spPr>
          <a:xfrm>
            <a:off x="3934968" y="3456432"/>
            <a:ext cx="54864" cy="630936"/>
          </a:xfrm>
          <a:prstGeom prst="rect">
            <a:avLst/>
          </a:prstGeom>
          <a:solidFill>
            <a:srgbClr val="56607A"/>
          </a:solidFill>
          <a:ln/>
        </p:spPr>
      </p:sp>
      <p:sp>
        <p:nvSpPr>
          <p:cNvPr id="57" name="Shape 54"/>
          <p:cNvSpPr/>
          <p:nvPr/>
        </p:nvSpPr>
        <p:spPr>
          <a:xfrm>
            <a:off x="3474720" y="3383280"/>
            <a:ext cx="685800" cy="45720"/>
          </a:xfrm>
          <a:prstGeom prst="rect">
            <a:avLst/>
          </a:prstGeom>
          <a:solidFill>
            <a:srgbClr val="56607A"/>
          </a:solidFill>
          <a:ln/>
        </p:spPr>
      </p:sp>
      <p:sp>
        <p:nvSpPr>
          <p:cNvPr id="58" name="Shape 55"/>
          <p:cNvSpPr/>
          <p:nvPr/>
        </p:nvSpPr>
        <p:spPr>
          <a:xfrm>
            <a:off x="3383280" y="2697480"/>
            <a:ext cx="868680" cy="114300"/>
          </a:xfrm>
          <a:prstGeom prst="rect">
            <a:avLst/>
          </a:prstGeom>
          <a:solidFill>
            <a:srgbClr val="C9D3E6"/>
          </a:solidFill>
          <a:ln/>
        </p:spPr>
      </p:sp>
      <p:sp>
        <p:nvSpPr>
          <p:cNvPr id="59" name="Shape 56"/>
          <p:cNvSpPr/>
          <p:nvPr/>
        </p:nvSpPr>
        <p:spPr>
          <a:xfrm>
            <a:off x="3383280" y="2811780"/>
            <a:ext cx="868680" cy="114300"/>
          </a:xfrm>
          <a:prstGeom prst="rect">
            <a:avLst/>
          </a:prstGeom>
          <a:solidFill>
            <a:srgbClr val="EEF1F7"/>
          </a:solidFill>
          <a:ln/>
        </p:spPr>
      </p:sp>
      <p:sp>
        <p:nvSpPr>
          <p:cNvPr id="60" name="Shape 57"/>
          <p:cNvSpPr/>
          <p:nvPr/>
        </p:nvSpPr>
        <p:spPr>
          <a:xfrm>
            <a:off x="3383280" y="2926080"/>
            <a:ext cx="868680" cy="114300"/>
          </a:xfrm>
          <a:prstGeom prst="rect">
            <a:avLst/>
          </a:prstGeom>
          <a:solidFill>
            <a:srgbClr val="C9D3E6"/>
          </a:solidFill>
          <a:ln/>
        </p:spPr>
      </p:sp>
      <p:sp>
        <p:nvSpPr>
          <p:cNvPr id="61" name="Shape 58"/>
          <p:cNvSpPr/>
          <p:nvPr/>
        </p:nvSpPr>
        <p:spPr>
          <a:xfrm>
            <a:off x="3383280" y="3040380"/>
            <a:ext cx="868680" cy="114300"/>
          </a:xfrm>
          <a:prstGeom prst="rect">
            <a:avLst/>
          </a:prstGeom>
          <a:solidFill>
            <a:srgbClr val="EEF1F7"/>
          </a:solidFill>
          <a:ln/>
        </p:spPr>
      </p:sp>
      <p:sp>
        <p:nvSpPr>
          <p:cNvPr id="62" name="Shape 59"/>
          <p:cNvSpPr/>
          <p:nvPr/>
        </p:nvSpPr>
        <p:spPr>
          <a:xfrm>
            <a:off x="3383280" y="3154680"/>
            <a:ext cx="868680" cy="114300"/>
          </a:xfrm>
          <a:prstGeom prst="rect">
            <a:avLst/>
          </a:prstGeom>
          <a:solidFill>
            <a:srgbClr val="C9D3E6"/>
          </a:solidFill>
          <a:ln/>
        </p:spPr>
      </p:sp>
      <p:sp>
        <p:nvSpPr>
          <p:cNvPr id="63" name="Shape 60"/>
          <p:cNvSpPr/>
          <p:nvPr/>
        </p:nvSpPr>
        <p:spPr>
          <a:xfrm>
            <a:off x="3383280" y="3268980"/>
            <a:ext cx="868680" cy="114300"/>
          </a:xfrm>
          <a:prstGeom prst="rect">
            <a:avLst/>
          </a:prstGeom>
          <a:solidFill>
            <a:srgbClr val="EEF1F7"/>
          </a:solidFill>
          <a:ln/>
        </p:spPr>
      </p:sp>
      <p:sp>
        <p:nvSpPr>
          <p:cNvPr id="64" name="Shape 61"/>
          <p:cNvSpPr/>
          <p:nvPr/>
        </p:nvSpPr>
        <p:spPr>
          <a:xfrm>
            <a:off x="3383280" y="2697480"/>
            <a:ext cx="868680" cy="685800"/>
          </a:xfrm>
          <a:prstGeom prst="rect">
            <a:avLst/>
          </a:prstGeom>
          <a:ln w="9525">
            <a:solidFill>
              <a:srgbClr val="7D8AA5"/>
            </a:solidFill>
            <a:prstDash val="solid"/>
          </a:ln>
        </p:spPr>
      </p:sp>
      <p:sp>
        <p:nvSpPr>
          <p:cNvPr id="65" name="Shape 62"/>
          <p:cNvSpPr/>
          <p:nvPr/>
        </p:nvSpPr>
        <p:spPr>
          <a:xfrm>
            <a:off x="3645408" y="2724912"/>
            <a:ext cx="54864" cy="630936"/>
          </a:xfrm>
          <a:prstGeom prst="rect">
            <a:avLst/>
          </a:prstGeom>
          <a:solidFill>
            <a:srgbClr val="56607A"/>
          </a:solidFill>
          <a:ln/>
        </p:spPr>
      </p:sp>
      <p:sp>
        <p:nvSpPr>
          <p:cNvPr id="66" name="Shape 63"/>
          <p:cNvSpPr/>
          <p:nvPr/>
        </p:nvSpPr>
        <p:spPr>
          <a:xfrm>
            <a:off x="3934968" y="2724912"/>
            <a:ext cx="54864" cy="630936"/>
          </a:xfrm>
          <a:prstGeom prst="rect">
            <a:avLst/>
          </a:prstGeom>
          <a:solidFill>
            <a:srgbClr val="56607A"/>
          </a:solidFill>
          <a:ln/>
        </p:spPr>
      </p:sp>
      <p:sp>
        <p:nvSpPr>
          <p:cNvPr id="67" name="Shape 64"/>
          <p:cNvSpPr/>
          <p:nvPr/>
        </p:nvSpPr>
        <p:spPr>
          <a:xfrm>
            <a:off x="4709160" y="4187952"/>
            <a:ext cx="868680" cy="109728"/>
          </a:xfrm>
          <a:prstGeom prst="rect">
            <a:avLst/>
          </a:prstGeom>
          <a:solidFill>
            <a:srgbClr val="C9D3E6"/>
          </a:solidFill>
          <a:ln/>
        </p:spPr>
      </p:sp>
      <p:sp>
        <p:nvSpPr>
          <p:cNvPr id="68" name="Shape 65"/>
          <p:cNvSpPr/>
          <p:nvPr/>
        </p:nvSpPr>
        <p:spPr>
          <a:xfrm>
            <a:off x="4709160" y="4297680"/>
            <a:ext cx="868680" cy="109728"/>
          </a:xfrm>
          <a:prstGeom prst="rect">
            <a:avLst/>
          </a:prstGeom>
          <a:solidFill>
            <a:srgbClr val="EEF1F7"/>
          </a:solidFill>
          <a:ln/>
        </p:spPr>
      </p:sp>
      <p:sp>
        <p:nvSpPr>
          <p:cNvPr id="69" name="Shape 66"/>
          <p:cNvSpPr/>
          <p:nvPr/>
        </p:nvSpPr>
        <p:spPr>
          <a:xfrm>
            <a:off x="4709160" y="4407408"/>
            <a:ext cx="868680" cy="109728"/>
          </a:xfrm>
          <a:prstGeom prst="rect">
            <a:avLst/>
          </a:prstGeom>
          <a:solidFill>
            <a:srgbClr val="C9D3E6"/>
          </a:solidFill>
          <a:ln/>
        </p:spPr>
      </p:sp>
      <p:sp>
        <p:nvSpPr>
          <p:cNvPr id="70" name="Shape 67"/>
          <p:cNvSpPr/>
          <p:nvPr/>
        </p:nvSpPr>
        <p:spPr>
          <a:xfrm>
            <a:off x="4709160" y="4517136"/>
            <a:ext cx="868680" cy="109728"/>
          </a:xfrm>
          <a:prstGeom prst="rect">
            <a:avLst/>
          </a:prstGeom>
          <a:solidFill>
            <a:srgbClr val="EEF1F7"/>
          </a:solidFill>
          <a:ln/>
        </p:spPr>
      </p:sp>
      <p:sp>
        <p:nvSpPr>
          <p:cNvPr id="71" name="Shape 68"/>
          <p:cNvSpPr/>
          <p:nvPr/>
        </p:nvSpPr>
        <p:spPr>
          <a:xfrm>
            <a:off x="4709160" y="4626864"/>
            <a:ext cx="868680" cy="109728"/>
          </a:xfrm>
          <a:prstGeom prst="rect">
            <a:avLst/>
          </a:prstGeom>
          <a:solidFill>
            <a:srgbClr val="C9D3E6"/>
          </a:solidFill>
          <a:ln/>
        </p:spPr>
      </p:sp>
      <p:sp>
        <p:nvSpPr>
          <p:cNvPr id="72" name="Shape 69"/>
          <p:cNvSpPr/>
          <p:nvPr/>
        </p:nvSpPr>
        <p:spPr>
          <a:xfrm>
            <a:off x="4709160" y="4736592"/>
            <a:ext cx="868680" cy="109728"/>
          </a:xfrm>
          <a:prstGeom prst="rect">
            <a:avLst/>
          </a:prstGeom>
          <a:solidFill>
            <a:srgbClr val="EEF1F7"/>
          </a:solidFill>
          <a:ln/>
        </p:spPr>
      </p:sp>
      <p:sp>
        <p:nvSpPr>
          <p:cNvPr id="73" name="Shape 70"/>
          <p:cNvSpPr/>
          <p:nvPr/>
        </p:nvSpPr>
        <p:spPr>
          <a:xfrm>
            <a:off x="4709160" y="4187952"/>
            <a:ext cx="868680" cy="658368"/>
          </a:xfrm>
          <a:prstGeom prst="rect">
            <a:avLst/>
          </a:prstGeom>
          <a:ln w="9525">
            <a:solidFill>
              <a:srgbClr val="7D8AA5"/>
            </a:solidFill>
            <a:prstDash val="solid"/>
          </a:ln>
        </p:spPr>
      </p:sp>
      <p:sp>
        <p:nvSpPr>
          <p:cNvPr id="74" name="Shape 71"/>
          <p:cNvSpPr/>
          <p:nvPr/>
        </p:nvSpPr>
        <p:spPr>
          <a:xfrm>
            <a:off x="4971288" y="4215384"/>
            <a:ext cx="54864" cy="603504"/>
          </a:xfrm>
          <a:prstGeom prst="rect">
            <a:avLst/>
          </a:prstGeom>
          <a:solidFill>
            <a:srgbClr val="56607A"/>
          </a:solidFill>
          <a:ln/>
        </p:spPr>
      </p:sp>
      <p:sp>
        <p:nvSpPr>
          <p:cNvPr id="75" name="Shape 72"/>
          <p:cNvSpPr/>
          <p:nvPr/>
        </p:nvSpPr>
        <p:spPr>
          <a:xfrm>
            <a:off x="5260848" y="4215384"/>
            <a:ext cx="54864" cy="603504"/>
          </a:xfrm>
          <a:prstGeom prst="rect">
            <a:avLst/>
          </a:prstGeom>
          <a:solidFill>
            <a:srgbClr val="56607A"/>
          </a:solidFill>
          <a:ln/>
        </p:spPr>
      </p:sp>
      <p:sp>
        <p:nvSpPr>
          <p:cNvPr id="76" name="Shape 73"/>
          <p:cNvSpPr/>
          <p:nvPr/>
        </p:nvSpPr>
        <p:spPr>
          <a:xfrm>
            <a:off x="4800600" y="4142232"/>
            <a:ext cx="685800" cy="45720"/>
          </a:xfrm>
          <a:prstGeom prst="rect">
            <a:avLst/>
          </a:prstGeom>
          <a:solidFill>
            <a:srgbClr val="56607A"/>
          </a:solidFill>
          <a:ln/>
        </p:spPr>
      </p:sp>
      <p:sp>
        <p:nvSpPr>
          <p:cNvPr id="77" name="Shape 74"/>
          <p:cNvSpPr/>
          <p:nvPr/>
        </p:nvSpPr>
        <p:spPr>
          <a:xfrm>
            <a:off x="4709160" y="3483864"/>
            <a:ext cx="868680" cy="109728"/>
          </a:xfrm>
          <a:prstGeom prst="rect">
            <a:avLst/>
          </a:prstGeom>
          <a:solidFill>
            <a:srgbClr val="C9D3E6"/>
          </a:solidFill>
          <a:ln/>
        </p:spPr>
      </p:sp>
      <p:sp>
        <p:nvSpPr>
          <p:cNvPr id="78" name="Shape 75"/>
          <p:cNvSpPr/>
          <p:nvPr/>
        </p:nvSpPr>
        <p:spPr>
          <a:xfrm>
            <a:off x="4709160" y="3593592"/>
            <a:ext cx="868680" cy="109728"/>
          </a:xfrm>
          <a:prstGeom prst="rect">
            <a:avLst/>
          </a:prstGeom>
          <a:solidFill>
            <a:srgbClr val="EEF1F7"/>
          </a:solidFill>
          <a:ln/>
        </p:spPr>
      </p:sp>
      <p:sp>
        <p:nvSpPr>
          <p:cNvPr id="79" name="Shape 76"/>
          <p:cNvSpPr/>
          <p:nvPr/>
        </p:nvSpPr>
        <p:spPr>
          <a:xfrm>
            <a:off x="4709160" y="3703320"/>
            <a:ext cx="868680" cy="109728"/>
          </a:xfrm>
          <a:prstGeom prst="rect">
            <a:avLst/>
          </a:prstGeom>
          <a:solidFill>
            <a:srgbClr val="C9D3E6"/>
          </a:solidFill>
          <a:ln/>
        </p:spPr>
      </p:sp>
      <p:sp>
        <p:nvSpPr>
          <p:cNvPr id="80" name="Shape 77"/>
          <p:cNvSpPr/>
          <p:nvPr/>
        </p:nvSpPr>
        <p:spPr>
          <a:xfrm>
            <a:off x="4709160" y="3813048"/>
            <a:ext cx="868680" cy="109728"/>
          </a:xfrm>
          <a:prstGeom prst="rect">
            <a:avLst/>
          </a:prstGeom>
          <a:solidFill>
            <a:srgbClr val="EEF1F7"/>
          </a:solidFill>
          <a:ln/>
        </p:spPr>
      </p:sp>
      <p:sp>
        <p:nvSpPr>
          <p:cNvPr id="81" name="Shape 78"/>
          <p:cNvSpPr/>
          <p:nvPr/>
        </p:nvSpPr>
        <p:spPr>
          <a:xfrm>
            <a:off x="4709160" y="3922776"/>
            <a:ext cx="868680" cy="109728"/>
          </a:xfrm>
          <a:prstGeom prst="rect">
            <a:avLst/>
          </a:prstGeom>
          <a:solidFill>
            <a:srgbClr val="C9D3E6"/>
          </a:solidFill>
          <a:ln/>
        </p:spPr>
      </p:sp>
      <p:sp>
        <p:nvSpPr>
          <p:cNvPr id="82" name="Shape 79"/>
          <p:cNvSpPr/>
          <p:nvPr/>
        </p:nvSpPr>
        <p:spPr>
          <a:xfrm>
            <a:off x="4709160" y="4032504"/>
            <a:ext cx="868680" cy="109728"/>
          </a:xfrm>
          <a:prstGeom prst="rect">
            <a:avLst/>
          </a:prstGeom>
          <a:solidFill>
            <a:srgbClr val="EEF1F7"/>
          </a:solidFill>
          <a:ln/>
        </p:spPr>
      </p:sp>
      <p:sp>
        <p:nvSpPr>
          <p:cNvPr id="83" name="Shape 80"/>
          <p:cNvSpPr/>
          <p:nvPr/>
        </p:nvSpPr>
        <p:spPr>
          <a:xfrm>
            <a:off x="4709160" y="3483864"/>
            <a:ext cx="868680" cy="658368"/>
          </a:xfrm>
          <a:prstGeom prst="rect">
            <a:avLst/>
          </a:prstGeom>
          <a:ln w="9525">
            <a:solidFill>
              <a:srgbClr val="7D8AA5"/>
            </a:solidFill>
            <a:prstDash val="solid"/>
          </a:ln>
        </p:spPr>
      </p:sp>
      <p:sp>
        <p:nvSpPr>
          <p:cNvPr id="84" name="Shape 81"/>
          <p:cNvSpPr/>
          <p:nvPr/>
        </p:nvSpPr>
        <p:spPr>
          <a:xfrm>
            <a:off x="4971288" y="3511296"/>
            <a:ext cx="54864" cy="603504"/>
          </a:xfrm>
          <a:prstGeom prst="rect">
            <a:avLst/>
          </a:prstGeom>
          <a:solidFill>
            <a:srgbClr val="56607A"/>
          </a:solidFill>
          <a:ln/>
        </p:spPr>
      </p:sp>
      <p:sp>
        <p:nvSpPr>
          <p:cNvPr id="85" name="Shape 82"/>
          <p:cNvSpPr/>
          <p:nvPr/>
        </p:nvSpPr>
        <p:spPr>
          <a:xfrm>
            <a:off x="5260848" y="3511296"/>
            <a:ext cx="54864" cy="603504"/>
          </a:xfrm>
          <a:prstGeom prst="rect">
            <a:avLst/>
          </a:prstGeom>
          <a:solidFill>
            <a:srgbClr val="56607A"/>
          </a:solidFill>
          <a:ln/>
        </p:spPr>
      </p:sp>
      <p:sp>
        <p:nvSpPr>
          <p:cNvPr id="86" name="Shape 83"/>
          <p:cNvSpPr/>
          <p:nvPr/>
        </p:nvSpPr>
        <p:spPr>
          <a:xfrm>
            <a:off x="4818888" y="3410712"/>
            <a:ext cx="128016" cy="73152"/>
          </a:xfrm>
          <a:prstGeom prst="rect">
            <a:avLst/>
          </a:prstGeom>
          <a:solidFill>
            <a:srgbClr val="C98A1B"/>
          </a:solidFill>
          <a:ln/>
        </p:spPr>
      </p:sp>
      <p:sp>
        <p:nvSpPr>
          <p:cNvPr id="87" name="Shape 84"/>
          <p:cNvSpPr/>
          <p:nvPr/>
        </p:nvSpPr>
        <p:spPr>
          <a:xfrm>
            <a:off x="4992624" y="3410712"/>
            <a:ext cx="128016" cy="73152"/>
          </a:xfrm>
          <a:prstGeom prst="rect">
            <a:avLst/>
          </a:prstGeom>
          <a:solidFill>
            <a:srgbClr val="C98A1B"/>
          </a:solidFill>
          <a:ln/>
        </p:spPr>
      </p:sp>
      <p:sp>
        <p:nvSpPr>
          <p:cNvPr id="88" name="Shape 85"/>
          <p:cNvSpPr/>
          <p:nvPr/>
        </p:nvSpPr>
        <p:spPr>
          <a:xfrm>
            <a:off x="5166360" y="3410712"/>
            <a:ext cx="128016" cy="73152"/>
          </a:xfrm>
          <a:prstGeom prst="rect">
            <a:avLst/>
          </a:prstGeom>
          <a:solidFill>
            <a:srgbClr val="C98A1B"/>
          </a:solidFill>
          <a:ln/>
        </p:spPr>
      </p:sp>
      <p:sp>
        <p:nvSpPr>
          <p:cNvPr id="89" name="Shape 86"/>
          <p:cNvSpPr/>
          <p:nvPr/>
        </p:nvSpPr>
        <p:spPr>
          <a:xfrm>
            <a:off x="5340096" y="3410712"/>
            <a:ext cx="128016" cy="73152"/>
          </a:xfrm>
          <a:prstGeom prst="rect">
            <a:avLst/>
          </a:prstGeom>
          <a:solidFill>
            <a:srgbClr val="C98A1B"/>
          </a:solidFill>
          <a:ln/>
        </p:spPr>
      </p:sp>
      <p:sp>
        <p:nvSpPr>
          <p:cNvPr id="90" name="Shape 87"/>
          <p:cNvSpPr/>
          <p:nvPr/>
        </p:nvSpPr>
        <p:spPr>
          <a:xfrm>
            <a:off x="4709160" y="2752344"/>
            <a:ext cx="868680" cy="109728"/>
          </a:xfrm>
          <a:prstGeom prst="rect">
            <a:avLst/>
          </a:prstGeom>
          <a:solidFill>
            <a:srgbClr val="C9D3E6"/>
          </a:solidFill>
          <a:ln/>
        </p:spPr>
      </p:sp>
      <p:sp>
        <p:nvSpPr>
          <p:cNvPr id="91" name="Shape 88"/>
          <p:cNvSpPr/>
          <p:nvPr/>
        </p:nvSpPr>
        <p:spPr>
          <a:xfrm>
            <a:off x="4709160" y="2862072"/>
            <a:ext cx="868680" cy="109728"/>
          </a:xfrm>
          <a:prstGeom prst="rect">
            <a:avLst/>
          </a:prstGeom>
          <a:solidFill>
            <a:srgbClr val="EEF1F7"/>
          </a:solidFill>
          <a:ln/>
        </p:spPr>
      </p:sp>
      <p:sp>
        <p:nvSpPr>
          <p:cNvPr id="92" name="Shape 89"/>
          <p:cNvSpPr/>
          <p:nvPr/>
        </p:nvSpPr>
        <p:spPr>
          <a:xfrm>
            <a:off x="4709160" y="2971800"/>
            <a:ext cx="868680" cy="109728"/>
          </a:xfrm>
          <a:prstGeom prst="rect">
            <a:avLst/>
          </a:prstGeom>
          <a:solidFill>
            <a:srgbClr val="C9D3E6"/>
          </a:solidFill>
          <a:ln/>
        </p:spPr>
      </p:sp>
      <p:sp>
        <p:nvSpPr>
          <p:cNvPr id="93" name="Shape 90"/>
          <p:cNvSpPr/>
          <p:nvPr/>
        </p:nvSpPr>
        <p:spPr>
          <a:xfrm>
            <a:off x="4709160" y="3081528"/>
            <a:ext cx="868680" cy="109728"/>
          </a:xfrm>
          <a:prstGeom prst="rect">
            <a:avLst/>
          </a:prstGeom>
          <a:solidFill>
            <a:srgbClr val="EEF1F7"/>
          </a:solidFill>
          <a:ln/>
        </p:spPr>
      </p:sp>
      <p:sp>
        <p:nvSpPr>
          <p:cNvPr id="94" name="Shape 91"/>
          <p:cNvSpPr/>
          <p:nvPr/>
        </p:nvSpPr>
        <p:spPr>
          <a:xfrm>
            <a:off x="4709160" y="3191256"/>
            <a:ext cx="868680" cy="109728"/>
          </a:xfrm>
          <a:prstGeom prst="rect">
            <a:avLst/>
          </a:prstGeom>
          <a:solidFill>
            <a:srgbClr val="C9D3E6"/>
          </a:solidFill>
          <a:ln/>
        </p:spPr>
      </p:sp>
      <p:sp>
        <p:nvSpPr>
          <p:cNvPr id="95" name="Shape 92"/>
          <p:cNvSpPr/>
          <p:nvPr/>
        </p:nvSpPr>
        <p:spPr>
          <a:xfrm>
            <a:off x="4709160" y="3300984"/>
            <a:ext cx="868680" cy="109728"/>
          </a:xfrm>
          <a:prstGeom prst="rect">
            <a:avLst/>
          </a:prstGeom>
          <a:solidFill>
            <a:srgbClr val="EEF1F7"/>
          </a:solidFill>
          <a:ln/>
        </p:spPr>
      </p:sp>
      <p:sp>
        <p:nvSpPr>
          <p:cNvPr id="96" name="Shape 93"/>
          <p:cNvSpPr/>
          <p:nvPr/>
        </p:nvSpPr>
        <p:spPr>
          <a:xfrm>
            <a:off x="4709160" y="2752344"/>
            <a:ext cx="868680" cy="658368"/>
          </a:xfrm>
          <a:prstGeom prst="rect">
            <a:avLst/>
          </a:prstGeom>
          <a:ln w="9525">
            <a:solidFill>
              <a:srgbClr val="7D8AA5"/>
            </a:solidFill>
            <a:prstDash val="solid"/>
          </a:ln>
        </p:spPr>
      </p:sp>
      <p:sp>
        <p:nvSpPr>
          <p:cNvPr id="97" name="Shape 94"/>
          <p:cNvSpPr/>
          <p:nvPr/>
        </p:nvSpPr>
        <p:spPr>
          <a:xfrm>
            <a:off x="4971288" y="2779776"/>
            <a:ext cx="54864" cy="603504"/>
          </a:xfrm>
          <a:prstGeom prst="rect">
            <a:avLst/>
          </a:prstGeom>
          <a:solidFill>
            <a:srgbClr val="56607A"/>
          </a:solidFill>
          <a:ln/>
        </p:spPr>
      </p:sp>
      <p:sp>
        <p:nvSpPr>
          <p:cNvPr id="98" name="Shape 95"/>
          <p:cNvSpPr/>
          <p:nvPr/>
        </p:nvSpPr>
        <p:spPr>
          <a:xfrm>
            <a:off x="5260848" y="2779776"/>
            <a:ext cx="54864" cy="603504"/>
          </a:xfrm>
          <a:prstGeom prst="rect">
            <a:avLst/>
          </a:prstGeom>
          <a:solidFill>
            <a:srgbClr val="56607A"/>
          </a:solidFill>
          <a:ln/>
        </p:spPr>
      </p:sp>
      <p:sp>
        <p:nvSpPr>
          <p:cNvPr id="99" name="Shape 96"/>
          <p:cNvSpPr/>
          <p:nvPr/>
        </p:nvSpPr>
        <p:spPr>
          <a:xfrm>
            <a:off x="4800600" y="2706624"/>
            <a:ext cx="685800" cy="45720"/>
          </a:xfrm>
          <a:prstGeom prst="rect">
            <a:avLst/>
          </a:prstGeom>
          <a:solidFill>
            <a:srgbClr val="56607A"/>
          </a:solidFill>
          <a:ln/>
        </p:spPr>
      </p:sp>
      <p:sp>
        <p:nvSpPr>
          <p:cNvPr id="100" name="Shape 97"/>
          <p:cNvSpPr/>
          <p:nvPr/>
        </p:nvSpPr>
        <p:spPr>
          <a:xfrm>
            <a:off x="4709160" y="2048256"/>
            <a:ext cx="868680" cy="109728"/>
          </a:xfrm>
          <a:prstGeom prst="rect">
            <a:avLst/>
          </a:prstGeom>
          <a:solidFill>
            <a:srgbClr val="C9D3E6"/>
          </a:solidFill>
          <a:ln/>
        </p:spPr>
      </p:sp>
      <p:sp>
        <p:nvSpPr>
          <p:cNvPr id="101" name="Shape 98"/>
          <p:cNvSpPr/>
          <p:nvPr/>
        </p:nvSpPr>
        <p:spPr>
          <a:xfrm>
            <a:off x="4709160" y="2157984"/>
            <a:ext cx="868680" cy="109728"/>
          </a:xfrm>
          <a:prstGeom prst="rect">
            <a:avLst/>
          </a:prstGeom>
          <a:solidFill>
            <a:srgbClr val="EEF1F7"/>
          </a:solidFill>
          <a:ln/>
        </p:spPr>
      </p:sp>
      <p:sp>
        <p:nvSpPr>
          <p:cNvPr id="102" name="Shape 99"/>
          <p:cNvSpPr/>
          <p:nvPr/>
        </p:nvSpPr>
        <p:spPr>
          <a:xfrm>
            <a:off x="4709160" y="2267712"/>
            <a:ext cx="868680" cy="109728"/>
          </a:xfrm>
          <a:prstGeom prst="rect">
            <a:avLst/>
          </a:prstGeom>
          <a:solidFill>
            <a:srgbClr val="C9D3E6"/>
          </a:solidFill>
          <a:ln/>
        </p:spPr>
      </p:sp>
      <p:sp>
        <p:nvSpPr>
          <p:cNvPr id="103" name="Shape 100"/>
          <p:cNvSpPr/>
          <p:nvPr/>
        </p:nvSpPr>
        <p:spPr>
          <a:xfrm>
            <a:off x="4709160" y="2377440"/>
            <a:ext cx="868680" cy="109728"/>
          </a:xfrm>
          <a:prstGeom prst="rect">
            <a:avLst/>
          </a:prstGeom>
          <a:solidFill>
            <a:srgbClr val="EEF1F7"/>
          </a:solidFill>
          <a:ln/>
        </p:spPr>
      </p:sp>
      <p:sp>
        <p:nvSpPr>
          <p:cNvPr id="104" name="Shape 101"/>
          <p:cNvSpPr/>
          <p:nvPr/>
        </p:nvSpPr>
        <p:spPr>
          <a:xfrm>
            <a:off x="4709160" y="2487168"/>
            <a:ext cx="868680" cy="109728"/>
          </a:xfrm>
          <a:prstGeom prst="rect">
            <a:avLst/>
          </a:prstGeom>
          <a:solidFill>
            <a:srgbClr val="C9D3E6"/>
          </a:solidFill>
          <a:ln/>
        </p:spPr>
      </p:sp>
      <p:sp>
        <p:nvSpPr>
          <p:cNvPr id="105" name="Shape 102"/>
          <p:cNvSpPr/>
          <p:nvPr/>
        </p:nvSpPr>
        <p:spPr>
          <a:xfrm>
            <a:off x="4709160" y="2596896"/>
            <a:ext cx="868680" cy="109728"/>
          </a:xfrm>
          <a:prstGeom prst="rect">
            <a:avLst/>
          </a:prstGeom>
          <a:solidFill>
            <a:srgbClr val="EEF1F7"/>
          </a:solidFill>
          <a:ln/>
        </p:spPr>
      </p:sp>
      <p:sp>
        <p:nvSpPr>
          <p:cNvPr id="106" name="Shape 103"/>
          <p:cNvSpPr/>
          <p:nvPr/>
        </p:nvSpPr>
        <p:spPr>
          <a:xfrm>
            <a:off x="4709160" y="2048256"/>
            <a:ext cx="868680" cy="658368"/>
          </a:xfrm>
          <a:prstGeom prst="rect">
            <a:avLst/>
          </a:prstGeom>
          <a:ln w="9525">
            <a:solidFill>
              <a:srgbClr val="7D8AA5"/>
            </a:solidFill>
            <a:prstDash val="solid"/>
          </a:ln>
        </p:spPr>
      </p:sp>
      <p:sp>
        <p:nvSpPr>
          <p:cNvPr id="107" name="Shape 104"/>
          <p:cNvSpPr/>
          <p:nvPr/>
        </p:nvSpPr>
        <p:spPr>
          <a:xfrm>
            <a:off x="4971288" y="2075688"/>
            <a:ext cx="54864" cy="603504"/>
          </a:xfrm>
          <a:prstGeom prst="rect">
            <a:avLst/>
          </a:prstGeom>
          <a:solidFill>
            <a:srgbClr val="56607A"/>
          </a:solidFill>
          <a:ln/>
        </p:spPr>
      </p:sp>
      <p:sp>
        <p:nvSpPr>
          <p:cNvPr id="108" name="Shape 105"/>
          <p:cNvSpPr/>
          <p:nvPr/>
        </p:nvSpPr>
        <p:spPr>
          <a:xfrm>
            <a:off x="5260848" y="2075688"/>
            <a:ext cx="54864" cy="603504"/>
          </a:xfrm>
          <a:prstGeom prst="rect">
            <a:avLst/>
          </a:prstGeom>
          <a:solidFill>
            <a:srgbClr val="56607A"/>
          </a:solidFill>
          <a:ln/>
        </p:spPr>
      </p:sp>
      <p:sp>
        <p:nvSpPr>
          <p:cNvPr id="109" name="Text 106"/>
          <p:cNvSpPr txBox="1"/>
          <p:nvPr/>
        </p:nvSpPr>
        <p:spPr>
          <a:xfrm>
            <a:off x="502920" y="4937760"/>
            <a:ext cx="1325880" cy="274320"/>
          </a:xfrm>
          <a:prstGeom prst="rect">
            <a:avLst/>
          </a:prstGeom>
          <a:noFill/>
          <a:ln/>
        </p:spPr>
        <p:txBody>
          <a:bodyPr wrap="square" lIns="0" tIns="0" rIns="0" bIns="0" rtlCol="0" anchor="ctr"/>
          <a:lstStyle/>
          <a:p>
            <a:pPr algn="ctr" indent="0" marL="0">
              <a:buNone/>
            </a:pPr>
            <a:r>
              <a:rPr lang="en-US" sz="1300" b="1" dirty="0">
                <a:solidFill>
                  <a:srgbClr val="1C2430"/>
                </a:solidFill>
                <a:latin typeface="Arial" pitchFamily="34" charset="0"/>
                <a:ea typeface="Yu Gothic"/>
                <a:cs typeface="Arial" pitchFamily="34" charset="-120"/>
              </a:rPr>
              <a:t>1デッキ</a:t>
            </a:r>
            <a:endParaRPr lang="en-US" sz="1300" dirty="0"/>
          </a:p>
        </p:txBody>
      </p:sp>
      <p:sp>
        <p:nvSpPr>
          <p:cNvPr id="110" name="Text 107"/>
          <p:cNvSpPr txBox="1"/>
          <p:nvPr/>
        </p:nvSpPr>
        <p:spPr>
          <a:xfrm>
            <a:off x="502920" y="5212080"/>
            <a:ext cx="1325880" cy="274320"/>
          </a:xfrm>
          <a:prstGeom prst="rect">
            <a:avLst/>
          </a:prstGeom>
          <a:noFill/>
          <a:ln/>
        </p:spPr>
        <p:txBody>
          <a:bodyPr wrap="square" lIns="0" tIns="0" rIns="0" bIns="0" rtlCol="0" anchor="ctr"/>
          <a:lstStyle/>
          <a:p>
            <a:pPr algn="ctr" indent="0" marL="0">
              <a:buNone/>
            </a:pPr>
            <a:r>
              <a:rPr lang="en-US" sz="1200" dirty="0">
                <a:solidFill>
                  <a:srgbClr val="6A7380"/>
                </a:solidFill>
                <a:latin typeface="Arial" pitchFamily="34" charset="0"/>
                <a:ea typeface="Yu Gothic"/>
                <a:cs typeface="Arial" pitchFamily="34" charset="-120"/>
              </a:rPr>
              <a:t>〜2019年</a:t>
            </a:r>
            <a:endParaRPr lang="en-US" sz="1200" dirty="0"/>
          </a:p>
        </p:txBody>
      </p:sp>
      <p:sp>
        <p:nvSpPr>
          <p:cNvPr id="111" name="Text 108"/>
          <p:cNvSpPr txBox="1"/>
          <p:nvPr/>
        </p:nvSpPr>
        <p:spPr>
          <a:xfrm>
            <a:off x="1828800" y="4937760"/>
            <a:ext cx="1325880" cy="274320"/>
          </a:xfrm>
          <a:prstGeom prst="rect">
            <a:avLst/>
          </a:prstGeom>
          <a:noFill/>
          <a:ln/>
        </p:spPr>
        <p:txBody>
          <a:bodyPr wrap="square" lIns="0" tIns="0" rIns="0" bIns="0" rtlCol="0" anchor="ctr"/>
          <a:lstStyle/>
          <a:p>
            <a:pPr algn="ctr" indent="0" marL="0">
              <a:buNone/>
            </a:pPr>
            <a:r>
              <a:rPr lang="en-US" sz="1300" b="1" dirty="0">
                <a:solidFill>
                  <a:srgbClr val="1C2430"/>
                </a:solidFill>
                <a:latin typeface="Arial" pitchFamily="34" charset="0"/>
                <a:ea typeface="Yu Gothic"/>
                <a:cs typeface="Arial" pitchFamily="34" charset="-120"/>
              </a:rPr>
              <a:t>2デッキ</a:t>
            </a:r>
            <a:endParaRPr lang="en-US" sz="1300" dirty="0"/>
          </a:p>
        </p:txBody>
      </p:sp>
      <p:sp>
        <p:nvSpPr>
          <p:cNvPr id="112" name="Text 109"/>
          <p:cNvSpPr txBox="1"/>
          <p:nvPr/>
        </p:nvSpPr>
        <p:spPr>
          <a:xfrm>
            <a:off x="1828800" y="5212080"/>
            <a:ext cx="1325880" cy="274320"/>
          </a:xfrm>
          <a:prstGeom prst="rect">
            <a:avLst/>
          </a:prstGeom>
          <a:noFill/>
          <a:ln/>
        </p:spPr>
        <p:txBody>
          <a:bodyPr wrap="square" lIns="0" tIns="0" rIns="0" bIns="0" rtlCol="0" anchor="ctr"/>
          <a:lstStyle/>
          <a:p>
            <a:pPr algn="ctr" indent="0" marL="0">
              <a:buNone/>
            </a:pPr>
            <a:r>
              <a:rPr lang="en-US" sz="1200" dirty="0">
                <a:solidFill>
                  <a:srgbClr val="6A7380"/>
                </a:solidFill>
                <a:latin typeface="Arial" pitchFamily="34" charset="0"/>
                <a:ea typeface="Yu Gothic"/>
                <a:cs typeface="Arial" pitchFamily="34" charset="-120"/>
              </a:rPr>
              <a:t>2017年〜</a:t>
            </a:r>
            <a:endParaRPr lang="en-US" sz="1200" dirty="0"/>
          </a:p>
        </p:txBody>
      </p:sp>
      <p:sp>
        <p:nvSpPr>
          <p:cNvPr id="113" name="Text 110"/>
          <p:cNvSpPr txBox="1"/>
          <p:nvPr/>
        </p:nvSpPr>
        <p:spPr>
          <a:xfrm>
            <a:off x="3154680" y="4937760"/>
            <a:ext cx="1325880" cy="274320"/>
          </a:xfrm>
          <a:prstGeom prst="rect">
            <a:avLst/>
          </a:prstGeom>
          <a:noFill/>
          <a:ln/>
        </p:spPr>
        <p:txBody>
          <a:bodyPr wrap="square" lIns="0" tIns="0" rIns="0" bIns="0" rtlCol="0" anchor="ctr"/>
          <a:lstStyle/>
          <a:p>
            <a:pPr algn="ctr" indent="0" marL="0">
              <a:buNone/>
            </a:pPr>
            <a:r>
              <a:rPr lang="en-US" sz="1300" b="1" dirty="0">
                <a:solidFill>
                  <a:srgbClr val="1C2430"/>
                </a:solidFill>
                <a:latin typeface="Arial" pitchFamily="34" charset="0"/>
                <a:ea typeface="Yu Gothic"/>
                <a:cs typeface="Arial" pitchFamily="34" charset="-120"/>
              </a:rPr>
              <a:t>3デッキ</a:t>
            </a:r>
            <a:endParaRPr lang="en-US" sz="1300" dirty="0"/>
          </a:p>
        </p:txBody>
      </p:sp>
      <p:sp>
        <p:nvSpPr>
          <p:cNvPr id="114" name="Text 111"/>
          <p:cNvSpPr txBox="1"/>
          <p:nvPr/>
        </p:nvSpPr>
        <p:spPr>
          <a:xfrm>
            <a:off x="3154680" y="5212080"/>
            <a:ext cx="1325880" cy="274320"/>
          </a:xfrm>
          <a:prstGeom prst="rect">
            <a:avLst/>
          </a:prstGeom>
          <a:noFill/>
          <a:ln/>
        </p:spPr>
        <p:txBody>
          <a:bodyPr wrap="square" lIns="0" tIns="0" rIns="0" bIns="0" rtlCol="0" anchor="ctr"/>
          <a:lstStyle/>
          <a:p>
            <a:pPr algn="ctr" indent="0" marL="0">
              <a:buNone/>
            </a:pPr>
            <a:r>
              <a:rPr lang="en-US" sz="1200" dirty="0">
                <a:solidFill>
                  <a:srgbClr val="6A7380"/>
                </a:solidFill>
                <a:latin typeface="Arial" pitchFamily="34" charset="0"/>
                <a:ea typeface="Yu Gothic"/>
                <a:cs typeface="Arial" pitchFamily="34" charset="-120"/>
              </a:rPr>
              <a:t>2024年〜</a:t>
            </a:r>
            <a:endParaRPr lang="en-US" sz="1200" dirty="0"/>
          </a:p>
        </p:txBody>
      </p:sp>
      <p:sp>
        <p:nvSpPr>
          <p:cNvPr id="115" name="Text 112"/>
          <p:cNvSpPr txBox="1"/>
          <p:nvPr/>
        </p:nvSpPr>
        <p:spPr>
          <a:xfrm>
            <a:off x="4480560" y="4937760"/>
            <a:ext cx="1325880" cy="274320"/>
          </a:xfrm>
          <a:prstGeom prst="rect">
            <a:avLst/>
          </a:prstGeom>
          <a:noFill/>
          <a:ln/>
        </p:spPr>
        <p:txBody>
          <a:bodyPr wrap="square" lIns="0" tIns="0" rIns="0" bIns="0" rtlCol="0" anchor="ctr"/>
          <a:lstStyle/>
          <a:p>
            <a:pPr algn="ctr" indent="0" marL="0">
              <a:buNone/>
            </a:pPr>
            <a:r>
              <a:rPr lang="en-US" sz="1300" b="1" dirty="0">
                <a:solidFill>
                  <a:srgbClr val="1C2430"/>
                </a:solidFill>
                <a:latin typeface="Arial" pitchFamily="34" charset="0"/>
                <a:ea typeface="Yu Gothic"/>
                <a:cs typeface="Arial" pitchFamily="34" charset="-120"/>
              </a:rPr>
              <a:t>ウェハ多段</a:t>
            </a:r>
            <a:endParaRPr lang="en-US" sz="1300" dirty="0"/>
          </a:p>
        </p:txBody>
      </p:sp>
      <p:sp>
        <p:nvSpPr>
          <p:cNvPr id="116" name="Text 113"/>
          <p:cNvSpPr txBox="1"/>
          <p:nvPr/>
        </p:nvSpPr>
        <p:spPr>
          <a:xfrm>
            <a:off x="4480560" y="5212080"/>
            <a:ext cx="1325880" cy="274320"/>
          </a:xfrm>
          <a:prstGeom prst="rect">
            <a:avLst/>
          </a:prstGeom>
          <a:noFill/>
          <a:ln/>
        </p:spPr>
        <p:txBody>
          <a:bodyPr wrap="square" lIns="0" tIns="0" rIns="0" bIns="0" rtlCol="0" anchor="ctr"/>
          <a:lstStyle/>
          <a:p>
            <a:pPr algn="ctr" indent="0" marL="0">
              <a:buNone/>
            </a:pPr>
            <a:r>
              <a:rPr lang="en-US" sz="1200" b="1" dirty="0">
                <a:solidFill>
                  <a:srgbClr val="ED7D31"/>
                </a:solidFill>
                <a:latin typeface="Arial" pitchFamily="34" charset="0"/>
                <a:ea typeface="Yu Gothic"/>
                <a:cs typeface="Arial" pitchFamily="34" charset="-120"/>
              </a:rPr>
              <a:t>2030年〜</a:t>
            </a:r>
            <a:endParaRPr lang="en-US" sz="1200" dirty="0"/>
          </a:p>
        </p:txBody>
      </p:sp>
      <p:sp>
        <p:nvSpPr>
          <p:cNvPr id="117" name="Text 114"/>
          <p:cNvSpPr txBox="1"/>
          <p:nvPr/>
        </p:nvSpPr>
        <p:spPr>
          <a:xfrm>
            <a:off x="548640" y="5623560"/>
            <a:ext cx="5394960" cy="54864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一度に開けられる穴の深さに限界があるので、積層を分けて重ねる。</a:t>
            </a:r>
            <a:endParaRPr lang="en-US" sz="1300" dirty="0"/>
          </a:p>
        </p:txBody>
      </p:sp>
      <p:sp>
        <p:nvSpPr>
          <p:cNvPr id="118" name="Shape 115"/>
          <p:cNvSpPr/>
          <p:nvPr/>
        </p:nvSpPr>
        <p:spPr>
          <a:xfrm>
            <a:off x="6263640" y="1828800"/>
            <a:ext cx="457200" cy="457200"/>
          </a:xfrm>
          <a:prstGeom prst="ellipse">
            <a:avLst/>
          </a:prstGeom>
          <a:solidFill>
            <a:srgbClr val="7B5EA7"/>
          </a:solidFill>
          <a:ln/>
        </p:spPr>
      </p:sp>
      <p:pic>
        <p:nvPicPr>
          <p:cNvPr id="119" name="Image 1" descr="preencoded.png">    </p:cNvPr>
          <p:cNvPicPr>
            <a:picLocks noChangeAspect="1"/>
          </p:cNvPicPr>
          <p:nvPr/>
        </p:nvPicPr>
        <p:blipFill>
          <a:blip r:embed="rId2"/>
          <a:stretch>
            <a:fillRect/>
          </a:stretch>
        </p:blipFill>
        <p:spPr>
          <a:xfrm>
            <a:off x="6377940" y="1943100"/>
            <a:ext cx="228600" cy="228600"/>
          </a:xfrm>
          <a:prstGeom prst="rect">
            <a:avLst/>
          </a:prstGeom>
        </p:spPr>
      </p:pic>
      <p:sp>
        <p:nvSpPr>
          <p:cNvPr id="120" name="Text 116"/>
          <p:cNvSpPr txBox="1"/>
          <p:nvPr/>
        </p:nvSpPr>
        <p:spPr>
          <a:xfrm>
            <a:off x="6858000" y="1783080"/>
            <a:ext cx="2743200" cy="457200"/>
          </a:xfrm>
          <a:prstGeom prst="rect">
            <a:avLst/>
          </a:prstGeom>
          <a:noFill/>
          <a:ln/>
        </p:spPr>
        <p:txBody>
          <a:bodyPr wrap="square" lIns="0" tIns="0" rIns="0" bIns="0" rtlCol="0" anchor="ctr"/>
          <a:lstStyle/>
          <a:p>
            <a:pPr indent="0" marL="0">
              <a:buNone/>
            </a:pPr>
            <a:r>
              <a:rPr lang="en-US" sz="1600" b="1" dirty="0">
                <a:solidFill>
                  <a:srgbClr val="1C2430"/>
                </a:solidFill>
                <a:latin typeface="Arial" pitchFamily="34" charset="0"/>
                <a:ea typeface="Yu Gothic"/>
                <a:cs typeface="Arial" pitchFamily="34" charset="-120"/>
              </a:rPr>
              <a:t>Mo（モリブデン）の配線</a:t>
            </a:r>
            <a:endParaRPr lang="en-US" sz="1600" dirty="0"/>
          </a:p>
        </p:txBody>
      </p:sp>
      <p:sp>
        <p:nvSpPr>
          <p:cNvPr id="121" name="Shape 117"/>
          <p:cNvSpPr/>
          <p:nvPr/>
        </p:nvSpPr>
        <p:spPr>
          <a:xfrm>
            <a:off x="9692640" y="1892808"/>
            <a:ext cx="603504" cy="237744"/>
          </a:xfrm>
          <a:prstGeom prst="roundRect">
            <a:avLst>
              <a:gd name="adj" fmla="val 19231"/>
            </a:avLst>
          </a:prstGeom>
          <a:solidFill>
            <a:srgbClr val="ED7D31"/>
          </a:solidFill>
          <a:ln/>
        </p:spPr>
      </p:sp>
      <p:sp>
        <p:nvSpPr>
          <p:cNvPr id="122" name="Text 118"/>
          <p:cNvSpPr txBox="1"/>
          <p:nvPr/>
        </p:nvSpPr>
        <p:spPr>
          <a:xfrm>
            <a:off x="9692640" y="1892808"/>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研究</a:t>
            </a:r>
            <a:endParaRPr lang="en-US" sz="1000" dirty="0"/>
          </a:p>
        </p:txBody>
      </p:sp>
      <p:sp>
        <p:nvSpPr>
          <p:cNvPr id="123" name="Shape 119"/>
          <p:cNvSpPr/>
          <p:nvPr/>
        </p:nvSpPr>
        <p:spPr>
          <a:xfrm>
            <a:off x="10351008" y="1892808"/>
            <a:ext cx="603504" cy="237744"/>
          </a:xfrm>
          <a:prstGeom prst="roundRect">
            <a:avLst>
              <a:gd name="adj" fmla="val 19231"/>
            </a:avLst>
          </a:prstGeom>
          <a:solidFill>
            <a:srgbClr val="ED7D31"/>
          </a:solidFill>
          <a:ln/>
        </p:spPr>
      </p:sp>
      <p:sp>
        <p:nvSpPr>
          <p:cNvPr id="124" name="Text 120"/>
          <p:cNvSpPr txBox="1"/>
          <p:nvPr/>
        </p:nvSpPr>
        <p:spPr>
          <a:xfrm>
            <a:off x="10351008" y="1892808"/>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試作</a:t>
            </a:r>
            <a:endParaRPr lang="en-US" sz="1000" dirty="0"/>
          </a:p>
        </p:txBody>
      </p:sp>
      <p:sp>
        <p:nvSpPr>
          <p:cNvPr id="125" name="Shape 121"/>
          <p:cNvSpPr/>
          <p:nvPr/>
        </p:nvSpPr>
        <p:spPr>
          <a:xfrm>
            <a:off x="11009376" y="1892808"/>
            <a:ext cx="603504" cy="237744"/>
          </a:xfrm>
          <a:prstGeom prst="roundRect">
            <a:avLst>
              <a:gd name="adj" fmla="val 19231"/>
            </a:avLst>
          </a:prstGeom>
          <a:solidFill>
            <a:srgbClr val="ED7D31"/>
          </a:solidFill>
          <a:ln/>
        </p:spPr>
      </p:sp>
      <p:sp>
        <p:nvSpPr>
          <p:cNvPr id="126" name="Text 122"/>
          <p:cNvSpPr txBox="1"/>
          <p:nvPr/>
        </p:nvSpPr>
        <p:spPr>
          <a:xfrm>
            <a:off x="11009376" y="1892808"/>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量産</a:t>
            </a:r>
            <a:endParaRPr lang="en-US" sz="1000" dirty="0"/>
          </a:p>
        </p:txBody>
      </p:sp>
      <p:sp>
        <p:nvSpPr>
          <p:cNvPr id="127" name="Text 123"/>
          <p:cNvSpPr txBox="1"/>
          <p:nvPr/>
        </p:nvSpPr>
        <p:spPr>
          <a:xfrm>
            <a:off x="6858000" y="2258568"/>
            <a:ext cx="4754880" cy="54864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抵抗が低く、層を薄くできる。2024〜26年に導入（報道）。</a:t>
            </a:r>
            <a:endParaRPr lang="en-US" sz="1300" dirty="0"/>
          </a:p>
        </p:txBody>
      </p:sp>
      <p:sp>
        <p:nvSpPr>
          <p:cNvPr id="128" name="Shape 124"/>
          <p:cNvSpPr/>
          <p:nvPr/>
        </p:nvSpPr>
        <p:spPr>
          <a:xfrm>
            <a:off x="6263640" y="2926080"/>
            <a:ext cx="457200" cy="457200"/>
          </a:xfrm>
          <a:prstGeom prst="ellipse">
            <a:avLst/>
          </a:prstGeom>
          <a:solidFill>
            <a:srgbClr val="7B5EA7"/>
          </a:solidFill>
          <a:ln/>
        </p:spPr>
      </p:sp>
      <p:pic>
        <p:nvPicPr>
          <p:cNvPr id="129" name="Image 2" descr="preencoded.png">    </p:cNvPr>
          <p:cNvPicPr>
            <a:picLocks noChangeAspect="1"/>
          </p:cNvPicPr>
          <p:nvPr/>
        </p:nvPicPr>
        <p:blipFill>
          <a:blip r:embed="rId3"/>
          <a:stretch>
            <a:fillRect/>
          </a:stretch>
        </p:blipFill>
        <p:spPr>
          <a:xfrm>
            <a:off x="6377940" y="3040380"/>
            <a:ext cx="228600" cy="228600"/>
          </a:xfrm>
          <a:prstGeom prst="rect">
            <a:avLst/>
          </a:prstGeom>
        </p:spPr>
      </p:pic>
      <p:sp>
        <p:nvSpPr>
          <p:cNvPr id="130" name="Text 125"/>
          <p:cNvSpPr txBox="1"/>
          <p:nvPr/>
        </p:nvSpPr>
        <p:spPr>
          <a:xfrm>
            <a:off x="6858000" y="2880360"/>
            <a:ext cx="2743200" cy="457200"/>
          </a:xfrm>
          <a:prstGeom prst="rect">
            <a:avLst/>
          </a:prstGeom>
          <a:noFill/>
          <a:ln/>
        </p:spPr>
        <p:txBody>
          <a:bodyPr wrap="square" lIns="0" tIns="0" rIns="0" bIns="0" rtlCol="0" anchor="ctr"/>
          <a:lstStyle/>
          <a:p>
            <a:pPr indent="0" marL="0">
              <a:buNone/>
            </a:pPr>
            <a:r>
              <a:rPr lang="en-US" sz="1600" b="1" dirty="0">
                <a:solidFill>
                  <a:srgbClr val="1C2430"/>
                </a:solidFill>
                <a:latin typeface="Arial" pitchFamily="34" charset="0"/>
                <a:ea typeface="Yu Gothic"/>
                <a:cs typeface="Arial" pitchFamily="34" charset="-120"/>
              </a:rPr>
              <a:t>極低温エッチ</a:t>
            </a:r>
            <a:endParaRPr lang="en-US" sz="1600" dirty="0"/>
          </a:p>
        </p:txBody>
      </p:sp>
      <p:sp>
        <p:nvSpPr>
          <p:cNvPr id="131" name="Shape 126"/>
          <p:cNvSpPr/>
          <p:nvPr/>
        </p:nvSpPr>
        <p:spPr>
          <a:xfrm>
            <a:off x="9692640" y="2990088"/>
            <a:ext cx="603504" cy="237744"/>
          </a:xfrm>
          <a:prstGeom prst="roundRect">
            <a:avLst>
              <a:gd name="adj" fmla="val 19231"/>
            </a:avLst>
          </a:prstGeom>
          <a:solidFill>
            <a:srgbClr val="ED7D31"/>
          </a:solidFill>
          <a:ln/>
        </p:spPr>
      </p:sp>
      <p:sp>
        <p:nvSpPr>
          <p:cNvPr id="132" name="Text 127"/>
          <p:cNvSpPr txBox="1"/>
          <p:nvPr/>
        </p:nvSpPr>
        <p:spPr>
          <a:xfrm>
            <a:off x="9692640" y="2990088"/>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研究</a:t>
            </a:r>
            <a:endParaRPr lang="en-US" sz="1000" dirty="0"/>
          </a:p>
        </p:txBody>
      </p:sp>
      <p:sp>
        <p:nvSpPr>
          <p:cNvPr id="133" name="Shape 128"/>
          <p:cNvSpPr/>
          <p:nvPr/>
        </p:nvSpPr>
        <p:spPr>
          <a:xfrm>
            <a:off x="10351008" y="2990088"/>
            <a:ext cx="603504" cy="237744"/>
          </a:xfrm>
          <a:prstGeom prst="roundRect">
            <a:avLst>
              <a:gd name="adj" fmla="val 19231"/>
            </a:avLst>
          </a:prstGeom>
          <a:solidFill>
            <a:srgbClr val="ED7D31"/>
          </a:solidFill>
          <a:ln/>
        </p:spPr>
      </p:sp>
      <p:sp>
        <p:nvSpPr>
          <p:cNvPr id="134" name="Text 129"/>
          <p:cNvSpPr txBox="1"/>
          <p:nvPr/>
        </p:nvSpPr>
        <p:spPr>
          <a:xfrm>
            <a:off x="10351008" y="2990088"/>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試作</a:t>
            </a:r>
            <a:endParaRPr lang="en-US" sz="1000" dirty="0"/>
          </a:p>
        </p:txBody>
      </p:sp>
      <p:sp>
        <p:nvSpPr>
          <p:cNvPr id="135" name="Shape 130"/>
          <p:cNvSpPr/>
          <p:nvPr/>
        </p:nvSpPr>
        <p:spPr>
          <a:xfrm>
            <a:off x="11009376" y="2990088"/>
            <a:ext cx="603504" cy="237744"/>
          </a:xfrm>
          <a:prstGeom prst="roundRect">
            <a:avLst>
              <a:gd name="adj" fmla="val 19231"/>
            </a:avLst>
          </a:prstGeom>
          <a:solidFill>
            <a:srgbClr val="ED7D31"/>
          </a:solidFill>
          <a:ln/>
        </p:spPr>
      </p:sp>
      <p:sp>
        <p:nvSpPr>
          <p:cNvPr id="136" name="Text 131"/>
          <p:cNvSpPr txBox="1"/>
          <p:nvPr/>
        </p:nvSpPr>
        <p:spPr>
          <a:xfrm>
            <a:off x="11009376" y="2990088"/>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量産</a:t>
            </a:r>
            <a:endParaRPr lang="en-US" sz="1000" dirty="0"/>
          </a:p>
        </p:txBody>
      </p:sp>
      <p:sp>
        <p:nvSpPr>
          <p:cNvPr id="137" name="Text 132"/>
          <p:cNvSpPr txBox="1"/>
          <p:nvPr/>
        </p:nvSpPr>
        <p:spPr>
          <a:xfrm>
            <a:off x="6858000" y="3355848"/>
            <a:ext cx="4754880" cy="54864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ウェハを冷やし、深い穴を速くまっすぐ開ける。装置は量産で稼働。</a:t>
            </a:r>
            <a:endParaRPr lang="en-US" sz="1300" dirty="0"/>
          </a:p>
        </p:txBody>
      </p:sp>
      <p:sp>
        <p:nvSpPr>
          <p:cNvPr id="138" name="Shape 133"/>
          <p:cNvSpPr/>
          <p:nvPr/>
        </p:nvSpPr>
        <p:spPr>
          <a:xfrm>
            <a:off x="6263640" y="4023360"/>
            <a:ext cx="457200" cy="457200"/>
          </a:xfrm>
          <a:prstGeom prst="ellipse">
            <a:avLst/>
          </a:prstGeom>
          <a:solidFill>
            <a:srgbClr val="7B5EA7"/>
          </a:solidFill>
          <a:ln/>
        </p:spPr>
      </p:sp>
      <p:pic>
        <p:nvPicPr>
          <p:cNvPr id="139" name="Image 3" descr="preencoded.png">    </p:cNvPr>
          <p:cNvPicPr>
            <a:picLocks noChangeAspect="1"/>
          </p:cNvPicPr>
          <p:nvPr/>
        </p:nvPicPr>
        <p:blipFill>
          <a:blip r:embed="rId4"/>
          <a:stretch>
            <a:fillRect/>
          </a:stretch>
        </p:blipFill>
        <p:spPr>
          <a:xfrm>
            <a:off x="6377940" y="4137660"/>
            <a:ext cx="228600" cy="228600"/>
          </a:xfrm>
          <a:prstGeom prst="rect">
            <a:avLst/>
          </a:prstGeom>
        </p:spPr>
      </p:pic>
      <p:sp>
        <p:nvSpPr>
          <p:cNvPr id="140" name="Text 134"/>
          <p:cNvSpPr txBox="1"/>
          <p:nvPr/>
        </p:nvSpPr>
        <p:spPr>
          <a:xfrm>
            <a:off x="6858000" y="3977640"/>
            <a:ext cx="2743200" cy="457200"/>
          </a:xfrm>
          <a:prstGeom prst="rect">
            <a:avLst/>
          </a:prstGeom>
          <a:noFill/>
          <a:ln/>
        </p:spPr>
        <p:txBody>
          <a:bodyPr wrap="square" lIns="0" tIns="0" rIns="0" bIns="0" rtlCol="0" anchor="ctr"/>
          <a:lstStyle/>
          <a:p>
            <a:pPr indent="0" marL="0">
              <a:buNone/>
            </a:pPr>
            <a:r>
              <a:rPr lang="en-US" sz="1600" b="1" dirty="0">
                <a:solidFill>
                  <a:srgbClr val="1C2430"/>
                </a:solidFill>
                <a:latin typeface="Arial" pitchFamily="34" charset="0"/>
                <a:ea typeface="Yu Gothic"/>
                <a:cs typeface="Arial" pitchFamily="34" charset="-120"/>
              </a:rPr>
              <a:t>PLC（1セル5ビット）</a:t>
            </a:r>
            <a:endParaRPr lang="en-US" sz="1600" dirty="0"/>
          </a:p>
        </p:txBody>
      </p:sp>
      <p:sp>
        <p:nvSpPr>
          <p:cNvPr id="141" name="Shape 135"/>
          <p:cNvSpPr/>
          <p:nvPr/>
        </p:nvSpPr>
        <p:spPr>
          <a:xfrm>
            <a:off x="9692640" y="4087368"/>
            <a:ext cx="603504" cy="237744"/>
          </a:xfrm>
          <a:prstGeom prst="roundRect">
            <a:avLst>
              <a:gd name="adj" fmla="val 19231"/>
            </a:avLst>
          </a:prstGeom>
          <a:solidFill>
            <a:srgbClr val="ED7D31"/>
          </a:solidFill>
          <a:ln/>
        </p:spPr>
      </p:sp>
      <p:sp>
        <p:nvSpPr>
          <p:cNvPr id="142" name="Text 136"/>
          <p:cNvSpPr txBox="1"/>
          <p:nvPr/>
        </p:nvSpPr>
        <p:spPr>
          <a:xfrm>
            <a:off x="9692640" y="4087368"/>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研究</a:t>
            </a:r>
            <a:endParaRPr lang="en-US" sz="1000" dirty="0"/>
          </a:p>
        </p:txBody>
      </p:sp>
      <p:sp>
        <p:nvSpPr>
          <p:cNvPr id="143" name="Shape 137"/>
          <p:cNvSpPr/>
          <p:nvPr/>
        </p:nvSpPr>
        <p:spPr>
          <a:xfrm>
            <a:off x="10351008" y="4087368"/>
            <a:ext cx="603504" cy="237744"/>
          </a:xfrm>
          <a:prstGeom prst="roundRect">
            <a:avLst>
              <a:gd name="adj" fmla="val 19231"/>
            </a:avLst>
          </a:prstGeom>
          <a:solidFill>
            <a:srgbClr val="ED7D31"/>
          </a:solidFill>
          <a:ln/>
        </p:spPr>
      </p:sp>
      <p:sp>
        <p:nvSpPr>
          <p:cNvPr id="144" name="Text 138"/>
          <p:cNvSpPr txBox="1"/>
          <p:nvPr/>
        </p:nvSpPr>
        <p:spPr>
          <a:xfrm>
            <a:off x="10351008" y="4087368"/>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試作</a:t>
            </a:r>
            <a:endParaRPr lang="en-US" sz="1000" dirty="0"/>
          </a:p>
        </p:txBody>
      </p:sp>
      <p:sp>
        <p:nvSpPr>
          <p:cNvPr id="145" name="Shape 139"/>
          <p:cNvSpPr/>
          <p:nvPr/>
        </p:nvSpPr>
        <p:spPr>
          <a:xfrm>
            <a:off x="11009376" y="4087368"/>
            <a:ext cx="603504" cy="237744"/>
          </a:xfrm>
          <a:prstGeom prst="roundRect">
            <a:avLst>
              <a:gd name="adj" fmla="val 19231"/>
            </a:avLst>
          </a:prstGeom>
          <a:solidFill>
            <a:srgbClr val="ECEEF1"/>
          </a:solidFill>
          <a:ln/>
        </p:spPr>
      </p:sp>
      <p:sp>
        <p:nvSpPr>
          <p:cNvPr id="146" name="Text 140"/>
          <p:cNvSpPr txBox="1"/>
          <p:nvPr/>
        </p:nvSpPr>
        <p:spPr>
          <a:xfrm>
            <a:off x="11009376" y="4087368"/>
            <a:ext cx="603504" cy="237744"/>
          </a:xfrm>
          <a:prstGeom prst="rect">
            <a:avLst/>
          </a:prstGeom>
          <a:noFill/>
          <a:ln/>
        </p:spPr>
        <p:txBody>
          <a:bodyPr wrap="square" lIns="0" tIns="0" rIns="0" bIns="0" rtlCol="0" anchor="ctr"/>
          <a:lstStyle/>
          <a:p>
            <a:pPr algn="ctr" indent="0" marL="0">
              <a:buNone/>
            </a:pPr>
            <a:r>
              <a:rPr lang="en-US" sz="1000" dirty="0">
                <a:solidFill>
                  <a:srgbClr val="6A7380"/>
                </a:solidFill>
                <a:latin typeface="Arial" pitchFamily="34" charset="0"/>
                <a:ea typeface="Yu Gothic"/>
                <a:cs typeface="Arial" pitchFamily="34" charset="-120"/>
              </a:rPr>
              <a:t>量産</a:t>
            </a:r>
            <a:endParaRPr lang="en-US" sz="1000" dirty="0"/>
          </a:p>
        </p:txBody>
      </p:sp>
      <p:sp>
        <p:nvSpPr>
          <p:cNvPr id="147" name="Text 141"/>
          <p:cNvSpPr txBox="1"/>
          <p:nvPr/>
        </p:nvSpPr>
        <p:spPr>
          <a:xfrm>
            <a:off x="6858000" y="4453128"/>
            <a:ext cx="4754880" cy="54864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32段階を見分ける必要があり、速度と寿命が課題。2022年にデモ。</a:t>
            </a:r>
            <a:endParaRPr lang="en-US" sz="1300" dirty="0"/>
          </a:p>
        </p:txBody>
      </p:sp>
      <p:sp>
        <p:nvSpPr>
          <p:cNvPr id="148" name="Shape 142"/>
          <p:cNvSpPr/>
          <p:nvPr/>
        </p:nvSpPr>
        <p:spPr>
          <a:xfrm>
            <a:off x="6263640" y="5120640"/>
            <a:ext cx="457200" cy="457200"/>
          </a:xfrm>
          <a:prstGeom prst="ellipse">
            <a:avLst/>
          </a:prstGeom>
          <a:solidFill>
            <a:srgbClr val="7B5EA7"/>
          </a:solidFill>
          <a:ln/>
        </p:spPr>
      </p:sp>
      <p:pic>
        <p:nvPicPr>
          <p:cNvPr id="149" name="Image 4" descr="preencoded.png">    </p:cNvPr>
          <p:cNvPicPr>
            <a:picLocks noChangeAspect="1"/>
          </p:cNvPicPr>
          <p:nvPr/>
        </p:nvPicPr>
        <p:blipFill>
          <a:blip r:embed="rId5"/>
          <a:stretch>
            <a:fillRect/>
          </a:stretch>
        </p:blipFill>
        <p:spPr>
          <a:xfrm>
            <a:off x="6377940" y="5234940"/>
            <a:ext cx="228600" cy="228600"/>
          </a:xfrm>
          <a:prstGeom prst="rect">
            <a:avLst/>
          </a:prstGeom>
        </p:spPr>
      </p:pic>
      <p:sp>
        <p:nvSpPr>
          <p:cNvPr id="150" name="Text 143"/>
          <p:cNvSpPr txBox="1"/>
          <p:nvPr/>
        </p:nvSpPr>
        <p:spPr>
          <a:xfrm>
            <a:off x="6858000" y="5074920"/>
            <a:ext cx="2743200" cy="457200"/>
          </a:xfrm>
          <a:prstGeom prst="rect">
            <a:avLst/>
          </a:prstGeom>
          <a:noFill/>
          <a:ln/>
        </p:spPr>
        <p:txBody>
          <a:bodyPr wrap="square" lIns="0" tIns="0" rIns="0" bIns="0" rtlCol="0" anchor="ctr"/>
          <a:lstStyle/>
          <a:p>
            <a:pPr indent="0" marL="0">
              <a:buNone/>
            </a:pPr>
            <a:r>
              <a:rPr lang="en-US" sz="1600" b="1" dirty="0">
                <a:solidFill>
                  <a:srgbClr val="1C2430"/>
                </a:solidFill>
                <a:latin typeface="Arial" pitchFamily="34" charset="0"/>
                <a:ea typeface="Yu Gothic"/>
                <a:cs typeface="Arial" pitchFamily="34" charset="-120"/>
              </a:rPr>
              <a:t>強誘電体NAND</a:t>
            </a:r>
            <a:endParaRPr lang="en-US" sz="1600" dirty="0"/>
          </a:p>
        </p:txBody>
      </p:sp>
      <p:sp>
        <p:nvSpPr>
          <p:cNvPr id="151" name="Shape 144"/>
          <p:cNvSpPr/>
          <p:nvPr/>
        </p:nvSpPr>
        <p:spPr>
          <a:xfrm>
            <a:off x="9692640" y="5184648"/>
            <a:ext cx="603504" cy="237744"/>
          </a:xfrm>
          <a:prstGeom prst="roundRect">
            <a:avLst>
              <a:gd name="adj" fmla="val 19231"/>
            </a:avLst>
          </a:prstGeom>
          <a:solidFill>
            <a:srgbClr val="ED7D31"/>
          </a:solidFill>
          <a:ln/>
        </p:spPr>
      </p:sp>
      <p:sp>
        <p:nvSpPr>
          <p:cNvPr id="152" name="Text 145"/>
          <p:cNvSpPr txBox="1"/>
          <p:nvPr/>
        </p:nvSpPr>
        <p:spPr>
          <a:xfrm>
            <a:off x="9692640" y="5184648"/>
            <a:ext cx="60350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a:cs typeface="Arial" pitchFamily="34" charset="-120"/>
              </a:rPr>
              <a:t>研究</a:t>
            </a:r>
            <a:endParaRPr lang="en-US" sz="1000" dirty="0"/>
          </a:p>
        </p:txBody>
      </p:sp>
      <p:sp>
        <p:nvSpPr>
          <p:cNvPr id="153" name="Shape 146"/>
          <p:cNvSpPr/>
          <p:nvPr/>
        </p:nvSpPr>
        <p:spPr>
          <a:xfrm>
            <a:off x="10351008" y="5184648"/>
            <a:ext cx="603504" cy="237744"/>
          </a:xfrm>
          <a:prstGeom prst="roundRect">
            <a:avLst>
              <a:gd name="adj" fmla="val 19231"/>
            </a:avLst>
          </a:prstGeom>
          <a:solidFill>
            <a:srgbClr val="ECEEF1"/>
          </a:solidFill>
          <a:ln/>
        </p:spPr>
      </p:sp>
      <p:sp>
        <p:nvSpPr>
          <p:cNvPr id="154" name="Text 147"/>
          <p:cNvSpPr txBox="1"/>
          <p:nvPr/>
        </p:nvSpPr>
        <p:spPr>
          <a:xfrm>
            <a:off x="10351008" y="5184648"/>
            <a:ext cx="603504" cy="237744"/>
          </a:xfrm>
          <a:prstGeom prst="rect">
            <a:avLst/>
          </a:prstGeom>
          <a:noFill/>
          <a:ln/>
        </p:spPr>
        <p:txBody>
          <a:bodyPr wrap="square" lIns="0" tIns="0" rIns="0" bIns="0" rtlCol="0" anchor="ctr"/>
          <a:lstStyle/>
          <a:p>
            <a:pPr algn="ctr" indent="0" marL="0">
              <a:buNone/>
            </a:pPr>
            <a:r>
              <a:rPr lang="en-US" sz="1000" dirty="0">
                <a:solidFill>
                  <a:srgbClr val="6A7380"/>
                </a:solidFill>
                <a:latin typeface="Arial" pitchFamily="34" charset="0"/>
                <a:ea typeface="Yu Gothic"/>
                <a:cs typeface="Arial" pitchFamily="34" charset="-120"/>
              </a:rPr>
              <a:t>試作</a:t>
            </a:r>
            <a:endParaRPr lang="en-US" sz="1000" dirty="0"/>
          </a:p>
        </p:txBody>
      </p:sp>
      <p:sp>
        <p:nvSpPr>
          <p:cNvPr id="155" name="Shape 148"/>
          <p:cNvSpPr/>
          <p:nvPr/>
        </p:nvSpPr>
        <p:spPr>
          <a:xfrm>
            <a:off x="11009376" y="5184648"/>
            <a:ext cx="603504" cy="237744"/>
          </a:xfrm>
          <a:prstGeom prst="roundRect">
            <a:avLst>
              <a:gd name="adj" fmla="val 19231"/>
            </a:avLst>
          </a:prstGeom>
          <a:solidFill>
            <a:srgbClr val="ECEEF1"/>
          </a:solidFill>
          <a:ln/>
        </p:spPr>
      </p:sp>
      <p:sp>
        <p:nvSpPr>
          <p:cNvPr id="156" name="Text 149"/>
          <p:cNvSpPr txBox="1"/>
          <p:nvPr/>
        </p:nvSpPr>
        <p:spPr>
          <a:xfrm>
            <a:off x="11009376" y="5184648"/>
            <a:ext cx="603504" cy="237744"/>
          </a:xfrm>
          <a:prstGeom prst="rect">
            <a:avLst/>
          </a:prstGeom>
          <a:noFill/>
          <a:ln/>
        </p:spPr>
        <p:txBody>
          <a:bodyPr wrap="square" lIns="0" tIns="0" rIns="0" bIns="0" rtlCol="0" anchor="ctr"/>
          <a:lstStyle/>
          <a:p>
            <a:pPr algn="ctr" indent="0" marL="0">
              <a:buNone/>
            </a:pPr>
            <a:r>
              <a:rPr lang="en-US" sz="1000" dirty="0">
                <a:solidFill>
                  <a:srgbClr val="6A7380"/>
                </a:solidFill>
                <a:latin typeface="Arial" pitchFamily="34" charset="0"/>
                <a:ea typeface="Yu Gothic"/>
                <a:cs typeface="Arial" pitchFamily="34" charset="-120"/>
              </a:rPr>
              <a:t>量産</a:t>
            </a:r>
            <a:endParaRPr lang="en-US" sz="1000" dirty="0"/>
          </a:p>
        </p:txBody>
      </p:sp>
      <p:sp>
        <p:nvSpPr>
          <p:cNvPr id="157" name="Text 150"/>
          <p:cNvSpPr txBox="1"/>
          <p:nvPr/>
        </p:nvSpPr>
        <p:spPr>
          <a:xfrm>
            <a:off x="6858000" y="5550408"/>
            <a:ext cx="4754880" cy="54864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低い電圧で書け、電力が大きく減る（Samsungの研究で−96%）。2030年代。</a:t>
            </a:r>
            <a:endParaRPr lang="en-US" sz="1300" dirty="0"/>
          </a:p>
        </p:txBody>
      </p:sp>
      <p:sp>
        <p:nvSpPr>
          <p:cNvPr id="158" name="Text 151"/>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出典：Lam Research、TEL、The Elec、Solidigm、SK hynix（IEDM 2025）、Nature（Samsung 2025）、Blocks &amp; Files</a:t>
            </a:r>
            <a:endParaRPr lang="en-US" sz="950" dirty="0"/>
          </a:p>
        </p:txBody>
      </p:sp>
      <p:sp>
        <p:nvSpPr>
          <p:cNvPr id="159" name="Text 15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5A6472"/>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5A6472"/>
                </a:solidFill>
                <a:latin typeface="Arial" pitchFamily="34" charset="0"/>
                <a:ea typeface="Yu Gothic"/>
                <a:cs typeface="Arial" pitchFamily="34" charset="-120"/>
              </a:rPr>
              <a:t>3分野共通</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予想の根拠：特許から量産まで、改良は約4〜5年、新しい構造は約8〜11年</a:t>
            </a:r>
            <a:endParaRPr lang="en-US" sz="2400" dirty="0"/>
          </a:p>
        </p:txBody>
      </p:sp>
      <p:graphicFrame>
        <p:nvGraphicFramePr>
          <p:cNvPr id="6" name="Chart 0" descr=""/>
          <p:cNvGraphicFramePr/>
          <p:nvPr/>
        </p:nvGraphicFramePr>
        <p:xfrm>
          <a:off x="548640" y="1691640"/>
          <a:ext cx="6766560" cy="452628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7635240" y="1783080"/>
            <a:ext cx="4023360" cy="411480"/>
          </a:xfrm>
          <a:prstGeom prst="rect">
            <a:avLst/>
          </a:prstGeom>
          <a:noFill/>
          <a:ln/>
        </p:spPr>
        <p:txBody>
          <a:bodyPr wrap="square" lIns="0" tIns="0" rIns="0" bIns="0" rtlCol="0" anchor="ctr"/>
          <a:lstStyle/>
          <a:p>
            <a:pPr indent="0" marL="0">
              <a:buNone/>
            </a:pPr>
            <a:r>
              <a:rPr lang="en-US" sz="1800" b="1" dirty="0">
                <a:solidFill>
                  <a:srgbClr val="1C2430"/>
                </a:solidFill>
                <a:latin typeface="Arial" pitchFamily="34" charset="0"/>
                <a:ea typeface="Yu Gothic"/>
                <a:cs typeface="Arial" pitchFamily="34" charset="-120"/>
              </a:rPr>
              <a:t>この目安を当てはめると</a:t>
            </a:r>
            <a:endParaRPr lang="en-US" sz="1800" dirty="0"/>
          </a:p>
        </p:txBody>
      </p:sp>
      <p:sp>
        <p:nvSpPr>
          <p:cNvPr id="8" name="Shape 4"/>
          <p:cNvSpPr/>
          <p:nvPr/>
        </p:nvSpPr>
        <p:spPr>
          <a:xfrm>
            <a:off x="7635240" y="2404872"/>
            <a:ext cx="201168" cy="201168"/>
          </a:xfrm>
          <a:prstGeom prst="ellipse">
            <a:avLst/>
          </a:prstGeom>
          <a:solidFill>
            <a:srgbClr val="2B7A9B"/>
          </a:solidFill>
          <a:ln/>
        </p:spPr>
      </p:sp>
      <p:sp>
        <p:nvSpPr>
          <p:cNvPr id="9" name="Text 5"/>
          <p:cNvSpPr txBox="1"/>
          <p:nvPr/>
        </p:nvSpPr>
        <p:spPr>
          <a:xfrm>
            <a:off x="7955280" y="2331720"/>
            <a:ext cx="3657600" cy="365760"/>
          </a:xfrm>
          <a:prstGeom prst="rect">
            <a:avLst/>
          </a:prstGeom>
          <a:noFill/>
          <a:ln/>
        </p:spPr>
        <p:txBody>
          <a:bodyPr wrap="square" lIns="0" tIns="0" rIns="0" bIns="0" rtlCol="0" anchor="ctr"/>
          <a:lstStyle/>
          <a:p>
            <a:pPr indent="0" marL="0">
              <a:buNone/>
            </a:pPr>
            <a:r>
              <a:rPr lang="en-US" sz="1500" b="1" dirty="0">
                <a:solidFill>
                  <a:srgbClr val="1C2430"/>
                </a:solidFill>
                <a:latin typeface="Arial" pitchFamily="34" charset="0"/>
                <a:ea typeface="Yu Gothic"/>
                <a:cs typeface="Arial" pitchFamily="34" charset="-120"/>
              </a:rPr>
              <a:t>CFET（ロジック）</a:t>
            </a:r>
            <a:endParaRPr lang="en-US" sz="1500" dirty="0"/>
          </a:p>
        </p:txBody>
      </p:sp>
      <p:sp>
        <p:nvSpPr>
          <p:cNvPr id="10" name="Text 6"/>
          <p:cNvSpPr txBox="1"/>
          <p:nvPr/>
        </p:nvSpPr>
        <p:spPr>
          <a:xfrm>
            <a:off x="7955280" y="2697480"/>
            <a:ext cx="3657600" cy="64008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主な出願 2021〜24年 → 量産 2032〜34年（imecの2033年と一致）</a:t>
            </a:r>
            <a:endParaRPr lang="en-US" sz="1300" dirty="0"/>
          </a:p>
        </p:txBody>
      </p:sp>
      <p:sp>
        <p:nvSpPr>
          <p:cNvPr id="11" name="Shape 7"/>
          <p:cNvSpPr/>
          <p:nvPr/>
        </p:nvSpPr>
        <p:spPr>
          <a:xfrm>
            <a:off x="7635240" y="3456432"/>
            <a:ext cx="201168" cy="201168"/>
          </a:xfrm>
          <a:prstGeom prst="ellipse">
            <a:avLst/>
          </a:prstGeom>
          <a:solidFill>
            <a:srgbClr val="3C8D5A"/>
          </a:solidFill>
          <a:ln/>
        </p:spPr>
      </p:sp>
      <p:sp>
        <p:nvSpPr>
          <p:cNvPr id="12" name="Text 8"/>
          <p:cNvSpPr txBox="1"/>
          <p:nvPr/>
        </p:nvSpPr>
        <p:spPr>
          <a:xfrm>
            <a:off x="7955280" y="3383280"/>
            <a:ext cx="3657600" cy="365760"/>
          </a:xfrm>
          <a:prstGeom prst="rect">
            <a:avLst/>
          </a:prstGeom>
          <a:noFill/>
          <a:ln/>
        </p:spPr>
        <p:txBody>
          <a:bodyPr wrap="square" lIns="0" tIns="0" rIns="0" bIns="0" rtlCol="0" anchor="ctr"/>
          <a:lstStyle/>
          <a:p>
            <a:pPr indent="0" marL="0">
              <a:buNone/>
            </a:pPr>
            <a:r>
              <a:rPr lang="en-US" sz="1500" b="1" dirty="0">
                <a:solidFill>
                  <a:srgbClr val="1C2430"/>
                </a:solidFill>
                <a:latin typeface="Arial" pitchFamily="34" charset="0"/>
                <a:ea typeface="Yu Gothic"/>
                <a:cs typeface="Arial" pitchFamily="34" charset="-120"/>
              </a:rPr>
              <a:t>3D DRAM</a:t>
            </a:r>
            <a:endParaRPr lang="en-US" sz="1500" dirty="0"/>
          </a:p>
        </p:txBody>
      </p:sp>
      <p:sp>
        <p:nvSpPr>
          <p:cNvPr id="13" name="Text 9"/>
          <p:cNvSpPr txBox="1"/>
          <p:nvPr/>
        </p:nvSpPr>
        <p:spPr>
          <a:xfrm>
            <a:off x="7955280" y="3749040"/>
            <a:ext cx="3657600" cy="64008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出願 2019〜21年 → 2030〜32年（各社の目標2030年）</a:t>
            </a:r>
            <a:endParaRPr lang="en-US" sz="1300" dirty="0"/>
          </a:p>
        </p:txBody>
      </p:sp>
      <p:sp>
        <p:nvSpPr>
          <p:cNvPr id="14" name="Shape 10"/>
          <p:cNvSpPr/>
          <p:nvPr/>
        </p:nvSpPr>
        <p:spPr>
          <a:xfrm>
            <a:off x="7635240" y="4507992"/>
            <a:ext cx="201168" cy="201168"/>
          </a:xfrm>
          <a:prstGeom prst="ellipse">
            <a:avLst/>
          </a:prstGeom>
          <a:solidFill>
            <a:srgbClr val="7B5EA7"/>
          </a:solidFill>
          <a:ln/>
        </p:spPr>
      </p:sp>
      <p:sp>
        <p:nvSpPr>
          <p:cNvPr id="15" name="Text 11"/>
          <p:cNvSpPr txBox="1"/>
          <p:nvPr/>
        </p:nvSpPr>
        <p:spPr>
          <a:xfrm>
            <a:off x="7955280" y="4434840"/>
            <a:ext cx="3657600" cy="365760"/>
          </a:xfrm>
          <a:prstGeom prst="rect">
            <a:avLst/>
          </a:prstGeom>
          <a:noFill/>
          <a:ln/>
        </p:spPr>
        <p:txBody>
          <a:bodyPr wrap="square" lIns="0" tIns="0" rIns="0" bIns="0" rtlCol="0" anchor="ctr"/>
          <a:lstStyle/>
          <a:p>
            <a:pPr indent="0" marL="0">
              <a:buNone/>
            </a:pPr>
            <a:r>
              <a:rPr lang="en-US" sz="1500" b="1" dirty="0">
                <a:solidFill>
                  <a:srgbClr val="1C2430"/>
                </a:solidFill>
                <a:latin typeface="Arial" pitchFamily="34" charset="0"/>
                <a:ea typeface="Yu Gothic"/>
                <a:cs typeface="Arial" pitchFamily="34" charset="-120"/>
              </a:rPr>
              <a:t>強誘電体NAND</a:t>
            </a:r>
            <a:endParaRPr lang="en-US" sz="1500" dirty="0"/>
          </a:p>
        </p:txBody>
      </p:sp>
      <p:sp>
        <p:nvSpPr>
          <p:cNvPr id="16" name="Text 12"/>
          <p:cNvSpPr txBox="1"/>
          <p:nvPr/>
        </p:nvSpPr>
        <p:spPr>
          <a:xfrm>
            <a:off x="7955280" y="4800600"/>
            <a:ext cx="3657600" cy="640080"/>
          </a:xfrm>
          <a:prstGeom prst="rect">
            <a:avLst/>
          </a:prstGeom>
          <a:noFill/>
          <a:ln/>
        </p:spPr>
        <p:txBody>
          <a:bodyPr wrap="square" lIns="0" tIns="0" rIns="0" bIns="0" rtlCol="0" anchor="t"/>
          <a:lstStyle/>
          <a:p>
            <a:pPr indent="0" marL="0">
              <a:buNone/>
            </a:pPr>
            <a:r>
              <a:rPr lang="en-US" sz="1300" dirty="0">
                <a:solidFill>
                  <a:srgbClr val="333D4A"/>
                </a:solidFill>
                <a:latin typeface="Arial" pitchFamily="34" charset="0"/>
                <a:ea typeface="Yu Gothic"/>
                <a:cs typeface="Arial" pitchFamily="34" charset="-120"/>
              </a:rPr>
              <a:t>2009年の出願から16年以上たっても未量産 → 2031年以降</a:t>
            </a:r>
            <a:endParaRPr lang="en-US" sz="1300" dirty="0"/>
          </a:p>
        </p:txBody>
      </p:sp>
      <p:sp>
        <p:nvSpPr>
          <p:cNvPr id="17" name="Text 13"/>
          <p:cNvSpPr txBox="1"/>
          <p:nvPr/>
        </p:nvSpPr>
        <p:spPr>
          <a:xfrm>
            <a:off x="7635240" y="5486400"/>
            <a:ext cx="4023360" cy="640080"/>
          </a:xfrm>
          <a:prstGeom prst="rect">
            <a:avLst/>
          </a:prstGeom>
          <a:noFill/>
          <a:ln/>
        </p:spPr>
        <p:txBody>
          <a:bodyPr wrap="square" lIns="0" tIns="0" rIns="0" bIns="0" rtlCol="0" anchor="t"/>
          <a:lstStyle/>
          <a:p>
            <a:pPr indent="0" marL="0">
              <a:buNone/>
            </a:pPr>
            <a:r>
              <a:rPr lang="en-US" sz="1250" dirty="0">
                <a:solidFill>
                  <a:srgbClr val="6A7380"/>
                </a:solidFill>
                <a:latin typeface="Arial" pitchFamily="34" charset="0"/>
                <a:ea typeface="Yu Gothic"/>
                <a:cs typeface="Arial" pitchFamily="34" charset="-120"/>
              </a:rPr>
              <a:t>注意：特許は他社をけん制するためにも出されるので、出願＝量産ではない。</a:t>
            </a:r>
            <a:endParaRPr lang="en-US" sz="1250" dirty="0"/>
          </a:p>
        </p:txBody>
      </p:sp>
      <p:sp>
        <p:nvSpPr>
          <p:cNvPr id="18" name="Text 14"/>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出典：Google Patents（各社の特許）、各社の量産発表。年数は中核特許の出願から最初の量産までの目安</a:t>
            </a:r>
            <a:endParaRPr lang="en-US" sz="950" dirty="0"/>
          </a:p>
        </p:txBody>
      </p:sp>
      <p:sp>
        <p:nvSpPr>
          <p:cNvPr id="19" name="Text 15"/>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5A6472"/>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5A6472"/>
                </a:solidFill>
                <a:latin typeface="Arial" pitchFamily="34" charset="0"/>
                <a:ea typeface="Yu Gothic"/>
                <a:cs typeface="Arial" pitchFamily="34" charset="-120"/>
              </a:rPr>
              <a:t>3分野共通</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今後のチェックポイント：計画どおり進むかを確かめる場面</a:t>
            </a:r>
            <a:endParaRPr lang="en-US" sz="2400" dirty="0"/>
          </a:p>
        </p:txBody>
      </p:sp>
      <p:sp>
        <p:nvSpPr>
          <p:cNvPr id="6" name="Shape 3"/>
          <p:cNvSpPr/>
          <p:nvPr/>
        </p:nvSpPr>
        <p:spPr>
          <a:xfrm>
            <a:off x="548640" y="2212848"/>
            <a:ext cx="11094415" cy="0"/>
          </a:xfrm>
          <a:prstGeom prst="line">
            <a:avLst/>
          </a:prstGeom>
          <a:noFill/>
          <a:ln w="19050">
            <a:solidFill>
              <a:srgbClr val="8C96A3"/>
            </a:solidFill>
            <a:prstDash val="solid"/>
          </a:ln>
        </p:spPr>
      </p:sp>
      <p:sp>
        <p:nvSpPr>
          <p:cNvPr id="7" name="Shape 4"/>
          <p:cNvSpPr/>
          <p:nvPr/>
        </p:nvSpPr>
        <p:spPr>
          <a:xfrm>
            <a:off x="1339596" y="2121408"/>
            <a:ext cx="182880" cy="182880"/>
          </a:xfrm>
          <a:prstGeom prst="ellipse">
            <a:avLst/>
          </a:prstGeom>
          <a:solidFill>
            <a:srgbClr val="ED7D31"/>
          </a:solidFill>
          <a:ln/>
        </p:spPr>
      </p:sp>
      <p:sp>
        <p:nvSpPr>
          <p:cNvPr id="8" name="Text 5"/>
          <p:cNvSpPr txBox="1"/>
          <p:nvPr/>
        </p:nvSpPr>
        <p:spPr>
          <a:xfrm>
            <a:off x="548640" y="1691640"/>
            <a:ext cx="1764792" cy="365760"/>
          </a:xfrm>
          <a:prstGeom prst="rect">
            <a:avLst/>
          </a:prstGeom>
          <a:noFill/>
          <a:ln/>
        </p:spPr>
        <p:txBody>
          <a:bodyPr wrap="square" lIns="0" tIns="0" rIns="0" bIns="0" rtlCol="0" anchor="ctr"/>
          <a:lstStyle/>
          <a:p>
            <a:pPr algn="ctr" indent="0" marL="0">
              <a:buNone/>
            </a:pPr>
            <a:r>
              <a:rPr lang="en-US" sz="1800" b="1" dirty="0">
                <a:solidFill>
                  <a:srgbClr val="1C2430"/>
                </a:solidFill>
                <a:latin typeface="Arial" pitchFamily="34" charset="0"/>
                <a:ea typeface="Yu Gothic"/>
                <a:cs typeface="Arial" pitchFamily="34" charset="-120"/>
              </a:rPr>
              <a:t>2026年末</a:t>
            </a:r>
            <a:endParaRPr lang="en-US" sz="1800" dirty="0"/>
          </a:p>
        </p:txBody>
      </p:sp>
      <p:sp>
        <p:nvSpPr>
          <p:cNvPr id="9" name="Shape 6"/>
          <p:cNvSpPr/>
          <p:nvPr/>
        </p:nvSpPr>
        <p:spPr>
          <a:xfrm>
            <a:off x="548640" y="2514600"/>
            <a:ext cx="1764792" cy="822960"/>
          </a:xfrm>
          <a:prstGeom prst="roundRect">
            <a:avLst>
              <a:gd name="adj" fmla="val 8889"/>
            </a:avLst>
          </a:prstGeom>
          <a:solidFill>
            <a:srgbClr val="F3F5F8"/>
          </a:solidFill>
          <a:ln/>
        </p:spPr>
      </p:sp>
      <p:sp>
        <p:nvSpPr>
          <p:cNvPr id="10" name="Shape 7"/>
          <p:cNvSpPr/>
          <p:nvPr/>
        </p:nvSpPr>
        <p:spPr>
          <a:xfrm>
            <a:off x="658368" y="2642616"/>
            <a:ext cx="146304" cy="146304"/>
          </a:xfrm>
          <a:prstGeom prst="ellipse">
            <a:avLst/>
          </a:prstGeom>
          <a:solidFill>
            <a:srgbClr val="2B7A9B"/>
          </a:solidFill>
          <a:ln/>
        </p:spPr>
      </p:sp>
      <p:sp>
        <p:nvSpPr>
          <p:cNvPr id="11" name="Text 8"/>
          <p:cNvSpPr txBox="1"/>
          <p:nvPr/>
        </p:nvSpPr>
        <p:spPr>
          <a:xfrm>
            <a:off x="877824" y="2569464"/>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TSMC N2P・Samsung SF2Pの量産</a:t>
            </a:r>
            <a:endParaRPr lang="en-US" sz="1200" dirty="0"/>
          </a:p>
        </p:txBody>
      </p:sp>
      <p:sp>
        <p:nvSpPr>
          <p:cNvPr id="12" name="Shape 9"/>
          <p:cNvSpPr/>
          <p:nvPr/>
        </p:nvSpPr>
        <p:spPr>
          <a:xfrm>
            <a:off x="548640" y="3447288"/>
            <a:ext cx="1764792" cy="822960"/>
          </a:xfrm>
          <a:prstGeom prst="roundRect">
            <a:avLst>
              <a:gd name="adj" fmla="val 8889"/>
            </a:avLst>
          </a:prstGeom>
          <a:solidFill>
            <a:srgbClr val="F3F5F8"/>
          </a:solidFill>
          <a:ln/>
        </p:spPr>
      </p:sp>
      <p:sp>
        <p:nvSpPr>
          <p:cNvPr id="13" name="Shape 10"/>
          <p:cNvSpPr/>
          <p:nvPr/>
        </p:nvSpPr>
        <p:spPr>
          <a:xfrm>
            <a:off x="658368" y="3575304"/>
            <a:ext cx="146304" cy="146304"/>
          </a:xfrm>
          <a:prstGeom prst="ellipse">
            <a:avLst/>
          </a:prstGeom>
          <a:solidFill>
            <a:srgbClr val="7B5EA7"/>
          </a:solidFill>
          <a:ln/>
        </p:spPr>
      </p:sp>
      <p:sp>
        <p:nvSpPr>
          <p:cNvPr id="14" name="Text 11"/>
          <p:cNvSpPr txBox="1"/>
          <p:nvPr/>
        </p:nvSpPr>
        <p:spPr>
          <a:xfrm>
            <a:off x="877824" y="3502152"/>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SK hynix 375層の量産</a:t>
            </a:r>
            <a:endParaRPr lang="en-US" sz="1200" dirty="0"/>
          </a:p>
        </p:txBody>
      </p:sp>
      <p:sp>
        <p:nvSpPr>
          <p:cNvPr id="15" name="Shape 12"/>
          <p:cNvSpPr/>
          <p:nvPr/>
        </p:nvSpPr>
        <p:spPr>
          <a:xfrm>
            <a:off x="548640" y="4379976"/>
            <a:ext cx="1764792" cy="822960"/>
          </a:xfrm>
          <a:prstGeom prst="roundRect">
            <a:avLst>
              <a:gd name="adj" fmla="val 8889"/>
            </a:avLst>
          </a:prstGeom>
          <a:solidFill>
            <a:srgbClr val="F3F5F8"/>
          </a:solidFill>
          <a:ln/>
        </p:spPr>
      </p:sp>
      <p:sp>
        <p:nvSpPr>
          <p:cNvPr id="16" name="Shape 13"/>
          <p:cNvSpPr/>
          <p:nvPr/>
        </p:nvSpPr>
        <p:spPr>
          <a:xfrm>
            <a:off x="658368" y="4507992"/>
            <a:ext cx="146304" cy="146304"/>
          </a:xfrm>
          <a:prstGeom prst="ellipse">
            <a:avLst/>
          </a:prstGeom>
          <a:solidFill>
            <a:srgbClr val="7B5EA7"/>
          </a:solidFill>
          <a:ln/>
        </p:spPr>
      </p:sp>
      <p:sp>
        <p:nvSpPr>
          <p:cNvPr id="17" name="Text 14"/>
          <p:cNvSpPr txBox="1"/>
          <p:nvPr/>
        </p:nvSpPr>
        <p:spPr>
          <a:xfrm>
            <a:off x="877824" y="4434840"/>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Kioxia BiCS10の量産時期</a:t>
            </a:r>
            <a:endParaRPr lang="en-US" sz="1200" dirty="0"/>
          </a:p>
        </p:txBody>
      </p:sp>
      <p:sp>
        <p:nvSpPr>
          <p:cNvPr id="18" name="Shape 15"/>
          <p:cNvSpPr/>
          <p:nvPr/>
        </p:nvSpPr>
        <p:spPr>
          <a:xfrm>
            <a:off x="3204972" y="2121408"/>
            <a:ext cx="182880" cy="182880"/>
          </a:xfrm>
          <a:prstGeom prst="ellipse">
            <a:avLst/>
          </a:prstGeom>
          <a:solidFill>
            <a:srgbClr val="ED7D31"/>
          </a:solidFill>
          <a:ln/>
        </p:spPr>
      </p:sp>
      <p:sp>
        <p:nvSpPr>
          <p:cNvPr id="19" name="Text 16"/>
          <p:cNvSpPr txBox="1"/>
          <p:nvPr/>
        </p:nvSpPr>
        <p:spPr>
          <a:xfrm>
            <a:off x="2414016" y="1691640"/>
            <a:ext cx="1764792" cy="365760"/>
          </a:xfrm>
          <a:prstGeom prst="rect">
            <a:avLst/>
          </a:prstGeom>
          <a:noFill/>
          <a:ln/>
        </p:spPr>
        <p:txBody>
          <a:bodyPr wrap="square" lIns="0" tIns="0" rIns="0" bIns="0" rtlCol="0" anchor="ctr"/>
          <a:lstStyle/>
          <a:p>
            <a:pPr algn="ctr" indent="0" marL="0">
              <a:buNone/>
            </a:pPr>
            <a:r>
              <a:rPr lang="en-US" sz="1800" b="1" dirty="0">
                <a:solidFill>
                  <a:srgbClr val="1C2430"/>
                </a:solidFill>
                <a:latin typeface="Arial" pitchFamily="34" charset="0"/>
                <a:ea typeface="Yu Gothic"/>
                <a:cs typeface="Arial" pitchFamily="34" charset="-120"/>
              </a:rPr>
              <a:t>2027年</a:t>
            </a:r>
            <a:endParaRPr lang="en-US" sz="1800" dirty="0"/>
          </a:p>
        </p:txBody>
      </p:sp>
      <p:sp>
        <p:nvSpPr>
          <p:cNvPr id="20" name="Shape 17"/>
          <p:cNvSpPr/>
          <p:nvPr/>
        </p:nvSpPr>
        <p:spPr>
          <a:xfrm>
            <a:off x="2414016" y="2514600"/>
            <a:ext cx="1764792" cy="822960"/>
          </a:xfrm>
          <a:prstGeom prst="roundRect">
            <a:avLst>
              <a:gd name="adj" fmla="val 8889"/>
            </a:avLst>
          </a:prstGeom>
          <a:solidFill>
            <a:srgbClr val="F3F5F8"/>
          </a:solidFill>
          <a:ln/>
        </p:spPr>
      </p:sp>
      <p:sp>
        <p:nvSpPr>
          <p:cNvPr id="21" name="Shape 18"/>
          <p:cNvSpPr/>
          <p:nvPr/>
        </p:nvSpPr>
        <p:spPr>
          <a:xfrm>
            <a:off x="2523744" y="2642616"/>
            <a:ext cx="146304" cy="146304"/>
          </a:xfrm>
          <a:prstGeom prst="ellipse">
            <a:avLst/>
          </a:prstGeom>
          <a:solidFill>
            <a:srgbClr val="2B7A9B"/>
          </a:solidFill>
          <a:ln/>
        </p:spPr>
      </p:sp>
      <p:sp>
        <p:nvSpPr>
          <p:cNvPr id="22" name="Text 19"/>
          <p:cNvSpPr txBox="1"/>
          <p:nvPr/>
        </p:nvSpPr>
        <p:spPr>
          <a:xfrm>
            <a:off x="2743200" y="2569464"/>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TSMC A16（裏面電源）の量産</a:t>
            </a:r>
            <a:endParaRPr lang="en-US" sz="1200" dirty="0"/>
          </a:p>
        </p:txBody>
      </p:sp>
      <p:sp>
        <p:nvSpPr>
          <p:cNvPr id="23" name="Shape 20"/>
          <p:cNvSpPr/>
          <p:nvPr/>
        </p:nvSpPr>
        <p:spPr>
          <a:xfrm>
            <a:off x="2414016" y="3447288"/>
            <a:ext cx="1764792" cy="822960"/>
          </a:xfrm>
          <a:prstGeom prst="roundRect">
            <a:avLst>
              <a:gd name="adj" fmla="val 8889"/>
            </a:avLst>
          </a:prstGeom>
          <a:solidFill>
            <a:srgbClr val="F3F5F8"/>
          </a:solidFill>
          <a:ln/>
        </p:spPr>
      </p:sp>
      <p:sp>
        <p:nvSpPr>
          <p:cNvPr id="24" name="Shape 21"/>
          <p:cNvSpPr/>
          <p:nvPr/>
        </p:nvSpPr>
        <p:spPr>
          <a:xfrm>
            <a:off x="2523744" y="3575304"/>
            <a:ext cx="146304" cy="146304"/>
          </a:xfrm>
          <a:prstGeom prst="ellipse">
            <a:avLst/>
          </a:prstGeom>
          <a:solidFill>
            <a:srgbClr val="3C8D5A"/>
          </a:solidFill>
          <a:ln/>
        </p:spPr>
      </p:sp>
      <p:sp>
        <p:nvSpPr>
          <p:cNvPr id="25" name="Text 22"/>
          <p:cNvSpPr txBox="1"/>
          <p:nvPr/>
        </p:nvSpPr>
        <p:spPr>
          <a:xfrm>
            <a:off x="2743200" y="3502152"/>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Samsung・SK hynixの1d</a:t>
            </a:r>
            <a:endParaRPr lang="en-US" sz="1200" dirty="0"/>
          </a:p>
        </p:txBody>
      </p:sp>
      <p:sp>
        <p:nvSpPr>
          <p:cNvPr id="26" name="Shape 23"/>
          <p:cNvSpPr/>
          <p:nvPr/>
        </p:nvSpPr>
        <p:spPr>
          <a:xfrm>
            <a:off x="2414016" y="4379976"/>
            <a:ext cx="1764792" cy="822960"/>
          </a:xfrm>
          <a:prstGeom prst="roundRect">
            <a:avLst>
              <a:gd name="adj" fmla="val 8889"/>
            </a:avLst>
          </a:prstGeom>
          <a:solidFill>
            <a:srgbClr val="F3F5F8"/>
          </a:solidFill>
          <a:ln/>
        </p:spPr>
      </p:sp>
      <p:sp>
        <p:nvSpPr>
          <p:cNvPr id="27" name="Shape 24"/>
          <p:cNvSpPr/>
          <p:nvPr/>
        </p:nvSpPr>
        <p:spPr>
          <a:xfrm>
            <a:off x="2523744" y="4507992"/>
            <a:ext cx="146304" cy="146304"/>
          </a:xfrm>
          <a:prstGeom prst="ellipse">
            <a:avLst/>
          </a:prstGeom>
          <a:solidFill>
            <a:srgbClr val="2B7A9B"/>
          </a:solidFill>
          <a:ln/>
        </p:spPr>
      </p:sp>
      <p:sp>
        <p:nvSpPr>
          <p:cNvPr id="28" name="Text 25"/>
          <p:cNvSpPr txBox="1"/>
          <p:nvPr/>
        </p:nvSpPr>
        <p:spPr>
          <a:xfrm>
            <a:off x="2743200" y="4434840"/>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Rapidus 2nm量産（年度下期）</a:t>
            </a:r>
            <a:endParaRPr lang="en-US" sz="1200" dirty="0"/>
          </a:p>
        </p:txBody>
      </p:sp>
      <p:sp>
        <p:nvSpPr>
          <p:cNvPr id="29" name="Shape 26"/>
          <p:cNvSpPr/>
          <p:nvPr/>
        </p:nvSpPr>
        <p:spPr>
          <a:xfrm>
            <a:off x="5070348" y="2121408"/>
            <a:ext cx="182880" cy="182880"/>
          </a:xfrm>
          <a:prstGeom prst="ellipse">
            <a:avLst/>
          </a:prstGeom>
          <a:solidFill>
            <a:srgbClr val="ED7D31"/>
          </a:solidFill>
          <a:ln/>
        </p:spPr>
      </p:sp>
      <p:sp>
        <p:nvSpPr>
          <p:cNvPr id="30" name="Text 27"/>
          <p:cNvSpPr txBox="1"/>
          <p:nvPr/>
        </p:nvSpPr>
        <p:spPr>
          <a:xfrm>
            <a:off x="4279392" y="1691640"/>
            <a:ext cx="1764792" cy="365760"/>
          </a:xfrm>
          <a:prstGeom prst="rect">
            <a:avLst/>
          </a:prstGeom>
          <a:noFill/>
          <a:ln/>
        </p:spPr>
        <p:txBody>
          <a:bodyPr wrap="square" lIns="0" tIns="0" rIns="0" bIns="0" rtlCol="0" anchor="ctr"/>
          <a:lstStyle/>
          <a:p>
            <a:pPr algn="ctr" indent="0" marL="0">
              <a:buNone/>
            </a:pPr>
            <a:r>
              <a:rPr lang="en-US" sz="1800" b="1" dirty="0">
                <a:solidFill>
                  <a:srgbClr val="1C2430"/>
                </a:solidFill>
                <a:latin typeface="Arial" pitchFamily="34" charset="0"/>
                <a:ea typeface="Yu Gothic"/>
                <a:cs typeface="Arial" pitchFamily="34" charset="-120"/>
              </a:rPr>
              <a:t>2028年</a:t>
            </a:r>
            <a:endParaRPr lang="en-US" sz="1800" dirty="0"/>
          </a:p>
        </p:txBody>
      </p:sp>
      <p:sp>
        <p:nvSpPr>
          <p:cNvPr id="31" name="Shape 28"/>
          <p:cNvSpPr/>
          <p:nvPr/>
        </p:nvSpPr>
        <p:spPr>
          <a:xfrm>
            <a:off x="4279392" y="2514600"/>
            <a:ext cx="1764792" cy="822960"/>
          </a:xfrm>
          <a:prstGeom prst="roundRect">
            <a:avLst>
              <a:gd name="adj" fmla="val 8889"/>
            </a:avLst>
          </a:prstGeom>
          <a:solidFill>
            <a:srgbClr val="F3F5F8"/>
          </a:solidFill>
          <a:ln/>
        </p:spPr>
      </p:sp>
      <p:sp>
        <p:nvSpPr>
          <p:cNvPr id="32" name="Shape 29"/>
          <p:cNvSpPr/>
          <p:nvPr/>
        </p:nvSpPr>
        <p:spPr>
          <a:xfrm>
            <a:off x="4389120" y="2642616"/>
            <a:ext cx="146304" cy="146304"/>
          </a:xfrm>
          <a:prstGeom prst="ellipse">
            <a:avLst/>
          </a:prstGeom>
          <a:solidFill>
            <a:srgbClr val="2B7A9B"/>
          </a:solidFill>
          <a:ln/>
        </p:spPr>
      </p:sp>
      <p:sp>
        <p:nvSpPr>
          <p:cNvPr id="33" name="Text 30"/>
          <p:cNvSpPr txBox="1"/>
          <p:nvPr/>
        </p:nvSpPr>
        <p:spPr>
          <a:xfrm>
            <a:off x="4608576" y="2569464"/>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Intel 14A（High-NA）の量産</a:t>
            </a:r>
            <a:endParaRPr lang="en-US" sz="1200" dirty="0"/>
          </a:p>
        </p:txBody>
      </p:sp>
      <p:sp>
        <p:nvSpPr>
          <p:cNvPr id="34" name="Shape 31"/>
          <p:cNvSpPr/>
          <p:nvPr/>
        </p:nvSpPr>
        <p:spPr>
          <a:xfrm>
            <a:off x="4279392" y="3447288"/>
            <a:ext cx="1764792" cy="822960"/>
          </a:xfrm>
          <a:prstGeom prst="roundRect">
            <a:avLst>
              <a:gd name="adj" fmla="val 8889"/>
            </a:avLst>
          </a:prstGeom>
          <a:solidFill>
            <a:srgbClr val="F3F5F8"/>
          </a:solidFill>
          <a:ln/>
        </p:spPr>
      </p:sp>
      <p:sp>
        <p:nvSpPr>
          <p:cNvPr id="35" name="Shape 32"/>
          <p:cNvSpPr/>
          <p:nvPr/>
        </p:nvSpPr>
        <p:spPr>
          <a:xfrm>
            <a:off x="4389120" y="3575304"/>
            <a:ext cx="146304" cy="146304"/>
          </a:xfrm>
          <a:prstGeom prst="ellipse">
            <a:avLst/>
          </a:prstGeom>
          <a:solidFill>
            <a:srgbClr val="3C8D5A"/>
          </a:solidFill>
          <a:ln/>
        </p:spPr>
      </p:sp>
      <p:sp>
        <p:nvSpPr>
          <p:cNvPr id="36" name="Text 33"/>
          <p:cNvSpPr txBox="1"/>
          <p:nvPr/>
        </p:nvSpPr>
        <p:spPr>
          <a:xfrm>
            <a:off x="4608576" y="3502152"/>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DRAMにHigh-NA EUV</a:t>
            </a:r>
            <a:endParaRPr lang="en-US" sz="1200" dirty="0"/>
          </a:p>
        </p:txBody>
      </p:sp>
      <p:sp>
        <p:nvSpPr>
          <p:cNvPr id="37" name="Shape 34"/>
          <p:cNvSpPr/>
          <p:nvPr/>
        </p:nvSpPr>
        <p:spPr>
          <a:xfrm>
            <a:off x="4279392" y="4379976"/>
            <a:ext cx="1764792" cy="822960"/>
          </a:xfrm>
          <a:prstGeom prst="roundRect">
            <a:avLst>
              <a:gd name="adj" fmla="val 8889"/>
            </a:avLst>
          </a:prstGeom>
          <a:solidFill>
            <a:srgbClr val="F3F5F8"/>
          </a:solidFill>
          <a:ln/>
        </p:spPr>
      </p:sp>
      <p:sp>
        <p:nvSpPr>
          <p:cNvPr id="38" name="Shape 35"/>
          <p:cNvSpPr/>
          <p:nvPr/>
        </p:nvSpPr>
        <p:spPr>
          <a:xfrm>
            <a:off x="4389120" y="4507992"/>
            <a:ext cx="146304" cy="146304"/>
          </a:xfrm>
          <a:prstGeom prst="ellipse">
            <a:avLst/>
          </a:prstGeom>
          <a:solidFill>
            <a:srgbClr val="3C8D5A"/>
          </a:solidFill>
          <a:ln/>
        </p:spPr>
      </p:sp>
      <p:sp>
        <p:nvSpPr>
          <p:cNvPr id="39" name="Text 36"/>
          <p:cNvSpPr txBox="1"/>
          <p:nvPr/>
        </p:nvSpPr>
        <p:spPr>
          <a:xfrm>
            <a:off x="4608576" y="4434840"/>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Samsung 0a（10nm未満）</a:t>
            </a:r>
            <a:endParaRPr lang="en-US" sz="1200" dirty="0"/>
          </a:p>
        </p:txBody>
      </p:sp>
      <p:sp>
        <p:nvSpPr>
          <p:cNvPr id="40" name="Shape 37"/>
          <p:cNvSpPr/>
          <p:nvPr/>
        </p:nvSpPr>
        <p:spPr>
          <a:xfrm>
            <a:off x="6935724" y="2121408"/>
            <a:ext cx="182880" cy="182880"/>
          </a:xfrm>
          <a:prstGeom prst="ellipse">
            <a:avLst/>
          </a:prstGeom>
          <a:solidFill>
            <a:srgbClr val="ED7D31"/>
          </a:solidFill>
          <a:ln/>
        </p:spPr>
      </p:sp>
      <p:sp>
        <p:nvSpPr>
          <p:cNvPr id="41" name="Text 38"/>
          <p:cNvSpPr txBox="1"/>
          <p:nvPr/>
        </p:nvSpPr>
        <p:spPr>
          <a:xfrm>
            <a:off x="6144768" y="1691640"/>
            <a:ext cx="1764792" cy="365760"/>
          </a:xfrm>
          <a:prstGeom prst="rect">
            <a:avLst/>
          </a:prstGeom>
          <a:noFill/>
          <a:ln/>
        </p:spPr>
        <p:txBody>
          <a:bodyPr wrap="square" lIns="0" tIns="0" rIns="0" bIns="0" rtlCol="0" anchor="ctr"/>
          <a:lstStyle/>
          <a:p>
            <a:pPr algn="ctr" indent="0" marL="0">
              <a:buNone/>
            </a:pPr>
            <a:r>
              <a:rPr lang="en-US" sz="1800" b="1" dirty="0">
                <a:solidFill>
                  <a:srgbClr val="1C2430"/>
                </a:solidFill>
                <a:latin typeface="Arial" pitchFamily="34" charset="0"/>
                <a:ea typeface="Yu Gothic"/>
                <a:cs typeface="Arial" pitchFamily="34" charset="-120"/>
              </a:rPr>
              <a:t>2029年</a:t>
            </a:r>
            <a:endParaRPr lang="en-US" sz="1800" dirty="0"/>
          </a:p>
        </p:txBody>
      </p:sp>
      <p:sp>
        <p:nvSpPr>
          <p:cNvPr id="42" name="Shape 39"/>
          <p:cNvSpPr/>
          <p:nvPr/>
        </p:nvSpPr>
        <p:spPr>
          <a:xfrm>
            <a:off x="6144768" y="2514600"/>
            <a:ext cx="1764792" cy="822960"/>
          </a:xfrm>
          <a:prstGeom prst="roundRect">
            <a:avLst>
              <a:gd name="adj" fmla="val 8889"/>
            </a:avLst>
          </a:prstGeom>
          <a:solidFill>
            <a:srgbClr val="F3F5F8"/>
          </a:solidFill>
          <a:ln/>
        </p:spPr>
      </p:sp>
      <p:sp>
        <p:nvSpPr>
          <p:cNvPr id="43" name="Shape 40"/>
          <p:cNvSpPr/>
          <p:nvPr/>
        </p:nvSpPr>
        <p:spPr>
          <a:xfrm>
            <a:off x="6254496" y="2642616"/>
            <a:ext cx="146304" cy="146304"/>
          </a:xfrm>
          <a:prstGeom prst="ellipse">
            <a:avLst/>
          </a:prstGeom>
          <a:solidFill>
            <a:srgbClr val="2B7A9B"/>
          </a:solidFill>
          <a:ln/>
        </p:spPr>
      </p:sp>
      <p:sp>
        <p:nvSpPr>
          <p:cNvPr id="44" name="Text 41"/>
          <p:cNvSpPr txBox="1"/>
          <p:nvPr/>
        </p:nvSpPr>
        <p:spPr>
          <a:xfrm>
            <a:off x="6473952" y="2569464"/>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TSMC A13・A12</a:t>
            </a:r>
            <a:endParaRPr lang="en-US" sz="1200" dirty="0"/>
          </a:p>
        </p:txBody>
      </p:sp>
      <p:sp>
        <p:nvSpPr>
          <p:cNvPr id="45" name="Shape 42"/>
          <p:cNvSpPr/>
          <p:nvPr/>
        </p:nvSpPr>
        <p:spPr>
          <a:xfrm>
            <a:off x="6144768" y="3447288"/>
            <a:ext cx="1764792" cy="822960"/>
          </a:xfrm>
          <a:prstGeom prst="roundRect">
            <a:avLst>
              <a:gd name="adj" fmla="val 8889"/>
            </a:avLst>
          </a:prstGeom>
          <a:solidFill>
            <a:srgbClr val="F3F5F8"/>
          </a:solidFill>
          <a:ln/>
        </p:spPr>
      </p:sp>
      <p:sp>
        <p:nvSpPr>
          <p:cNvPr id="46" name="Shape 43"/>
          <p:cNvSpPr/>
          <p:nvPr/>
        </p:nvSpPr>
        <p:spPr>
          <a:xfrm>
            <a:off x="6254496" y="3575304"/>
            <a:ext cx="146304" cy="146304"/>
          </a:xfrm>
          <a:prstGeom prst="ellipse">
            <a:avLst/>
          </a:prstGeom>
          <a:solidFill>
            <a:srgbClr val="2B7A9B"/>
          </a:solidFill>
          <a:ln/>
        </p:spPr>
      </p:sp>
      <p:sp>
        <p:nvSpPr>
          <p:cNvPr id="47" name="Text 44"/>
          <p:cNvSpPr txBox="1"/>
          <p:nvPr/>
        </p:nvSpPr>
        <p:spPr>
          <a:xfrm>
            <a:off x="6473952" y="3502152"/>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Samsung SF1.4</a:t>
            </a:r>
            <a:endParaRPr lang="en-US" sz="1200" dirty="0"/>
          </a:p>
        </p:txBody>
      </p:sp>
      <p:sp>
        <p:nvSpPr>
          <p:cNvPr id="48" name="Shape 45"/>
          <p:cNvSpPr/>
          <p:nvPr/>
        </p:nvSpPr>
        <p:spPr>
          <a:xfrm>
            <a:off x="6144768" y="4379976"/>
            <a:ext cx="1764792" cy="822960"/>
          </a:xfrm>
          <a:prstGeom prst="roundRect">
            <a:avLst>
              <a:gd name="adj" fmla="val 8889"/>
            </a:avLst>
          </a:prstGeom>
          <a:solidFill>
            <a:srgbClr val="F3F5F8"/>
          </a:solidFill>
          <a:ln/>
        </p:spPr>
      </p:sp>
      <p:sp>
        <p:nvSpPr>
          <p:cNvPr id="49" name="Shape 46"/>
          <p:cNvSpPr/>
          <p:nvPr/>
        </p:nvSpPr>
        <p:spPr>
          <a:xfrm>
            <a:off x="6254496" y="4507992"/>
            <a:ext cx="146304" cy="146304"/>
          </a:xfrm>
          <a:prstGeom prst="ellipse">
            <a:avLst/>
          </a:prstGeom>
          <a:solidFill>
            <a:srgbClr val="2B7A9B"/>
          </a:solidFill>
          <a:ln/>
        </p:spPr>
      </p:sp>
      <p:sp>
        <p:nvSpPr>
          <p:cNvPr id="50" name="Text 47"/>
          <p:cNvSpPr txBox="1"/>
          <p:nvPr/>
        </p:nvSpPr>
        <p:spPr>
          <a:xfrm>
            <a:off x="6473952" y="4434840"/>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Rapidus 1.4nm（報道）</a:t>
            </a:r>
            <a:endParaRPr lang="en-US" sz="1200" dirty="0"/>
          </a:p>
        </p:txBody>
      </p:sp>
      <p:sp>
        <p:nvSpPr>
          <p:cNvPr id="51" name="Shape 48"/>
          <p:cNvSpPr/>
          <p:nvPr/>
        </p:nvSpPr>
        <p:spPr>
          <a:xfrm>
            <a:off x="8801100" y="2121408"/>
            <a:ext cx="182880" cy="182880"/>
          </a:xfrm>
          <a:prstGeom prst="ellipse">
            <a:avLst/>
          </a:prstGeom>
          <a:solidFill>
            <a:srgbClr val="ED7D31"/>
          </a:solidFill>
          <a:ln/>
        </p:spPr>
      </p:sp>
      <p:sp>
        <p:nvSpPr>
          <p:cNvPr id="52" name="Text 49"/>
          <p:cNvSpPr txBox="1"/>
          <p:nvPr/>
        </p:nvSpPr>
        <p:spPr>
          <a:xfrm>
            <a:off x="8010144" y="1691640"/>
            <a:ext cx="1764792" cy="365760"/>
          </a:xfrm>
          <a:prstGeom prst="rect">
            <a:avLst/>
          </a:prstGeom>
          <a:noFill/>
          <a:ln/>
        </p:spPr>
        <p:txBody>
          <a:bodyPr wrap="square" lIns="0" tIns="0" rIns="0" bIns="0" rtlCol="0" anchor="ctr"/>
          <a:lstStyle/>
          <a:p>
            <a:pPr algn="ctr" indent="0" marL="0">
              <a:buNone/>
            </a:pPr>
            <a:r>
              <a:rPr lang="en-US" sz="1800" b="1" dirty="0">
                <a:solidFill>
                  <a:srgbClr val="1C2430"/>
                </a:solidFill>
                <a:latin typeface="Arial" pitchFamily="34" charset="0"/>
                <a:ea typeface="Yu Gothic"/>
                <a:cs typeface="Arial" pitchFamily="34" charset="-120"/>
              </a:rPr>
              <a:t>2030年</a:t>
            </a:r>
            <a:endParaRPr lang="en-US" sz="1800" dirty="0"/>
          </a:p>
        </p:txBody>
      </p:sp>
      <p:sp>
        <p:nvSpPr>
          <p:cNvPr id="53" name="Shape 50"/>
          <p:cNvSpPr/>
          <p:nvPr/>
        </p:nvSpPr>
        <p:spPr>
          <a:xfrm>
            <a:off x="8010144" y="2514600"/>
            <a:ext cx="1764792" cy="822960"/>
          </a:xfrm>
          <a:prstGeom prst="roundRect">
            <a:avLst>
              <a:gd name="adj" fmla="val 8889"/>
            </a:avLst>
          </a:prstGeom>
          <a:solidFill>
            <a:srgbClr val="F3F5F8"/>
          </a:solidFill>
          <a:ln/>
        </p:spPr>
      </p:sp>
      <p:sp>
        <p:nvSpPr>
          <p:cNvPr id="54" name="Shape 51"/>
          <p:cNvSpPr/>
          <p:nvPr/>
        </p:nvSpPr>
        <p:spPr>
          <a:xfrm>
            <a:off x="8119872" y="2642616"/>
            <a:ext cx="146304" cy="146304"/>
          </a:xfrm>
          <a:prstGeom prst="ellipse">
            <a:avLst/>
          </a:prstGeom>
          <a:solidFill>
            <a:srgbClr val="2B7A9B"/>
          </a:solidFill>
          <a:ln/>
        </p:spPr>
      </p:sp>
      <p:sp>
        <p:nvSpPr>
          <p:cNvPr id="55" name="Text 52"/>
          <p:cNvSpPr txBox="1"/>
          <p:nvPr/>
        </p:nvSpPr>
        <p:spPr>
          <a:xfrm>
            <a:off x="8339328" y="2569464"/>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TSMCがHigh-NAを量産に使用</a:t>
            </a:r>
            <a:endParaRPr lang="en-US" sz="1200" dirty="0"/>
          </a:p>
        </p:txBody>
      </p:sp>
      <p:sp>
        <p:nvSpPr>
          <p:cNvPr id="56" name="Shape 53"/>
          <p:cNvSpPr/>
          <p:nvPr/>
        </p:nvSpPr>
        <p:spPr>
          <a:xfrm>
            <a:off x="8010144" y="3447288"/>
            <a:ext cx="1764792" cy="822960"/>
          </a:xfrm>
          <a:prstGeom prst="roundRect">
            <a:avLst>
              <a:gd name="adj" fmla="val 8889"/>
            </a:avLst>
          </a:prstGeom>
          <a:solidFill>
            <a:srgbClr val="F3F5F8"/>
          </a:solidFill>
          <a:ln/>
        </p:spPr>
      </p:sp>
      <p:sp>
        <p:nvSpPr>
          <p:cNvPr id="57" name="Shape 54"/>
          <p:cNvSpPr/>
          <p:nvPr/>
        </p:nvSpPr>
        <p:spPr>
          <a:xfrm>
            <a:off x="8119872" y="3575304"/>
            <a:ext cx="146304" cy="146304"/>
          </a:xfrm>
          <a:prstGeom prst="ellipse">
            <a:avLst/>
          </a:prstGeom>
          <a:solidFill>
            <a:srgbClr val="7B5EA7"/>
          </a:solidFill>
          <a:ln/>
        </p:spPr>
      </p:sp>
      <p:sp>
        <p:nvSpPr>
          <p:cNvPr id="58" name="Text 55"/>
          <p:cNvSpPr txBox="1"/>
          <p:nvPr/>
        </p:nvSpPr>
        <p:spPr>
          <a:xfrm>
            <a:off x="8339328" y="3502152"/>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Samsung 1000層級（目標）</a:t>
            </a:r>
            <a:endParaRPr lang="en-US" sz="1200" dirty="0"/>
          </a:p>
        </p:txBody>
      </p:sp>
      <p:sp>
        <p:nvSpPr>
          <p:cNvPr id="59" name="Shape 56"/>
          <p:cNvSpPr/>
          <p:nvPr/>
        </p:nvSpPr>
        <p:spPr>
          <a:xfrm>
            <a:off x="8010144" y="4379976"/>
            <a:ext cx="1764792" cy="822960"/>
          </a:xfrm>
          <a:prstGeom prst="roundRect">
            <a:avLst>
              <a:gd name="adj" fmla="val 8889"/>
            </a:avLst>
          </a:prstGeom>
          <a:solidFill>
            <a:srgbClr val="F3F5F8"/>
          </a:solidFill>
          <a:ln/>
        </p:spPr>
      </p:sp>
      <p:sp>
        <p:nvSpPr>
          <p:cNvPr id="60" name="Shape 57"/>
          <p:cNvSpPr/>
          <p:nvPr/>
        </p:nvSpPr>
        <p:spPr>
          <a:xfrm>
            <a:off x="8119872" y="4507992"/>
            <a:ext cx="146304" cy="146304"/>
          </a:xfrm>
          <a:prstGeom prst="ellipse">
            <a:avLst/>
          </a:prstGeom>
          <a:solidFill>
            <a:srgbClr val="3C8D5A"/>
          </a:solidFill>
          <a:ln/>
        </p:spPr>
      </p:sp>
      <p:sp>
        <p:nvSpPr>
          <p:cNvPr id="61" name="Text 58"/>
          <p:cNvSpPr txBox="1"/>
          <p:nvPr/>
        </p:nvSpPr>
        <p:spPr>
          <a:xfrm>
            <a:off x="8339328" y="4434840"/>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3D DRAMの各社目標</a:t>
            </a:r>
            <a:endParaRPr lang="en-US" sz="1200" dirty="0"/>
          </a:p>
        </p:txBody>
      </p:sp>
      <p:sp>
        <p:nvSpPr>
          <p:cNvPr id="62" name="Shape 59"/>
          <p:cNvSpPr/>
          <p:nvPr/>
        </p:nvSpPr>
        <p:spPr>
          <a:xfrm>
            <a:off x="10666476" y="2121408"/>
            <a:ext cx="182880" cy="182880"/>
          </a:xfrm>
          <a:prstGeom prst="ellipse">
            <a:avLst/>
          </a:prstGeom>
          <a:solidFill>
            <a:srgbClr val="ED7D31"/>
          </a:solidFill>
          <a:ln/>
        </p:spPr>
      </p:sp>
      <p:sp>
        <p:nvSpPr>
          <p:cNvPr id="63" name="Text 60"/>
          <p:cNvSpPr txBox="1"/>
          <p:nvPr/>
        </p:nvSpPr>
        <p:spPr>
          <a:xfrm>
            <a:off x="9875520" y="1691640"/>
            <a:ext cx="1764792" cy="365760"/>
          </a:xfrm>
          <a:prstGeom prst="rect">
            <a:avLst/>
          </a:prstGeom>
          <a:noFill/>
          <a:ln/>
        </p:spPr>
        <p:txBody>
          <a:bodyPr wrap="square" lIns="0" tIns="0" rIns="0" bIns="0" rtlCol="0" anchor="ctr"/>
          <a:lstStyle/>
          <a:p>
            <a:pPr algn="ctr" indent="0" marL="0">
              <a:buNone/>
            </a:pPr>
            <a:r>
              <a:rPr lang="en-US" sz="1800" b="1" dirty="0">
                <a:solidFill>
                  <a:srgbClr val="1C2430"/>
                </a:solidFill>
                <a:latin typeface="Arial" pitchFamily="34" charset="0"/>
                <a:ea typeface="Yu Gothic"/>
                <a:cs typeface="Arial" pitchFamily="34" charset="-120"/>
              </a:rPr>
              <a:t>2031年</a:t>
            </a:r>
            <a:endParaRPr lang="en-US" sz="1800" dirty="0"/>
          </a:p>
        </p:txBody>
      </p:sp>
      <p:sp>
        <p:nvSpPr>
          <p:cNvPr id="64" name="Shape 61"/>
          <p:cNvSpPr/>
          <p:nvPr/>
        </p:nvSpPr>
        <p:spPr>
          <a:xfrm>
            <a:off x="9875520" y="2514600"/>
            <a:ext cx="1764792" cy="822960"/>
          </a:xfrm>
          <a:prstGeom prst="roundRect">
            <a:avLst>
              <a:gd name="adj" fmla="val 8889"/>
            </a:avLst>
          </a:prstGeom>
          <a:solidFill>
            <a:srgbClr val="F3F5F8"/>
          </a:solidFill>
          <a:ln/>
        </p:spPr>
      </p:sp>
      <p:sp>
        <p:nvSpPr>
          <p:cNvPr id="65" name="Shape 62"/>
          <p:cNvSpPr/>
          <p:nvPr/>
        </p:nvSpPr>
        <p:spPr>
          <a:xfrm>
            <a:off x="9985248" y="2642616"/>
            <a:ext cx="146304" cy="146304"/>
          </a:xfrm>
          <a:prstGeom prst="ellipse">
            <a:avLst/>
          </a:prstGeom>
          <a:solidFill>
            <a:srgbClr val="7B5EA7"/>
          </a:solidFill>
          <a:ln/>
        </p:spPr>
      </p:sp>
      <p:sp>
        <p:nvSpPr>
          <p:cNvPr id="66" name="Text 63"/>
          <p:cNvSpPr txBox="1"/>
          <p:nvPr/>
        </p:nvSpPr>
        <p:spPr>
          <a:xfrm>
            <a:off x="10204704" y="2569464"/>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Kioxia 1000層級（目標）</a:t>
            </a:r>
            <a:endParaRPr lang="en-US" sz="1200" dirty="0"/>
          </a:p>
        </p:txBody>
      </p:sp>
      <p:sp>
        <p:nvSpPr>
          <p:cNvPr id="67" name="Shape 64"/>
          <p:cNvSpPr/>
          <p:nvPr/>
        </p:nvSpPr>
        <p:spPr>
          <a:xfrm>
            <a:off x="9875520" y="3447288"/>
            <a:ext cx="1764792" cy="822960"/>
          </a:xfrm>
          <a:prstGeom prst="roundRect">
            <a:avLst>
              <a:gd name="adj" fmla="val 8889"/>
            </a:avLst>
          </a:prstGeom>
          <a:solidFill>
            <a:srgbClr val="F3F5F8"/>
          </a:solidFill>
          <a:ln/>
        </p:spPr>
      </p:sp>
      <p:sp>
        <p:nvSpPr>
          <p:cNvPr id="68" name="Shape 65"/>
          <p:cNvSpPr/>
          <p:nvPr/>
        </p:nvSpPr>
        <p:spPr>
          <a:xfrm>
            <a:off x="9985248" y="3575304"/>
            <a:ext cx="146304" cy="146304"/>
          </a:xfrm>
          <a:prstGeom prst="ellipse">
            <a:avLst/>
          </a:prstGeom>
          <a:solidFill>
            <a:srgbClr val="2B7A9B"/>
          </a:solidFill>
          <a:ln/>
        </p:spPr>
      </p:sp>
      <p:sp>
        <p:nvSpPr>
          <p:cNvPr id="69" name="Text 66"/>
          <p:cNvSpPr txBox="1"/>
          <p:nvPr/>
        </p:nvSpPr>
        <p:spPr>
          <a:xfrm>
            <a:off x="10204704" y="3502152"/>
            <a:ext cx="1362456" cy="713232"/>
          </a:xfrm>
          <a:prstGeom prst="rect">
            <a:avLst/>
          </a:prstGeom>
          <a:noFill/>
          <a:ln/>
        </p:spPr>
        <p:txBody>
          <a:bodyPr wrap="square" lIns="0" tIns="0" rIns="0" bIns="0" rtlCol="0" anchor="t"/>
          <a:lstStyle/>
          <a:p>
            <a:pPr indent="0" marL="0">
              <a:buNone/>
            </a:pPr>
            <a:r>
              <a:rPr lang="en-US" sz="1200" dirty="0">
                <a:solidFill>
                  <a:srgbClr val="1C2430"/>
                </a:solidFill>
                <a:latin typeface="Arial" pitchFamily="34" charset="0"/>
                <a:ea typeface="Yu Gothic"/>
                <a:cs typeface="Arial" pitchFamily="34" charset="-120"/>
              </a:rPr>
              <a:t>imec A10級（2030〜31年）</a:t>
            </a:r>
            <a:endParaRPr lang="en-US" sz="1200" dirty="0"/>
          </a:p>
        </p:txBody>
      </p:sp>
      <p:sp>
        <p:nvSpPr>
          <p:cNvPr id="70" name="Shape 67"/>
          <p:cNvSpPr/>
          <p:nvPr/>
        </p:nvSpPr>
        <p:spPr>
          <a:xfrm>
            <a:off x="548640" y="5440680"/>
            <a:ext cx="457200" cy="457200"/>
          </a:xfrm>
          <a:prstGeom prst="ellipse">
            <a:avLst/>
          </a:prstGeom>
          <a:solidFill>
            <a:srgbClr val="C55A11"/>
          </a:solidFill>
          <a:ln/>
        </p:spPr>
      </p:sp>
      <p:pic>
        <p:nvPicPr>
          <p:cNvPr id="71" name="Image 1" descr="preencoded.png">    </p:cNvPr>
          <p:cNvPicPr>
            <a:picLocks noChangeAspect="1"/>
          </p:cNvPicPr>
          <p:nvPr/>
        </p:nvPicPr>
        <p:blipFill>
          <a:blip r:embed="rId2"/>
          <a:stretch>
            <a:fillRect/>
          </a:stretch>
        </p:blipFill>
        <p:spPr>
          <a:xfrm>
            <a:off x="662940" y="5554980"/>
            <a:ext cx="228600" cy="228600"/>
          </a:xfrm>
          <a:prstGeom prst="rect">
            <a:avLst/>
          </a:prstGeom>
        </p:spPr>
      </p:pic>
      <p:sp>
        <p:nvSpPr>
          <p:cNvPr id="72" name="Text 68"/>
          <p:cNvSpPr txBox="1"/>
          <p:nvPr/>
        </p:nvSpPr>
        <p:spPr>
          <a:xfrm>
            <a:off x="1115568" y="5440680"/>
            <a:ext cx="2926080" cy="457200"/>
          </a:xfrm>
          <a:prstGeom prst="rect">
            <a:avLst/>
          </a:prstGeom>
          <a:noFill/>
          <a:ln/>
        </p:spPr>
        <p:txBody>
          <a:bodyPr wrap="square" lIns="0" tIns="0" rIns="0" bIns="0" rtlCol="0" anchor="ctr"/>
          <a:lstStyle/>
          <a:p>
            <a:pPr indent="0" marL="0">
              <a:buNone/>
            </a:pPr>
            <a:r>
              <a:rPr lang="en-US" sz="1500" b="1" dirty="0">
                <a:solidFill>
                  <a:srgbClr val="843C0C"/>
                </a:solidFill>
                <a:latin typeface="Arial" pitchFamily="34" charset="0"/>
                <a:ea typeface="Yu Gothic"/>
                <a:cs typeface="Arial" pitchFamily="34" charset="-120"/>
              </a:rPr>
              <a:t>計画が変わりやすい点</a:t>
            </a:r>
            <a:endParaRPr lang="en-US" sz="1500" dirty="0"/>
          </a:p>
        </p:txBody>
      </p:sp>
      <p:sp>
        <p:nvSpPr>
          <p:cNvPr id="73" name="Text 69"/>
          <p:cNvSpPr txBox="1"/>
          <p:nvPr/>
        </p:nvSpPr>
        <p:spPr>
          <a:xfrm>
            <a:off x="1115568" y="5879592"/>
            <a:ext cx="10527487" cy="457200"/>
          </a:xfrm>
          <a:prstGeom prst="rect">
            <a:avLst/>
          </a:prstGeom>
          <a:noFill/>
          <a:ln/>
        </p:spPr>
        <p:txBody>
          <a:bodyPr wrap="square" lIns="0" tIns="0" rIns="0" bIns="0" rtlCol="0" anchor="t"/>
          <a:lstStyle/>
          <a:p>
            <a:pPr indent="0" marL="0">
              <a:buNone/>
            </a:pPr>
            <a:r>
              <a:rPr lang="en-US" sz="1250" dirty="0">
                <a:solidFill>
                  <a:srgbClr val="333D4A"/>
                </a:solidFill>
                <a:latin typeface="Arial" pitchFamily="34" charset="0"/>
                <a:ea typeface="Yu Gothic"/>
                <a:cs typeface="Arial" pitchFamily="34" charset="-120"/>
              </a:rPr>
              <a:t>Samsung DRAM 0aの定義変更（2026年9月）／Intel 14Aは外部顧客しだい／Kioxia BiCS10の量産時期は報道が食い違う／SMIC・Huaweiは計画を公表しない</a:t>
            </a:r>
            <a:endParaRPr lang="en-US" sz="1250" dirty="0"/>
          </a:p>
        </p:txBody>
      </p:sp>
      <p:sp>
        <p:nvSpPr>
          <p:cNvPr id="74" name="Shape 70"/>
          <p:cNvSpPr/>
          <p:nvPr/>
        </p:nvSpPr>
        <p:spPr>
          <a:xfrm>
            <a:off x="8138160" y="5596128"/>
            <a:ext cx="146304" cy="146304"/>
          </a:xfrm>
          <a:prstGeom prst="ellipse">
            <a:avLst/>
          </a:prstGeom>
          <a:solidFill>
            <a:srgbClr val="2B7A9B"/>
          </a:solidFill>
          <a:ln/>
        </p:spPr>
      </p:sp>
      <p:sp>
        <p:nvSpPr>
          <p:cNvPr id="75" name="Text 71"/>
          <p:cNvSpPr txBox="1"/>
          <p:nvPr/>
        </p:nvSpPr>
        <p:spPr>
          <a:xfrm>
            <a:off x="8339328" y="5504688"/>
            <a:ext cx="1097280" cy="329184"/>
          </a:xfrm>
          <a:prstGeom prst="rect">
            <a:avLst/>
          </a:prstGeom>
          <a:noFill/>
          <a:ln/>
        </p:spPr>
        <p:txBody>
          <a:bodyPr wrap="square" lIns="0" tIns="0" rIns="0" bIns="0" rtlCol="0" anchor="ctr"/>
          <a:lstStyle/>
          <a:p>
            <a:pPr indent="0" marL="0">
              <a:buNone/>
            </a:pPr>
            <a:r>
              <a:rPr lang="en-US" sz="1200" dirty="0">
                <a:solidFill>
                  <a:srgbClr val="6A7380"/>
                </a:solidFill>
                <a:latin typeface="Arial" pitchFamily="34" charset="0"/>
                <a:ea typeface="Yu Gothic"/>
                <a:cs typeface="Arial" pitchFamily="34" charset="-120"/>
              </a:rPr>
              <a:t>ロジック</a:t>
            </a:r>
            <a:endParaRPr lang="en-US" sz="1200" dirty="0"/>
          </a:p>
        </p:txBody>
      </p:sp>
      <p:sp>
        <p:nvSpPr>
          <p:cNvPr id="76" name="Shape 72"/>
          <p:cNvSpPr/>
          <p:nvPr/>
        </p:nvSpPr>
        <p:spPr>
          <a:xfrm>
            <a:off x="9509760" y="5596128"/>
            <a:ext cx="146304" cy="146304"/>
          </a:xfrm>
          <a:prstGeom prst="ellipse">
            <a:avLst/>
          </a:prstGeom>
          <a:solidFill>
            <a:srgbClr val="3C8D5A"/>
          </a:solidFill>
          <a:ln/>
        </p:spPr>
      </p:sp>
      <p:sp>
        <p:nvSpPr>
          <p:cNvPr id="77" name="Text 73"/>
          <p:cNvSpPr txBox="1"/>
          <p:nvPr/>
        </p:nvSpPr>
        <p:spPr>
          <a:xfrm>
            <a:off x="9710928" y="5504688"/>
            <a:ext cx="1097280" cy="329184"/>
          </a:xfrm>
          <a:prstGeom prst="rect">
            <a:avLst/>
          </a:prstGeom>
          <a:noFill/>
          <a:ln/>
        </p:spPr>
        <p:txBody>
          <a:bodyPr wrap="square" lIns="0" tIns="0" rIns="0" bIns="0" rtlCol="0" anchor="ctr"/>
          <a:lstStyle/>
          <a:p>
            <a:pPr indent="0" marL="0">
              <a:buNone/>
            </a:pPr>
            <a:r>
              <a:rPr lang="en-US" sz="1200" dirty="0">
                <a:solidFill>
                  <a:srgbClr val="6A7380"/>
                </a:solidFill>
                <a:latin typeface="Arial" pitchFamily="34" charset="0"/>
                <a:ea typeface="Yu Gothic"/>
                <a:cs typeface="Arial" pitchFamily="34" charset="-120"/>
              </a:rPr>
              <a:t>DRAM</a:t>
            </a:r>
            <a:endParaRPr lang="en-US" sz="1200" dirty="0"/>
          </a:p>
        </p:txBody>
      </p:sp>
      <p:sp>
        <p:nvSpPr>
          <p:cNvPr id="78" name="Shape 74"/>
          <p:cNvSpPr/>
          <p:nvPr/>
        </p:nvSpPr>
        <p:spPr>
          <a:xfrm>
            <a:off x="10881360" y="5596128"/>
            <a:ext cx="146304" cy="146304"/>
          </a:xfrm>
          <a:prstGeom prst="ellipse">
            <a:avLst/>
          </a:prstGeom>
          <a:solidFill>
            <a:srgbClr val="7B5EA7"/>
          </a:solidFill>
          <a:ln/>
        </p:spPr>
      </p:sp>
      <p:sp>
        <p:nvSpPr>
          <p:cNvPr id="79" name="Text 75"/>
          <p:cNvSpPr txBox="1"/>
          <p:nvPr/>
        </p:nvSpPr>
        <p:spPr>
          <a:xfrm>
            <a:off x="11082528" y="5504688"/>
            <a:ext cx="1097280" cy="329184"/>
          </a:xfrm>
          <a:prstGeom prst="rect">
            <a:avLst/>
          </a:prstGeom>
          <a:noFill/>
          <a:ln/>
        </p:spPr>
        <p:txBody>
          <a:bodyPr wrap="square" lIns="0" tIns="0" rIns="0" bIns="0" rtlCol="0" anchor="ctr"/>
          <a:lstStyle/>
          <a:p>
            <a:pPr indent="0" marL="0">
              <a:buNone/>
            </a:pPr>
            <a:r>
              <a:rPr lang="en-US" sz="1200" dirty="0">
                <a:solidFill>
                  <a:srgbClr val="6A7380"/>
                </a:solidFill>
                <a:latin typeface="Arial" pitchFamily="34" charset="0"/>
                <a:ea typeface="Yu Gothic"/>
                <a:cs typeface="Arial" pitchFamily="34" charset="-120"/>
              </a:rPr>
              <a:t>NAND</a:t>
            </a:r>
            <a:endParaRPr lang="en-US" sz="1200" dirty="0"/>
          </a:p>
        </p:txBody>
      </p:sp>
      <p:sp>
        <p:nvSpPr>
          <p:cNvPr id="80" name="Text 76"/>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950" dirty="0">
                <a:solidFill>
                  <a:srgbClr val="6A7380"/>
                </a:solidFill>
                <a:latin typeface="Arial" pitchFamily="34" charset="0"/>
                <a:ea typeface="Yu Gothic"/>
                <a:cs typeface="Arial" pitchFamily="34" charset="-120"/>
              </a:rPr>
              <a:t>出典：各社の発表・決算説明、報道（詳細はExcelの根拠シート）</a:t>
            </a:r>
            <a:endParaRPr lang="en-US" sz="950" dirty="0"/>
          </a:p>
        </p:txBody>
      </p:sp>
      <p:sp>
        <p:nvSpPr>
          <p:cNvPr id="81" name="Text 77"/>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C2430"/>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600" b="1" dirty="0">
                <a:solidFill>
                  <a:srgbClr val="F2F1EC"/>
                </a:solidFill>
                <a:latin typeface="Arial" pitchFamily="34" charset="0"/>
                <a:ea typeface="Yu Gothic"/>
                <a:cs typeface="Arial" pitchFamily="34" charset="-120"/>
              </a:rPr>
              <a:t>まとめ</a:t>
            </a:r>
            <a:endParaRPr lang="en-US" sz="3600" dirty="0"/>
          </a:p>
        </p:txBody>
      </p:sp>
      <p:sp>
        <p:nvSpPr>
          <p:cNvPr id="3" name="Shape 1"/>
          <p:cNvSpPr/>
          <p:nvPr/>
        </p:nvSpPr>
        <p:spPr>
          <a:xfrm>
            <a:off x="548640" y="1463040"/>
            <a:ext cx="731520" cy="731520"/>
          </a:xfrm>
          <a:prstGeom prst="ellipse">
            <a:avLst/>
          </a:prstGeom>
          <a:solidFill>
            <a:srgbClr val="2B7A9B"/>
          </a:solidFill>
          <a:ln/>
        </p:spPr>
      </p:sp>
      <p:pic>
        <p:nvPicPr>
          <p:cNvPr id="4" name="Image 0" descr="preencoded.png">    </p:cNvPr>
          <p:cNvPicPr>
            <a:picLocks noChangeAspect="1"/>
          </p:cNvPicPr>
          <p:nvPr/>
        </p:nvPicPr>
        <p:blipFill>
          <a:blip r:embed="rId1"/>
          <a:stretch>
            <a:fillRect/>
          </a:stretch>
        </p:blipFill>
        <p:spPr>
          <a:xfrm>
            <a:off x="731520" y="1645920"/>
            <a:ext cx="365760" cy="365760"/>
          </a:xfrm>
          <a:prstGeom prst="rect">
            <a:avLst/>
          </a:prstGeom>
        </p:spPr>
      </p:pic>
      <p:sp>
        <p:nvSpPr>
          <p:cNvPr id="5" name="Text 2"/>
          <p:cNvSpPr txBox="1"/>
          <p:nvPr/>
        </p:nvSpPr>
        <p:spPr>
          <a:xfrm>
            <a:off x="1463040" y="1463040"/>
            <a:ext cx="1828800" cy="7315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Yu Gothic"/>
                <a:cs typeface="Arial" pitchFamily="34" charset="-120"/>
              </a:rPr>
              <a:t>ロジック</a:t>
            </a:r>
            <a:endParaRPr lang="en-US" sz="2000" dirty="0"/>
          </a:p>
        </p:txBody>
      </p:sp>
      <p:sp>
        <p:nvSpPr>
          <p:cNvPr id="6" name="Text 3"/>
          <p:cNvSpPr txBox="1"/>
          <p:nvPr/>
        </p:nvSpPr>
        <p:spPr>
          <a:xfrm>
            <a:off x="3291840" y="1371600"/>
            <a:ext cx="8351215" cy="914400"/>
          </a:xfrm>
          <a:prstGeom prst="rect">
            <a:avLst/>
          </a:prstGeom>
          <a:noFill/>
          <a:ln/>
        </p:spPr>
        <p:txBody>
          <a:bodyPr wrap="square" lIns="0" tIns="0" rIns="0" bIns="0" rtlCol="0" anchor="ctr"/>
          <a:lstStyle/>
          <a:p>
            <a:pPr indent="0" marL="0">
              <a:buNone/>
            </a:pPr>
            <a:r>
              <a:rPr lang="en-US" sz="1700" dirty="0">
                <a:solidFill>
                  <a:srgbClr val="E6E9ED"/>
                </a:solidFill>
                <a:latin typeface="Arial" pitchFamily="34" charset="0"/>
                <a:ea typeface="Yu Gothic"/>
                <a:cs typeface="Arial" pitchFamily="34" charset="-120"/>
              </a:rPr>
              <a:t>2025年にGAA（2nm）が始まり、2027〜30年は裏面電源とHigh-NA EUV。2033年頃にトランジスタを縦に積むCFETへ。</a:t>
            </a:r>
            <a:endParaRPr lang="en-US" sz="1700" dirty="0"/>
          </a:p>
        </p:txBody>
      </p:sp>
      <p:sp>
        <p:nvSpPr>
          <p:cNvPr id="7" name="Shape 4"/>
          <p:cNvSpPr/>
          <p:nvPr/>
        </p:nvSpPr>
        <p:spPr>
          <a:xfrm>
            <a:off x="548640" y="2651760"/>
            <a:ext cx="731520" cy="731520"/>
          </a:xfrm>
          <a:prstGeom prst="ellipse">
            <a:avLst/>
          </a:prstGeom>
          <a:solidFill>
            <a:srgbClr val="3C8D5A"/>
          </a:solidFill>
          <a:ln/>
        </p:spPr>
      </p:sp>
      <p:pic>
        <p:nvPicPr>
          <p:cNvPr id="8" name="Image 1" descr="preencoded.png">    </p:cNvPr>
          <p:cNvPicPr>
            <a:picLocks noChangeAspect="1"/>
          </p:cNvPicPr>
          <p:nvPr/>
        </p:nvPicPr>
        <p:blipFill>
          <a:blip r:embed="rId2"/>
          <a:stretch>
            <a:fillRect/>
          </a:stretch>
        </p:blipFill>
        <p:spPr>
          <a:xfrm>
            <a:off x="731520" y="2834640"/>
            <a:ext cx="365760" cy="365760"/>
          </a:xfrm>
          <a:prstGeom prst="rect">
            <a:avLst/>
          </a:prstGeom>
        </p:spPr>
      </p:pic>
      <p:sp>
        <p:nvSpPr>
          <p:cNvPr id="9" name="Text 5"/>
          <p:cNvSpPr txBox="1"/>
          <p:nvPr/>
        </p:nvSpPr>
        <p:spPr>
          <a:xfrm>
            <a:off x="1463040" y="2651760"/>
            <a:ext cx="1828800" cy="7315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Yu Gothic"/>
                <a:cs typeface="Arial" pitchFamily="34" charset="-120"/>
              </a:rPr>
              <a:t>DRAM</a:t>
            </a:r>
            <a:endParaRPr lang="en-US" sz="2000" dirty="0"/>
          </a:p>
        </p:txBody>
      </p:sp>
      <p:sp>
        <p:nvSpPr>
          <p:cNvPr id="10" name="Text 6"/>
          <p:cNvSpPr txBox="1"/>
          <p:nvPr/>
        </p:nvSpPr>
        <p:spPr>
          <a:xfrm>
            <a:off x="3291840" y="2560320"/>
            <a:ext cx="8351215" cy="914400"/>
          </a:xfrm>
          <a:prstGeom prst="rect">
            <a:avLst/>
          </a:prstGeom>
          <a:noFill/>
          <a:ln/>
        </p:spPr>
        <p:txBody>
          <a:bodyPr wrap="square" lIns="0" tIns="0" rIns="0" bIns="0" rtlCol="0" anchor="ctr"/>
          <a:lstStyle/>
          <a:p>
            <a:pPr indent="0" marL="0">
              <a:buNone/>
            </a:pPr>
            <a:r>
              <a:rPr lang="en-US" sz="1700" dirty="0">
                <a:solidFill>
                  <a:srgbClr val="E6E9ED"/>
                </a:solidFill>
                <a:latin typeface="Arial" pitchFamily="34" charset="0"/>
                <a:ea typeface="Yu Gothic"/>
                <a:cs typeface="Arial" pitchFamily="34" charset="-120"/>
              </a:rPr>
              <a:t>今のセル（6F²）は1d（2027〜28年）まで。10nm未満は周辺回路の貼り合わせと4F²を経て、2030年代に3D DRAMへ。</a:t>
            </a:r>
            <a:endParaRPr lang="en-US" sz="1700" dirty="0"/>
          </a:p>
        </p:txBody>
      </p:sp>
      <p:sp>
        <p:nvSpPr>
          <p:cNvPr id="11" name="Shape 7"/>
          <p:cNvSpPr/>
          <p:nvPr/>
        </p:nvSpPr>
        <p:spPr>
          <a:xfrm>
            <a:off x="548640" y="3840480"/>
            <a:ext cx="731520" cy="731520"/>
          </a:xfrm>
          <a:prstGeom prst="ellipse">
            <a:avLst/>
          </a:prstGeom>
          <a:solidFill>
            <a:srgbClr val="7B5EA7"/>
          </a:solidFill>
          <a:ln/>
        </p:spPr>
      </p:sp>
      <p:pic>
        <p:nvPicPr>
          <p:cNvPr id="12" name="Image 2" descr="preencoded.png">    </p:cNvPr>
          <p:cNvPicPr>
            <a:picLocks noChangeAspect="1"/>
          </p:cNvPicPr>
          <p:nvPr/>
        </p:nvPicPr>
        <p:blipFill>
          <a:blip r:embed="rId3"/>
          <a:stretch>
            <a:fillRect/>
          </a:stretch>
        </p:blipFill>
        <p:spPr>
          <a:xfrm>
            <a:off x="731520" y="4023360"/>
            <a:ext cx="365760" cy="365760"/>
          </a:xfrm>
          <a:prstGeom prst="rect">
            <a:avLst/>
          </a:prstGeom>
        </p:spPr>
      </p:pic>
      <p:sp>
        <p:nvSpPr>
          <p:cNvPr id="13" name="Text 8"/>
          <p:cNvSpPr txBox="1"/>
          <p:nvPr/>
        </p:nvSpPr>
        <p:spPr>
          <a:xfrm>
            <a:off x="1463040" y="3840480"/>
            <a:ext cx="1828800" cy="7315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Yu Gothic"/>
                <a:cs typeface="Arial" pitchFamily="34" charset="-120"/>
              </a:rPr>
              <a:t>NAND</a:t>
            </a:r>
            <a:endParaRPr lang="en-US" sz="2000" dirty="0"/>
          </a:p>
        </p:txBody>
      </p:sp>
      <p:sp>
        <p:nvSpPr>
          <p:cNvPr id="14" name="Text 9"/>
          <p:cNvSpPr txBox="1"/>
          <p:nvPr/>
        </p:nvSpPr>
        <p:spPr>
          <a:xfrm>
            <a:off x="3291840" y="3749040"/>
            <a:ext cx="8351215" cy="914400"/>
          </a:xfrm>
          <a:prstGeom prst="rect">
            <a:avLst/>
          </a:prstGeom>
          <a:noFill/>
          <a:ln/>
        </p:spPr>
        <p:txBody>
          <a:bodyPr wrap="square" lIns="0" tIns="0" rIns="0" bIns="0" rtlCol="0" anchor="ctr"/>
          <a:lstStyle/>
          <a:p>
            <a:pPr indent="0" marL="0">
              <a:buNone/>
            </a:pPr>
            <a:r>
              <a:rPr lang="en-US" sz="1700" dirty="0">
                <a:solidFill>
                  <a:srgbClr val="E6E9ED"/>
                </a:solidFill>
                <a:latin typeface="Arial" pitchFamily="34" charset="0"/>
                <a:ea typeface="Yu Gothic"/>
                <a:cs typeface="Arial" pitchFamily="34" charset="-120"/>
              </a:rPr>
              <a:t>2026年に400層を超え、周辺回路の貼り合わせが主流に。2030〜31年にセルのウェハを重ねて1000層級へ。</a:t>
            </a:r>
            <a:endParaRPr lang="en-US" sz="1700" dirty="0"/>
          </a:p>
        </p:txBody>
      </p:sp>
      <p:sp>
        <p:nvSpPr>
          <p:cNvPr id="15" name="Text 10"/>
          <p:cNvSpPr txBox="1"/>
          <p:nvPr/>
        </p:nvSpPr>
        <p:spPr>
          <a:xfrm>
            <a:off x="548640" y="5120640"/>
            <a:ext cx="11094415" cy="548640"/>
          </a:xfrm>
          <a:prstGeom prst="rect">
            <a:avLst/>
          </a:prstGeom>
          <a:noFill/>
          <a:ln/>
        </p:spPr>
        <p:txBody>
          <a:bodyPr wrap="square" lIns="0" tIns="0" rIns="0" bIns="0" rtlCol="0" anchor="ctr"/>
          <a:lstStyle/>
          <a:p>
            <a:pPr indent="0" marL="0">
              <a:buNone/>
            </a:pPr>
            <a:r>
              <a:rPr lang="en-US" sz="2200" b="1" dirty="0">
                <a:solidFill>
                  <a:srgbClr val="9FB8D4"/>
                </a:solidFill>
                <a:latin typeface="Arial" pitchFamily="34" charset="0"/>
                <a:ea typeface="Yu Gothic"/>
                <a:cs typeface="Arial" pitchFamily="34" charset="-120"/>
              </a:rPr>
              <a:t>共通点：平面で縮める時代から、縦に積み・貼り合わせる時代へ。</a:t>
            </a:r>
            <a:endParaRPr lang="en-US" sz="2200" dirty="0"/>
          </a:p>
        </p:txBody>
      </p:sp>
      <p:sp>
        <p:nvSpPr>
          <p:cNvPr id="16" name="Text 11"/>
          <p:cNvSpPr txBox="1"/>
          <p:nvPr/>
        </p:nvSpPr>
        <p:spPr>
          <a:xfrm>
            <a:off x="548640" y="5989320"/>
            <a:ext cx="11094415" cy="365760"/>
          </a:xfrm>
          <a:prstGeom prst="rect">
            <a:avLst/>
          </a:prstGeom>
          <a:noFill/>
          <a:ln/>
        </p:spPr>
        <p:txBody>
          <a:bodyPr wrap="square" lIns="0" tIns="0" rIns="0" bIns="0" rtlCol="0" anchor="ctr"/>
          <a:lstStyle/>
          <a:p>
            <a:pPr indent="0" marL="0">
              <a:buNone/>
            </a:pPr>
            <a:r>
              <a:rPr lang="en-US" sz="1300" dirty="0">
                <a:solidFill>
                  <a:srgbClr val="C9D0D8"/>
                </a:solidFill>
                <a:latin typeface="Arial" pitchFamily="34" charset="0"/>
                <a:ea typeface="Yu Gothic"/>
                <a:cs typeface="Arial" pitchFamily="34" charset="-120"/>
              </a:rPr>
              <a:t>根拠の詳細：Excelのロードマップ（ロジック・DRAM・NAND）と参考文献URL一覧</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65760" cy="365760"/>
          </a:xfrm>
          <a:prstGeom prst="ellipse">
            <a:avLst/>
          </a:prstGeom>
          <a:solidFill>
            <a:srgbClr val="5A6472"/>
          </a:solidFill>
          <a:ln/>
        </p:spPr>
      </p:sp>
      <p:pic>
        <p:nvPicPr>
          <p:cNvPr id="3" name="Image 0" descr="preencoded.png">    </p:cNvPr>
          <p:cNvPicPr>
            <a:picLocks noChangeAspect="1"/>
          </p:cNvPicPr>
          <p:nvPr/>
        </p:nvPicPr>
        <p:blipFill>
          <a:blip r:embed="rId1"/>
          <a:stretch>
            <a:fillRect/>
          </a:stretch>
        </p:blipFill>
        <p:spPr>
          <a:xfrm>
            <a:off x="640080" y="384048"/>
            <a:ext cx="182880" cy="182880"/>
          </a:xfrm>
          <a:prstGeom prst="rect">
            <a:avLst/>
          </a:prstGeom>
        </p:spPr>
      </p:pic>
      <p:sp>
        <p:nvSpPr>
          <p:cNvPr id="4" name="Text 1"/>
          <p:cNvSpPr txBox="1"/>
          <p:nvPr/>
        </p:nvSpPr>
        <p:spPr>
          <a:xfrm>
            <a:off x="1024128" y="292608"/>
            <a:ext cx="2743200" cy="365760"/>
          </a:xfrm>
          <a:prstGeom prst="rect">
            <a:avLst/>
          </a:prstGeom>
          <a:noFill/>
          <a:ln/>
        </p:spPr>
        <p:txBody>
          <a:bodyPr wrap="square" lIns="0" tIns="0" rIns="0" bIns="0" rtlCol="0" anchor="ctr"/>
          <a:lstStyle/>
          <a:p>
            <a:pPr indent="0" marL="0">
              <a:buNone/>
            </a:pPr>
            <a:r>
              <a:rPr lang="en-US" sz="1400" b="1" dirty="0">
                <a:solidFill>
                  <a:srgbClr val="5A6472"/>
                </a:solidFill>
                <a:latin typeface="Arial" pitchFamily="34" charset="0"/>
                <a:ea typeface="Yu Gothic"/>
                <a:cs typeface="Arial" pitchFamily="34" charset="-120"/>
              </a:rPr>
              <a:t>3分野共通</a:t>
            </a:r>
            <a:endParaRPr lang="en-US" sz="1400" dirty="0"/>
          </a:p>
        </p:txBody>
      </p:sp>
      <p:sp>
        <p:nvSpPr>
          <p:cNvPr id="5" name="Text 2"/>
          <p:cNvSpPr txBox="1"/>
          <p:nvPr/>
        </p:nvSpPr>
        <p:spPr>
          <a:xfrm>
            <a:off x="548640" y="713232"/>
            <a:ext cx="11094415" cy="914400"/>
          </a:xfrm>
          <a:prstGeom prst="rect">
            <a:avLst/>
          </a:prstGeom>
          <a:noFill/>
          <a:ln/>
        </p:spPr>
        <p:txBody>
          <a:bodyPr wrap="square" lIns="0" tIns="0" rIns="0" bIns="0" rtlCol="0" anchor="ctr"/>
          <a:lstStyle/>
          <a:p>
            <a:pPr indent="0" marL="0">
              <a:buNone/>
            </a:pPr>
            <a:r>
              <a:rPr lang="en-US" sz="2400" b="1" dirty="0">
                <a:solidFill>
                  <a:srgbClr val="1C2430"/>
                </a:solidFill>
                <a:latin typeface="Arial" pitchFamily="34" charset="0"/>
                <a:ea typeface="Yu Gothic"/>
                <a:cs typeface="Arial" pitchFamily="34" charset="-120"/>
              </a:rPr>
              <a:t>主な出典</a:t>
            </a:r>
            <a:endParaRPr lang="en-US" sz="2400" dirty="0"/>
          </a:p>
        </p:txBody>
      </p:sp>
      <p:sp>
        <p:nvSpPr>
          <p:cNvPr id="6" name="Shape 3"/>
          <p:cNvSpPr/>
          <p:nvPr/>
        </p:nvSpPr>
        <p:spPr>
          <a:xfrm>
            <a:off x="548640" y="1810512"/>
            <a:ext cx="182880" cy="182880"/>
          </a:xfrm>
          <a:prstGeom prst="ellipse">
            <a:avLst/>
          </a:prstGeom>
          <a:solidFill>
            <a:srgbClr val="2B7A9B"/>
          </a:solidFill>
          <a:ln/>
        </p:spPr>
      </p:sp>
      <p:sp>
        <p:nvSpPr>
          <p:cNvPr id="7" name="Text 4"/>
          <p:cNvSpPr txBox="1"/>
          <p:nvPr/>
        </p:nvSpPr>
        <p:spPr>
          <a:xfrm>
            <a:off x="841248" y="1737360"/>
            <a:ext cx="5029200" cy="329184"/>
          </a:xfrm>
          <a:prstGeom prst="rect">
            <a:avLst/>
          </a:prstGeom>
          <a:noFill/>
          <a:ln/>
        </p:spPr>
        <p:txBody>
          <a:bodyPr wrap="square" lIns="0" tIns="0" rIns="0" bIns="0" rtlCol="0" anchor="ctr"/>
          <a:lstStyle/>
          <a:p>
            <a:pPr indent="0" marL="0">
              <a:buNone/>
            </a:pPr>
            <a:r>
              <a:rPr lang="en-US" sz="1500" b="1" dirty="0">
                <a:solidFill>
                  <a:srgbClr val="1C2430"/>
                </a:solidFill>
                <a:latin typeface="Arial" pitchFamily="34" charset="0"/>
                <a:ea typeface="Yu Gothic"/>
                <a:cs typeface="Arial" pitchFamily="34" charset="-120"/>
              </a:rPr>
              <a:t>ロジック</a:t>
            </a:r>
            <a:endParaRPr lang="en-US" sz="1500" dirty="0"/>
          </a:p>
        </p:txBody>
      </p:sp>
      <p:sp>
        <p:nvSpPr>
          <p:cNvPr id="8" name="Text 5"/>
          <p:cNvSpPr txBox="1"/>
          <p:nvPr/>
        </p:nvSpPr>
        <p:spPr>
          <a:xfrm>
            <a:off x="640080" y="2121408"/>
            <a:ext cx="5212080" cy="142646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TSMC：2026 Technology Symposium（2026年4月）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TSMC・ASML：High-NA EUVの共同発表（2026年9月）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The Elec：Samsung SAFE Forum 2026（2026年7月）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Intel：2026年2Q決算説明（2026年7月）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Tom's Hardware：imec 2026年版ロードマップ（2026年6月）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TechInsights：SMIC N+3の解析（2025年12月）</a:t>
            </a:r>
            <a:endParaRPr lang="en-US" sz="1250" dirty="0"/>
          </a:p>
        </p:txBody>
      </p:sp>
      <p:sp>
        <p:nvSpPr>
          <p:cNvPr id="9" name="Shape 6"/>
          <p:cNvSpPr/>
          <p:nvPr/>
        </p:nvSpPr>
        <p:spPr>
          <a:xfrm>
            <a:off x="548640" y="3895344"/>
            <a:ext cx="182880" cy="182880"/>
          </a:xfrm>
          <a:prstGeom prst="ellipse">
            <a:avLst/>
          </a:prstGeom>
          <a:solidFill>
            <a:srgbClr val="3C8D5A"/>
          </a:solidFill>
          <a:ln/>
        </p:spPr>
      </p:sp>
      <p:sp>
        <p:nvSpPr>
          <p:cNvPr id="10" name="Text 7"/>
          <p:cNvSpPr txBox="1"/>
          <p:nvPr/>
        </p:nvSpPr>
        <p:spPr>
          <a:xfrm>
            <a:off x="841248" y="3822192"/>
            <a:ext cx="5029200" cy="329184"/>
          </a:xfrm>
          <a:prstGeom prst="rect">
            <a:avLst/>
          </a:prstGeom>
          <a:noFill/>
          <a:ln/>
        </p:spPr>
        <p:txBody>
          <a:bodyPr wrap="square" lIns="0" tIns="0" rIns="0" bIns="0" rtlCol="0" anchor="ctr"/>
          <a:lstStyle/>
          <a:p>
            <a:pPr indent="0" marL="0">
              <a:buNone/>
            </a:pPr>
            <a:r>
              <a:rPr lang="en-US" sz="1500" b="1" dirty="0">
                <a:solidFill>
                  <a:srgbClr val="1C2430"/>
                </a:solidFill>
                <a:latin typeface="Arial" pitchFamily="34" charset="0"/>
                <a:ea typeface="Yu Gothic"/>
                <a:cs typeface="Arial" pitchFamily="34" charset="-120"/>
              </a:rPr>
              <a:t>DRAM</a:t>
            </a:r>
            <a:endParaRPr lang="en-US" sz="1500" dirty="0"/>
          </a:p>
        </p:txBody>
      </p:sp>
      <p:sp>
        <p:nvSpPr>
          <p:cNvPr id="11" name="Text 8"/>
          <p:cNvSpPr txBox="1"/>
          <p:nvPr/>
        </p:nvSpPr>
        <p:spPr>
          <a:xfrm>
            <a:off x="640080" y="4206240"/>
            <a:ext cx="5212080" cy="11887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TrendForce：Samsung 10a（4F²・VCT）（2026年4月）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ZDNet Korea：Samsung D0aの再定義（2026年9月）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SK hynix：VLSI 2025の技術ロードマップ</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Micron：FQ2 2026決算説明（2026年3月）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TechNode：CXMT G5の量産（2026年9月）</a:t>
            </a:r>
            <a:endParaRPr lang="en-US" sz="1250" dirty="0"/>
          </a:p>
        </p:txBody>
      </p:sp>
      <p:sp>
        <p:nvSpPr>
          <p:cNvPr id="12" name="Shape 9"/>
          <p:cNvSpPr/>
          <p:nvPr/>
        </p:nvSpPr>
        <p:spPr>
          <a:xfrm>
            <a:off x="6190488" y="1810512"/>
            <a:ext cx="182880" cy="182880"/>
          </a:xfrm>
          <a:prstGeom prst="ellipse">
            <a:avLst/>
          </a:prstGeom>
          <a:solidFill>
            <a:srgbClr val="7B5EA7"/>
          </a:solidFill>
          <a:ln/>
        </p:spPr>
      </p:sp>
      <p:sp>
        <p:nvSpPr>
          <p:cNvPr id="13" name="Text 10"/>
          <p:cNvSpPr txBox="1"/>
          <p:nvPr/>
        </p:nvSpPr>
        <p:spPr>
          <a:xfrm>
            <a:off x="6483096" y="1737360"/>
            <a:ext cx="5029200" cy="329184"/>
          </a:xfrm>
          <a:prstGeom prst="rect">
            <a:avLst/>
          </a:prstGeom>
          <a:noFill/>
          <a:ln/>
        </p:spPr>
        <p:txBody>
          <a:bodyPr wrap="square" lIns="0" tIns="0" rIns="0" bIns="0" rtlCol="0" anchor="ctr"/>
          <a:lstStyle/>
          <a:p>
            <a:pPr indent="0" marL="0">
              <a:buNone/>
            </a:pPr>
            <a:r>
              <a:rPr lang="en-US" sz="1500" b="1" dirty="0">
                <a:solidFill>
                  <a:srgbClr val="1C2430"/>
                </a:solidFill>
                <a:latin typeface="Arial" pitchFamily="34" charset="0"/>
                <a:ea typeface="Yu Gothic"/>
                <a:cs typeface="Arial" pitchFamily="34" charset="-120"/>
              </a:rPr>
              <a:t>NAND</a:t>
            </a:r>
            <a:endParaRPr lang="en-US" sz="1500" dirty="0"/>
          </a:p>
        </p:txBody>
      </p:sp>
      <p:sp>
        <p:nvSpPr>
          <p:cNvPr id="14" name="Text 11"/>
          <p:cNvSpPr txBox="1"/>
          <p:nvPr/>
        </p:nvSpPr>
        <p:spPr>
          <a:xfrm>
            <a:off x="6281928" y="2121408"/>
            <a:ext cx="5212080" cy="11887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Samsung：FMS 2026（V10 BV-NAND）（2026年8月）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SK hynix：FMS 2026（375層）（2026年8月）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Kioxia：BiCS10のサンプル出荷（2026年7月）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Micron：FQ3 FY2026決算説明（2026年6月）</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TrendForce：Kioxia/Sandisk VLSI 2026（2026年5月）</a:t>
            </a:r>
            <a:endParaRPr lang="en-US" sz="1250" dirty="0"/>
          </a:p>
        </p:txBody>
      </p:sp>
      <p:sp>
        <p:nvSpPr>
          <p:cNvPr id="15" name="Shape 12"/>
          <p:cNvSpPr/>
          <p:nvPr/>
        </p:nvSpPr>
        <p:spPr>
          <a:xfrm>
            <a:off x="6190488" y="3657600"/>
            <a:ext cx="182880" cy="182880"/>
          </a:xfrm>
          <a:prstGeom prst="ellipse">
            <a:avLst/>
          </a:prstGeom>
          <a:solidFill>
            <a:srgbClr val="5A6472"/>
          </a:solidFill>
          <a:ln/>
        </p:spPr>
      </p:sp>
      <p:sp>
        <p:nvSpPr>
          <p:cNvPr id="16" name="Text 13"/>
          <p:cNvSpPr txBox="1"/>
          <p:nvPr/>
        </p:nvSpPr>
        <p:spPr>
          <a:xfrm>
            <a:off x="6483096" y="3584448"/>
            <a:ext cx="5029200" cy="329184"/>
          </a:xfrm>
          <a:prstGeom prst="rect">
            <a:avLst/>
          </a:prstGeom>
          <a:noFill/>
          <a:ln/>
        </p:spPr>
        <p:txBody>
          <a:bodyPr wrap="square" lIns="0" tIns="0" rIns="0" bIns="0" rtlCol="0" anchor="ctr"/>
          <a:lstStyle/>
          <a:p>
            <a:pPr indent="0" marL="0">
              <a:buNone/>
            </a:pPr>
            <a:r>
              <a:rPr lang="en-US" sz="1500" b="1" dirty="0">
                <a:solidFill>
                  <a:srgbClr val="1C2430"/>
                </a:solidFill>
                <a:latin typeface="Arial" pitchFamily="34" charset="0"/>
                <a:ea typeface="Yu Gothic"/>
                <a:cs typeface="Arial" pitchFamily="34" charset="-120"/>
              </a:rPr>
              <a:t>特許・その他</a:t>
            </a:r>
            <a:endParaRPr lang="en-US" sz="1500" dirty="0"/>
          </a:p>
        </p:txBody>
      </p:sp>
      <p:sp>
        <p:nvSpPr>
          <p:cNvPr id="17" name="Text 14"/>
          <p:cNvSpPr txBox="1"/>
          <p:nvPr/>
        </p:nvSpPr>
        <p:spPr>
          <a:xfrm>
            <a:off x="6281928" y="3968496"/>
            <a:ext cx="5212080" cy="95097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Google Patents：各社の代表特許（約70件）</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Knowmade：ハイブリッド接合の特許分析（2025年）</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Yole：Next-Gen DRAM 2026</a:t>
            </a:r>
            <a:endParaRPr lang="en-US" sz="1250" dirty="0"/>
          </a:p>
          <a:p>
            <a:pPr marL="342900" indent="-342900">
              <a:spcAft>
                <a:spcPts val="300"/>
              </a:spcAft>
              <a:buSzPct val="100000"/>
              <a:buChar char="•"/>
            </a:pPr>
            <a:r>
              <a:rPr lang="en-US" sz="1250" dirty="0">
                <a:solidFill>
                  <a:srgbClr val="333D4A"/>
                </a:solidFill>
                <a:latin typeface="Arial" pitchFamily="34" charset="0"/>
                <a:ea typeface="Yu Gothic"/>
                <a:cs typeface="Arial" pitchFamily="34" charset="-120"/>
              </a:rPr>
              <a:t>IEEE Spectrum：imecのロードマップ（2026年5月）</a:t>
            </a:r>
            <a:endParaRPr lang="en-US" sz="1250" dirty="0"/>
          </a:p>
        </p:txBody>
      </p:sp>
      <p:sp>
        <p:nvSpPr>
          <p:cNvPr id="18" name="Text 15"/>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250" dirty="0">
                <a:solidFill>
                  <a:srgbClr val="6A7380"/>
                </a:solidFill>
                <a:latin typeface="Arial" pitchFamily="34" charset="0"/>
                <a:ea typeface="Yu Gothic"/>
                <a:cs typeface="Arial" pitchFamily="34" charset="-120"/>
              </a:rPr>
              <a:t>すべての出典（URL）は、Excelの「根拠」「URL一覧」シートと、DRAM・NANDの企業別URL一覧にある。</a:t>
            </a:r>
            <a:endParaRPr lang="en-US" sz="1250" dirty="0"/>
          </a:p>
        </p:txBody>
      </p:sp>
      <p:sp>
        <p:nvSpPr>
          <p:cNvPr id="19" name="Text 16"/>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6A7380"/>
                </a:solidFill>
                <a:latin typeface="Arial" pitchFamily="34" charset="0"/>
                <a:ea typeface="Yu Gothic"/>
                <a:cs typeface="Arial"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先端半導体の今後のロードマップ（ロジック・DRAM・NAND）</dc:title>
  <dc:subject>PptxGenJS Presentation</dc:subject>
  <dc:creator>PptxGenJS</dc:creator>
  <cp:lastModifiedBy>PptxGenJS</cp:lastModifiedBy>
  <cp:revision>1</cp:revision>
  <dcterms:created xsi:type="dcterms:W3CDTF">2026-10-01T00:28:32Z</dcterms:created>
  <dcterms:modified xsi:type="dcterms:W3CDTF">2026-10-01T00:28:32Z</dcterms:modified>
</cp:coreProperties>
</file>