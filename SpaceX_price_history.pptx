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SPCX 株価</c:v>
                </c:pt>
              </c:strCache>
            </c:strRef>
          </c:tx>
          <c:spPr>
            <a:solidFill>
              <a:srgbClr val="1E2761"/>
            </a:solidFill>
            <a:ln w="38100" cap="flat">
              <a:solidFill>
                <a:srgbClr val="1E2761"/>
              </a:solidFill>
              <a:prstDash val="solid"/>
              <a:round/>
            </a:ln>
            <a:effectLst/>
          </c:spPr>
          <c:invertIfNegative val="0"/>
          <c:dLbls>
            <c:numFmt formatCode="0" sourceLinked="0"/>
            <c:txPr>
              <a:bodyPr/>
              <a:lstStyle/>
              <a:p>
                <a:pPr>
                  <a:defRPr b="0" i="0" strike="noStrike" sz="1000" u="none">
                    <a:solidFill>
                      <a:srgbClr val="6B7280"/>
                    </a:solidFill>
                    <a:latin typeface="Calibri"/>
                  </a:defRPr>
                </a:pPr>
              </a:p>
            </c:txPr>
            <c:dLblPos val="t"/>
            <c:showLegendKey val="0"/>
            <c:showVal val="1"/>
            <c:showCatName val="0"/>
            <c:showSerName val="0"/>
            <c:showPercent val="0"/>
            <c:showBubbleSize val="0"/>
            <c:showLeaderLines val="0"/>
          </c:dLbls>
          <c:marker>
            <c:symbol val="circle"/>
            <c:size val="7"/>
            <c:spPr>
              <a:solidFill>
                <a:srgbClr val="1E2761"/>
              </a:solidFill>
              <a:ln w="9525" cap="flat">
                <a:solidFill>
                  <a:srgbClr val="1E2761"/>
                </a:solidFill>
                <a:prstDash val="solid"/>
                <a:round/>
              </a:ln>
              <a:effectLst/>
            </c:spPr>
          </c:marker>
          <c:cat>
            <c:multiLvlStrRef>
              <c:f>Sheet1!$A$2:$A$11</c:f>
              <c:multiLvlStrCache>
                <c:ptCount val="10"/>
                <c:lvl>
                  <c:pt idx="0">
                    <c:v>6/12</c:v>
                  </c:pt>
                  <c:pt idx="1">
                    <c:v>6/16</c:v>
                  </c:pt>
                  <c:pt idx="2">
                    <c:v>6/30</c:v>
                  </c:pt>
                  <c:pt idx="3">
                    <c:v>7/16</c:v>
                  </c:pt>
                  <c:pt idx="4">
                    <c:v>7/31</c:v>
                  </c:pt>
                  <c:pt idx="5">
                    <c:v>8/3</c:v>
                  </c:pt>
                  <c:pt idx="6">
                    <c:v>8/5</c:v>
                  </c:pt>
                  <c:pt idx="7">
                    <c:v>8/12</c:v>
                  </c:pt>
                  <c:pt idx="8">
                    <c:v>8/20</c:v>
                  </c:pt>
                  <c:pt idx="9">
                    <c:v>8/24</c:v>
                  </c:pt>
                </c:lvl>
              </c:multiLvlStrCache>
            </c:multiLvlStrRef>
          </c:cat>
          <c:val>
            <c:numRef>
              <c:f>Sheet1!$B$2:$B$11</c:f>
              <c:numCache>
                <c:formatCode>General</c:formatCode>
                <c:ptCount val="10"/>
                <c:pt idx="0">
                  <c:v>160.95</c:v>
                </c:pt>
                <c:pt idx="1">
                  <c:v>225.64</c:v>
                </c:pt>
                <c:pt idx="2">
                  <c:v>190</c:v>
                </c:pt>
                <c:pt idx="3">
                  <c:v>133</c:v>
                </c:pt>
                <c:pt idx="4">
                  <c:v>118</c:v>
                </c:pt>
                <c:pt idx="5">
                  <c:v>104.83</c:v>
                </c:pt>
                <c:pt idx="6">
                  <c:v>108.27</c:v>
                </c:pt>
                <c:pt idx="7">
                  <c:v>148</c:v>
                </c:pt>
                <c:pt idx="8">
                  <c:v>138</c:v>
                </c:pt>
                <c:pt idx="9">
                  <c:v>134</c:v>
                </c:pt>
              </c:numCache>
            </c:numRef>
          </c:val>
          <c:smooth val="0"/>
        </c:ser>
        <c:dLbls>
          <c:numFmt formatCode="0" sourceLinked="0"/>
          <c:txPr>
            <a:bodyPr/>
            <a:lstStyle/>
            <a:p>
              <a:pPr>
                <a:defRPr b="0" i="0" strike="noStrike" sz="1000" u="none">
                  <a:solidFill>
                    <a:srgbClr val="6B7280"/>
                  </a:solidFill>
                  <a:latin typeface="Calibri"/>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A1A1A"/>
                </a:solidFill>
                <a:latin typeface="Calibri"/>
              </a:defRPr>
            </a:pPr>
            <a:endParaRPr lang="en-US"/>
          </a:p>
        </c:txPr>
        <c:crossAx val="2094734552"/>
        <c:crosses val="autoZero"/>
        <c:auto val="1"/>
        <c:lblAlgn val="ctr"/>
        <c:noMultiLvlLbl val="1"/>
      </c:catAx>
      <c:valAx>
        <c:axId val="2094734552"/>
        <c:scaling>
          <c:orientation val="minMax"/>
          <c:max val="240"/>
          <c:min val="80"/>
        </c:scaling>
        <c:delete val="0"/>
        <c:axPos val="l"/>
        <c:majorGridlines>
          <c:spPr>
            <a:ln w="1270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導入スライド。まず値動きの振れ幅を体感してもらい、以降で理由を1つずつ潰す。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4つの局面に分けて、次のスライドから1つずつ理由を説明する。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浮動株の少なさが値動きの起点。ここを押さえると、以降の全部が説明できる。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好決算で下がったという事実が、この相場の性質を最もよく表す。市場は成長率ではなくキャッシュを見ている。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需給だけで35%動くという事実を示す。分析の前に「この価格は何でできているか」を問う必要がある。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浮動株が増えるほど価格が下がるという単純な関係が、この2ヶ月半はよく効いている。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意見が割れる理由は、実績で議論できる部分が少なく、結論が信念の差になるため。次の発表で、その差の出どころを分解する。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本編（事業別キードライバー分析）への橋渡し。ここで一度切って、次のデッキに入る。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640080" y="1828800"/>
            <a:ext cx="10881360" cy="320040"/>
          </a:xfrm>
          <a:prstGeom prst="rect">
            <a:avLst/>
          </a:prstGeom>
          <a:noFill/>
          <a:ln/>
        </p:spPr>
        <p:txBody>
          <a:bodyPr wrap="square" rtlCol="0" anchor="ctr"/>
          <a:lstStyle/>
          <a:p>
            <a:pPr indent="0" marL="0">
              <a:buNone/>
            </a:pPr>
            <a:r>
              <a:rPr lang="en-US" sz="1400" b="1" spc="300" kern="0" dirty="0">
                <a:solidFill>
                  <a:srgbClr val="CADCFC"/>
                </a:solidFill>
                <a:latin typeface="Calibri" pitchFamily="34" charset="0"/>
                <a:ea typeface="Calibri" pitchFamily="34" charset="-122"/>
                <a:cs typeface="Calibri" pitchFamily="34" charset="-120"/>
              </a:rPr>
              <a:t>SPACE EXPLORATION TECHNOLOGIES (NASDAQ: SPCX)</a:t>
            </a:r>
            <a:endParaRPr lang="en-US" sz="1400" dirty="0"/>
          </a:p>
        </p:txBody>
      </p:sp>
      <p:sp>
        <p:nvSpPr>
          <p:cNvPr id="3" name="Text 1"/>
          <p:cNvSpPr txBox="1"/>
          <p:nvPr/>
        </p:nvSpPr>
        <p:spPr>
          <a:xfrm>
            <a:off x="640080" y="2286000"/>
            <a:ext cx="10881360" cy="914400"/>
          </a:xfrm>
          <a:prstGeom prst="rect">
            <a:avLst/>
          </a:prstGeom>
          <a:noFill/>
          <a:ln/>
        </p:spPr>
        <p:txBody>
          <a:bodyPr wrap="square"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上場から2ヶ月半で何が起きたか</a:t>
            </a:r>
            <a:endParaRPr lang="en-US" sz="4200" dirty="0"/>
          </a:p>
        </p:txBody>
      </p:sp>
      <p:sp>
        <p:nvSpPr>
          <p:cNvPr id="4" name="Text 2"/>
          <p:cNvSpPr txBox="1"/>
          <p:nvPr/>
        </p:nvSpPr>
        <p:spPr>
          <a:xfrm>
            <a:off x="640080" y="3429000"/>
            <a:ext cx="10058400" cy="914400"/>
          </a:xfrm>
          <a:prstGeom prst="rect">
            <a:avLst/>
          </a:prstGeom>
          <a:noFill/>
          <a:ln/>
        </p:spPr>
        <p:txBody>
          <a:bodyPr wrap="square" rtlCol="0" anchor="ctr"/>
          <a:lstStyle/>
          <a:p>
            <a:pPr indent="0" marL="0">
              <a:lnSpc>
                <a:spcPts val="2600"/>
              </a:lnSpc>
              <a:buNone/>
            </a:pPr>
            <a:r>
              <a:rPr lang="en-US" sz="1600" dirty="0">
                <a:solidFill>
                  <a:srgbClr val="CADCFC"/>
                </a:solidFill>
                <a:latin typeface="Calibri" pitchFamily="34" charset="0"/>
                <a:ea typeface="Calibri" pitchFamily="34" charset="-122"/>
                <a:cs typeface="Calibri" pitchFamily="34" charset="-120"/>
              </a:rPr>
              <a:t>株価は高値から54%下げ、そこから41%戻し、また下げた。</a:t>
            </a:r>
            <a:endParaRPr lang="en-US" sz="1600" dirty="0"/>
          </a:p>
          <a:p>
            <a:pPr indent="0" marL="0">
              <a:lnSpc>
                <a:spcPts val="2600"/>
              </a:lnSpc>
              <a:buNone/>
            </a:pPr>
            <a:r>
              <a:rPr lang="en-US" sz="1600" dirty="0">
                <a:solidFill>
                  <a:srgbClr val="CADCFC"/>
                </a:solidFill>
                <a:latin typeface="Calibri" pitchFamily="34" charset="0"/>
                <a:ea typeface="Calibri" pitchFamily="34" charset="-122"/>
                <a:cs typeface="Calibri" pitchFamily="34" charset="-120"/>
              </a:rPr>
              <a:t>その一つひとつに理由がある。</a:t>
            </a:r>
            <a:endParaRPr lang="en-US" sz="1600" dirty="0"/>
          </a:p>
        </p:txBody>
      </p:sp>
      <p:sp>
        <p:nvSpPr>
          <p:cNvPr id="5" name="Shape 3"/>
          <p:cNvSpPr/>
          <p:nvPr/>
        </p:nvSpPr>
        <p:spPr>
          <a:xfrm>
            <a:off x="640080" y="4754880"/>
            <a:ext cx="2926080" cy="18288"/>
          </a:xfrm>
          <a:prstGeom prst="rect">
            <a:avLst/>
          </a:prstGeom>
          <a:solidFill>
            <a:srgbClr val="E8A33D"/>
          </a:solidFill>
          <a:ln/>
        </p:spPr>
      </p:sp>
      <p:sp>
        <p:nvSpPr>
          <p:cNvPr id="6" name="Text 4"/>
          <p:cNvSpPr txBox="1"/>
          <p:nvPr/>
        </p:nvSpPr>
        <p:spPr>
          <a:xfrm>
            <a:off x="640080" y="4983480"/>
            <a:ext cx="2560320" cy="50292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$135</a:t>
            </a:r>
            <a:endParaRPr lang="en-US" sz="2600" dirty="0"/>
          </a:p>
        </p:txBody>
      </p:sp>
      <p:sp>
        <p:nvSpPr>
          <p:cNvPr id="7" name="Text 5"/>
          <p:cNvSpPr txBox="1"/>
          <p:nvPr/>
        </p:nvSpPr>
        <p:spPr>
          <a:xfrm>
            <a:off x="640080" y="5486400"/>
            <a:ext cx="2560320" cy="274320"/>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公開価格</a:t>
            </a:r>
            <a:endParaRPr lang="en-US" sz="1100" dirty="0"/>
          </a:p>
        </p:txBody>
      </p:sp>
      <p:sp>
        <p:nvSpPr>
          <p:cNvPr id="8" name="Text 6"/>
          <p:cNvSpPr txBox="1"/>
          <p:nvPr/>
        </p:nvSpPr>
        <p:spPr>
          <a:xfrm>
            <a:off x="3383280" y="4983480"/>
            <a:ext cx="2560320" cy="502920"/>
          </a:xfrm>
          <a:prstGeom prst="rect">
            <a:avLst/>
          </a:prstGeom>
          <a:noFill/>
          <a:ln/>
        </p:spPr>
        <p:txBody>
          <a:bodyPr wrap="square" lIns="0" tIns="0" rIns="0" bIns="0" rtlCol="0" anchor="ctr"/>
          <a:lstStyle/>
          <a:p>
            <a:pPr indent="0" marL="0">
              <a:buNone/>
            </a:pPr>
            <a:r>
              <a:rPr lang="en-US" sz="2600" b="1" dirty="0">
                <a:solidFill>
                  <a:srgbClr val="3E8E7E"/>
                </a:solidFill>
                <a:latin typeface="Cambria" pitchFamily="34" charset="0"/>
                <a:ea typeface="Cambria" pitchFamily="34" charset="-122"/>
                <a:cs typeface="Cambria" pitchFamily="34" charset="-120"/>
              </a:rPr>
              <a:t>$225.64</a:t>
            </a:r>
            <a:endParaRPr lang="en-US" sz="2600" dirty="0"/>
          </a:p>
        </p:txBody>
      </p:sp>
      <p:sp>
        <p:nvSpPr>
          <p:cNvPr id="9" name="Text 7"/>
          <p:cNvSpPr txBox="1"/>
          <p:nvPr/>
        </p:nvSpPr>
        <p:spPr>
          <a:xfrm>
            <a:off x="3383280" y="5486400"/>
            <a:ext cx="2560320" cy="274320"/>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上場来高値</a:t>
            </a:r>
            <a:endParaRPr lang="en-US" sz="1100" dirty="0"/>
          </a:p>
        </p:txBody>
      </p:sp>
      <p:sp>
        <p:nvSpPr>
          <p:cNvPr id="10" name="Text 8"/>
          <p:cNvSpPr txBox="1"/>
          <p:nvPr/>
        </p:nvSpPr>
        <p:spPr>
          <a:xfrm>
            <a:off x="6126480" y="4983480"/>
            <a:ext cx="2560320" cy="502920"/>
          </a:xfrm>
          <a:prstGeom prst="rect">
            <a:avLst/>
          </a:prstGeom>
          <a:noFill/>
          <a:ln/>
        </p:spPr>
        <p:txBody>
          <a:bodyPr wrap="square" lIns="0" tIns="0" rIns="0" bIns="0" rtlCol="0" anchor="ctr"/>
          <a:lstStyle/>
          <a:p>
            <a:pPr indent="0" marL="0">
              <a:buNone/>
            </a:pPr>
            <a:r>
              <a:rPr lang="en-US" sz="2600" b="1" dirty="0">
                <a:solidFill>
                  <a:srgbClr val="E8A33D"/>
                </a:solidFill>
                <a:latin typeface="Cambria" pitchFamily="34" charset="0"/>
                <a:ea typeface="Cambria" pitchFamily="34" charset="-122"/>
                <a:cs typeface="Cambria" pitchFamily="34" charset="-120"/>
              </a:rPr>
              <a:t>$104.83</a:t>
            </a:r>
            <a:endParaRPr lang="en-US" sz="2600" dirty="0"/>
          </a:p>
        </p:txBody>
      </p:sp>
      <p:sp>
        <p:nvSpPr>
          <p:cNvPr id="11" name="Text 9"/>
          <p:cNvSpPr txBox="1"/>
          <p:nvPr/>
        </p:nvSpPr>
        <p:spPr>
          <a:xfrm>
            <a:off x="6126480" y="5486400"/>
            <a:ext cx="2560320" cy="274320"/>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上場来安値</a:t>
            </a:r>
            <a:endParaRPr lang="en-US" sz="1100" dirty="0"/>
          </a:p>
        </p:txBody>
      </p:sp>
      <p:sp>
        <p:nvSpPr>
          <p:cNvPr id="12" name="Text 10"/>
          <p:cNvSpPr txBox="1"/>
          <p:nvPr/>
        </p:nvSpPr>
        <p:spPr>
          <a:xfrm>
            <a:off x="8869680" y="4983480"/>
            <a:ext cx="2560320" cy="50292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$134</a:t>
            </a:r>
            <a:endParaRPr lang="en-US" sz="2600" dirty="0"/>
          </a:p>
        </p:txBody>
      </p:sp>
      <p:sp>
        <p:nvSpPr>
          <p:cNvPr id="13" name="Text 11"/>
          <p:cNvSpPr txBox="1"/>
          <p:nvPr/>
        </p:nvSpPr>
        <p:spPr>
          <a:xfrm>
            <a:off x="8869680" y="5486400"/>
            <a:ext cx="2560320" cy="274320"/>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現在値</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11480"/>
            <a:ext cx="566928" cy="566928"/>
          </a:xfrm>
          <a:prstGeom prst="ellipse">
            <a:avLst/>
          </a:prstGeom>
          <a:solidFill>
            <a:srgbClr val="1E2761"/>
          </a:solidFill>
          <a:ln/>
        </p:spPr>
      </p:sp>
      <p:sp>
        <p:nvSpPr>
          <p:cNvPr id="3" name="Text 1"/>
          <p:cNvSpPr txBox="1"/>
          <p:nvPr/>
        </p:nvSpPr>
        <p:spPr>
          <a:xfrm>
            <a:off x="640080" y="41148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4" name="Text 2"/>
          <p:cNvSpPr txBox="1"/>
          <p:nvPr/>
        </p:nvSpPr>
        <p:spPr>
          <a:xfrm>
            <a:off x="1417320" y="384048"/>
            <a:ext cx="10058400" cy="4572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株価の全履歴</a:t>
            </a:r>
            <a:endParaRPr lang="en-US" sz="3000" dirty="0"/>
          </a:p>
        </p:txBody>
      </p:sp>
      <p:sp>
        <p:nvSpPr>
          <p:cNvPr id="5" name="Text 3"/>
          <p:cNvSpPr txBox="1"/>
          <p:nvPr/>
        </p:nvSpPr>
        <p:spPr>
          <a:xfrm>
            <a:off x="1417320" y="868680"/>
            <a:ext cx="10058400" cy="32004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2026年6月12日上場 〜 8月下旬（終値ベース、一部は日中値）</a:t>
            </a:r>
            <a:endParaRPr lang="en-US" sz="1300" dirty="0"/>
          </a:p>
        </p:txBody>
      </p:sp>
      <p:graphicFrame>
        <p:nvGraphicFramePr>
          <p:cNvPr id="6" name="Chart 0" descr=""/>
          <p:cNvGraphicFramePr/>
          <p:nvPr/>
        </p:nvGraphicFramePr>
        <p:xfrm>
          <a:off x="640080" y="1371600"/>
          <a:ext cx="10881360" cy="329184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1508760" y="3364992"/>
            <a:ext cx="10058400" cy="0"/>
          </a:xfrm>
          <a:prstGeom prst="line">
            <a:avLst/>
          </a:prstGeom>
          <a:noFill/>
          <a:ln w="19050">
            <a:solidFill>
              <a:srgbClr val="E8A33D"/>
            </a:solidFill>
            <a:prstDash val="dash"/>
          </a:ln>
        </p:spPr>
      </p:sp>
      <p:sp>
        <p:nvSpPr>
          <p:cNvPr id="8" name="Text 5"/>
          <p:cNvSpPr txBox="1"/>
          <p:nvPr/>
        </p:nvSpPr>
        <p:spPr>
          <a:xfrm>
            <a:off x="1600200" y="3401568"/>
            <a:ext cx="1737360" cy="274320"/>
          </a:xfrm>
          <a:prstGeom prst="rect">
            <a:avLst/>
          </a:prstGeom>
          <a:noFill/>
          <a:ln/>
        </p:spPr>
        <p:txBody>
          <a:bodyPr wrap="square" lIns="0" tIns="0" rIns="0" bIns="0" rtlCol="0" anchor="ctr"/>
          <a:lstStyle/>
          <a:p>
            <a:pPr indent="0" marL="0">
              <a:buNone/>
            </a:pPr>
            <a:r>
              <a:rPr lang="en-US" sz="1000" b="1" dirty="0">
                <a:solidFill>
                  <a:srgbClr val="E8A33D"/>
                </a:solidFill>
                <a:latin typeface="Calibri" pitchFamily="34" charset="0"/>
                <a:ea typeface="Calibri" pitchFamily="34" charset="-122"/>
                <a:cs typeface="Calibri" pitchFamily="34" charset="-120"/>
              </a:rPr>
              <a:t>公開価格 $135</a:t>
            </a:r>
            <a:endParaRPr lang="en-US" sz="1000" dirty="0"/>
          </a:p>
        </p:txBody>
      </p:sp>
      <p:sp>
        <p:nvSpPr>
          <p:cNvPr id="9" name="Shape 6"/>
          <p:cNvSpPr/>
          <p:nvPr/>
        </p:nvSpPr>
        <p:spPr>
          <a:xfrm>
            <a:off x="640080" y="4892040"/>
            <a:ext cx="2560320" cy="1143000"/>
          </a:xfrm>
          <a:prstGeom prst="roundRect">
            <a:avLst>
              <a:gd name="adj" fmla="val 4800"/>
            </a:avLst>
          </a:prstGeom>
          <a:solidFill>
            <a:srgbClr val="F4F6FA"/>
          </a:solidFill>
          <a:ln/>
        </p:spPr>
      </p:sp>
      <p:sp>
        <p:nvSpPr>
          <p:cNvPr id="10" name="Shape 7"/>
          <p:cNvSpPr/>
          <p:nvPr/>
        </p:nvSpPr>
        <p:spPr>
          <a:xfrm>
            <a:off x="914400" y="5120640"/>
            <a:ext cx="201168" cy="201168"/>
          </a:xfrm>
          <a:prstGeom prst="ellipse">
            <a:avLst/>
          </a:prstGeom>
          <a:solidFill>
            <a:srgbClr val="3E8E7E"/>
          </a:solidFill>
          <a:ln/>
        </p:spPr>
      </p:sp>
      <p:sp>
        <p:nvSpPr>
          <p:cNvPr id="11" name="Text 8"/>
          <p:cNvSpPr txBox="1"/>
          <p:nvPr/>
        </p:nvSpPr>
        <p:spPr>
          <a:xfrm>
            <a:off x="1207008" y="5047488"/>
            <a:ext cx="1737360" cy="32004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熱狂</a:t>
            </a:r>
            <a:endParaRPr lang="en-US" sz="1600" dirty="0"/>
          </a:p>
        </p:txBody>
      </p:sp>
      <p:sp>
        <p:nvSpPr>
          <p:cNvPr id="12" name="Text 9"/>
          <p:cNvSpPr txBox="1"/>
          <p:nvPr/>
        </p:nvSpPr>
        <p:spPr>
          <a:xfrm>
            <a:off x="914400" y="5422392"/>
            <a:ext cx="2011680" cy="256032"/>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6/12 - 6/16</a:t>
            </a:r>
            <a:endParaRPr lang="en-US" sz="1100" dirty="0"/>
          </a:p>
        </p:txBody>
      </p:sp>
      <p:sp>
        <p:nvSpPr>
          <p:cNvPr id="13" name="Text 10"/>
          <p:cNvSpPr txBox="1"/>
          <p:nvPr/>
        </p:nvSpPr>
        <p:spPr>
          <a:xfrm>
            <a:off x="914400" y="5669280"/>
            <a:ext cx="2011680" cy="274320"/>
          </a:xfrm>
          <a:prstGeom prst="rect">
            <a:avLst/>
          </a:prstGeom>
          <a:noFill/>
          <a:ln/>
        </p:spPr>
        <p:txBody>
          <a:bodyPr wrap="square" lIns="0" tIns="0" rIns="0" bIns="0" rtlCol="0" anchor="ctr"/>
          <a:lstStyle/>
          <a:p>
            <a:pPr indent="0" marL="0">
              <a:buNone/>
            </a:pPr>
            <a:r>
              <a:rPr lang="en-US" sz="1300" b="1" dirty="0">
                <a:solidFill>
                  <a:srgbClr val="3E8E7E"/>
                </a:solidFill>
                <a:latin typeface="Calibri" pitchFamily="34" charset="0"/>
                <a:ea typeface="Calibri" pitchFamily="34" charset="-122"/>
                <a:cs typeface="Calibri" pitchFamily="34" charset="-120"/>
              </a:rPr>
              <a:t>4日で+67%</a:t>
            </a:r>
            <a:endParaRPr lang="en-US" sz="1300" dirty="0"/>
          </a:p>
        </p:txBody>
      </p:sp>
      <p:sp>
        <p:nvSpPr>
          <p:cNvPr id="14" name="Shape 11"/>
          <p:cNvSpPr/>
          <p:nvPr/>
        </p:nvSpPr>
        <p:spPr>
          <a:xfrm>
            <a:off x="3410712" y="4892040"/>
            <a:ext cx="2560320" cy="1143000"/>
          </a:xfrm>
          <a:prstGeom prst="roundRect">
            <a:avLst>
              <a:gd name="adj" fmla="val 4800"/>
            </a:avLst>
          </a:prstGeom>
          <a:solidFill>
            <a:srgbClr val="F4F6FA"/>
          </a:solidFill>
          <a:ln/>
        </p:spPr>
      </p:sp>
      <p:sp>
        <p:nvSpPr>
          <p:cNvPr id="15" name="Shape 12"/>
          <p:cNvSpPr/>
          <p:nvPr/>
        </p:nvSpPr>
        <p:spPr>
          <a:xfrm>
            <a:off x="3685032" y="5120640"/>
            <a:ext cx="201168" cy="201168"/>
          </a:xfrm>
          <a:prstGeom prst="ellipse">
            <a:avLst/>
          </a:prstGeom>
          <a:solidFill>
            <a:srgbClr val="C0392B"/>
          </a:solidFill>
          <a:ln/>
        </p:spPr>
      </p:sp>
      <p:sp>
        <p:nvSpPr>
          <p:cNvPr id="16" name="Text 13"/>
          <p:cNvSpPr txBox="1"/>
          <p:nvPr/>
        </p:nvSpPr>
        <p:spPr>
          <a:xfrm>
            <a:off x="3977640" y="5047488"/>
            <a:ext cx="1737360" cy="32004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失速</a:t>
            </a:r>
            <a:endParaRPr lang="en-US" sz="1600" dirty="0"/>
          </a:p>
        </p:txBody>
      </p:sp>
      <p:sp>
        <p:nvSpPr>
          <p:cNvPr id="17" name="Text 14"/>
          <p:cNvSpPr txBox="1"/>
          <p:nvPr/>
        </p:nvSpPr>
        <p:spPr>
          <a:xfrm>
            <a:off x="3685032" y="5422392"/>
            <a:ext cx="2011680" cy="256032"/>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7/16 - 8/5</a:t>
            </a:r>
            <a:endParaRPr lang="en-US" sz="1100" dirty="0"/>
          </a:p>
        </p:txBody>
      </p:sp>
      <p:sp>
        <p:nvSpPr>
          <p:cNvPr id="18" name="Text 15"/>
          <p:cNvSpPr txBox="1"/>
          <p:nvPr/>
        </p:nvSpPr>
        <p:spPr>
          <a:xfrm>
            <a:off x="3685032" y="5669280"/>
            <a:ext cx="2011680" cy="274320"/>
          </a:xfrm>
          <a:prstGeom prst="rect">
            <a:avLst/>
          </a:prstGeom>
          <a:noFill/>
          <a:ln/>
        </p:spPr>
        <p:txBody>
          <a:bodyPr wrap="square" lIns="0" tIns="0" rIns="0" bIns="0" rtlCol="0" anchor="ctr"/>
          <a:lstStyle/>
          <a:p>
            <a:pPr indent="0" marL="0">
              <a:buNone/>
            </a:pPr>
            <a:r>
              <a:rPr lang="en-US" sz="1300" b="1" dirty="0">
                <a:solidFill>
                  <a:srgbClr val="C0392B"/>
                </a:solidFill>
                <a:latin typeface="Calibri" pitchFamily="34" charset="0"/>
                <a:ea typeface="Calibri" pitchFamily="34" charset="-122"/>
                <a:cs typeface="Calibri" pitchFamily="34" charset="-120"/>
              </a:rPr>
              <a:t>5週連続下落</a:t>
            </a:r>
            <a:endParaRPr lang="en-US" sz="1300" dirty="0"/>
          </a:p>
        </p:txBody>
      </p:sp>
      <p:sp>
        <p:nvSpPr>
          <p:cNvPr id="19" name="Shape 16"/>
          <p:cNvSpPr/>
          <p:nvPr/>
        </p:nvSpPr>
        <p:spPr>
          <a:xfrm>
            <a:off x="6181344" y="4892040"/>
            <a:ext cx="2560320" cy="1143000"/>
          </a:xfrm>
          <a:prstGeom prst="roundRect">
            <a:avLst>
              <a:gd name="adj" fmla="val 4800"/>
            </a:avLst>
          </a:prstGeom>
          <a:solidFill>
            <a:srgbClr val="F4F6FA"/>
          </a:solidFill>
          <a:ln/>
        </p:spPr>
      </p:sp>
      <p:sp>
        <p:nvSpPr>
          <p:cNvPr id="20" name="Shape 17"/>
          <p:cNvSpPr/>
          <p:nvPr/>
        </p:nvSpPr>
        <p:spPr>
          <a:xfrm>
            <a:off x="6455664" y="5120640"/>
            <a:ext cx="201168" cy="201168"/>
          </a:xfrm>
          <a:prstGeom prst="ellipse">
            <a:avLst/>
          </a:prstGeom>
          <a:solidFill>
            <a:srgbClr val="E8A33D"/>
          </a:solidFill>
          <a:ln/>
        </p:spPr>
      </p:sp>
      <p:sp>
        <p:nvSpPr>
          <p:cNvPr id="21" name="Text 18"/>
          <p:cNvSpPr txBox="1"/>
          <p:nvPr/>
        </p:nvSpPr>
        <p:spPr>
          <a:xfrm>
            <a:off x="6748272" y="5047488"/>
            <a:ext cx="1737360" cy="32004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踏み上げ</a:t>
            </a:r>
            <a:endParaRPr lang="en-US" sz="1600" dirty="0"/>
          </a:p>
        </p:txBody>
      </p:sp>
      <p:sp>
        <p:nvSpPr>
          <p:cNvPr id="22" name="Text 19"/>
          <p:cNvSpPr txBox="1"/>
          <p:nvPr/>
        </p:nvSpPr>
        <p:spPr>
          <a:xfrm>
            <a:off x="6455664" y="5422392"/>
            <a:ext cx="2011680" cy="256032"/>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8/6 - 8/12</a:t>
            </a:r>
            <a:endParaRPr lang="en-US" sz="1100" dirty="0"/>
          </a:p>
        </p:txBody>
      </p:sp>
      <p:sp>
        <p:nvSpPr>
          <p:cNvPr id="23" name="Text 20"/>
          <p:cNvSpPr txBox="1"/>
          <p:nvPr/>
        </p:nvSpPr>
        <p:spPr>
          <a:xfrm>
            <a:off x="6455664" y="5669280"/>
            <a:ext cx="2011680" cy="274320"/>
          </a:xfrm>
          <a:prstGeom prst="rect">
            <a:avLst/>
          </a:prstGeom>
          <a:noFill/>
          <a:ln/>
        </p:spPr>
        <p:txBody>
          <a:bodyPr wrap="square" lIns="0" tIns="0" rIns="0" bIns="0" rtlCol="0" anchor="ctr"/>
          <a:lstStyle/>
          <a:p>
            <a:pPr indent="0" marL="0">
              <a:buNone/>
            </a:pPr>
            <a:r>
              <a:rPr lang="en-US" sz="1300" b="1" dirty="0">
                <a:solidFill>
                  <a:srgbClr val="E8A33D"/>
                </a:solidFill>
                <a:latin typeface="Calibri" pitchFamily="34" charset="0"/>
                <a:ea typeface="Calibri" pitchFamily="34" charset="-122"/>
                <a:cs typeface="Calibri" pitchFamily="34" charset="-120"/>
              </a:rPr>
              <a:t>+35%</a:t>
            </a:r>
            <a:endParaRPr lang="en-US" sz="1300" dirty="0"/>
          </a:p>
        </p:txBody>
      </p:sp>
      <p:sp>
        <p:nvSpPr>
          <p:cNvPr id="24" name="Shape 21"/>
          <p:cNvSpPr/>
          <p:nvPr/>
        </p:nvSpPr>
        <p:spPr>
          <a:xfrm>
            <a:off x="8951976" y="4892040"/>
            <a:ext cx="2560320" cy="1143000"/>
          </a:xfrm>
          <a:prstGeom prst="roundRect">
            <a:avLst>
              <a:gd name="adj" fmla="val 4800"/>
            </a:avLst>
          </a:prstGeom>
          <a:solidFill>
            <a:srgbClr val="F4F6FA"/>
          </a:solidFill>
          <a:ln/>
        </p:spPr>
      </p:sp>
      <p:sp>
        <p:nvSpPr>
          <p:cNvPr id="25" name="Shape 22"/>
          <p:cNvSpPr/>
          <p:nvPr/>
        </p:nvSpPr>
        <p:spPr>
          <a:xfrm>
            <a:off x="9226296" y="5120640"/>
            <a:ext cx="201168" cy="201168"/>
          </a:xfrm>
          <a:prstGeom prst="ellipse">
            <a:avLst/>
          </a:prstGeom>
          <a:solidFill>
            <a:srgbClr val="6B7280"/>
          </a:solidFill>
          <a:ln/>
        </p:spPr>
      </p:sp>
      <p:sp>
        <p:nvSpPr>
          <p:cNvPr id="26" name="Text 23"/>
          <p:cNvSpPr txBox="1"/>
          <p:nvPr/>
        </p:nvSpPr>
        <p:spPr>
          <a:xfrm>
            <a:off x="9518904" y="5047488"/>
            <a:ext cx="1737360" cy="32004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現在</a:t>
            </a:r>
            <a:endParaRPr lang="en-US" sz="1600" dirty="0"/>
          </a:p>
        </p:txBody>
      </p:sp>
      <p:sp>
        <p:nvSpPr>
          <p:cNvPr id="27" name="Text 24"/>
          <p:cNvSpPr txBox="1"/>
          <p:nvPr/>
        </p:nvSpPr>
        <p:spPr>
          <a:xfrm>
            <a:off x="9226296" y="5422392"/>
            <a:ext cx="2011680" cy="256032"/>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8/13 -</a:t>
            </a:r>
            <a:endParaRPr lang="en-US" sz="1100" dirty="0"/>
          </a:p>
        </p:txBody>
      </p:sp>
      <p:sp>
        <p:nvSpPr>
          <p:cNvPr id="28" name="Text 25"/>
          <p:cNvSpPr txBox="1"/>
          <p:nvPr/>
        </p:nvSpPr>
        <p:spPr>
          <a:xfrm>
            <a:off x="9226296" y="5669280"/>
            <a:ext cx="2011680" cy="274320"/>
          </a:xfrm>
          <a:prstGeom prst="rect">
            <a:avLst/>
          </a:prstGeom>
          <a:noFill/>
          <a:ln/>
        </p:spPr>
        <p:txBody>
          <a:bodyPr wrap="square" lIns="0" tIns="0" rIns="0" bIns="0" rtlCol="0" anchor="ctr"/>
          <a:lstStyle/>
          <a:p>
            <a:pPr indent="0" marL="0">
              <a:buNone/>
            </a:pPr>
            <a:r>
              <a:rPr lang="en-US" sz="1300" b="1" dirty="0">
                <a:solidFill>
                  <a:srgbClr val="6B7280"/>
                </a:solidFill>
                <a:latin typeface="Calibri" pitchFamily="34" charset="0"/>
                <a:ea typeface="Calibri" pitchFamily="34" charset="-122"/>
                <a:cs typeface="Calibri" pitchFamily="34" charset="-120"/>
              </a:rPr>
              <a:t>関心低下</a:t>
            </a:r>
            <a:endParaRPr lang="en-US" sz="1300" dirty="0"/>
          </a:p>
        </p:txBody>
      </p:sp>
      <p:sp>
        <p:nvSpPr>
          <p:cNvPr id="29" name="Text 26"/>
          <p:cNvSpPr txBox="1"/>
          <p:nvPr/>
        </p:nvSpPr>
        <p:spPr>
          <a:xfrm>
            <a:off x="640080" y="6327648"/>
            <a:ext cx="10881360" cy="274320"/>
          </a:xfrm>
          <a:prstGeom prst="rect">
            <a:avLst/>
          </a:prstGeom>
          <a:noFill/>
          <a:ln/>
        </p:spPr>
        <p:txBody>
          <a:bodyPr wrap="square" lIns="0" tIns="0" rIns="0" bIns="0"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出典：各種報道の公表値をもとに作成。中間日は推計を含む</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11480"/>
            <a:ext cx="566928" cy="566928"/>
          </a:xfrm>
          <a:prstGeom prst="ellipse">
            <a:avLst/>
          </a:prstGeom>
          <a:solidFill>
            <a:srgbClr val="1E2761"/>
          </a:solidFill>
          <a:ln/>
        </p:spPr>
      </p:sp>
      <p:sp>
        <p:nvSpPr>
          <p:cNvPr id="3" name="Text 1"/>
          <p:cNvSpPr txBox="1"/>
          <p:nvPr/>
        </p:nvSpPr>
        <p:spPr>
          <a:xfrm>
            <a:off x="640080" y="41148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4" name="Text 2"/>
          <p:cNvSpPr txBox="1"/>
          <p:nvPr/>
        </p:nvSpPr>
        <p:spPr>
          <a:xfrm>
            <a:off x="1417320" y="384048"/>
            <a:ext cx="10058400" cy="4572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局面①　熱狂 — 供給不足が作った高値</a:t>
            </a:r>
            <a:endParaRPr lang="en-US" sz="3000" dirty="0"/>
          </a:p>
        </p:txBody>
      </p:sp>
      <p:sp>
        <p:nvSpPr>
          <p:cNvPr id="5" name="Text 3"/>
          <p:cNvSpPr txBox="1"/>
          <p:nvPr/>
        </p:nvSpPr>
        <p:spPr>
          <a:xfrm>
            <a:off x="1417320" y="868680"/>
            <a:ext cx="10058400" cy="32004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6月12日〜6月16日：4日間で公開価格から+67%</a:t>
            </a:r>
            <a:endParaRPr lang="en-US" sz="1300" dirty="0"/>
          </a:p>
        </p:txBody>
      </p:sp>
      <p:sp>
        <p:nvSpPr>
          <p:cNvPr id="6" name="Shape 4"/>
          <p:cNvSpPr/>
          <p:nvPr/>
        </p:nvSpPr>
        <p:spPr>
          <a:xfrm>
            <a:off x="640080" y="1417320"/>
            <a:ext cx="5257800" cy="2194560"/>
          </a:xfrm>
          <a:prstGeom prst="roundRect">
            <a:avLst>
              <a:gd name="adj" fmla="val 3333"/>
            </a:avLst>
          </a:prstGeom>
          <a:solidFill>
            <a:srgbClr val="1E2761"/>
          </a:solidFill>
          <a:ln/>
        </p:spPr>
      </p:sp>
      <p:sp>
        <p:nvSpPr>
          <p:cNvPr id="7" name="Text 5"/>
          <p:cNvSpPr txBox="1"/>
          <p:nvPr/>
        </p:nvSpPr>
        <p:spPr>
          <a:xfrm>
            <a:off x="1005840" y="1691640"/>
            <a:ext cx="2103120" cy="77724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4.9%</a:t>
            </a:r>
            <a:endParaRPr lang="en-US" sz="4600" dirty="0"/>
          </a:p>
        </p:txBody>
      </p:sp>
      <p:sp>
        <p:nvSpPr>
          <p:cNvPr id="8" name="Text 6"/>
          <p:cNvSpPr txBox="1"/>
          <p:nvPr/>
        </p:nvSpPr>
        <p:spPr>
          <a:xfrm>
            <a:off x="3291840" y="1737360"/>
            <a:ext cx="2377440" cy="731520"/>
          </a:xfrm>
          <a:prstGeom prst="rect">
            <a:avLst/>
          </a:prstGeom>
          <a:noFill/>
          <a:ln/>
        </p:spPr>
        <p:txBody>
          <a:bodyPr wrap="square" lIns="0" tIns="0" rIns="0" bIns="0" rtlCol="0" anchor="ctr"/>
          <a:lstStyle/>
          <a:p>
            <a:pPr indent="0" marL="0">
              <a:lnSpc>
                <a:spcPts val="1800"/>
              </a:lnSpc>
              <a:buNone/>
            </a:pPr>
            <a:r>
              <a:rPr lang="en-US" sz="1300" dirty="0">
                <a:solidFill>
                  <a:srgbClr val="CADCFC"/>
                </a:solidFill>
                <a:latin typeface="Calibri" pitchFamily="34" charset="0"/>
                <a:ea typeface="Calibri" pitchFamily="34" charset="-122"/>
                <a:cs typeface="Calibri" pitchFamily="34" charset="-120"/>
              </a:rPr>
              <a:t>上場直後に市場で</a:t>
            </a:r>
            <a:endParaRPr lang="en-US" sz="1300" dirty="0"/>
          </a:p>
          <a:p>
            <a:pPr indent="0" marL="0">
              <a:lnSpc>
                <a:spcPts val="1800"/>
              </a:lnSpc>
              <a:buNone/>
            </a:pPr>
            <a:r>
              <a:rPr lang="en-US" sz="1300" dirty="0">
                <a:solidFill>
                  <a:srgbClr val="CADCFC"/>
                </a:solidFill>
                <a:latin typeface="Calibri" pitchFamily="34" charset="0"/>
                <a:ea typeface="Calibri" pitchFamily="34" charset="-122"/>
                <a:cs typeface="Calibri" pitchFamily="34" charset="-120"/>
              </a:rPr>
              <a:t>売買できた株の割合</a:t>
            </a:r>
            <a:endParaRPr lang="en-US" sz="1300" dirty="0"/>
          </a:p>
        </p:txBody>
      </p:sp>
      <p:sp>
        <p:nvSpPr>
          <p:cNvPr id="9" name="Text 7"/>
          <p:cNvSpPr txBox="1"/>
          <p:nvPr/>
        </p:nvSpPr>
        <p:spPr>
          <a:xfrm>
            <a:off x="1005840" y="2606040"/>
            <a:ext cx="4572000" cy="320040"/>
          </a:xfrm>
          <a:prstGeom prst="rect">
            <a:avLst/>
          </a:prstGeom>
          <a:noFill/>
          <a:ln/>
        </p:spPr>
        <p:txBody>
          <a:bodyPr wrap="square" lIns="0" tIns="0" rIns="0" bIns="0" rtlCol="0" anchor="ctr"/>
          <a:lstStyle/>
          <a:p>
            <a:pPr indent="0" marL="0">
              <a:buNone/>
            </a:pPr>
            <a:r>
              <a:rPr lang="en-US" sz="1200" i="1" dirty="0">
                <a:solidFill>
                  <a:srgbClr val="CADCFC"/>
                </a:solidFill>
                <a:latin typeface="Calibri" pitchFamily="34" charset="0"/>
                <a:ea typeface="Calibri" pitchFamily="34" charset="-122"/>
                <a:cs typeface="Calibri" pitchFamily="34" charset="-120"/>
              </a:rPr>
              <a:t>95%は売れない株。品薄が価格を押し上げた</a:t>
            </a:r>
            <a:endParaRPr lang="en-US" sz="1200" dirty="0"/>
          </a:p>
        </p:txBody>
      </p:sp>
      <p:sp>
        <p:nvSpPr>
          <p:cNvPr id="10" name="Text 8"/>
          <p:cNvSpPr txBox="1"/>
          <p:nvPr/>
        </p:nvSpPr>
        <p:spPr>
          <a:xfrm>
            <a:off x="1005840" y="3017520"/>
            <a:ext cx="4572000" cy="32004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6/16に個人の買い越しが過去最大の1.446億ドルを記録</a:t>
            </a:r>
            <a:endParaRPr lang="en-US" sz="1200" dirty="0"/>
          </a:p>
        </p:txBody>
      </p:sp>
      <p:sp>
        <p:nvSpPr>
          <p:cNvPr id="11" name="Text 9"/>
          <p:cNvSpPr txBox="1"/>
          <p:nvPr/>
        </p:nvSpPr>
        <p:spPr>
          <a:xfrm>
            <a:off x="6355080" y="1417320"/>
            <a:ext cx="5166360"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公開価格 $135 → 初値 $150</a:t>
            </a:r>
            <a:endParaRPr lang="en-US" sz="1300" dirty="0"/>
          </a:p>
        </p:txBody>
      </p:sp>
      <p:sp>
        <p:nvSpPr>
          <p:cNvPr id="12" name="Text 10"/>
          <p:cNvSpPr txBox="1"/>
          <p:nvPr/>
        </p:nvSpPr>
        <p:spPr>
          <a:xfrm>
            <a:off x="6355080" y="1673352"/>
            <a:ext cx="5166360" cy="274320"/>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初日高値 $176.52、終値 $160.95（+19%）</a:t>
            </a:r>
            <a:endParaRPr lang="en-US" sz="1150" dirty="0"/>
          </a:p>
        </p:txBody>
      </p:sp>
      <p:sp>
        <p:nvSpPr>
          <p:cNvPr id="13" name="Text 11"/>
          <p:cNvSpPr txBox="1"/>
          <p:nvPr/>
        </p:nvSpPr>
        <p:spPr>
          <a:xfrm>
            <a:off x="6355080" y="1993392"/>
            <a:ext cx="5166360"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需要は約1,500億ドル</a:t>
            </a:r>
            <a:endParaRPr lang="en-US" sz="1300" dirty="0"/>
          </a:p>
        </p:txBody>
      </p:sp>
      <p:sp>
        <p:nvSpPr>
          <p:cNvPr id="14" name="Text 12"/>
          <p:cNvSpPr txBox="1"/>
          <p:nvPr/>
        </p:nvSpPr>
        <p:spPr>
          <a:xfrm>
            <a:off x="6355080" y="2249424"/>
            <a:ext cx="5166360" cy="274320"/>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調達額750億ドルに対し2倍超の応募超過</a:t>
            </a:r>
            <a:endParaRPr lang="en-US" sz="1150" dirty="0"/>
          </a:p>
        </p:txBody>
      </p:sp>
      <p:sp>
        <p:nvSpPr>
          <p:cNvPr id="15" name="Text 13"/>
          <p:cNvSpPr txBox="1"/>
          <p:nvPr/>
        </p:nvSpPr>
        <p:spPr>
          <a:xfrm>
            <a:off x="6355080" y="2569464"/>
            <a:ext cx="5166360"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個人配分は20%台前半</a:t>
            </a:r>
            <a:endParaRPr lang="en-US" sz="1300" dirty="0"/>
          </a:p>
        </p:txBody>
      </p:sp>
      <p:sp>
        <p:nvSpPr>
          <p:cNvPr id="16" name="Text 14"/>
          <p:cNvSpPr txBox="1"/>
          <p:nvPr/>
        </p:nvSpPr>
        <p:spPr>
          <a:xfrm>
            <a:off x="6355080" y="2825496"/>
            <a:ext cx="5166360" cy="274320"/>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通常のIPOは5-10%。異例の高さ</a:t>
            </a:r>
            <a:endParaRPr lang="en-US" sz="1150" dirty="0"/>
          </a:p>
        </p:txBody>
      </p:sp>
      <p:sp>
        <p:nvSpPr>
          <p:cNvPr id="17" name="Text 15"/>
          <p:cNvSpPr txBox="1"/>
          <p:nvPr/>
        </p:nvSpPr>
        <p:spPr>
          <a:xfrm>
            <a:off x="6355080" y="3145536"/>
            <a:ext cx="5166360"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数百株申し込んで1株の配分</a:t>
            </a:r>
            <a:endParaRPr lang="en-US" sz="1300" dirty="0"/>
          </a:p>
        </p:txBody>
      </p:sp>
      <p:sp>
        <p:nvSpPr>
          <p:cNvPr id="18" name="Text 16"/>
          <p:cNvSpPr txBox="1"/>
          <p:nvPr/>
        </p:nvSpPr>
        <p:spPr>
          <a:xfrm>
            <a:off x="6355080" y="3401568"/>
            <a:ext cx="5166360" cy="274320"/>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SNSでは「記念品」と揶揄された</a:t>
            </a:r>
            <a:endParaRPr lang="en-US" sz="1150" dirty="0"/>
          </a:p>
        </p:txBody>
      </p:sp>
      <p:sp>
        <p:nvSpPr>
          <p:cNvPr id="19" name="Shape 17"/>
          <p:cNvSpPr/>
          <p:nvPr/>
        </p:nvSpPr>
        <p:spPr>
          <a:xfrm>
            <a:off x="640080" y="3977640"/>
            <a:ext cx="10881360" cy="914400"/>
          </a:xfrm>
          <a:prstGeom prst="roundRect">
            <a:avLst>
              <a:gd name="adj" fmla="val 6000"/>
            </a:avLst>
          </a:prstGeom>
          <a:solidFill>
            <a:srgbClr val="F4F6FA"/>
          </a:solidFill>
          <a:ln/>
        </p:spPr>
      </p:sp>
      <p:sp>
        <p:nvSpPr>
          <p:cNvPr id="20" name="Text 18"/>
          <p:cNvSpPr txBox="1"/>
          <p:nvPr/>
        </p:nvSpPr>
        <p:spPr>
          <a:xfrm>
            <a:off x="1005840" y="3977640"/>
            <a:ext cx="10149840" cy="914400"/>
          </a:xfrm>
          <a:prstGeom prst="rect">
            <a:avLst/>
          </a:prstGeom>
          <a:noFill/>
          <a:ln/>
        </p:spPr>
        <p:txBody>
          <a:bodyPr wrap="square" lIns="0" tIns="0" rIns="0" bIns="0" rtlCol="0" anchor="ctr"/>
          <a:lstStyle/>
          <a:p>
            <a:pPr indent="0" marL="0">
              <a:lnSpc>
                <a:spcPts val="2000"/>
              </a:lnSpc>
              <a:buNone/>
            </a:pPr>
            <a:r>
              <a:rPr lang="en-US" sz="1400" b="1" dirty="0">
                <a:solidFill>
                  <a:srgbClr val="1E2761"/>
                </a:solidFill>
                <a:latin typeface="Calibri" pitchFamily="34" charset="0"/>
                <a:ea typeface="Calibri" pitchFamily="34" charset="-122"/>
                <a:cs typeface="Calibri" pitchFamily="34" charset="-120"/>
              </a:rPr>
              <a:t>解釈： </a:t>
            </a:r>
            <a:pPr indent="0" marL="0">
              <a:lnSpc>
                <a:spcPts val="2000"/>
              </a:lnSpc>
              <a:buNone/>
            </a:pPr>
            <a:r>
              <a:rPr lang="en-US" sz="1400" dirty="0">
                <a:solidFill>
                  <a:srgbClr val="1A1A1A"/>
                </a:solidFill>
                <a:latin typeface="Calibri" pitchFamily="34" charset="0"/>
                <a:ea typeface="Calibri" pitchFamily="34" charset="-122"/>
                <a:cs typeface="Calibri" pitchFamily="34" charset="-120"/>
              </a:rPr>
              <a:t>上場直後の高騰は「需要の強さ」ではなく「供給の少なさ」が作ったもの。だからロックアップ解除で供給が増えると、支えられなくなる。</a:t>
            </a:r>
            <a:endParaRPr lang="en-US" sz="1400" dirty="0"/>
          </a:p>
        </p:txBody>
      </p:sp>
      <p:sp>
        <p:nvSpPr>
          <p:cNvPr id="21" name="Text 19"/>
          <p:cNvSpPr txBox="1"/>
          <p:nvPr/>
        </p:nvSpPr>
        <p:spPr>
          <a:xfrm>
            <a:off x="640080" y="5120640"/>
            <a:ext cx="10881360" cy="27432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SNSでは、この時点で懐疑の声もあった</a:t>
            </a:r>
            <a:endParaRPr lang="en-US" sz="1200" dirty="0"/>
          </a:p>
        </p:txBody>
      </p:sp>
      <p:sp>
        <p:nvSpPr>
          <p:cNvPr id="22" name="Text 20"/>
          <p:cNvSpPr txBox="1"/>
          <p:nvPr/>
        </p:nvSpPr>
        <p:spPr>
          <a:xfrm>
            <a:off x="640080" y="5394960"/>
            <a:ext cx="10881360" cy="640080"/>
          </a:xfrm>
          <a:prstGeom prst="rect">
            <a:avLst/>
          </a:prstGeom>
          <a:noFill/>
          <a:ln/>
        </p:spPr>
        <p:txBody>
          <a:bodyPr wrap="square" lIns="0" tIns="0" rIns="0" bIns="0" rtlCol="0" anchor="ctr"/>
          <a:lstStyle/>
          <a:p>
            <a:pPr indent="0" marL="0">
              <a:lnSpc>
                <a:spcPts val="1800"/>
              </a:lnSpc>
              <a:buNone/>
            </a:pPr>
            <a:r>
              <a:rPr lang="en-US" sz="1200" i="1" dirty="0">
                <a:solidFill>
                  <a:srgbClr val="1A1A1A"/>
                </a:solidFill>
                <a:latin typeface="Calibri" pitchFamily="34" charset="0"/>
                <a:ea typeface="Calibri" pitchFamily="34" charset="-122"/>
                <a:cs typeface="Calibri" pitchFamily="34" charset="-120"/>
              </a:rPr>
              <a:t>Redditで最も引用された投稿の趣旨 — 浮動株が10%未満の状態で買うなら、全額失って当然だ。</a:t>
            </a:r>
            <a:endParaRPr lang="en-US" sz="1200" dirty="0"/>
          </a:p>
          <a:p>
            <a:pPr indent="0" marL="0">
              <a:lnSpc>
                <a:spcPts val="1800"/>
              </a:lnSpc>
              <a:buNone/>
            </a:pPr>
            <a:r>
              <a:rPr lang="en-US" sz="1200" i="1" dirty="0">
                <a:solidFill>
                  <a:srgbClr val="1A1A1A"/>
                </a:solidFill>
                <a:latin typeface="Calibri" pitchFamily="34" charset="0"/>
                <a:ea typeface="Calibri" pitchFamily="34" charset="-122"/>
                <a:cs typeface="Calibri" pitchFamily="34" charset="-120"/>
              </a:rPr>
              <a:t>実際、7月16日以降は毎日、公開価格を下回ることになる。</a:t>
            </a:r>
            <a:endParaRPr lang="en-US" sz="1200" dirty="0"/>
          </a:p>
        </p:txBody>
      </p:sp>
      <p:sp>
        <p:nvSpPr>
          <p:cNvPr id="23" name="Text 21"/>
          <p:cNvSpPr txBox="1"/>
          <p:nvPr/>
        </p:nvSpPr>
        <p:spPr>
          <a:xfrm>
            <a:off x="640080" y="6327648"/>
            <a:ext cx="10881360" cy="274320"/>
          </a:xfrm>
          <a:prstGeom prst="rect">
            <a:avLst/>
          </a:prstGeom>
          <a:noFill/>
          <a:ln/>
        </p:spPr>
        <p:txBody>
          <a:bodyPr wrap="square" lIns="0" tIns="0" rIns="0" bIns="0"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出典：CNBC、Vanda Research、Breakout Point集計、各種報道</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11480"/>
            <a:ext cx="566928" cy="566928"/>
          </a:xfrm>
          <a:prstGeom prst="ellipse">
            <a:avLst/>
          </a:prstGeom>
          <a:solidFill>
            <a:srgbClr val="1E2761"/>
          </a:solidFill>
          <a:ln/>
        </p:spPr>
      </p:sp>
      <p:sp>
        <p:nvSpPr>
          <p:cNvPr id="3" name="Text 1"/>
          <p:cNvSpPr txBox="1"/>
          <p:nvPr/>
        </p:nvSpPr>
        <p:spPr>
          <a:xfrm>
            <a:off x="640080" y="41148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4" name="Text 2"/>
          <p:cNvSpPr txBox="1"/>
          <p:nvPr/>
        </p:nvSpPr>
        <p:spPr>
          <a:xfrm>
            <a:off x="1417320" y="384048"/>
            <a:ext cx="10058400" cy="4572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局面②　失速 — 好決算で8%下落</a:t>
            </a:r>
            <a:endParaRPr lang="en-US" sz="3000" dirty="0"/>
          </a:p>
        </p:txBody>
      </p:sp>
      <p:sp>
        <p:nvSpPr>
          <p:cNvPr id="5" name="Text 3"/>
          <p:cNvSpPr txBox="1"/>
          <p:nvPr/>
        </p:nvSpPr>
        <p:spPr>
          <a:xfrm>
            <a:off x="1417320" y="868680"/>
            <a:ext cx="10058400" cy="32004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8月4日決算：数字は予想超過、株価は下落</a:t>
            </a:r>
            <a:endParaRPr lang="en-US" sz="1300" dirty="0"/>
          </a:p>
        </p:txBody>
      </p:sp>
      <p:sp>
        <p:nvSpPr>
          <p:cNvPr id="6" name="Text 4"/>
          <p:cNvSpPr txBox="1"/>
          <p:nvPr/>
        </p:nvSpPr>
        <p:spPr>
          <a:xfrm>
            <a:off x="640080" y="1371600"/>
            <a:ext cx="5257800" cy="320040"/>
          </a:xfrm>
          <a:prstGeom prst="rect">
            <a:avLst/>
          </a:prstGeom>
          <a:noFill/>
          <a:ln/>
        </p:spPr>
        <p:txBody>
          <a:bodyPr wrap="square" lIns="0" tIns="0" rIns="0" bIns="0" rtlCol="0" anchor="ctr"/>
          <a:lstStyle/>
          <a:p>
            <a:pPr indent="0" marL="0">
              <a:buNone/>
            </a:pPr>
            <a:r>
              <a:rPr lang="en-US" sz="1300" b="1" spc="200" kern="0" dirty="0">
                <a:solidFill>
                  <a:srgbClr val="3E8E7E"/>
                </a:solidFill>
                <a:latin typeface="Calibri" pitchFamily="34" charset="0"/>
                <a:ea typeface="Calibri" pitchFamily="34" charset="-122"/>
                <a:cs typeface="Calibri" pitchFamily="34" charset="-120"/>
              </a:rPr>
              <a:t>決算の中身は良かった</a:t>
            </a:r>
            <a:endParaRPr lang="en-US" sz="1300" dirty="0"/>
          </a:p>
        </p:txBody>
      </p:sp>
      <p:sp>
        <p:nvSpPr>
          <p:cNvPr id="7" name="Shape 5"/>
          <p:cNvSpPr/>
          <p:nvPr/>
        </p:nvSpPr>
        <p:spPr>
          <a:xfrm>
            <a:off x="640080" y="1737360"/>
            <a:ext cx="5257800" cy="493776"/>
          </a:xfrm>
          <a:prstGeom prst="roundRect">
            <a:avLst>
              <a:gd name="adj" fmla="val 9259"/>
            </a:avLst>
          </a:prstGeom>
          <a:solidFill>
            <a:srgbClr val="F4F6FA"/>
          </a:solidFill>
          <a:ln/>
        </p:spPr>
      </p:sp>
      <p:sp>
        <p:nvSpPr>
          <p:cNvPr id="8" name="Text 6"/>
          <p:cNvSpPr txBox="1"/>
          <p:nvPr/>
        </p:nvSpPr>
        <p:spPr>
          <a:xfrm>
            <a:off x="914400" y="1737360"/>
            <a:ext cx="1097280" cy="493776"/>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売上</a:t>
            </a:r>
            <a:endParaRPr lang="en-US" sz="1200" dirty="0"/>
          </a:p>
        </p:txBody>
      </p:sp>
      <p:sp>
        <p:nvSpPr>
          <p:cNvPr id="9" name="Text 7"/>
          <p:cNvSpPr txBox="1"/>
          <p:nvPr/>
        </p:nvSpPr>
        <p:spPr>
          <a:xfrm>
            <a:off x="2011680" y="1737360"/>
            <a:ext cx="1280160" cy="493776"/>
          </a:xfrm>
          <a:prstGeom prst="rect">
            <a:avLst/>
          </a:prstGeom>
          <a:noFill/>
          <a:ln/>
        </p:spPr>
        <p:txBody>
          <a:bodyPr wrap="square" lIns="0" tIns="0" rIns="0" bIns="0" rtlCol="0" anchor="ctr"/>
          <a:lstStyle/>
          <a:p>
            <a:pPr indent="0" marL="0">
              <a:buNone/>
            </a:pPr>
            <a:r>
              <a:rPr lang="en-US" sz="1400" b="1" dirty="0">
                <a:solidFill>
                  <a:srgbClr val="3E8E7E"/>
                </a:solidFill>
                <a:latin typeface="Calibri" pitchFamily="34" charset="0"/>
                <a:ea typeface="Calibri" pitchFamily="34" charset="-122"/>
                <a:cs typeface="Calibri" pitchFamily="34" charset="-120"/>
              </a:rPr>
              <a:t>$78.1億</a:t>
            </a:r>
            <a:endParaRPr lang="en-US" sz="1400" dirty="0"/>
          </a:p>
        </p:txBody>
      </p:sp>
      <p:sp>
        <p:nvSpPr>
          <p:cNvPr id="10" name="Text 8"/>
          <p:cNvSpPr txBox="1"/>
          <p:nvPr/>
        </p:nvSpPr>
        <p:spPr>
          <a:xfrm>
            <a:off x="3337560" y="1737360"/>
            <a:ext cx="2377440" cy="493776"/>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予想$69.3億を大幅超過</a:t>
            </a:r>
            <a:endParaRPr lang="en-US" sz="1100" dirty="0"/>
          </a:p>
        </p:txBody>
      </p:sp>
      <p:sp>
        <p:nvSpPr>
          <p:cNvPr id="11" name="Shape 9"/>
          <p:cNvSpPr/>
          <p:nvPr/>
        </p:nvSpPr>
        <p:spPr>
          <a:xfrm>
            <a:off x="640080" y="2304288"/>
            <a:ext cx="5257800" cy="493776"/>
          </a:xfrm>
          <a:prstGeom prst="roundRect">
            <a:avLst>
              <a:gd name="adj" fmla="val 9259"/>
            </a:avLst>
          </a:prstGeom>
          <a:solidFill>
            <a:srgbClr val="F4F6FA"/>
          </a:solidFill>
          <a:ln/>
        </p:spPr>
      </p:sp>
      <p:sp>
        <p:nvSpPr>
          <p:cNvPr id="12" name="Text 10"/>
          <p:cNvSpPr txBox="1"/>
          <p:nvPr/>
        </p:nvSpPr>
        <p:spPr>
          <a:xfrm>
            <a:off x="914400" y="2304288"/>
            <a:ext cx="1097280" cy="493776"/>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成長率</a:t>
            </a:r>
            <a:endParaRPr lang="en-US" sz="1200" dirty="0"/>
          </a:p>
        </p:txBody>
      </p:sp>
      <p:sp>
        <p:nvSpPr>
          <p:cNvPr id="13" name="Text 11"/>
          <p:cNvSpPr txBox="1"/>
          <p:nvPr/>
        </p:nvSpPr>
        <p:spPr>
          <a:xfrm>
            <a:off x="2011680" y="2304288"/>
            <a:ext cx="1280160" cy="493776"/>
          </a:xfrm>
          <a:prstGeom prst="rect">
            <a:avLst/>
          </a:prstGeom>
          <a:noFill/>
          <a:ln/>
        </p:spPr>
        <p:txBody>
          <a:bodyPr wrap="square" lIns="0" tIns="0" rIns="0" bIns="0" rtlCol="0" anchor="ctr"/>
          <a:lstStyle/>
          <a:p>
            <a:pPr indent="0" marL="0">
              <a:buNone/>
            </a:pPr>
            <a:r>
              <a:rPr lang="en-US" sz="1400" b="1" dirty="0">
                <a:solidFill>
                  <a:srgbClr val="3E8E7E"/>
                </a:solidFill>
                <a:latin typeface="Calibri" pitchFamily="34" charset="0"/>
                <a:ea typeface="Calibri" pitchFamily="34" charset="-122"/>
                <a:cs typeface="Calibri" pitchFamily="34" charset="-120"/>
              </a:rPr>
              <a:t>+92%</a:t>
            </a:r>
            <a:endParaRPr lang="en-US" sz="1400" dirty="0"/>
          </a:p>
        </p:txBody>
      </p:sp>
      <p:sp>
        <p:nvSpPr>
          <p:cNvPr id="14" name="Text 12"/>
          <p:cNvSpPr txBox="1"/>
          <p:nvPr/>
        </p:nvSpPr>
        <p:spPr>
          <a:xfrm>
            <a:off x="3337560" y="2304288"/>
            <a:ext cx="2377440" cy="493776"/>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前年同期比</a:t>
            </a:r>
            <a:endParaRPr lang="en-US" sz="1100" dirty="0"/>
          </a:p>
        </p:txBody>
      </p:sp>
      <p:sp>
        <p:nvSpPr>
          <p:cNvPr id="15" name="Shape 13"/>
          <p:cNvSpPr/>
          <p:nvPr/>
        </p:nvSpPr>
        <p:spPr>
          <a:xfrm>
            <a:off x="640080" y="2871216"/>
            <a:ext cx="5257800" cy="493776"/>
          </a:xfrm>
          <a:prstGeom prst="roundRect">
            <a:avLst>
              <a:gd name="adj" fmla="val 9259"/>
            </a:avLst>
          </a:prstGeom>
          <a:solidFill>
            <a:srgbClr val="F4F6FA"/>
          </a:solidFill>
          <a:ln/>
        </p:spPr>
      </p:sp>
      <p:sp>
        <p:nvSpPr>
          <p:cNvPr id="16" name="Text 14"/>
          <p:cNvSpPr txBox="1"/>
          <p:nvPr/>
        </p:nvSpPr>
        <p:spPr>
          <a:xfrm>
            <a:off x="914400" y="2871216"/>
            <a:ext cx="1097280" cy="493776"/>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1株損益</a:t>
            </a:r>
            <a:endParaRPr lang="en-US" sz="1200" dirty="0"/>
          </a:p>
        </p:txBody>
      </p:sp>
      <p:sp>
        <p:nvSpPr>
          <p:cNvPr id="17" name="Text 15"/>
          <p:cNvSpPr txBox="1"/>
          <p:nvPr/>
        </p:nvSpPr>
        <p:spPr>
          <a:xfrm>
            <a:off x="2011680" y="2871216"/>
            <a:ext cx="1280160" cy="493776"/>
          </a:xfrm>
          <a:prstGeom prst="rect">
            <a:avLst/>
          </a:prstGeom>
          <a:noFill/>
          <a:ln/>
        </p:spPr>
        <p:txBody>
          <a:bodyPr wrap="square" lIns="0" tIns="0" rIns="0" bIns="0" rtlCol="0" anchor="ctr"/>
          <a:lstStyle/>
          <a:p>
            <a:pPr indent="0" marL="0">
              <a:buNone/>
            </a:pPr>
            <a:r>
              <a:rPr lang="en-US" sz="1400" b="1" dirty="0">
                <a:solidFill>
                  <a:srgbClr val="3E8E7E"/>
                </a:solidFill>
                <a:latin typeface="Calibri" pitchFamily="34" charset="0"/>
                <a:ea typeface="Calibri" pitchFamily="34" charset="-122"/>
                <a:cs typeface="Calibri" pitchFamily="34" charset="-120"/>
              </a:rPr>
              <a:t>-$0.09</a:t>
            </a:r>
            <a:endParaRPr lang="en-US" sz="1400" dirty="0"/>
          </a:p>
        </p:txBody>
      </p:sp>
      <p:sp>
        <p:nvSpPr>
          <p:cNvPr id="18" name="Text 16"/>
          <p:cNvSpPr txBox="1"/>
          <p:nvPr/>
        </p:nvSpPr>
        <p:spPr>
          <a:xfrm>
            <a:off x="3337560" y="2871216"/>
            <a:ext cx="2377440" cy="493776"/>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予想-$0.26より改善</a:t>
            </a:r>
            <a:endParaRPr lang="en-US" sz="1100" dirty="0"/>
          </a:p>
        </p:txBody>
      </p:sp>
      <p:sp>
        <p:nvSpPr>
          <p:cNvPr id="19" name="Shape 17"/>
          <p:cNvSpPr/>
          <p:nvPr/>
        </p:nvSpPr>
        <p:spPr>
          <a:xfrm>
            <a:off x="640080" y="3438144"/>
            <a:ext cx="5257800" cy="493776"/>
          </a:xfrm>
          <a:prstGeom prst="roundRect">
            <a:avLst>
              <a:gd name="adj" fmla="val 9259"/>
            </a:avLst>
          </a:prstGeom>
          <a:solidFill>
            <a:srgbClr val="F4F6FA"/>
          </a:solidFill>
          <a:ln/>
        </p:spPr>
      </p:sp>
      <p:sp>
        <p:nvSpPr>
          <p:cNvPr id="20" name="Text 18"/>
          <p:cNvSpPr txBox="1"/>
          <p:nvPr/>
        </p:nvSpPr>
        <p:spPr>
          <a:xfrm>
            <a:off x="914400" y="3438144"/>
            <a:ext cx="1097280" cy="493776"/>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純損失</a:t>
            </a:r>
            <a:endParaRPr lang="en-US" sz="1200" dirty="0"/>
          </a:p>
        </p:txBody>
      </p:sp>
      <p:sp>
        <p:nvSpPr>
          <p:cNvPr id="21" name="Text 19"/>
          <p:cNvSpPr txBox="1"/>
          <p:nvPr/>
        </p:nvSpPr>
        <p:spPr>
          <a:xfrm>
            <a:off x="2011680" y="3438144"/>
            <a:ext cx="1280160" cy="493776"/>
          </a:xfrm>
          <a:prstGeom prst="rect">
            <a:avLst/>
          </a:prstGeom>
          <a:noFill/>
          <a:ln/>
        </p:spPr>
        <p:txBody>
          <a:bodyPr wrap="square" lIns="0" tIns="0" rIns="0" bIns="0" rtlCol="0" anchor="ctr"/>
          <a:lstStyle/>
          <a:p>
            <a:pPr indent="0" marL="0">
              <a:buNone/>
            </a:pPr>
            <a:r>
              <a:rPr lang="en-US" sz="1400" b="1" dirty="0">
                <a:solidFill>
                  <a:srgbClr val="3E8E7E"/>
                </a:solidFill>
                <a:latin typeface="Calibri" pitchFamily="34" charset="0"/>
                <a:ea typeface="Calibri" pitchFamily="34" charset="-122"/>
                <a:cs typeface="Calibri" pitchFamily="34" charset="-120"/>
              </a:rPr>
              <a:t>$5.41億</a:t>
            </a:r>
            <a:endParaRPr lang="en-US" sz="1400" dirty="0"/>
          </a:p>
        </p:txBody>
      </p:sp>
      <p:sp>
        <p:nvSpPr>
          <p:cNvPr id="22" name="Text 20"/>
          <p:cNvSpPr txBox="1"/>
          <p:nvPr/>
        </p:nvSpPr>
        <p:spPr>
          <a:xfrm>
            <a:off x="3337560" y="3438144"/>
            <a:ext cx="2377440" cy="493776"/>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前年$10億から縮小</a:t>
            </a:r>
            <a:endParaRPr lang="en-US" sz="1100" dirty="0"/>
          </a:p>
        </p:txBody>
      </p:sp>
      <p:sp>
        <p:nvSpPr>
          <p:cNvPr id="23" name="Text 21"/>
          <p:cNvSpPr txBox="1"/>
          <p:nvPr/>
        </p:nvSpPr>
        <p:spPr>
          <a:xfrm>
            <a:off x="6355080" y="1371600"/>
            <a:ext cx="5166360" cy="320040"/>
          </a:xfrm>
          <a:prstGeom prst="rect">
            <a:avLst/>
          </a:prstGeom>
          <a:noFill/>
          <a:ln/>
        </p:spPr>
        <p:txBody>
          <a:bodyPr wrap="square" lIns="0" tIns="0" rIns="0" bIns="0" rtlCol="0" anchor="ctr"/>
          <a:lstStyle/>
          <a:p>
            <a:pPr indent="0" marL="0">
              <a:buNone/>
            </a:pPr>
            <a:r>
              <a:rPr lang="en-US" sz="1300" b="1" spc="200" kern="0" dirty="0">
                <a:solidFill>
                  <a:srgbClr val="C0392B"/>
                </a:solidFill>
                <a:latin typeface="Calibri" pitchFamily="34" charset="0"/>
                <a:ea typeface="Calibri" pitchFamily="34" charset="-122"/>
                <a:cs typeface="Calibri" pitchFamily="34" charset="-120"/>
              </a:rPr>
              <a:t>それでも売られた理由</a:t>
            </a:r>
            <a:endParaRPr lang="en-US" sz="1300" dirty="0"/>
          </a:p>
        </p:txBody>
      </p:sp>
      <p:sp>
        <p:nvSpPr>
          <p:cNvPr id="24" name="Shape 22"/>
          <p:cNvSpPr/>
          <p:nvPr/>
        </p:nvSpPr>
        <p:spPr>
          <a:xfrm>
            <a:off x="6355080" y="1737360"/>
            <a:ext cx="5166360" cy="1371600"/>
          </a:xfrm>
          <a:prstGeom prst="roundRect">
            <a:avLst>
              <a:gd name="adj" fmla="val 4000"/>
            </a:avLst>
          </a:prstGeom>
          <a:solidFill>
            <a:srgbClr val="1E2761"/>
          </a:solidFill>
          <a:ln/>
        </p:spPr>
      </p:sp>
      <p:sp>
        <p:nvSpPr>
          <p:cNvPr id="25" name="Text 23"/>
          <p:cNvSpPr txBox="1"/>
          <p:nvPr/>
        </p:nvSpPr>
        <p:spPr>
          <a:xfrm>
            <a:off x="6675120" y="1874520"/>
            <a:ext cx="2011680" cy="685800"/>
          </a:xfrm>
          <a:prstGeom prst="rect">
            <a:avLst/>
          </a:prstGeom>
          <a:noFill/>
          <a:ln/>
        </p:spPr>
        <p:txBody>
          <a:bodyPr wrap="square" lIns="0" tIns="0" rIns="0" bIns="0" rtlCol="0" anchor="ctr"/>
          <a:lstStyle/>
          <a:p>
            <a:pPr indent="0" marL="0">
              <a:buNone/>
            </a:pPr>
            <a:r>
              <a:rPr lang="en-US" sz="4000" b="1" dirty="0">
                <a:solidFill>
                  <a:srgbClr val="E8A33D"/>
                </a:solidFill>
                <a:latin typeface="Cambria" pitchFamily="34" charset="0"/>
                <a:ea typeface="Cambria" pitchFamily="34" charset="-122"/>
                <a:cs typeface="Cambria" pitchFamily="34" charset="-120"/>
              </a:rPr>
              <a:t>235%</a:t>
            </a:r>
            <a:endParaRPr lang="en-US" sz="4000" dirty="0"/>
          </a:p>
        </p:txBody>
      </p:sp>
      <p:sp>
        <p:nvSpPr>
          <p:cNvPr id="26" name="Text 24"/>
          <p:cNvSpPr txBox="1"/>
          <p:nvPr/>
        </p:nvSpPr>
        <p:spPr>
          <a:xfrm>
            <a:off x="8778240" y="1874520"/>
            <a:ext cx="2514600" cy="777240"/>
          </a:xfrm>
          <a:prstGeom prst="rect">
            <a:avLst/>
          </a:prstGeom>
          <a:noFill/>
          <a:ln/>
        </p:spPr>
        <p:txBody>
          <a:bodyPr wrap="square" lIns="0" tIns="0" rIns="0" bIns="0" rtlCol="0" anchor="ctr"/>
          <a:lstStyle/>
          <a:p>
            <a:pPr indent="0" marL="0">
              <a:lnSpc>
                <a:spcPts val="1600"/>
              </a:lnSpc>
              <a:buNone/>
            </a:pPr>
            <a:r>
              <a:rPr lang="en-US" sz="1150" dirty="0">
                <a:solidFill>
                  <a:srgbClr val="CADCFC"/>
                </a:solidFill>
                <a:latin typeface="Calibri" pitchFamily="34" charset="0"/>
                <a:ea typeface="Calibri" pitchFamily="34" charset="-122"/>
                <a:cs typeface="Calibri" pitchFamily="34" charset="-120"/>
              </a:rPr>
              <a:t>設備投資 $183.7億 が</a:t>
            </a:r>
            <a:endParaRPr lang="en-US" sz="1150" dirty="0"/>
          </a:p>
          <a:p>
            <a:pPr indent="0" marL="0">
              <a:lnSpc>
                <a:spcPts val="1600"/>
              </a:lnSpc>
              <a:buNone/>
            </a:pPr>
            <a:r>
              <a:rPr lang="en-US" sz="1150" dirty="0">
                <a:solidFill>
                  <a:srgbClr val="CADCFC"/>
                </a:solidFill>
                <a:latin typeface="Calibri" pitchFamily="34" charset="0"/>
                <a:ea typeface="Calibri" pitchFamily="34" charset="-122"/>
                <a:cs typeface="Calibri" pitchFamily="34" charset="-120"/>
              </a:rPr>
              <a:t>同期間の売上 $78.1億 に占める割合</a:t>
            </a:r>
            <a:endParaRPr lang="en-US" sz="1150" dirty="0"/>
          </a:p>
        </p:txBody>
      </p:sp>
      <p:sp>
        <p:nvSpPr>
          <p:cNvPr id="27" name="Text 25"/>
          <p:cNvSpPr txBox="1"/>
          <p:nvPr/>
        </p:nvSpPr>
        <p:spPr>
          <a:xfrm>
            <a:off x="6675120" y="2697480"/>
            <a:ext cx="4572000" cy="320040"/>
          </a:xfrm>
          <a:prstGeom prst="rect">
            <a:avLst/>
          </a:prstGeom>
          <a:noFill/>
          <a:ln/>
        </p:spPr>
        <p:txBody>
          <a:bodyPr wrap="square" lIns="0" tIns="0" rIns="0" bIns="0" rtlCol="0" anchor="ctr"/>
          <a:lstStyle/>
          <a:p>
            <a:pPr indent="0" marL="0">
              <a:buNone/>
            </a:pPr>
            <a:r>
              <a:rPr lang="en-US" sz="1150" i="1" dirty="0">
                <a:solidFill>
                  <a:srgbClr val="FFFFFF"/>
                </a:solidFill>
                <a:latin typeface="Calibri" pitchFamily="34" charset="0"/>
                <a:ea typeface="Calibri" pitchFamily="34" charset="-122"/>
                <a:cs typeface="Calibri" pitchFamily="34" charset="-120"/>
              </a:rPr>
              <a:t>100円売るのに235円を設備に投じている</a:t>
            </a:r>
            <a:endParaRPr lang="en-US" sz="1150" dirty="0"/>
          </a:p>
        </p:txBody>
      </p:sp>
      <p:sp>
        <p:nvSpPr>
          <p:cNvPr id="28" name="Text 26"/>
          <p:cNvSpPr txBox="1"/>
          <p:nvPr/>
        </p:nvSpPr>
        <p:spPr>
          <a:xfrm>
            <a:off x="6355080" y="3246120"/>
            <a:ext cx="5166360" cy="731520"/>
          </a:xfrm>
          <a:prstGeom prst="rect">
            <a:avLst/>
          </a:prstGeom>
          <a:noFill/>
          <a:ln/>
        </p:spPr>
        <p:txBody>
          <a:bodyPr wrap="square" lIns="0" tIns="0" rIns="0" bIns="0" rtlCol="0" anchor="ctr"/>
          <a:lstStyle/>
          <a:p>
            <a:pPr indent="0" marL="0">
              <a:lnSpc>
                <a:spcPts val="2000"/>
              </a:lnSpc>
              <a:buNone/>
            </a:pPr>
            <a:r>
              <a:rPr lang="en-US" sz="1300" b="1" dirty="0">
                <a:solidFill>
                  <a:srgbClr val="1E2761"/>
                </a:solidFill>
                <a:latin typeface="Calibri" pitchFamily="34" charset="0"/>
                <a:ea typeface="Calibri" pitchFamily="34" charset="-122"/>
                <a:cs typeface="Calibri" pitchFamily="34" charset="-120"/>
              </a:rPr>
              <a:t>市場が突きつけた問い</a:t>
            </a:r>
            <a:endParaRPr lang="en-US" sz="1300" dirty="0"/>
          </a:p>
          <a:p>
            <a:pPr indent="0" marL="0">
              <a:lnSpc>
                <a:spcPts val="2000"/>
              </a:lnSpc>
              <a:buNone/>
            </a:pPr>
            <a:r>
              <a:rPr lang="en-US" sz="1300" dirty="0">
                <a:solidFill>
                  <a:srgbClr val="1A1A1A"/>
                </a:solidFill>
                <a:latin typeface="Calibri" pitchFamily="34" charset="0"/>
                <a:ea typeface="Calibri" pitchFamily="34" charset="-122"/>
                <a:cs typeface="Calibri" pitchFamily="34" charset="-120"/>
              </a:rPr>
              <a:t>「伸びているのは分かった。手元に現金が残り始めるのはいつか」</a:t>
            </a:r>
            <a:endParaRPr lang="en-US" sz="1300" dirty="0"/>
          </a:p>
        </p:txBody>
      </p:sp>
      <p:sp>
        <p:nvSpPr>
          <p:cNvPr id="29" name="Text 27"/>
          <p:cNvSpPr txBox="1"/>
          <p:nvPr/>
        </p:nvSpPr>
        <p:spPr>
          <a:xfrm>
            <a:off x="6355080" y="3931920"/>
            <a:ext cx="5166360" cy="640080"/>
          </a:xfrm>
          <a:prstGeom prst="rect">
            <a:avLst/>
          </a:prstGeom>
          <a:noFill/>
          <a:ln/>
        </p:spPr>
        <p:txBody>
          <a:bodyPr wrap="square" lIns="0" tIns="0" rIns="0" bIns="0" rtlCol="0" anchor="ctr"/>
          <a:lstStyle/>
          <a:p>
            <a:pPr indent="0" marL="0">
              <a:lnSpc>
                <a:spcPts val="1700"/>
              </a:lnSpc>
              <a:buNone/>
            </a:pPr>
            <a:r>
              <a:rPr lang="en-US" sz="1150" dirty="0">
                <a:solidFill>
                  <a:srgbClr val="6B7280"/>
                </a:solidFill>
                <a:latin typeface="Calibri" pitchFamily="34" charset="0"/>
                <a:ea typeface="Calibri" pitchFamily="34" charset="-122"/>
                <a:cs typeface="Calibri" pitchFamily="34" charset="-120"/>
              </a:rPr>
              <a:t>上半期のフリーキャッシュフローは −$250億。</a:t>
            </a:r>
            <a:endParaRPr lang="en-US" sz="1150" dirty="0"/>
          </a:p>
          <a:p>
            <a:pPr indent="0" marL="0">
              <a:lnSpc>
                <a:spcPts val="1700"/>
              </a:lnSpc>
              <a:buNone/>
            </a:pPr>
            <a:r>
              <a:rPr lang="en-US" sz="1150" dirty="0">
                <a:solidFill>
                  <a:srgbClr val="6B7280"/>
                </a:solidFill>
                <a:latin typeface="Calibri" pitchFamily="34" charset="0"/>
                <a:ea typeface="Calibri" pitchFamily="34" charset="-122"/>
                <a:cs typeface="Calibri" pitchFamily="34" charset="-120"/>
              </a:rPr>
              <a:t>IPOと社債で調達した$1,100億で埋めている。</a:t>
            </a:r>
            <a:endParaRPr lang="en-US" sz="1150" dirty="0"/>
          </a:p>
        </p:txBody>
      </p:sp>
      <p:sp>
        <p:nvSpPr>
          <p:cNvPr id="30" name="Shape 28"/>
          <p:cNvSpPr/>
          <p:nvPr/>
        </p:nvSpPr>
        <p:spPr>
          <a:xfrm>
            <a:off x="640080" y="4206240"/>
            <a:ext cx="5257800" cy="685800"/>
          </a:xfrm>
          <a:prstGeom prst="roundRect">
            <a:avLst>
              <a:gd name="adj" fmla="val 6667"/>
            </a:avLst>
          </a:prstGeom>
          <a:solidFill>
            <a:srgbClr val="F4F6FA"/>
          </a:solidFill>
          <a:ln/>
        </p:spPr>
      </p:sp>
      <p:sp>
        <p:nvSpPr>
          <p:cNvPr id="31" name="Text 29"/>
          <p:cNvSpPr txBox="1"/>
          <p:nvPr/>
        </p:nvSpPr>
        <p:spPr>
          <a:xfrm>
            <a:off x="914400" y="4206240"/>
            <a:ext cx="4754880" cy="685800"/>
          </a:xfrm>
          <a:prstGeom prst="rect">
            <a:avLst/>
          </a:prstGeom>
          <a:noFill/>
          <a:ln/>
        </p:spPr>
        <p:txBody>
          <a:bodyPr wrap="square" lIns="0" tIns="0" rIns="0" bIns="0" rtlCol="0" anchor="ctr"/>
          <a:lstStyle/>
          <a:p>
            <a:pPr indent="0" marL="0">
              <a:buNone/>
            </a:pPr>
            <a:r>
              <a:rPr lang="en-US" sz="1300" b="1" dirty="0">
                <a:solidFill>
                  <a:srgbClr val="C0392B"/>
                </a:solidFill>
                <a:latin typeface="Calibri" pitchFamily="34" charset="0"/>
                <a:ea typeface="Calibri" pitchFamily="34" charset="-122"/>
                <a:cs typeface="Calibri" pitchFamily="34" charset="-120"/>
              </a:rPr>
              <a:t>8/5終値 $108.27　−14%　公開価格を20%下回る</a:t>
            </a:r>
            <a:endParaRPr lang="en-US" sz="1300" dirty="0"/>
          </a:p>
        </p:txBody>
      </p:sp>
      <p:sp>
        <p:nvSpPr>
          <p:cNvPr id="32" name="Shape 30"/>
          <p:cNvSpPr/>
          <p:nvPr/>
        </p:nvSpPr>
        <p:spPr>
          <a:xfrm>
            <a:off x="640080" y="5074920"/>
            <a:ext cx="10881360" cy="960120"/>
          </a:xfrm>
          <a:prstGeom prst="roundRect">
            <a:avLst>
              <a:gd name="adj" fmla="val 5714"/>
            </a:avLst>
          </a:prstGeom>
          <a:solidFill>
            <a:srgbClr val="F4F6FA"/>
          </a:solidFill>
          <a:ln/>
        </p:spPr>
      </p:sp>
      <p:sp>
        <p:nvSpPr>
          <p:cNvPr id="33" name="Text 31"/>
          <p:cNvSpPr txBox="1"/>
          <p:nvPr/>
        </p:nvSpPr>
        <p:spPr>
          <a:xfrm>
            <a:off x="1005840" y="5074920"/>
            <a:ext cx="10149840" cy="960120"/>
          </a:xfrm>
          <a:prstGeom prst="rect">
            <a:avLst/>
          </a:prstGeom>
          <a:noFill/>
          <a:ln/>
        </p:spPr>
        <p:txBody>
          <a:bodyPr wrap="square" lIns="0" tIns="0" rIns="0" bIns="0" rtlCol="0" anchor="ctr"/>
          <a:lstStyle/>
          <a:p>
            <a:pPr indent="0" marL="0">
              <a:lnSpc>
                <a:spcPts val="1800"/>
              </a:lnSpc>
              <a:buNone/>
            </a:pPr>
            <a:r>
              <a:rPr lang="en-US" sz="1250" b="1" dirty="0">
                <a:solidFill>
                  <a:srgbClr val="1E2761"/>
                </a:solidFill>
                <a:latin typeface="Calibri" pitchFamily="34" charset="0"/>
                <a:ea typeface="Calibri" pitchFamily="34" charset="-122"/>
                <a:cs typeface="Calibri" pitchFamily="34" charset="-120"/>
              </a:rPr>
              <a:t>同じ日、プロの見解は正反対だった。 </a:t>
            </a:r>
            <a:pPr indent="0" marL="0">
              <a:lnSpc>
                <a:spcPts val="1800"/>
              </a:lnSpc>
              <a:buNone/>
            </a:pPr>
            <a:r>
              <a:rPr lang="en-US" sz="1250" dirty="0">
                <a:solidFill>
                  <a:srgbClr val="1A1A1A"/>
                </a:solidFill>
                <a:latin typeface="Calibri" pitchFamily="34" charset="0"/>
                <a:ea typeface="Calibri" pitchFamily="34" charset="-122"/>
                <a:cs typeface="Calibri" pitchFamily="34" charset="-120"/>
              </a:rPr>
              <a:t>一方は月面活動と軌道上データセンターを根拠に「100年に一度の投資」と評価し、他方は資本集約戦略が空振りすればプレミアムがディスカウントに変わるとして、フェアバリュー$30の空売りを表明した。</a:t>
            </a:r>
            <a:endParaRPr lang="en-US" sz="1250" dirty="0"/>
          </a:p>
        </p:txBody>
      </p:sp>
      <p:sp>
        <p:nvSpPr>
          <p:cNvPr id="34" name="Text 32"/>
          <p:cNvSpPr txBox="1"/>
          <p:nvPr/>
        </p:nvSpPr>
        <p:spPr>
          <a:xfrm>
            <a:off x="640080" y="6327648"/>
            <a:ext cx="10881360" cy="274320"/>
          </a:xfrm>
          <a:prstGeom prst="rect">
            <a:avLst/>
          </a:prstGeom>
          <a:noFill/>
          <a:ln/>
        </p:spPr>
        <p:txBody>
          <a:bodyPr wrap="square" lIns="0" tIns="0" rIns="0" bIns="0"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出典：SpaceX 2026年第2四半期決算、CNBC、各種報道</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11480"/>
            <a:ext cx="566928" cy="566928"/>
          </a:xfrm>
          <a:prstGeom prst="ellipse">
            <a:avLst/>
          </a:prstGeom>
          <a:solidFill>
            <a:srgbClr val="1E2761"/>
          </a:solidFill>
          <a:ln/>
        </p:spPr>
      </p:sp>
      <p:sp>
        <p:nvSpPr>
          <p:cNvPr id="3" name="Text 1"/>
          <p:cNvSpPr txBox="1"/>
          <p:nvPr/>
        </p:nvSpPr>
        <p:spPr>
          <a:xfrm>
            <a:off x="640080" y="41148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4" name="Text 2"/>
          <p:cNvSpPr txBox="1"/>
          <p:nvPr/>
        </p:nvSpPr>
        <p:spPr>
          <a:xfrm>
            <a:off x="1417320" y="384048"/>
            <a:ext cx="10058400" cy="4572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局面③　踏み上げ — 悪材料で上がった週</a:t>
            </a:r>
            <a:endParaRPr lang="en-US" sz="3000" dirty="0"/>
          </a:p>
        </p:txBody>
      </p:sp>
      <p:sp>
        <p:nvSpPr>
          <p:cNvPr id="5" name="Text 3"/>
          <p:cNvSpPr txBox="1"/>
          <p:nvPr/>
        </p:nvSpPr>
        <p:spPr>
          <a:xfrm>
            <a:off x="1417320" y="868680"/>
            <a:ext cx="10058400" cy="32004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8月6日ロックアップ解除 → 8月12日に+10%</a:t>
            </a:r>
            <a:endParaRPr lang="en-US" sz="1300" dirty="0"/>
          </a:p>
        </p:txBody>
      </p:sp>
      <p:sp>
        <p:nvSpPr>
          <p:cNvPr id="6" name="Text 4"/>
          <p:cNvSpPr txBox="1"/>
          <p:nvPr/>
        </p:nvSpPr>
        <p:spPr>
          <a:xfrm>
            <a:off x="640080" y="1371600"/>
            <a:ext cx="5029200" cy="292608"/>
          </a:xfrm>
          <a:prstGeom prst="rect">
            <a:avLst/>
          </a:prstGeom>
          <a:noFill/>
          <a:ln/>
        </p:spPr>
        <p:txBody>
          <a:bodyPr wrap="square" lIns="0" tIns="0" rIns="0" bIns="0" rtlCol="0" anchor="ctr"/>
          <a:lstStyle/>
          <a:p>
            <a:pPr indent="0" marL="0">
              <a:buNone/>
            </a:pPr>
            <a:r>
              <a:rPr lang="en-US" sz="1200" b="1" spc="200" kern="0" dirty="0">
                <a:solidFill>
                  <a:srgbClr val="6B7280"/>
                </a:solidFill>
                <a:latin typeface="Calibri" pitchFamily="34" charset="0"/>
                <a:ea typeface="Calibri" pitchFamily="34" charset="-122"/>
                <a:cs typeface="Calibri" pitchFamily="34" charset="-120"/>
              </a:rPr>
              <a:t>通常の理屈</a:t>
            </a:r>
            <a:endParaRPr lang="en-US" sz="1200" dirty="0"/>
          </a:p>
        </p:txBody>
      </p:sp>
      <p:sp>
        <p:nvSpPr>
          <p:cNvPr id="7" name="Shape 5"/>
          <p:cNvSpPr/>
          <p:nvPr/>
        </p:nvSpPr>
        <p:spPr>
          <a:xfrm>
            <a:off x="640080" y="1691640"/>
            <a:ext cx="4937760" cy="1051560"/>
          </a:xfrm>
          <a:prstGeom prst="roundRect">
            <a:avLst>
              <a:gd name="adj" fmla="val 5217"/>
            </a:avLst>
          </a:prstGeom>
          <a:solidFill>
            <a:srgbClr val="F4F6FA"/>
          </a:solidFill>
          <a:ln/>
        </p:spPr>
      </p:sp>
      <p:sp>
        <p:nvSpPr>
          <p:cNvPr id="8" name="Text 6"/>
          <p:cNvSpPr txBox="1"/>
          <p:nvPr/>
        </p:nvSpPr>
        <p:spPr>
          <a:xfrm>
            <a:off x="960120" y="1691640"/>
            <a:ext cx="4297680" cy="1051560"/>
          </a:xfrm>
          <a:prstGeom prst="rect">
            <a:avLst/>
          </a:prstGeom>
          <a:noFill/>
          <a:ln/>
        </p:spPr>
        <p:txBody>
          <a:bodyPr wrap="square" lIns="0" tIns="0" rIns="0" bIns="0" rtlCol="0" anchor="ctr"/>
          <a:lstStyle/>
          <a:p>
            <a:pPr indent="0" marL="0">
              <a:lnSpc>
                <a:spcPts val="2000"/>
              </a:lnSpc>
              <a:buNone/>
            </a:pPr>
            <a:r>
              <a:rPr lang="en-US" sz="1400" dirty="0">
                <a:solidFill>
                  <a:srgbClr val="1A1A1A"/>
                </a:solidFill>
                <a:latin typeface="Calibri" pitchFamily="34" charset="0"/>
                <a:ea typeface="Calibri" pitchFamily="34" charset="-122"/>
                <a:cs typeface="Calibri" pitchFamily="34" charset="-120"/>
              </a:rPr>
              <a:t>9億1,150万株が解禁</a:t>
            </a:r>
            <a:endParaRPr lang="en-US" sz="1400" dirty="0"/>
          </a:p>
          <a:p>
            <a:pPr indent="0" marL="0">
              <a:lnSpc>
                <a:spcPts val="2000"/>
              </a:lnSpc>
              <a:buNone/>
            </a:pPr>
            <a:r>
              <a:rPr lang="en-US" sz="1400" dirty="0">
                <a:solidFill>
                  <a:srgbClr val="1A1A1A"/>
                </a:solidFill>
                <a:latin typeface="Calibri" pitchFamily="34" charset="0"/>
                <a:ea typeface="Calibri" pitchFamily="34" charset="-122"/>
                <a:cs typeface="Calibri" pitchFamily="34" charset="-120"/>
              </a:rPr>
              <a:t>（約$1,230億分）</a:t>
            </a:r>
            <a:endParaRPr lang="en-US" sz="1400" dirty="0"/>
          </a:p>
        </p:txBody>
      </p:sp>
      <p:sp>
        <p:nvSpPr>
          <p:cNvPr id="9" name="Text 7"/>
          <p:cNvSpPr txBox="1"/>
          <p:nvPr/>
        </p:nvSpPr>
        <p:spPr>
          <a:xfrm>
            <a:off x="960120" y="2788920"/>
            <a:ext cx="4572000" cy="292608"/>
          </a:xfrm>
          <a:prstGeom prst="rect">
            <a:avLst/>
          </a:prstGeom>
          <a:noFill/>
          <a:ln/>
        </p:spPr>
        <p:txBody>
          <a:bodyPr wrap="square" lIns="0" tIns="0" rIns="0" bIns="0" rtlCol="0" anchor="ctr"/>
          <a:lstStyle/>
          <a:p>
            <a:pPr indent="0" marL="0">
              <a:buNone/>
            </a:pPr>
            <a:r>
              <a:rPr lang="en-US" sz="1200" i="1" dirty="0">
                <a:solidFill>
                  <a:srgbClr val="6B7280"/>
                </a:solidFill>
                <a:latin typeface="Calibri" pitchFamily="34" charset="0"/>
                <a:ea typeface="Calibri" pitchFamily="34" charset="-122"/>
                <a:cs typeface="Calibri" pitchFamily="34" charset="-120"/>
              </a:rPr>
              <a:t>→ 売り圧力で下落するはず</a:t>
            </a:r>
            <a:endParaRPr lang="en-US" sz="1200" dirty="0"/>
          </a:p>
        </p:txBody>
      </p:sp>
      <p:sp>
        <p:nvSpPr>
          <p:cNvPr id="10" name="Text 8"/>
          <p:cNvSpPr txBox="1"/>
          <p:nvPr/>
        </p:nvSpPr>
        <p:spPr>
          <a:xfrm>
            <a:off x="6583680" y="1371600"/>
            <a:ext cx="4937760" cy="292608"/>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実際に起きたこと</a:t>
            </a:r>
            <a:endParaRPr lang="en-US" sz="1200" dirty="0"/>
          </a:p>
        </p:txBody>
      </p:sp>
      <p:sp>
        <p:nvSpPr>
          <p:cNvPr id="11" name="Shape 9"/>
          <p:cNvSpPr/>
          <p:nvPr/>
        </p:nvSpPr>
        <p:spPr>
          <a:xfrm>
            <a:off x="6583680" y="1691640"/>
            <a:ext cx="4937760" cy="1051560"/>
          </a:xfrm>
          <a:prstGeom prst="roundRect">
            <a:avLst>
              <a:gd name="adj" fmla="val 5217"/>
            </a:avLst>
          </a:prstGeom>
          <a:solidFill>
            <a:srgbClr val="1E2761"/>
          </a:solidFill>
          <a:ln/>
        </p:spPr>
      </p:sp>
      <p:sp>
        <p:nvSpPr>
          <p:cNvPr id="12" name="Text 10"/>
          <p:cNvSpPr txBox="1"/>
          <p:nvPr/>
        </p:nvSpPr>
        <p:spPr>
          <a:xfrm>
            <a:off x="6903720" y="1691640"/>
            <a:ext cx="4297680" cy="1051560"/>
          </a:xfrm>
          <a:prstGeom prst="rect">
            <a:avLst/>
          </a:prstGeom>
          <a:noFill/>
          <a:ln/>
        </p:spPr>
        <p:txBody>
          <a:bodyPr wrap="square" lIns="0" tIns="0" rIns="0" bIns="0" rtlCol="0" anchor="ctr"/>
          <a:lstStyle/>
          <a:p>
            <a:pPr indent="0" marL="0">
              <a:lnSpc>
                <a:spcPts val="2000"/>
              </a:lnSpc>
              <a:buNone/>
            </a:pPr>
            <a:r>
              <a:rPr lang="en-US" sz="1400" dirty="0">
                <a:solidFill>
                  <a:srgbClr val="FFFFFF"/>
                </a:solidFill>
                <a:latin typeface="Calibri" pitchFamily="34" charset="0"/>
                <a:ea typeface="Calibri" pitchFamily="34" charset="-122"/>
                <a:cs typeface="Calibri" pitchFamily="34" charset="-120"/>
              </a:rPr>
              <a:t>空売り比率 34% → 11%</a:t>
            </a:r>
            <a:endParaRPr lang="en-US" sz="1400" dirty="0"/>
          </a:p>
          <a:p>
            <a:pPr indent="0" marL="0">
              <a:lnSpc>
                <a:spcPts val="2000"/>
              </a:lnSpc>
              <a:buNone/>
            </a:pPr>
            <a:r>
              <a:rPr lang="en-US" sz="1400" dirty="0">
                <a:solidFill>
                  <a:srgbClr val="FFFFFF"/>
                </a:solidFill>
                <a:latin typeface="Calibri" pitchFamily="34" charset="0"/>
                <a:ea typeface="Calibri" pitchFamily="34" charset="-122"/>
                <a:cs typeface="Calibri" pitchFamily="34" charset="-120"/>
              </a:rPr>
              <a:t>株価 +10%（$148）</a:t>
            </a:r>
            <a:endParaRPr lang="en-US" sz="1400" dirty="0"/>
          </a:p>
        </p:txBody>
      </p:sp>
      <p:sp>
        <p:nvSpPr>
          <p:cNvPr id="13" name="Text 11"/>
          <p:cNvSpPr txBox="1"/>
          <p:nvPr/>
        </p:nvSpPr>
        <p:spPr>
          <a:xfrm>
            <a:off x="6903720" y="2788920"/>
            <a:ext cx="4572000" cy="292608"/>
          </a:xfrm>
          <a:prstGeom prst="rect">
            <a:avLst/>
          </a:prstGeom>
          <a:noFill/>
          <a:ln/>
        </p:spPr>
        <p:txBody>
          <a:bodyPr wrap="square" lIns="0" tIns="0" rIns="0" bIns="0" rtlCol="0" anchor="ctr"/>
          <a:lstStyle/>
          <a:p>
            <a:pPr indent="0" marL="0">
              <a:buNone/>
            </a:pPr>
            <a:r>
              <a:rPr lang="en-US" sz="1200" i="1" dirty="0">
                <a:solidFill>
                  <a:srgbClr val="6B7280"/>
                </a:solidFill>
                <a:latin typeface="Calibri" pitchFamily="34" charset="0"/>
                <a:ea typeface="Calibri" pitchFamily="34" charset="-122"/>
                <a:cs typeface="Calibri" pitchFamily="34" charset="-120"/>
              </a:rPr>
              <a:t>→ 解禁株が貸株需給を緩め、買い戻しが発生</a:t>
            </a:r>
            <a:endParaRPr lang="en-US" sz="1200" dirty="0"/>
          </a:p>
        </p:txBody>
      </p:sp>
      <p:sp>
        <p:nvSpPr>
          <p:cNvPr id="14" name="Shape 12"/>
          <p:cNvSpPr/>
          <p:nvPr/>
        </p:nvSpPr>
        <p:spPr>
          <a:xfrm>
            <a:off x="5715000" y="2212848"/>
            <a:ext cx="731520" cy="0"/>
          </a:xfrm>
          <a:prstGeom prst="line">
            <a:avLst/>
          </a:prstGeom>
          <a:noFill/>
          <a:ln w="31750">
            <a:solidFill>
              <a:srgbClr val="E8A33D"/>
            </a:solidFill>
            <a:prstDash val="solid"/>
            <a:tailEnd type="triangle"/>
          </a:ln>
        </p:spPr>
      </p:sp>
      <p:sp>
        <p:nvSpPr>
          <p:cNvPr id="15" name="Shape 13"/>
          <p:cNvSpPr/>
          <p:nvPr/>
        </p:nvSpPr>
        <p:spPr>
          <a:xfrm>
            <a:off x="640080" y="3291840"/>
            <a:ext cx="10881360" cy="1051560"/>
          </a:xfrm>
          <a:prstGeom prst="roundRect">
            <a:avLst>
              <a:gd name="adj" fmla="val 5217"/>
            </a:avLst>
          </a:prstGeom>
          <a:solidFill>
            <a:srgbClr val="F4F6FA"/>
          </a:solidFill>
          <a:ln/>
        </p:spPr>
      </p:sp>
      <p:sp>
        <p:nvSpPr>
          <p:cNvPr id="16" name="Text 14"/>
          <p:cNvSpPr txBox="1"/>
          <p:nvPr/>
        </p:nvSpPr>
        <p:spPr>
          <a:xfrm>
            <a:off x="1005840" y="3383280"/>
            <a:ext cx="10149840" cy="27432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この週、Redditで最も伸びたスレッドのタイトル</a:t>
            </a:r>
            <a:endParaRPr lang="en-US" sz="1100" dirty="0"/>
          </a:p>
        </p:txBody>
      </p:sp>
      <p:sp>
        <p:nvSpPr>
          <p:cNvPr id="17" name="Text 15"/>
          <p:cNvSpPr txBox="1"/>
          <p:nvPr/>
        </p:nvSpPr>
        <p:spPr>
          <a:xfrm>
            <a:off x="1005840" y="3657600"/>
            <a:ext cx="10149840" cy="54864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「9億株も増えたのに、なぜ今日SPCXは株価を維持できたのか？」　— 1,379件の賛成票</a:t>
            </a:r>
            <a:endParaRPr lang="en-US" sz="1700" dirty="0"/>
          </a:p>
        </p:txBody>
      </p:sp>
      <p:sp>
        <p:nvSpPr>
          <p:cNvPr id="18" name="Shape 16"/>
          <p:cNvSpPr/>
          <p:nvPr/>
        </p:nvSpPr>
        <p:spPr>
          <a:xfrm>
            <a:off x="640080" y="4572000"/>
            <a:ext cx="10881360" cy="1463040"/>
          </a:xfrm>
          <a:prstGeom prst="roundRect">
            <a:avLst>
              <a:gd name="adj" fmla="val 3750"/>
            </a:avLst>
          </a:prstGeom>
          <a:solidFill>
            <a:srgbClr val="1E2761"/>
          </a:solidFill>
          <a:ln/>
        </p:spPr>
      </p:sp>
      <p:sp>
        <p:nvSpPr>
          <p:cNvPr id="19" name="Text 17"/>
          <p:cNvSpPr txBox="1"/>
          <p:nvPr/>
        </p:nvSpPr>
        <p:spPr>
          <a:xfrm>
            <a:off x="1005840" y="4709160"/>
            <a:ext cx="10149840" cy="36576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この35%の上昇に、業績要因はゼロ</a:t>
            </a:r>
            <a:endParaRPr lang="en-US" sz="1900" dirty="0"/>
          </a:p>
        </p:txBody>
      </p:sp>
      <p:sp>
        <p:nvSpPr>
          <p:cNvPr id="20" name="Text 18"/>
          <p:cNvSpPr txBox="1"/>
          <p:nvPr/>
        </p:nvSpPr>
        <p:spPr>
          <a:xfrm>
            <a:off x="1005840" y="5120640"/>
            <a:ext cx="10149840" cy="822960"/>
          </a:xfrm>
          <a:prstGeom prst="rect">
            <a:avLst/>
          </a:prstGeom>
          <a:noFill/>
          <a:ln/>
        </p:spPr>
        <p:txBody>
          <a:bodyPr wrap="square" lIns="0" tIns="0" rIns="0" bIns="0" rtlCol="0" anchor="ctr"/>
          <a:lstStyle/>
          <a:p>
            <a:pPr indent="0" marL="0">
              <a:lnSpc>
                <a:spcPts val="1900"/>
              </a:lnSpc>
              <a:buNone/>
            </a:pPr>
            <a:r>
              <a:rPr lang="en-US" sz="1300" dirty="0">
                <a:solidFill>
                  <a:srgbClr val="CADCFC"/>
                </a:solidFill>
                <a:latin typeface="Calibri" pitchFamily="34" charset="0"/>
                <a:ea typeface="Calibri" pitchFamily="34" charset="-122"/>
                <a:cs typeface="Calibri" pitchFamily="34" charset="-120"/>
              </a:rPr>
              <a:t>決算は8月4日で、その後に新しい情報は出ていない。同じ週、ある調査会社はフェアバリュー$62・5段階で最低の1つ星を維持したまま、投資家に対し「この株の乱高下をファンダメンタルズから切り離して考える」よう求めた。</a:t>
            </a:r>
            <a:endParaRPr lang="en-US" sz="1300" dirty="0"/>
          </a:p>
        </p:txBody>
      </p:sp>
      <p:sp>
        <p:nvSpPr>
          <p:cNvPr id="21" name="Text 19"/>
          <p:cNvSpPr txBox="1"/>
          <p:nvPr/>
        </p:nvSpPr>
        <p:spPr>
          <a:xfrm>
            <a:off x="640080" y="6327648"/>
            <a:ext cx="10881360" cy="274320"/>
          </a:xfrm>
          <a:prstGeom prst="rect">
            <a:avLst/>
          </a:prstGeom>
          <a:noFill/>
          <a:ln/>
        </p:spPr>
        <p:txBody>
          <a:bodyPr wrap="square" lIns="0" tIns="0" rIns="0" bIns="0"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出典：Morningstar、Reddit r/wallstreetbets、各種報道</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11480"/>
            <a:ext cx="566928" cy="566928"/>
          </a:xfrm>
          <a:prstGeom prst="ellipse">
            <a:avLst/>
          </a:prstGeom>
          <a:solidFill>
            <a:srgbClr val="1E2761"/>
          </a:solidFill>
          <a:ln/>
        </p:spPr>
      </p:sp>
      <p:sp>
        <p:nvSpPr>
          <p:cNvPr id="3" name="Text 1"/>
          <p:cNvSpPr txBox="1"/>
          <p:nvPr/>
        </p:nvSpPr>
        <p:spPr>
          <a:xfrm>
            <a:off x="640080" y="41148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4" name="Text 2"/>
          <p:cNvSpPr txBox="1"/>
          <p:nvPr/>
        </p:nvSpPr>
        <p:spPr>
          <a:xfrm>
            <a:off x="1417320" y="384048"/>
            <a:ext cx="10058400" cy="4572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値動きの正体は需給 — 浮動株の推移</a:t>
            </a:r>
            <a:endParaRPr lang="en-US" sz="3000" dirty="0"/>
          </a:p>
        </p:txBody>
      </p:sp>
      <p:sp>
        <p:nvSpPr>
          <p:cNvPr id="5" name="Text 3"/>
          <p:cNvSpPr txBox="1"/>
          <p:nvPr/>
        </p:nvSpPr>
        <p:spPr>
          <a:xfrm>
            <a:off x="1417320" y="868680"/>
            <a:ext cx="10058400" cy="32004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ロックアップ解除のスケジュールが価格を規定している</a:t>
            </a:r>
            <a:endParaRPr lang="en-US" sz="1300" dirty="0"/>
          </a:p>
        </p:txBody>
      </p:sp>
      <p:sp>
        <p:nvSpPr>
          <p:cNvPr id="6" name="Text 4"/>
          <p:cNvSpPr txBox="1"/>
          <p:nvPr/>
        </p:nvSpPr>
        <p:spPr>
          <a:xfrm>
            <a:off x="640080" y="1463040"/>
            <a:ext cx="914400" cy="5486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6/12</a:t>
            </a:r>
            <a:endParaRPr lang="en-US" sz="1400" dirty="0"/>
          </a:p>
        </p:txBody>
      </p:sp>
      <p:sp>
        <p:nvSpPr>
          <p:cNvPr id="7" name="Shape 5"/>
          <p:cNvSpPr/>
          <p:nvPr/>
        </p:nvSpPr>
        <p:spPr>
          <a:xfrm>
            <a:off x="1691640" y="1618488"/>
            <a:ext cx="4754880" cy="237744"/>
          </a:xfrm>
          <a:prstGeom prst="rect">
            <a:avLst/>
          </a:prstGeom>
          <a:solidFill>
            <a:srgbClr val="E5E7EB"/>
          </a:solidFill>
          <a:ln/>
        </p:spPr>
      </p:sp>
      <p:sp>
        <p:nvSpPr>
          <p:cNvPr id="8" name="Shape 6"/>
          <p:cNvSpPr/>
          <p:nvPr/>
        </p:nvSpPr>
        <p:spPr>
          <a:xfrm>
            <a:off x="1691640" y="1618488"/>
            <a:ext cx="931956" cy="237744"/>
          </a:xfrm>
          <a:prstGeom prst="rect">
            <a:avLst/>
          </a:prstGeom>
          <a:solidFill>
            <a:srgbClr val="1E2761"/>
          </a:solidFill>
          <a:ln/>
        </p:spPr>
      </p:sp>
      <p:sp>
        <p:nvSpPr>
          <p:cNvPr id="9" name="Text 7"/>
          <p:cNvSpPr txBox="1"/>
          <p:nvPr/>
        </p:nvSpPr>
        <p:spPr>
          <a:xfrm>
            <a:off x="6537960" y="1463040"/>
            <a:ext cx="822960" cy="54864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4.9%</a:t>
            </a:r>
            <a:endParaRPr lang="en-US" sz="1200" dirty="0"/>
          </a:p>
        </p:txBody>
      </p:sp>
      <p:sp>
        <p:nvSpPr>
          <p:cNvPr id="10" name="Text 8"/>
          <p:cNvSpPr txBox="1"/>
          <p:nvPr/>
        </p:nvSpPr>
        <p:spPr>
          <a:xfrm>
            <a:off x="7406640" y="1463040"/>
            <a:ext cx="2468880" cy="548640"/>
          </a:xfrm>
          <a:prstGeom prst="rect">
            <a:avLst/>
          </a:prstGeom>
          <a:noFill/>
          <a:ln/>
        </p:spPr>
        <p:txBody>
          <a:bodyPr wrap="square" lIns="0" tIns="0" rIns="0" bIns="0" rtlCol="0" anchor="ctr"/>
          <a:lstStyle/>
          <a:p>
            <a:pPr indent="0" marL="0">
              <a:buNone/>
            </a:pPr>
            <a:r>
              <a:rPr lang="en-US" sz="1150" dirty="0">
                <a:solidFill>
                  <a:srgbClr val="1A1A1A"/>
                </a:solidFill>
                <a:latin typeface="Calibri" pitchFamily="34" charset="0"/>
                <a:ea typeface="Calibri" pitchFamily="34" charset="-122"/>
                <a:cs typeface="Calibri" pitchFamily="34" charset="-120"/>
              </a:rPr>
              <a:t>上場。品薄で高値</a:t>
            </a:r>
            <a:endParaRPr lang="en-US" sz="1150" dirty="0"/>
          </a:p>
        </p:txBody>
      </p:sp>
      <p:sp>
        <p:nvSpPr>
          <p:cNvPr id="11" name="Text 9"/>
          <p:cNvSpPr txBox="1"/>
          <p:nvPr/>
        </p:nvSpPr>
        <p:spPr>
          <a:xfrm>
            <a:off x="9966960" y="1463040"/>
            <a:ext cx="1554480" cy="548640"/>
          </a:xfrm>
          <a:prstGeom prst="rect">
            <a:avLst/>
          </a:prstGeom>
          <a:noFill/>
          <a:ln/>
        </p:spPr>
        <p:txBody>
          <a:bodyPr wrap="square" lIns="0" tIns="0" rIns="0" bIns="0" rtlCol="0" anchor="ctr"/>
          <a:lstStyle/>
          <a:p>
            <a:pPr algn="r" indent="0" marL="0">
              <a:buNone/>
            </a:pPr>
            <a:r>
              <a:rPr lang="en-US" sz="1300" b="1" dirty="0">
                <a:solidFill>
                  <a:srgbClr val="6B7280"/>
                </a:solidFill>
                <a:latin typeface="Calibri" pitchFamily="34" charset="0"/>
                <a:ea typeface="Calibri" pitchFamily="34" charset="-122"/>
                <a:cs typeface="Calibri" pitchFamily="34" charset="-120"/>
              </a:rPr>
              <a:t>$225.64</a:t>
            </a:r>
            <a:endParaRPr lang="en-US" sz="1300" dirty="0"/>
          </a:p>
        </p:txBody>
      </p:sp>
      <p:sp>
        <p:nvSpPr>
          <p:cNvPr id="12" name="Text 10"/>
          <p:cNvSpPr txBox="1"/>
          <p:nvPr/>
        </p:nvSpPr>
        <p:spPr>
          <a:xfrm>
            <a:off x="640080" y="2267712"/>
            <a:ext cx="914400" cy="5486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8/6</a:t>
            </a:r>
            <a:endParaRPr lang="en-US" sz="1400" dirty="0"/>
          </a:p>
        </p:txBody>
      </p:sp>
      <p:sp>
        <p:nvSpPr>
          <p:cNvPr id="13" name="Shape 11"/>
          <p:cNvSpPr/>
          <p:nvPr/>
        </p:nvSpPr>
        <p:spPr>
          <a:xfrm>
            <a:off x="1691640" y="2423160"/>
            <a:ext cx="4754880" cy="237744"/>
          </a:xfrm>
          <a:prstGeom prst="rect">
            <a:avLst/>
          </a:prstGeom>
          <a:solidFill>
            <a:srgbClr val="E5E7EB"/>
          </a:solidFill>
          <a:ln/>
        </p:spPr>
      </p:sp>
      <p:sp>
        <p:nvSpPr>
          <p:cNvPr id="14" name="Shape 12"/>
          <p:cNvSpPr/>
          <p:nvPr/>
        </p:nvSpPr>
        <p:spPr>
          <a:xfrm>
            <a:off x="1691640" y="2423160"/>
            <a:ext cx="2244303" cy="237744"/>
          </a:xfrm>
          <a:prstGeom prst="rect">
            <a:avLst/>
          </a:prstGeom>
          <a:solidFill>
            <a:srgbClr val="1E2761"/>
          </a:solidFill>
          <a:ln/>
        </p:spPr>
      </p:sp>
      <p:sp>
        <p:nvSpPr>
          <p:cNvPr id="15" name="Text 13"/>
          <p:cNvSpPr txBox="1"/>
          <p:nvPr/>
        </p:nvSpPr>
        <p:spPr>
          <a:xfrm>
            <a:off x="6537960" y="2267712"/>
            <a:ext cx="822960" cy="54864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11.8%</a:t>
            </a:r>
            <a:endParaRPr lang="en-US" sz="1200" dirty="0"/>
          </a:p>
        </p:txBody>
      </p:sp>
      <p:sp>
        <p:nvSpPr>
          <p:cNvPr id="16" name="Text 14"/>
          <p:cNvSpPr txBox="1"/>
          <p:nvPr/>
        </p:nvSpPr>
        <p:spPr>
          <a:xfrm>
            <a:off x="7406640" y="2267712"/>
            <a:ext cx="2468880" cy="548640"/>
          </a:xfrm>
          <a:prstGeom prst="rect">
            <a:avLst/>
          </a:prstGeom>
          <a:noFill/>
          <a:ln/>
        </p:spPr>
        <p:txBody>
          <a:bodyPr wrap="square" lIns="0" tIns="0" rIns="0" bIns="0" rtlCol="0" anchor="ctr"/>
          <a:lstStyle/>
          <a:p>
            <a:pPr indent="0" marL="0">
              <a:buNone/>
            </a:pPr>
            <a:r>
              <a:rPr lang="en-US" sz="1150" dirty="0">
                <a:solidFill>
                  <a:srgbClr val="1A1A1A"/>
                </a:solidFill>
                <a:latin typeface="Calibri" pitchFamily="34" charset="0"/>
                <a:ea typeface="Calibri" pitchFamily="34" charset="-122"/>
                <a:cs typeface="Calibri" pitchFamily="34" charset="-120"/>
              </a:rPr>
              <a:t>9.1億株が解禁</a:t>
            </a:r>
            <a:endParaRPr lang="en-US" sz="1150" dirty="0"/>
          </a:p>
        </p:txBody>
      </p:sp>
      <p:sp>
        <p:nvSpPr>
          <p:cNvPr id="17" name="Text 15"/>
          <p:cNvSpPr txBox="1"/>
          <p:nvPr/>
        </p:nvSpPr>
        <p:spPr>
          <a:xfrm>
            <a:off x="9966960" y="2267712"/>
            <a:ext cx="1554480" cy="548640"/>
          </a:xfrm>
          <a:prstGeom prst="rect">
            <a:avLst/>
          </a:prstGeom>
          <a:noFill/>
          <a:ln/>
        </p:spPr>
        <p:txBody>
          <a:bodyPr wrap="square" lIns="0" tIns="0" rIns="0" bIns="0" rtlCol="0" anchor="ctr"/>
          <a:lstStyle/>
          <a:p>
            <a:pPr algn="r" indent="0" marL="0">
              <a:buNone/>
            </a:pPr>
            <a:r>
              <a:rPr lang="en-US" sz="1300" b="1" dirty="0">
                <a:solidFill>
                  <a:srgbClr val="6B7280"/>
                </a:solidFill>
                <a:latin typeface="Calibri" pitchFamily="34" charset="0"/>
                <a:ea typeface="Calibri" pitchFamily="34" charset="-122"/>
                <a:cs typeface="Calibri" pitchFamily="34" charset="-120"/>
              </a:rPr>
              <a:t>$108.27</a:t>
            </a:r>
            <a:endParaRPr lang="en-US" sz="1300" dirty="0"/>
          </a:p>
        </p:txBody>
      </p:sp>
      <p:sp>
        <p:nvSpPr>
          <p:cNvPr id="18" name="Text 16"/>
          <p:cNvSpPr txBox="1"/>
          <p:nvPr/>
        </p:nvSpPr>
        <p:spPr>
          <a:xfrm>
            <a:off x="640080" y="3072384"/>
            <a:ext cx="914400" cy="5486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8/20</a:t>
            </a:r>
            <a:endParaRPr lang="en-US" sz="1400" dirty="0"/>
          </a:p>
        </p:txBody>
      </p:sp>
      <p:sp>
        <p:nvSpPr>
          <p:cNvPr id="19" name="Shape 17"/>
          <p:cNvSpPr/>
          <p:nvPr/>
        </p:nvSpPr>
        <p:spPr>
          <a:xfrm>
            <a:off x="1691640" y="3227832"/>
            <a:ext cx="4754880" cy="237744"/>
          </a:xfrm>
          <a:prstGeom prst="rect">
            <a:avLst/>
          </a:prstGeom>
          <a:solidFill>
            <a:srgbClr val="E5E7EB"/>
          </a:solidFill>
          <a:ln/>
        </p:spPr>
      </p:sp>
      <p:sp>
        <p:nvSpPr>
          <p:cNvPr id="20" name="Shape 18"/>
          <p:cNvSpPr/>
          <p:nvPr/>
        </p:nvSpPr>
        <p:spPr>
          <a:xfrm>
            <a:off x="1691640" y="3227832"/>
            <a:ext cx="2662733" cy="237744"/>
          </a:xfrm>
          <a:prstGeom prst="rect">
            <a:avLst/>
          </a:prstGeom>
          <a:solidFill>
            <a:srgbClr val="1E2761"/>
          </a:solidFill>
          <a:ln/>
        </p:spPr>
      </p:sp>
      <p:sp>
        <p:nvSpPr>
          <p:cNvPr id="21" name="Text 19"/>
          <p:cNvSpPr txBox="1"/>
          <p:nvPr/>
        </p:nvSpPr>
        <p:spPr>
          <a:xfrm>
            <a:off x="6537960" y="3072384"/>
            <a:ext cx="822960" cy="54864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14%</a:t>
            </a:r>
            <a:endParaRPr lang="en-US" sz="1200" dirty="0"/>
          </a:p>
        </p:txBody>
      </p:sp>
      <p:sp>
        <p:nvSpPr>
          <p:cNvPr id="22" name="Text 20"/>
          <p:cNvSpPr txBox="1"/>
          <p:nvPr/>
        </p:nvSpPr>
        <p:spPr>
          <a:xfrm>
            <a:off x="7406640" y="3072384"/>
            <a:ext cx="2468880" cy="548640"/>
          </a:xfrm>
          <a:prstGeom prst="rect">
            <a:avLst/>
          </a:prstGeom>
          <a:noFill/>
          <a:ln/>
        </p:spPr>
        <p:txBody>
          <a:bodyPr wrap="square" lIns="0" tIns="0" rIns="0" bIns="0" rtlCol="0" anchor="ctr"/>
          <a:lstStyle/>
          <a:p>
            <a:pPr indent="0" marL="0">
              <a:buNone/>
            </a:pPr>
            <a:r>
              <a:rPr lang="en-US" sz="1150" dirty="0">
                <a:solidFill>
                  <a:srgbClr val="1A1A1A"/>
                </a:solidFill>
                <a:latin typeface="Calibri" pitchFamily="34" charset="0"/>
                <a:ea typeface="Calibri" pitchFamily="34" charset="-122"/>
                <a:cs typeface="Calibri" pitchFamily="34" charset="-120"/>
              </a:rPr>
              <a:t>追加解禁</a:t>
            </a:r>
            <a:endParaRPr lang="en-US" sz="1150" dirty="0"/>
          </a:p>
        </p:txBody>
      </p:sp>
      <p:sp>
        <p:nvSpPr>
          <p:cNvPr id="23" name="Text 21"/>
          <p:cNvSpPr txBox="1"/>
          <p:nvPr/>
        </p:nvSpPr>
        <p:spPr>
          <a:xfrm>
            <a:off x="9966960" y="3072384"/>
            <a:ext cx="1554480" cy="548640"/>
          </a:xfrm>
          <a:prstGeom prst="rect">
            <a:avLst/>
          </a:prstGeom>
          <a:noFill/>
          <a:ln/>
        </p:spPr>
        <p:txBody>
          <a:bodyPr wrap="square" lIns="0" tIns="0" rIns="0" bIns="0" rtlCol="0" anchor="ctr"/>
          <a:lstStyle/>
          <a:p>
            <a:pPr algn="r" indent="0" marL="0">
              <a:buNone/>
            </a:pPr>
            <a:r>
              <a:rPr lang="en-US" sz="1300" b="1" dirty="0">
                <a:solidFill>
                  <a:srgbClr val="6B7280"/>
                </a:solidFill>
                <a:latin typeface="Calibri" pitchFamily="34" charset="0"/>
                <a:ea typeface="Calibri" pitchFamily="34" charset="-122"/>
                <a:cs typeface="Calibri" pitchFamily="34" charset="-120"/>
              </a:rPr>
              <a:t>$138</a:t>
            </a:r>
            <a:endParaRPr lang="en-US" sz="1300" dirty="0"/>
          </a:p>
        </p:txBody>
      </p:sp>
      <p:sp>
        <p:nvSpPr>
          <p:cNvPr id="24" name="Text 22"/>
          <p:cNvSpPr txBox="1"/>
          <p:nvPr/>
        </p:nvSpPr>
        <p:spPr>
          <a:xfrm>
            <a:off x="640080" y="3877056"/>
            <a:ext cx="914400" cy="548640"/>
          </a:xfrm>
          <a:prstGeom prst="rect">
            <a:avLst/>
          </a:prstGeom>
          <a:noFill/>
          <a:ln/>
        </p:spPr>
        <p:txBody>
          <a:bodyPr wrap="square" lIns="0" tIns="0" rIns="0" bIns="0" rtlCol="0" anchor="ctr"/>
          <a:lstStyle/>
          <a:p>
            <a:pPr indent="0" marL="0">
              <a:buNone/>
            </a:pPr>
            <a:r>
              <a:rPr lang="en-US" sz="1400" b="1" dirty="0">
                <a:solidFill>
                  <a:srgbClr val="E8A33D"/>
                </a:solidFill>
                <a:latin typeface="Calibri" pitchFamily="34" charset="0"/>
                <a:ea typeface="Calibri" pitchFamily="34" charset="-122"/>
                <a:cs typeface="Calibri" pitchFamily="34" charset="-120"/>
              </a:rPr>
              <a:t>9/9</a:t>
            </a:r>
            <a:endParaRPr lang="en-US" sz="1400" dirty="0"/>
          </a:p>
        </p:txBody>
      </p:sp>
      <p:sp>
        <p:nvSpPr>
          <p:cNvPr id="25" name="Shape 23"/>
          <p:cNvSpPr/>
          <p:nvPr/>
        </p:nvSpPr>
        <p:spPr>
          <a:xfrm>
            <a:off x="1691640" y="4032504"/>
            <a:ext cx="4754880" cy="237744"/>
          </a:xfrm>
          <a:prstGeom prst="rect">
            <a:avLst/>
          </a:prstGeom>
          <a:solidFill>
            <a:srgbClr val="E5E7EB"/>
          </a:solidFill>
          <a:ln/>
        </p:spPr>
      </p:sp>
      <p:sp>
        <p:nvSpPr>
          <p:cNvPr id="26" name="Shape 24"/>
          <p:cNvSpPr/>
          <p:nvPr/>
        </p:nvSpPr>
        <p:spPr>
          <a:xfrm>
            <a:off x="1691640" y="4032504"/>
            <a:ext cx="3423514" cy="237744"/>
          </a:xfrm>
          <a:prstGeom prst="rect">
            <a:avLst/>
          </a:prstGeom>
          <a:solidFill>
            <a:srgbClr val="E8A33D"/>
          </a:solidFill>
          <a:ln/>
        </p:spPr>
      </p:sp>
      <p:sp>
        <p:nvSpPr>
          <p:cNvPr id="27" name="Text 25"/>
          <p:cNvSpPr txBox="1"/>
          <p:nvPr/>
        </p:nvSpPr>
        <p:spPr>
          <a:xfrm>
            <a:off x="6537960" y="3877056"/>
            <a:ext cx="822960" cy="548640"/>
          </a:xfrm>
          <a:prstGeom prst="rect">
            <a:avLst/>
          </a:prstGeom>
          <a:noFill/>
          <a:ln/>
        </p:spPr>
        <p:txBody>
          <a:bodyPr wrap="square" lIns="0" tIns="0" rIns="0" bIns="0" rtlCol="0" anchor="ctr"/>
          <a:lstStyle/>
          <a:p>
            <a:pPr indent="0" marL="0">
              <a:buNone/>
            </a:pPr>
            <a:r>
              <a:rPr lang="en-US" sz="1200" b="1" dirty="0">
                <a:solidFill>
                  <a:srgbClr val="E8A33D"/>
                </a:solidFill>
                <a:latin typeface="Calibri" pitchFamily="34" charset="0"/>
                <a:ea typeface="Calibri" pitchFamily="34" charset="-122"/>
                <a:cs typeface="Calibri" pitchFamily="34" charset="-120"/>
              </a:rPr>
              <a:t>予定</a:t>
            </a:r>
            <a:endParaRPr lang="en-US" sz="1200" dirty="0"/>
          </a:p>
        </p:txBody>
      </p:sp>
      <p:sp>
        <p:nvSpPr>
          <p:cNvPr id="28" name="Text 26"/>
          <p:cNvSpPr txBox="1"/>
          <p:nvPr/>
        </p:nvSpPr>
        <p:spPr>
          <a:xfrm>
            <a:off x="7406640" y="3877056"/>
            <a:ext cx="2468880" cy="548640"/>
          </a:xfrm>
          <a:prstGeom prst="rect">
            <a:avLst/>
          </a:prstGeom>
          <a:noFill/>
          <a:ln/>
        </p:spPr>
        <p:txBody>
          <a:bodyPr wrap="square" lIns="0" tIns="0" rIns="0" bIns="0" rtlCol="0" anchor="ctr"/>
          <a:lstStyle/>
          <a:p>
            <a:pPr indent="0" marL="0">
              <a:buNone/>
            </a:pPr>
            <a:r>
              <a:rPr lang="en-US" sz="1150" dirty="0">
                <a:solidFill>
                  <a:srgbClr val="1A1A1A"/>
                </a:solidFill>
                <a:latin typeface="Calibri" pitchFamily="34" charset="0"/>
                <a:ea typeface="Calibri" pitchFamily="34" charset="-122"/>
                <a:cs typeface="Calibri" pitchFamily="34" charset="-120"/>
              </a:rPr>
              <a:t>最大3.19億株</a:t>
            </a:r>
            <a:endParaRPr lang="en-US" sz="1150" dirty="0"/>
          </a:p>
        </p:txBody>
      </p:sp>
      <p:sp>
        <p:nvSpPr>
          <p:cNvPr id="29" name="Text 27"/>
          <p:cNvSpPr txBox="1"/>
          <p:nvPr/>
        </p:nvSpPr>
        <p:spPr>
          <a:xfrm>
            <a:off x="9966960" y="3877056"/>
            <a:ext cx="1554480" cy="548640"/>
          </a:xfrm>
          <a:prstGeom prst="rect">
            <a:avLst/>
          </a:prstGeom>
          <a:noFill/>
          <a:ln/>
        </p:spPr>
        <p:txBody>
          <a:bodyPr wrap="square" lIns="0" tIns="0" rIns="0" bIns="0" rtlCol="0" anchor="ctr"/>
          <a:lstStyle/>
          <a:p>
            <a:pPr algn="r" indent="0" marL="0">
              <a:buNone/>
            </a:pPr>
            <a:r>
              <a:rPr lang="en-US" sz="1300" dirty="0">
                <a:solidFill>
                  <a:srgbClr val="D1D5DB"/>
                </a:solidFill>
                <a:latin typeface="Calibri" pitchFamily="34" charset="0"/>
                <a:ea typeface="Calibri" pitchFamily="34" charset="-122"/>
                <a:cs typeface="Calibri" pitchFamily="34" charset="-120"/>
              </a:rPr>
              <a:t>—</a:t>
            </a:r>
            <a:endParaRPr lang="en-US" sz="1300" dirty="0"/>
          </a:p>
        </p:txBody>
      </p:sp>
      <p:sp>
        <p:nvSpPr>
          <p:cNvPr id="30" name="Text 28"/>
          <p:cNvSpPr txBox="1"/>
          <p:nvPr/>
        </p:nvSpPr>
        <p:spPr>
          <a:xfrm>
            <a:off x="640080" y="4681728"/>
            <a:ext cx="914400" cy="548640"/>
          </a:xfrm>
          <a:prstGeom prst="rect">
            <a:avLst/>
          </a:prstGeom>
          <a:noFill/>
          <a:ln/>
        </p:spPr>
        <p:txBody>
          <a:bodyPr wrap="square" lIns="0" tIns="0" rIns="0" bIns="0" rtlCol="0" anchor="ctr"/>
          <a:lstStyle/>
          <a:p>
            <a:pPr indent="0" marL="0">
              <a:buNone/>
            </a:pPr>
            <a:r>
              <a:rPr lang="en-US" sz="1400" b="1" dirty="0">
                <a:solidFill>
                  <a:srgbClr val="E8A33D"/>
                </a:solidFill>
                <a:latin typeface="Calibri" pitchFamily="34" charset="0"/>
                <a:ea typeface="Calibri" pitchFamily="34" charset="-122"/>
                <a:cs typeface="Calibri" pitchFamily="34" charset="-120"/>
              </a:rPr>
              <a:t>12/8</a:t>
            </a:r>
            <a:endParaRPr lang="en-US" sz="1400" dirty="0"/>
          </a:p>
        </p:txBody>
      </p:sp>
      <p:sp>
        <p:nvSpPr>
          <p:cNvPr id="31" name="Shape 29"/>
          <p:cNvSpPr/>
          <p:nvPr/>
        </p:nvSpPr>
        <p:spPr>
          <a:xfrm>
            <a:off x="1691640" y="4837176"/>
            <a:ext cx="4754880" cy="237744"/>
          </a:xfrm>
          <a:prstGeom prst="rect">
            <a:avLst/>
          </a:prstGeom>
          <a:solidFill>
            <a:srgbClr val="E5E7EB"/>
          </a:solidFill>
          <a:ln/>
        </p:spPr>
      </p:sp>
      <p:sp>
        <p:nvSpPr>
          <p:cNvPr id="32" name="Shape 30"/>
          <p:cNvSpPr/>
          <p:nvPr/>
        </p:nvSpPr>
        <p:spPr>
          <a:xfrm>
            <a:off x="1691640" y="4837176"/>
            <a:ext cx="4754880" cy="237744"/>
          </a:xfrm>
          <a:prstGeom prst="rect">
            <a:avLst/>
          </a:prstGeom>
          <a:solidFill>
            <a:srgbClr val="E8A33D"/>
          </a:solidFill>
          <a:ln/>
        </p:spPr>
      </p:sp>
      <p:sp>
        <p:nvSpPr>
          <p:cNvPr id="33" name="Text 31"/>
          <p:cNvSpPr txBox="1"/>
          <p:nvPr/>
        </p:nvSpPr>
        <p:spPr>
          <a:xfrm>
            <a:off x="6537960" y="4681728"/>
            <a:ext cx="822960" cy="548640"/>
          </a:xfrm>
          <a:prstGeom prst="rect">
            <a:avLst/>
          </a:prstGeom>
          <a:noFill/>
          <a:ln/>
        </p:spPr>
        <p:txBody>
          <a:bodyPr wrap="square" lIns="0" tIns="0" rIns="0" bIns="0" rtlCol="0" anchor="ctr"/>
          <a:lstStyle/>
          <a:p>
            <a:pPr indent="0" marL="0">
              <a:buNone/>
            </a:pPr>
            <a:r>
              <a:rPr lang="en-US" sz="1200" b="1" dirty="0">
                <a:solidFill>
                  <a:srgbClr val="E8A33D"/>
                </a:solidFill>
                <a:latin typeface="Calibri" pitchFamily="34" charset="0"/>
                <a:ea typeface="Calibri" pitchFamily="34" charset="-122"/>
                <a:cs typeface="Calibri" pitchFamily="34" charset="-120"/>
              </a:rPr>
              <a:t>予定</a:t>
            </a:r>
            <a:endParaRPr lang="en-US" sz="1200" dirty="0"/>
          </a:p>
        </p:txBody>
      </p:sp>
      <p:sp>
        <p:nvSpPr>
          <p:cNvPr id="34" name="Text 32"/>
          <p:cNvSpPr txBox="1"/>
          <p:nvPr/>
        </p:nvSpPr>
        <p:spPr>
          <a:xfrm>
            <a:off x="7406640" y="4681728"/>
            <a:ext cx="2468880" cy="548640"/>
          </a:xfrm>
          <a:prstGeom prst="rect">
            <a:avLst/>
          </a:prstGeom>
          <a:noFill/>
          <a:ln/>
        </p:spPr>
        <p:txBody>
          <a:bodyPr wrap="square" lIns="0" tIns="0" rIns="0" bIns="0" rtlCol="0" anchor="ctr"/>
          <a:lstStyle/>
          <a:p>
            <a:pPr indent="0" marL="0">
              <a:buNone/>
            </a:pPr>
            <a:r>
              <a:rPr lang="en-US" sz="1150" dirty="0">
                <a:solidFill>
                  <a:srgbClr val="1A1A1A"/>
                </a:solidFill>
                <a:latin typeface="Calibri" pitchFamily="34" charset="0"/>
                <a:ea typeface="Calibri" pitchFamily="34" charset="-122"/>
                <a:cs typeface="Calibri" pitchFamily="34" charset="-120"/>
              </a:rPr>
              <a:t>最大規模の解除</a:t>
            </a:r>
            <a:endParaRPr lang="en-US" sz="1150" dirty="0"/>
          </a:p>
        </p:txBody>
      </p:sp>
      <p:sp>
        <p:nvSpPr>
          <p:cNvPr id="35" name="Text 33"/>
          <p:cNvSpPr txBox="1"/>
          <p:nvPr/>
        </p:nvSpPr>
        <p:spPr>
          <a:xfrm>
            <a:off x="9966960" y="4681728"/>
            <a:ext cx="1554480" cy="548640"/>
          </a:xfrm>
          <a:prstGeom prst="rect">
            <a:avLst/>
          </a:prstGeom>
          <a:noFill/>
          <a:ln/>
        </p:spPr>
        <p:txBody>
          <a:bodyPr wrap="square" lIns="0" tIns="0" rIns="0" bIns="0" rtlCol="0" anchor="ctr"/>
          <a:lstStyle/>
          <a:p>
            <a:pPr algn="r" indent="0" marL="0">
              <a:buNone/>
            </a:pPr>
            <a:r>
              <a:rPr lang="en-US" sz="1300" dirty="0">
                <a:solidFill>
                  <a:srgbClr val="D1D5DB"/>
                </a:solidFill>
                <a:latin typeface="Calibri" pitchFamily="34" charset="0"/>
                <a:ea typeface="Calibri" pitchFamily="34" charset="-122"/>
                <a:cs typeface="Calibri" pitchFamily="34" charset="-120"/>
              </a:rPr>
              <a:t>—</a:t>
            </a:r>
            <a:endParaRPr lang="en-US" sz="1300" dirty="0"/>
          </a:p>
        </p:txBody>
      </p:sp>
      <p:sp>
        <p:nvSpPr>
          <p:cNvPr id="36" name="Shape 34"/>
          <p:cNvSpPr/>
          <p:nvPr/>
        </p:nvSpPr>
        <p:spPr>
          <a:xfrm>
            <a:off x="640080" y="5532120"/>
            <a:ext cx="10881360" cy="594360"/>
          </a:xfrm>
          <a:prstGeom prst="roundRect">
            <a:avLst>
              <a:gd name="adj" fmla="val 7692"/>
            </a:avLst>
          </a:prstGeom>
          <a:solidFill>
            <a:srgbClr val="F4F6FA"/>
          </a:solidFill>
          <a:ln/>
        </p:spPr>
      </p:sp>
      <p:sp>
        <p:nvSpPr>
          <p:cNvPr id="37" name="Text 35"/>
          <p:cNvSpPr txBox="1"/>
          <p:nvPr/>
        </p:nvSpPr>
        <p:spPr>
          <a:xfrm>
            <a:off x="1005840" y="5532120"/>
            <a:ext cx="10149840" cy="594360"/>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補足： </a:t>
            </a:r>
            <a:pPr indent="0" marL="0">
              <a:buNone/>
            </a:pPr>
            <a:r>
              <a:rPr lang="en-US" sz="1150" dirty="0">
                <a:solidFill>
                  <a:srgbClr val="1A1A1A"/>
                </a:solidFill>
                <a:latin typeface="Calibri" pitchFamily="34" charset="0"/>
                <a:ea typeface="Calibri" pitchFamily="34" charset="-122"/>
                <a:cs typeface="Calibri" pitchFamily="34" charset="-120"/>
              </a:rPr>
              <a:t>$175.50（公開価格+30%）到達を条件とする4.558億株のトランシェは発動せず、12月に繰り越された。市場が会社の設定したハードルを越えられなかったこと自体が、温度感を示している。</a:t>
            </a:r>
            <a:endParaRPr lang="en-US" sz="1150" dirty="0"/>
          </a:p>
        </p:txBody>
      </p:sp>
      <p:sp>
        <p:nvSpPr>
          <p:cNvPr id="38" name="Text 36"/>
          <p:cNvSpPr txBox="1"/>
          <p:nvPr/>
        </p:nvSpPr>
        <p:spPr>
          <a:xfrm>
            <a:off x="640080" y="6327648"/>
            <a:ext cx="10881360" cy="274320"/>
          </a:xfrm>
          <a:prstGeom prst="rect">
            <a:avLst/>
          </a:prstGeom>
          <a:noFill/>
          <a:ln/>
        </p:spPr>
        <p:txBody>
          <a:bodyPr wrap="square" lIns="0" tIns="0" rIns="0" bIns="0"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出典：各種報道。浮動株比率の9/9・12/8は解除規模からの推計</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11480"/>
            <a:ext cx="566928" cy="566928"/>
          </a:xfrm>
          <a:prstGeom prst="ellipse">
            <a:avLst/>
          </a:prstGeom>
          <a:solidFill>
            <a:srgbClr val="1E2761"/>
          </a:solidFill>
          <a:ln/>
        </p:spPr>
      </p:sp>
      <p:sp>
        <p:nvSpPr>
          <p:cNvPr id="3" name="Text 1"/>
          <p:cNvSpPr txBox="1"/>
          <p:nvPr/>
        </p:nvSpPr>
        <p:spPr>
          <a:xfrm>
            <a:off x="640080" y="41148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6</a:t>
            </a:r>
            <a:endParaRPr lang="en-US" sz="2000" dirty="0"/>
          </a:p>
        </p:txBody>
      </p:sp>
      <p:sp>
        <p:nvSpPr>
          <p:cNvPr id="4" name="Text 2"/>
          <p:cNvSpPr txBox="1"/>
          <p:nvPr/>
        </p:nvSpPr>
        <p:spPr>
          <a:xfrm>
            <a:off x="1417320" y="384048"/>
            <a:ext cx="10058400" cy="45720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プロの目標株価は $30 〜 $300</a:t>
            </a:r>
            <a:endParaRPr lang="en-US" sz="3000" dirty="0"/>
          </a:p>
        </p:txBody>
      </p:sp>
      <p:sp>
        <p:nvSpPr>
          <p:cNvPr id="5" name="Text 3"/>
          <p:cNvSpPr txBox="1"/>
          <p:nvPr/>
        </p:nvSpPr>
        <p:spPr>
          <a:xfrm>
            <a:off x="1417320" y="868680"/>
            <a:ext cx="10058400" cy="32004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同じ公開情報から、10倍の開きが生じている</a:t>
            </a:r>
            <a:endParaRPr lang="en-US" sz="1300" dirty="0"/>
          </a:p>
        </p:txBody>
      </p:sp>
      <p:sp>
        <p:nvSpPr>
          <p:cNvPr id="6" name="Text 4"/>
          <p:cNvSpPr txBox="1"/>
          <p:nvPr/>
        </p:nvSpPr>
        <p:spPr>
          <a:xfrm>
            <a:off x="640080" y="1417320"/>
            <a:ext cx="2286000" cy="502920"/>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空売り投資家</a:t>
            </a:r>
            <a:endParaRPr lang="en-US" sz="1250" dirty="0"/>
          </a:p>
        </p:txBody>
      </p:sp>
      <p:sp>
        <p:nvSpPr>
          <p:cNvPr id="7" name="Shape 5"/>
          <p:cNvSpPr/>
          <p:nvPr/>
        </p:nvSpPr>
        <p:spPr>
          <a:xfrm>
            <a:off x="3017520" y="1545336"/>
            <a:ext cx="393192" cy="256032"/>
          </a:xfrm>
          <a:prstGeom prst="rect">
            <a:avLst/>
          </a:prstGeom>
          <a:solidFill>
            <a:srgbClr val="C0392B"/>
          </a:solidFill>
          <a:ln/>
        </p:spPr>
      </p:sp>
      <p:sp>
        <p:nvSpPr>
          <p:cNvPr id="8" name="Text 6"/>
          <p:cNvSpPr txBox="1"/>
          <p:nvPr/>
        </p:nvSpPr>
        <p:spPr>
          <a:xfrm>
            <a:off x="3502152" y="1417320"/>
            <a:ext cx="822960" cy="502920"/>
          </a:xfrm>
          <a:prstGeom prst="rect">
            <a:avLst/>
          </a:prstGeom>
          <a:noFill/>
          <a:ln/>
        </p:spPr>
        <p:txBody>
          <a:bodyPr wrap="square" lIns="0" tIns="0" rIns="0" bIns="0" rtlCol="0" anchor="ctr"/>
          <a:lstStyle/>
          <a:p>
            <a:pPr indent="0" marL="0">
              <a:buNone/>
            </a:pPr>
            <a:r>
              <a:rPr lang="en-US" sz="1250" b="1" dirty="0">
                <a:solidFill>
                  <a:srgbClr val="C0392B"/>
                </a:solidFill>
                <a:latin typeface="Calibri" pitchFamily="34" charset="0"/>
                <a:ea typeface="Calibri" pitchFamily="34" charset="-122"/>
                <a:cs typeface="Calibri" pitchFamily="34" charset="-120"/>
              </a:rPr>
              <a:t>$30</a:t>
            </a:r>
            <a:endParaRPr lang="en-US" sz="1250" dirty="0"/>
          </a:p>
        </p:txBody>
      </p:sp>
      <p:sp>
        <p:nvSpPr>
          <p:cNvPr id="9" name="Text 7"/>
          <p:cNvSpPr txBox="1"/>
          <p:nvPr/>
        </p:nvSpPr>
        <p:spPr>
          <a:xfrm>
            <a:off x="7863840" y="1417320"/>
            <a:ext cx="3657600" cy="502920"/>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資本集約戦略が空振りすればプレミアムはディスカウントに変わる</a:t>
            </a:r>
            <a:endParaRPr lang="en-US" sz="1050" dirty="0"/>
          </a:p>
        </p:txBody>
      </p:sp>
      <p:sp>
        <p:nvSpPr>
          <p:cNvPr id="10" name="Text 8"/>
          <p:cNvSpPr txBox="1"/>
          <p:nvPr/>
        </p:nvSpPr>
        <p:spPr>
          <a:xfrm>
            <a:off x="640080" y="2075688"/>
            <a:ext cx="2286000" cy="502920"/>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調査会社（1つ星）</a:t>
            </a:r>
            <a:endParaRPr lang="en-US" sz="1250" dirty="0"/>
          </a:p>
        </p:txBody>
      </p:sp>
      <p:sp>
        <p:nvSpPr>
          <p:cNvPr id="11" name="Shape 9"/>
          <p:cNvSpPr/>
          <p:nvPr/>
        </p:nvSpPr>
        <p:spPr>
          <a:xfrm>
            <a:off x="3017520" y="2203704"/>
            <a:ext cx="812597" cy="256032"/>
          </a:xfrm>
          <a:prstGeom prst="rect">
            <a:avLst/>
          </a:prstGeom>
          <a:solidFill>
            <a:srgbClr val="C0392B"/>
          </a:solidFill>
          <a:ln/>
        </p:spPr>
      </p:sp>
      <p:sp>
        <p:nvSpPr>
          <p:cNvPr id="12" name="Text 10"/>
          <p:cNvSpPr txBox="1"/>
          <p:nvPr/>
        </p:nvSpPr>
        <p:spPr>
          <a:xfrm>
            <a:off x="3921557" y="2075688"/>
            <a:ext cx="822960" cy="502920"/>
          </a:xfrm>
          <a:prstGeom prst="rect">
            <a:avLst/>
          </a:prstGeom>
          <a:noFill/>
          <a:ln/>
        </p:spPr>
        <p:txBody>
          <a:bodyPr wrap="square" lIns="0" tIns="0" rIns="0" bIns="0" rtlCol="0" anchor="ctr"/>
          <a:lstStyle/>
          <a:p>
            <a:pPr indent="0" marL="0">
              <a:buNone/>
            </a:pPr>
            <a:r>
              <a:rPr lang="en-US" sz="1250" b="1" dirty="0">
                <a:solidFill>
                  <a:srgbClr val="C0392B"/>
                </a:solidFill>
                <a:latin typeface="Calibri" pitchFamily="34" charset="0"/>
                <a:ea typeface="Calibri" pitchFamily="34" charset="-122"/>
                <a:cs typeface="Calibri" pitchFamily="34" charset="-120"/>
              </a:rPr>
              <a:t>$62</a:t>
            </a:r>
            <a:endParaRPr lang="en-US" sz="1250" dirty="0"/>
          </a:p>
        </p:txBody>
      </p:sp>
      <p:sp>
        <p:nvSpPr>
          <p:cNvPr id="13" name="Text 11"/>
          <p:cNvSpPr txBox="1"/>
          <p:nvPr/>
        </p:nvSpPr>
        <p:spPr>
          <a:xfrm>
            <a:off x="7863840" y="2075688"/>
            <a:ext cx="3657600" cy="502920"/>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乱高下をファンダメンタルズから切り離して考えよ</a:t>
            </a:r>
            <a:endParaRPr lang="en-US" sz="1050" dirty="0"/>
          </a:p>
        </p:txBody>
      </p:sp>
      <p:sp>
        <p:nvSpPr>
          <p:cNvPr id="14" name="Text 12"/>
          <p:cNvSpPr txBox="1"/>
          <p:nvPr/>
        </p:nvSpPr>
        <p:spPr>
          <a:xfrm>
            <a:off x="640080" y="2734056"/>
            <a:ext cx="2286000" cy="502920"/>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現在値</a:t>
            </a:r>
            <a:endParaRPr lang="en-US" sz="1250" dirty="0"/>
          </a:p>
        </p:txBody>
      </p:sp>
      <p:sp>
        <p:nvSpPr>
          <p:cNvPr id="15" name="Shape 13"/>
          <p:cNvSpPr/>
          <p:nvPr/>
        </p:nvSpPr>
        <p:spPr>
          <a:xfrm>
            <a:off x="3017520" y="2862072"/>
            <a:ext cx="1756258" cy="256032"/>
          </a:xfrm>
          <a:prstGeom prst="rect">
            <a:avLst/>
          </a:prstGeom>
          <a:solidFill>
            <a:srgbClr val="1E2761"/>
          </a:solidFill>
          <a:ln/>
        </p:spPr>
      </p:sp>
      <p:sp>
        <p:nvSpPr>
          <p:cNvPr id="16" name="Text 14"/>
          <p:cNvSpPr txBox="1"/>
          <p:nvPr/>
        </p:nvSpPr>
        <p:spPr>
          <a:xfrm>
            <a:off x="4865218" y="2734056"/>
            <a:ext cx="822960" cy="502920"/>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$134</a:t>
            </a:r>
            <a:endParaRPr lang="en-US" sz="1250" dirty="0"/>
          </a:p>
        </p:txBody>
      </p:sp>
      <p:sp>
        <p:nvSpPr>
          <p:cNvPr id="17" name="Text 15"/>
          <p:cNvSpPr txBox="1"/>
          <p:nvPr/>
        </p:nvSpPr>
        <p:spPr>
          <a:xfrm>
            <a:off x="640080" y="3392424"/>
            <a:ext cx="2286000" cy="502920"/>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コンセンサス</a:t>
            </a:r>
            <a:endParaRPr lang="en-US" sz="1250" dirty="0"/>
          </a:p>
        </p:txBody>
      </p:sp>
      <p:sp>
        <p:nvSpPr>
          <p:cNvPr id="18" name="Shape 16"/>
          <p:cNvSpPr/>
          <p:nvPr/>
        </p:nvSpPr>
        <p:spPr>
          <a:xfrm>
            <a:off x="3017520" y="3520440"/>
            <a:ext cx="2857195" cy="256032"/>
          </a:xfrm>
          <a:prstGeom prst="rect">
            <a:avLst/>
          </a:prstGeom>
          <a:solidFill>
            <a:srgbClr val="3E8E7E"/>
          </a:solidFill>
          <a:ln/>
        </p:spPr>
      </p:sp>
      <p:sp>
        <p:nvSpPr>
          <p:cNvPr id="19" name="Text 17"/>
          <p:cNvSpPr txBox="1"/>
          <p:nvPr/>
        </p:nvSpPr>
        <p:spPr>
          <a:xfrm>
            <a:off x="5966155" y="3392424"/>
            <a:ext cx="822960" cy="502920"/>
          </a:xfrm>
          <a:prstGeom prst="rect">
            <a:avLst/>
          </a:prstGeom>
          <a:noFill/>
          <a:ln/>
        </p:spPr>
        <p:txBody>
          <a:bodyPr wrap="square" lIns="0" tIns="0" rIns="0" bIns="0" rtlCol="0" anchor="ctr"/>
          <a:lstStyle/>
          <a:p>
            <a:pPr indent="0" marL="0">
              <a:buNone/>
            </a:pPr>
            <a:r>
              <a:rPr lang="en-US" sz="1250" b="1" dirty="0">
                <a:solidFill>
                  <a:srgbClr val="3E8E7E"/>
                </a:solidFill>
                <a:latin typeface="Calibri" pitchFamily="34" charset="0"/>
                <a:ea typeface="Calibri" pitchFamily="34" charset="-122"/>
                <a:cs typeface="Calibri" pitchFamily="34" charset="-120"/>
              </a:rPr>
              <a:t>$218</a:t>
            </a:r>
            <a:endParaRPr lang="en-US" sz="1250" dirty="0"/>
          </a:p>
        </p:txBody>
      </p:sp>
      <p:sp>
        <p:nvSpPr>
          <p:cNvPr id="20" name="Text 18"/>
          <p:cNvSpPr txBox="1"/>
          <p:nvPr/>
        </p:nvSpPr>
        <p:spPr>
          <a:xfrm>
            <a:off x="7863840" y="3392424"/>
            <a:ext cx="3657600" cy="502920"/>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買い推奨27件の平均</a:t>
            </a:r>
            <a:endParaRPr lang="en-US" sz="1050" dirty="0"/>
          </a:p>
        </p:txBody>
      </p:sp>
      <p:sp>
        <p:nvSpPr>
          <p:cNvPr id="21" name="Text 19"/>
          <p:cNvSpPr txBox="1"/>
          <p:nvPr/>
        </p:nvSpPr>
        <p:spPr>
          <a:xfrm>
            <a:off x="640080" y="4050792"/>
            <a:ext cx="2286000" cy="502920"/>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大手証券A</a:t>
            </a:r>
            <a:endParaRPr lang="en-US" sz="1250" dirty="0"/>
          </a:p>
        </p:txBody>
      </p:sp>
      <p:sp>
        <p:nvSpPr>
          <p:cNvPr id="22" name="Shape 20"/>
          <p:cNvSpPr/>
          <p:nvPr/>
        </p:nvSpPr>
        <p:spPr>
          <a:xfrm>
            <a:off x="3017520" y="4178808"/>
            <a:ext cx="3145536" cy="256032"/>
          </a:xfrm>
          <a:prstGeom prst="rect">
            <a:avLst/>
          </a:prstGeom>
          <a:solidFill>
            <a:srgbClr val="3E8E7E"/>
          </a:solidFill>
          <a:ln/>
        </p:spPr>
      </p:sp>
      <p:sp>
        <p:nvSpPr>
          <p:cNvPr id="23" name="Text 21"/>
          <p:cNvSpPr txBox="1"/>
          <p:nvPr/>
        </p:nvSpPr>
        <p:spPr>
          <a:xfrm>
            <a:off x="6254496" y="4050792"/>
            <a:ext cx="822960" cy="502920"/>
          </a:xfrm>
          <a:prstGeom prst="rect">
            <a:avLst/>
          </a:prstGeom>
          <a:noFill/>
          <a:ln/>
        </p:spPr>
        <p:txBody>
          <a:bodyPr wrap="square" lIns="0" tIns="0" rIns="0" bIns="0" rtlCol="0" anchor="ctr"/>
          <a:lstStyle/>
          <a:p>
            <a:pPr indent="0" marL="0">
              <a:buNone/>
            </a:pPr>
            <a:r>
              <a:rPr lang="en-US" sz="1250" b="1" dirty="0">
                <a:solidFill>
                  <a:srgbClr val="3E8E7E"/>
                </a:solidFill>
                <a:latin typeface="Calibri" pitchFamily="34" charset="0"/>
                <a:ea typeface="Calibri" pitchFamily="34" charset="-122"/>
                <a:cs typeface="Calibri" pitchFamily="34" charset="-120"/>
              </a:rPr>
              <a:t>$240</a:t>
            </a:r>
            <a:endParaRPr lang="en-US" sz="1250" dirty="0"/>
          </a:p>
        </p:txBody>
      </p:sp>
      <p:sp>
        <p:nvSpPr>
          <p:cNvPr id="24" name="Text 22"/>
          <p:cNvSpPr txBox="1"/>
          <p:nvPr/>
        </p:nvSpPr>
        <p:spPr>
          <a:xfrm>
            <a:off x="7863840" y="4050792"/>
            <a:ext cx="3657600" cy="502920"/>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Overweight</a:t>
            </a:r>
            <a:endParaRPr lang="en-US" sz="1050" dirty="0"/>
          </a:p>
        </p:txBody>
      </p:sp>
      <p:sp>
        <p:nvSpPr>
          <p:cNvPr id="25" name="Text 23"/>
          <p:cNvSpPr txBox="1"/>
          <p:nvPr/>
        </p:nvSpPr>
        <p:spPr>
          <a:xfrm>
            <a:off x="640080" y="4709160"/>
            <a:ext cx="2286000" cy="502920"/>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大手証券B</a:t>
            </a:r>
            <a:endParaRPr lang="en-US" sz="1250" dirty="0"/>
          </a:p>
        </p:txBody>
      </p:sp>
      <p:sp>
        <p:nvSpPr>
          <p:cNvPr id="26" name="Shape 24"/>
          <p:cNvSpPr/>
          <p:nvPr/>
        </p:nvSpPr>
        <p:spPr>
          <a:xfrm>
            <a:off x="3017520" y="4837176"/>
            <a:ext cx="3931920" cy="256032"/>
          </a:xfrm>
          <a:prstGeom prst="rect">
            <a:avLst/>
          </a:prstGeom>
          <a:solidFill>
            <a:srgbClr val="3E8E7E"/>
          </a:solidFill>
          <a:ln/>
        </p:spPr>
      </p:sp>
      <p:sp>
        <p:nvSpPr>
          <p:cNvPr id="27" name="Text 25"/>
          <p:cNvSpPr txBox="1"/>
          <p:nvPr/>
        </p:nvSpPr>
        <p:spPr>
          <a:xfrm>
            <a:off x="7040880" y="4709160"/>
            <a:ext cx="822960" cy="502920"/>
          </a:xfrm>
          <a:prstGeom prst="rect">
            <a:avLst/>
          </a:prstGeom>
          <a:noFill/>
          <a:ln/>
        </p:spPr>
        <p:txBody>
          <a:bodyPr wrap="square" lIns="0" tIns="0" rIns="0" bIns="0" rtlCol="0" anchor="ctr"/>
          <a:lstStyle/>
          <a:p>
            <a:pPr indent="0" marL="0">
              <a:buNone/>
            </a:pPr>
            <a:r>
              <a:rPr lang="en-US" sz="1250" b="1" dirty="0">
                <a:solidFill>
                  <a:srgbClr val="3E8E7E"/>
                </a:solidFill>
                <a:latin typeface="Calibri" pitchFamily="34" charset="0"/>
                <a:ea typeface="Calibri" pitchFamily="34" charset="-122"/>
                <a:cs typeface="Calibri" pitchFamily="34" charset="-120"/>
              </a:rPr>
              <a:t>$300</a:t>
            </a:r>
            <a:endParaRPr lang="en-US" sz="1250" dirty="0"/>
          </a:p>
        </p:txBody>
      </p:sp>
      <p:sp>
        <p:nvSpPr>
          <p:cNvPr id="28" name="Text 26"/>
          <p:cNvSpPr txBox="1"/>
          <p:nvPr/>
        </p:nvSpPr>
        <p:spPr>
          <a:xfrm>
            <a:off x="7863840" y="4709160"/>
            <a:ext cx="3657600" cy="502920"/>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$100まで下げるならAI事業にほぼゼロの評価をしていることになる</a:t>
            </a:r>
            <a:endParaRPr lang="en-US" sz="1050" dirty="0"/>
          </a:p>
        </p:txBody>
      </p:sp>
      <p:sp>
        <p:nvSpPr>
          <p:cNvPr id="29" name="Shape 27"/>
          <p:cNvSpPr/>
          <p:nvPr/>
        </p:nvSpPr>
        <p:spPr>
          <a:xfrm>
            <a:off x="640080" y="5394960"/>
            <a:ext cx="10881360" cy="731520"/>
          </a:xfrm>
          <a:prstGeom prst="roundRect">
            <a:avLst>
              <a:gd name="adj" fmla="val 7500"/>
            </a:avLst>
          </a:prstGeom>
          <a:solidFill>
            <a:srgbClr val="1E2761"/>
          </a:solidFill>
          <a:ln/>
        </p:spPr>
      </p:sp>
      <p:sp>
        <p:nvSpPr>
          <p:cNvPr id="30" name="Text 28"/>
          <p:cNvSpPr txBox="1"/>
          <p:nvPr/>
        </p:nvSpPr>
        <p:spPr>
          <a:xfrm>
            <a:off x="1005840" y="5394960"/>
            <a:ext cx="10149840" cy="7315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時価総額1.8兆ドルの企業で10倍の開きは異例。</a:t>
            </a:r>
            <a:pPr indent="0" marL="0">
              <a:buNone/>
            </a:pPr>
            <a:r>
              <a:rPr lang="en-US" sz="1400" dirty="0">
                <a:solidFill>
                  <a:srgbClr val="CADCFC"/>
                </a:solidFill>
                <a:latin typeface="Calibri" pitchFamily="34" charset="0"/>
                <a:ea typeface="Calibri" pitchFamily="34" charset="-122"/>
                <a:cs typeface="Calibri" pitchFamily="34" charset="-120"/>
              </a:rPr>
              <a:t>  その差はAI部門をどう評価するかに、ほぼ全て由来する。</a:t>
            </a:r>
            <a:endParaRPr lang="en-US" sz="1400" dirty="0"/>
          </a:p>
        </p:txBody>
      </p:sp>
      <p:sp>
        <p:nvSpPr>
          <p:cNvPr id="31" name="Text 29"/>
          <p:cNvSpPr txBox="1"/>
          <p:nvPr/>
        </p:nvSpPr>
        <p:spPr>
          <a:xfrm>
            <a:off x="640080" y="6327648"/>
            <a:ext cx="10881360" cy="274320"/>
          </a:xfrm>
          <a:prstGeom prst="rect">
            <a:avLst/>
          </a:prstGeom>
          <a:noFill/>
          <a:ln/>
        </p:spPr>
        <p:txBody>
          <a:bodyPr wrap="square" lIns="0" tIns="0" rIns="0" bIns="0"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出典：各種報道の公表値。所属機関名は伏せて記載</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640080" y="548640"/>
            <a:ext cx="1088136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ここまでのまとめ</a:t>
            </a:r>
            <a:endParaRPr lang="en-US" sz="3400" dirty="0"/>
          </a:p>
        </p:txBody>
      </p:sp>
      <p:sp>
        <p:nvSpPr>
          <p:cNvPr id="3" name="Text 1"/>
          <p:cNvSpPr txBox="1"/>
          <p:nvPr/>
        </p:nvSpPr>
        <p:spPr>
          <a:xfrm>
            <a:off x="640080" y="1188720"/>
            <a:ext cx="10881360" cy="36576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2ヶ月半の値動きを動かしたのは、ほとんどが需給要因だった</a:t>
            </a:r>
            <a:endParaRPr lang="en-US" sz="1400" dirty="0"/>
          </a:p>
        </p:txBody>
      </p:sp>
      <p:sp>
        <p:nvSpPr>
          <p:cNvPr id="4" name="Shape 2"/>
          <p:cNvSpPr/>
          <p:nvPr/>
        </p:nvSpPr>
        <p:spPr>
          <a:xfrm>
            <a:off x="640080" y="1874520"/>
            <a:ext cx="10881360" cy="777240"/>
          </a:xfrm>
          <a:prstGeom prst="roundRect">
            <a:avLst>
              <a:gd name="adj" fmla="val 7059"/>
            </a:avLst>
          </a:prstGeom>
          <a:solidFill>
            <a:srgbClr val="2A3775"/>
          </a:solidFill>
          <a:ln/>
        </p:spPr>
      </p:sp>
      <p:sp>
        <p:nvSpPr>
          <p:cNvPr id="5" name="Shape 3"/>
          <p:cNvSpPr/>
          <p:nvPr/>
        </p:nvSpPr>
        <p:spPr>
          <a:xfrm>
            <a:off x="914400" y="2093976"/>
            <a:ext cx="347472" cy="347472"/>
          </a:xfrm>
          <a:prstGeom prst="ellipse">
            <a:avLst/>
          </a:prstGeom>
          <a:solidFill>
            <a:srgbClr val="E8A33D"/>
          </a:solidFill>
          <a:ln/>
        </p:spPr>
      </p:sp>
      <p:sp>
        <p:nvSpPr>
          <p:cNvPr id="6" name="Text 4"/>
          <p:cNvSpPr txBox="1"/>
          <p:nvPr/>
        </p:nvSpPr>
        <p:spPr>
          <a:xfrm>
            <a:off x="914400" y="2093976"/>
            <a:ext cx="347472" cy="347472"/>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463040" y="1874520"/>
            <a:ext cx="5029200" cy="77724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上場直後の高値は、需要ではなく供給不足が作った</a:t>
            </a:r>
            <a:endParaRPr lang="en-US" sz="1350" dirty="0"/>
          </a:p>
        </p:txBody>
      </p:sp>
      <p:sp>
        <p:nvSpPr>
          <p:cNvPr id="8" name="Text 6"/>
          <p:cNvSpPr txBox="1"/>
          <p:nvPr/>
        </p:nvSpPr>
        <p:spPr>
          <a:xfrm>
            <a:off x="6583680" y="1874520"/>
            <a:ext cx="4572000" cy="77724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浮動株4.9%。95%は売れない株だった</a:t>
            </a:r>
            <a:endParaRPr lang="en-US" sz="1200" dirty="0"/>
          </a:p>
        </p:txBody>
      </p:sp>
      <p:sp>
        <p:nvSpPr>
          <p:cNvPr id="9" name="Shape 7"/>
          <p:cNvSpPr/>
          <p:nvPr/>
        </p:nvSpPr>
        <p:spPr>
          <a:xfrm>
            <a:off x="640080" y="2788920"/>
            <a:ext cx="10881360" cy="777240"/>
          </a:xfrm>
          <a:prstGeom prst="roundRect">
            <a:avLst>
              <a:gd name="adj" fmla="val 7059"/>
            </a:avLst>
          </a:prstGeom>
          <a:solidFill>
            <a:srgbClr val="2A3775"/>
          </a:solidFill>
          <a:ln/>
        </p:spPr>
      </p:sp>
      <p:sp>
        <p:nvSpPr>
          <p:cNvPr id="10" name="Shape 8"/>
          <p:cNvSpPr/>
          <p:nvPr/>
        </p:nvSpPr>
        <p:spPr>
          <a:xfrm>
            <a:off x="914400" y="3008376"/>
            <a:ext cx="347472" cy="347472"/>
          </a:xfrm>
          <a:prstGeom prst="ellipse">
            <a:avLst/>
          </a:prstGeom>
          <a:solidFill>
            <a:srgbClr val="E8A33D"/>
          </a:solidFill>
          <a:ln/>
        </p:spPr>
      </p:sp>
      <p:sp>
        <p:nvSpPr>
          <p:cNvPr id="11" name="Text 9"/>
          <p:cNvSpPr txBox="1"/>
          <p:nvPr/>
        </p:nvSpPr>
        <p:spPr>
          <a:xfrm>
            <a:off x="914400" y="3008376"/>
            <a:ext cx="347472" cy="347472"/>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1463040" y="2788920"/>
            <a:ext cx="5029200" cy="77724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好決算で8%下げた</a:t>
            </a:r>
            <a:endParaRPr lang="en-US" sz="1350" dirty="0"/>
          </a:p>
        </p:txBody>
      </p:sp>
      <p:sp>
        <p:nvSpPr>
          <p:cNvPr id="13" name="Text 11"/>
          <p:cNvSpPr txBox="1"/>
          <p:nvPr/>
        </p:nvSpPr>
        <p:spPr>
          <a:xfrm>
            <a:off x="6583680" y="2788920"/>
            <a:ext cx="4572000" cy="77724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市場は成長率ではなく設備投資とキャッシュを見ている</a:t>
            </a:r>
            <a:endParaRPr lang="en-US" sz="1200" dirty="0"/>
          </a:p>
        </p:txBody>
      </p:sp>
      <p:sp>
        <p:nvSpPr>
          <p:cNvPr id="14" name="Shape 12"/>
          <p:cNvSpPr/>
          <p:nvPr/>
        </p:nvSpPr>
        <p:spPr>
          <a:xfrm>
            <a:off x="640080" y="3703320"/>
            <a:ext cx="10881360" cy="777240"/>
          </a:xfrm>
          <a:prstGeom prst="roundRect">
            <a:avLst>
              <a:gd name="adj" fmla="val 7059"/>
            </a:avLst>
          </a:prstGeom>
          <a:solidFill>
            <a:srgbClr val="2A3775"/>
          </a:solidFill>
          <a:ln/>
        </p:spPr>
      </p:sp>
      <p:sp>
        <p:nvSpPr>
          <p:cNvPr id="15" name="Shape 13"/>
          <p:cNvSpPr/>
          <p:nvPr/>
        </p:nvSpPr>
        <p:spPr>
          <a:xfrm>
            <a:off x="914400" y="3922776"/>
            <a:ext cx="347472" cy="347472"/>
          </a:xfrm>
          <a:prstGeom prst="ellipse">
            <a:avLst/>
          </a:prstGeom>
          <a:solidFill>
            <a:srgbClr val="E8A33D"/>
          </a:solidFill>
          <a:ln/>
        </p:spPr>
      </p:sp>
      <p:sp>
        <p:nvSpPr>
          <p:cNvPr id="16" name="Text 14"/>
          <p:cNvSpPr txBox="1"/>
          <p:nvPr/>
        </p:nvSpPr>
        <p:spPr>
          <a:xfrm>
            <a:off x="914400" y="3922776"/>
            <a:ext cx="347472" cy="347472"/>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1463040" y="3703320"/>
            <a:ext cx="5029200" cy="77724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35%の急騰に業績要因はゼロ</a:t>
            </a:r>
            <a:endParaRPr lang="en-US" sz="1350" dirty="0"/>
          </a:p>
        </p:txBody>
      </p:sp>
      <p:sp>
        <p:nvSpPr>
          <p:cNvPr id="18" name="Text 16"/>
          <p:cNvSpPr txBox="1"/>
          <p:nvPr/>
        </p:nvSpPr>
        <p:spPr>
          <a:xfrm>
            <a:off x="6583680" y="3703320"/>
            <a:ext cx="4572000" cy="77724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ロックアップ解除が貸株需給を緩め、空売りが買い戻した</a:t>
            </a:r>
            <a:endParaRPr lang="en-US" sz="1200" dirty="0"/>
          </a:p>
        </p:txBody>
      </p:sp>
      <p:sp>
        <p:nvSpPr>
          <p:cNvPr id="19" name="Shape 17"/>
          <p:cNvSpPr/>
          <p:nvPr/>
        </p:nvSpPr>
        <p:spPr>
          <a:xfrm>
            <a:off x="640080" y="4617720"/>
            <a:ext cx="10881360" cy="777240"/>
          </a:xfrm>
          <a:prstGeom prst="roundRect">
            <a:avLst>
              <a:gd name="adj" fmla="val 7059"/>
            </a:avLst>
          </a:prstGeom>
          <a:solidFill>
            <a:srgbClr val="2A3775"/>
          </a:solidFill>
          <a:ln/>
        </p:spPr>
      </p:sp>
      <p:sp>
        <p:nvSpPr>
          <p:cNvPr id="20" name="Shape 18"/>
          <p:cNvSpPr/>
          <p:nvPr/>
        </p:nvSpPr>
        <p:spPr>
          <a:xfrm>
            <a:off x="914400" y="4837176"/>
            <a:ext cx="347472" cy="347472"/>
          </a:xfrm>
          <a:prstGeom prst="ellipse">
            <a:avLst/>
          </a:prstGeom>
          <a:solidFill>
            <a:srgbClr val="E8A33D"/>
          </a:solidFill>
          <a:ln/>
        </p:spPr>
      </p:sp>
      <p:sp>
        <p:nvSpPr>
          <p:cNvPr id="21" name="Text 19"/>
          <p:cNvSpPr txBox="1"/>
          <p:nvPr/>
        </p:nvSpPr>
        <p:spPr>
          <a:xfrm>
            <a:off x="914400" y="4837176"/>
            <a:ext cx="347472" cy="347472"/>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4</a:t>
            </a:r>
            <a:endParaRPr lang="en-US" sz="1300" dirty="0"/>
          </a:p>
        </p:txBody>
      </p:sp>
      <p:sp>
        <p:nvSpPr>
          <p:cNvPr id="22" name="Text 20"/>
          <p:cNvSpPr txBox="1"/>
          <p:nvPr/>
        </p:nvSpPr>
        <p:spPr>
          <a:xfrm>
            <a:off x="1463040" y="4617720"/>
            <a:ext cx="5029200" cy="77724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プロの評価は$30〜$300</a:t>
            </a:r>
            <a:endParaRPr lang="en-US" sz="1350" dirty="0"/>
          </a:p>
        </p:txBody>
      </p:sp>
      <p:sp>
        <p:nvSpPr>
          <p:cNvPr id="23" name="Text 21"/>
          <p:cNvSpPr txBox="1"/>
          <p:nvPr/>
        </p:nvSpPr>
        <p:spPr>
          <a:xfrm>
            <a:off x="6583680" y="4617720"/>
            <a:ext cx="4572000" cy="77724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差はほぼ全て、AI部門の評価に由来する</a:t>
            </a:r>
            <a:endParaRPr lang="en-US" sz="1200" dirty="0"/>
          </a:p>
        </p:txBody>
      </p:sp>
      <p:sp>
        <p:nvSpPr>
          <p:cNvPr id="24" name="Shape 22"/>
          <p:cNvSpPr/>
          <p:nvPr/>
        </p:nvSpPr>
        <p:spPr>
          <a:xfrm>
            <a:off x="640080" y="5669280"/>
            <a:ext cx="2926080" cy="18288"/>
          </a:xfrm>
          <a:prstGeom prst="rect">
            <a:avLst/>
          </a:prstGeom>
          <a:solidFill>
            <a:srgbClr val="E8A33D"/>
          </a:solidFill>
          <a:ln/>
        </p:spPr>
      </p:sp>
      <p:sp>
        <p:nvSpPr>
          <p:cNvPr id="25" name="Text 23"/>
          <p:cNvSpPr txBox="1"/>
          <p:nvPr/>
        </p:nvSpPr>
        <p:spPr>
          <a:xfrm>
            <a:off x="640080" y="5806440"/>
            <a:ext cx="10881360" cy="36576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次の問い：では、その株価には何が織り込まれているのか。</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2026-08-28T06:11:58Z</dcterms:created>
  <dcterms:modified xsi:type="dcterms:W3CDTF">2026-08-28T06:11:58Z</dcterms:modified>
</cp:coreProperties>
</file>