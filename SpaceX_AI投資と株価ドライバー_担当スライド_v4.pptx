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稼働までの日数</c:v>
                </c:pt>
              </c:strCache>
            </c:strRef>
          </c:tx>
          <c:spPr>
            <a:solidFill>
              <a:srgbClr val="0E2340"/>
            </a:solidFill>
            <a:effectLst/>
          </c:spPr>
          <c:invertIfNegative val="0"/>
          <c:dLbls>
            <c:numFmt formatCode="0&quot;日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E2340"/>
                    </a:solidFill>
                    <a:latin typeface="Arial"/>
                    <a:ea typeface="ＭＳ ゴシック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234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4E7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6FA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EBDD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Colossus II
GB300・220MW</c:v>
                  </c:pt>
                  <c:pt idx="1">
                    <c:v>Colossus II
GB200・210MW</c:v>
                  </c:pt>
                  <c:pt idx="2">
                    <c:v>Colossus I
H100・130MW</c:v>
                  </c:pt>
                  <c:pt idx="3">
                    <c:v>業界目安
100MW級 新設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64</c:v>
                </c:pt>
                <c:pt idx="1">
                  <c:v>91</c:v>
                </c:pt>
                <c:pt idx="2">
                  <c:v>122</c:v>
                </c:pt>
                <c:pt idx="3">
                  <c:v>730</c:v>
                </c:pt>
              </c:numCache>
            </c:numRef>
          </c:val>
        </c:ser>
        <c:dLbls>
          <c:numFmt formatCode="0&quot;日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0E2340"/>
                  </a:solidFill>
                  <a:latin typeface="Arial"/>
                  <a:ea typeface="ＭＳ ゴシック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C4956"/>
                </a:solidFill>
                <a:latin typeface="Arial"/>
                <a:ea typeface="ＭＳ ゴシック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ＭＳ ゴシック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終値</c:v>
                </c:pt>
              </c:strCache>
            </c:strRef>
          </c:tx>
          <c:spPr>
            <a:solidFill>
              <a:srgbClr val="2E6FA7"/>
            </a:solidFill>
            <a:ln w="38100" cap="flat">
              <a:solidFill>
                <a:srgbClr val="2E6FA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  <a:ea typeface="ＭＳ ゴシック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6FA7"/>
              </a:solidFill>
              <a:ln w="9525" cap="flat">
                <a:solidFill>
                  <a:srgbClr val="2E6FA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6/15</c:v>
                  </c:pt>
                  <c:pt idx="1">
                    <c:v>6/22</c:v>
                  </c:pt>
                  <c:pt idx="2">
                    <c:v>6/26</c:v>
                  </c:pt>
                  <c:pt idx="3">
                    <c:v>7/1</c:v>
                  </c:pt>
                  <c:pt idx="4">
                    <c:v>7/8</c:v>
                  </c:pt>
                  <c:pt idx="5">
                    <c:v>7/14</c:v>
                  </c:pt>
                  <c:pt idx="6">
                    <c:v>7/20</c:v>
                  </c:pt>
                  <c:pt idx="7">
                    <c:v>7/24</c:v>
                  </c:pt>
                  <c:pt idx="8">
                    <c:v>7/29</c:v>
                  </c:pt>
                  <c:pt idx="9">
                    <c:v>8/4</c:v>
                  </c:pt>
                  <c:pt idx="10">
                    <c:v>8/10</c:v>
                  </c:pt>
                  <c:pt idx="11">
                    <c:v>8/14</c:v>
                  </c:pt>
                  <c:pt idx="12">
                    <c:v>8/19</c:v>
                  </c:pt>
                  <c:pt idx="13">
                    <c:v>8/25</c:v>
                  </c:pt>
                  <c:pt idx="14">
                    <c:v>8/31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192.5</c:v>
                </c:pt>
                <c:pt idx="1">
                  <c:v>154.6</c:v>
                </c:pt>
                <c:pt idx="2">
                  <c:v>153.23</c:v>
                </c:pt>
                <c:pt idx="3">
                  <c:v>157.54</c:v>
                </c:pt>
                <c:pt idx="4">
                  <c:v>148.3</c:v>
                </c:pt>
                <c:pt idx="5">
                  <c:v>136.08</c:v>
                </c:pt>
                <c:pt idx="6">
                  <c:v>119.85</c:v>
                </c:pt>
                <c:pt idx="7">
                  <c:v>115.07</c:v>
                </c:pt>
                <c:pt idx="8">
                  <c:v>112.55</c:v>
                </c:pt>
                <c:pt idx="9">
                  <c:v>125.33</c:v>
                </c:pt>
                <c:pt idx="10">
                  <c:v>138.74</c:v>
                </c:pt>
                <c:pt idx="11">
                  <c:v>140</c:v>
                </c:pt>
                <c:pt idx="12">
                  <c:v>139.65</c:v>
                </c:pt>
                <c:pt idx="13">
                  <c:v>137.95</c:v>
                </c:pt>
                <c:pt idx="14">
                  <c:v>143.69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  <a:ea typeface="ＭＳ ゴシック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E7B8A"/>
                </a:solidFill>
                <a:latin typeface="Arial"/>
                <a:ea typeface="ＭＳ ゴシック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0"/>
          <c:min val="90"/>
        </c:scaling>
        <c:delete val="0"/>
        <c:axPos val="l"/>
        <c:majorGridlines>
          <c:spPr>
            <a:ln w="6350" cap="flat">
              <a:solidFill>
                <a:srgbClr val="D5DB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E7B8A"/>
                </a:solidFill>
                <a:latin typeface="Arial"/>
                <a:ea typeface="ＭＳ ゴシック"/>
              </a:defRPr>
            </a:pPr>
            <a:endParaRPr lang="en-US"/>
          </a:p>
        </c:txPr>
        <c:crossAx val="2094734554"/>
        <c:crosses val="autoZero"/>
        <c:crossBetween val="between"/>
        <c:majorUnit val="3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AI設備投資</c:v>
                </c:pt>
              </c:strCache>
            </c:strRef>
          </c:tx>
          <c:spPr>
            <a:solidFill>
              <a:srgbClr val="9EBDD8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E2340"/>
                    </a:solidFill>
                    <a:latin typeface="Arial"/>
                    <a:ea typeface="ＭＳ ゴシック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EBD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EBDD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6FA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234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2023年</c:v>
                  </c:pt>
                  <c:pt idx="1">
                    <c:v>2024年</c:v>
                  </c:pt>
                  <c:pt idx="2">
                    <c:v>2025年</c:v>
                  </c:pt>
                  <c:pt idx="3">
                    <c:v>2026年
上半期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4.6</c:v>
                </c:pt>
                <c:pt idx="1">
                  <c:v>56.3</c:v>
                </c:pt>
                <c:pt idx="2">
                  <c:v>127.3</c:v>
                </c:pt>
                <c:pt idx="3">
                  <c:v>235.5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200" u="none">
                  <a:solidFill>
                    <a:srgbClr val="0E2340"/>
                  </a:solidFill>
                  <a:latin typeface="Arial"/>
                  <a:ea typeface="ＭＳ ゴシック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C4956"/>
                </a:solidFill>
                <a:latin typeface="Arial"/>
                <a:ea typeface="ＭＳ ゴシック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9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ＭＳ ゴシック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下振れ幅（ドル）</c:v>
                </c:pt>
              </c:strCache>
            </c:strRef>
          </c:tx>
          <c:spPr>
            <a:solidFill>
              <a:srgbClr val="9EBDD8"/>
            </a:solidFill>
            <a:effectLst/>
          </c:spPr>
          <c:invertIfNegative val="0"/>
          <c:dLbls>
            <c:numFmt formatCode="&quot;−&quot;0.0&quot;ドル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E2340"/>
                    </a:solidFill>
                    <a:latin typeface="Arial"/>
                    <a:ea typeface="ＭＳ ゴシック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EBD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EBDD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EBDD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EBDD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234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E234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ネットキャッシュ</c:v>
                  </c:pt>
                  <c:pt idx="1">
                    <c:v>宇宙事業の評価</c:v>
                  </c:pt>
                  <c:pt idx="2">
                    <c:v>Starlink売上</c:v>
                  </c:pt>
                  <c:pt idx="3">
                    <c:v>Starlink倍率</c:v>
                  </c:pt>
                  <c:pt idx="4">
                    <c:v>AI評価倍率</c:v>
                  </c:pt>
                  <c:pt idx="5">
                    <c:v>AI売上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1.5</c:v>
                </c:pt>
                <c:pt idx="1">
                  <c:v>2.2</c:v>
                </c:pt>
                <c:pt idx="2">
                  <c:v>2.4</c:v>
                </c:pt>
                <c:pt idx="3">
                  <c:v>7.4</c:v>
                </c:pt>
                <c:pt idx="4">
                  <c:v>21</c:v>
                </c:pt>
                <c:pt idx="5">
                  <c:v>25.7</c:v>
                </c:pt>
              </c:numCache>
            </c:numRef>
          </c:val>
        </c:ser>
        <c:dLbls>
          <c:numFmt formatCode="&quot;−&quot;0.0&quot;ドル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0E2340"/>
                  </a:solidFill>
                  <a:latin typeface="Arial"/>
                  <a:ea typeface="ＭＳ ゴシック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C4956"/>
                </a:solidFill>
                <a:latin typeface="Arial"/>
                <a:ea typeface="ＭＳ ゴシック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ＭＳ ゴシック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相関係数</c:v>
                </c:pt>
              </c:strCache>
            </c:strRef>
          </c:tx>
          <c:spPr>
            <a:solidFill>
              <a:srgbClr val="0E234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0E2340"/>
                    </a:solidFill>
                    <a:latin typeface="Arial"/>
                    <a:ea typeface="ＭＳ ゴシック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234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6FA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EBDD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EBDD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RKLB
ロケットラボ</c:v>
                  </c:pt>
                  <c:pt idx="1">
                    <c:v>QQQ
ナスダック100</c:v>
                  </c:pt>
                  <c:pt idx="2">
                    <c:v>TSLA
テスラ</c:v>
                  </c:pt>
                  <c:pt idx="3">
                    <c:v>NVDA
エヌビディア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0.45</c:v>
                </c:pt>
                <c:pt idx="1">
                  <c:v>0.35</c:v>
                </c:pt>
                <c:pt idx="2">
                  <c:v>0.15</c:v>
                </c:pt>
                <c:pt idx="3">
                  <c:v>0.11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300" u="none">
                  <a:solidFill>
                    <a:srgbClr val="0E2340"/>
                  </a:solidFill>
                  <a:latin typeface="Arial"/>
                  <a:ea typeface="ＭＳ ゴシック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C4956"/>
                </a:solidFill>
                <a:latin typeface="Arial"/>
                <a:ea typeface="ＭＳ ゴシック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8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ＭＳ ゴシック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hropic・Google両契約とも計算資源へのアクセス提供であり、GPUの所有権移転ではない。顧客はモデルとデータの知的財産権を保持する。両契約とも90日前通知による解約条項がある。受注済みクラウド契約は141億ドル、全社受注残は475億ド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 = 時価総額1,949.2 + 有利子負債39.4 − 現金等100.0 = 1,888.5十億ドル。AI残余 = 1,888.5 − 239.6 − 50.8 = 1,597.9十億ドル。1GW当たり年商 = AI基盤売上21.94億ドル × 4 ÷ 1.4GW = 62.7億ドル。CoreWeave は2026年第2四半期でEV約1,050億ドル／年換算売上103億ドル。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前倒し売上の試算: 0.22GW × 62.7億ドル/GW/年 × (666日 ÷ 365日) ≒ 25.2億ドル。設備規模が異なる比較のため規模感を示す試算である。第2四半期のAI事業は売上1ドルに対し6.2ドルの設備投資を行っている。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軌道データセンターの補足：SpaceXとNVIDIAは2026年8月4日にStarmind AI1の計算ペイロードを共同設計すると発表。空間最適化したVera Rubin NVL72を搭載し、平均175kW・ピーク250kW。最終的には最大100万基の構想。FCC申請には1,500件の異議が出ており、Amazonは100万基体制なら1日550基の交換が必要と指摘。米国天文学会も却下を申し立てている。1GW相当は約5,700基、15GW相当は約8.6万基にあたる。1ワット当たり年商：SpaceX 6.3ドル（AI基盤売上88億ドル÷1.4GW）、CoreWeave 6.9ドル（年換算103億ドル÷1.5GW）。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必要売上 = AI残余EV 1兆5,980億ドル ÷ EV/売上10倍 = 1,598億ドル。契約済み = Anthropic 12.5億ドル×12 + Google 9.2億ドル×12 = 260.4億ドル。アナリスト目標株価は41社平均で220.20ドル。短期の材料は9/9・12/8のロックアップ解除、9/30のGoogle向けGPU納入期限、11/3の第3四半期決算。詳細は付録A4。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AI設備投資: 2023年4.6億ドル、2024年56.3億ドル、2025年127.3億ドル、2026年上半期235.5億ドル。第2四半期は158.3億ドルで前年同期7.5億ドルの21.1倍。第2四半期の減価償却費は28.5億ドル。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主な収益源: AIは計算資源の貸出・API・購読・広告、通信は契約者数×ARPU・法人向け、宇宙は打上げ・開発契約。四半期単独の数値であり通期の傾向とは異なる場合がある。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感応度の内訳: AI売上14.4→10.0億ドルで−25.7ドル、AI倍率80→60倍で−21.0ドル、Starlink倍率18→12倍で−7.4ドル、Starlink売上220→190億ドルで−2.4ドル、宇宙300→0億ドルで−2.2ドル、ネットキャッシュ0→−200億ドルで−1.5ドル。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市場関係者41社の平均目標株価は220.20ドルで、強気ケースをも上回る。Google契約は2026年10月開始で月9.2億ドル。S&amp;P500採用が実現すれば約140億ドルの資金流入が見込まれる。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ナスダック100との相関0.35は中程度。上場直後は浮動株が限られ、指数連動の資金流入が値動きに影響しにくい状態にある。ロックアップ解除が進むにつれて相関は上がりやすい。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後は打上げ頻度・再使用回数・1kg当たり打上げ費用の実績に応じて成功確率を段階的に更新する。株式数135.65億株で割った1株価値への影響は基本ケースから−2.9ドル〜+8.7ドル、株価143.69ドルに対して−2.0%〜+6.1%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ＭＳ ゴシック"/>
          <a:cs typeface="Arial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/>
          <a:ea typeface="ＭＳ ゴシック"/>
          <a:cs typeface="Arial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/>
          <a:ea typeface="ＭＳ ゴシック"/>
          <a:cs typeface="Arial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/>
          <a:ea typeface="ＭＳ ゴシック"/>
          <a:cs typeface="Arial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/>
          <a:ea typeface="ＭＳ ゴシック"/>
          <a:cs typeface="Arial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/>
          <a:ea typeface="ＭＳ ゴシック"/>
          <a:cs typeface="Arial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ＭＳ ゴシック"/>
          <a:cs typeface="Arial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ＭＳ ゴシック"/>
          <a:cs typeface="Arial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ＭＳ ゴシック"/>
          <a:cs typeface="Arial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ＭＳ ゴシック"/>
          <a:cs typeface="Arial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Arial"/>
          <a:ea typeface="ＭＳ ゴシック"/>
          <a:cs typeface="Arial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Arial"/>
          <a:ea typeface="ＭＳ ゴシック"/>
          <a:cs typeface="Arial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Arial"/>
          <a:ea typeface="ＭＳ ゴシック"/>
          <a:cs typeface="Arial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Arial"/>
          <a:ea typeface="ＭＳ ゴシック"/>
          <a:cs typeface="Arial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Arial"/>
          <a:ea typeface="ＭＳ ゴシック"/>
          <a:cs typeface="Arial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Arial"/>
          <a:ea typeface="ＭＳ ゴシック"/>
          <a:cs typeface="Arial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Arial"/>
          <a:ea typeface="ＭＳ ゴシック"/>
          <a:cs typeface="Arial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Arial"/>
          <a:ea typeface="ＭＳ ゴシック"/>
          <a:cs typeface="Arial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Arial"/>
          <a:ea typeface="ＭＳ ゴシック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jpe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強み ｜ AI投資を起点にした収益の循環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20095" y="2194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AI投資が、SpaceXの3事業を一本の収益循環につないでいる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32688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電力 → 計算資源 → モデル → 外部販売 → 通信・宇宙。他社が数社に分けて担う工程を、一社で連続させている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9012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53312"/>
            <a:ext cx="2130552" cy="768096"/>
          </a:xfrm>
          <a:prstGeom prst="rect">
            <a:avLst/>
          </a:prstGeom>
          <a:solidFill>
            <a:srgbClr val="F3F6F9"/>
          </a:solidFill>
          <a:ln/>
        </p:spPr>
      </p:sp>
      <p:pic>
        <p:nvPicPr>
          <p:cNvPr id="8" name="Image 0" descr="ppt/media/image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53312"/>
            <a:ext cx="2130552" cy="7680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194560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01  電力と用地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2414016"/>
            <a:ext cx="2130552" cy="7315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468880"/>
            <a:ext cx="2130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電力を自分でつくる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2871216"/>
            <a:ext cx="2130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発電設備と蓄電池を併設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送電網の接続待ちを回避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606040" y="1609344"/>
            <a:ext cx="109728" cy="256032"/>
          </a:xfrm>
          <a:prstGeom prst="chevron">
            <a:avLst/>
          </a:prstGeom>
          <a:solidFill>
            <a:srgbClr val="9EBDD8"/>
          </a:solidFill>
          <a:ln/>
        </p:spPr>
      </p:sp>
      <p:sp>
        <p:nvSpPr>
          <p:cNvPr id="14" name="Shape 11"/>
          <p:cNvSpPr/>
          <p:nvPr/>
        </p:nvSpPr>
        <p:spPr>
          <a:xfrm>
            <a:off x="2734056" y="1353312"/>
            <a:ext cx="2130552" cy="768096"/>
          </a:xfrm>
          <a:prstGeom prst="rect">
            <a:avLst/>
          </a:prstGeom>
          <a:solidFill>
            <a:srgbClr val="F3F6F9"/>
          </a:solidFill>
          <a:ln/>
        </p:spPr>
      </p:sp>
      <p:pic>
        <p:nvPicPr>
          <p:cNvPr id="15" name="Image 1" descr="icons/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732" y="150876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734056" y="2194560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02  計算資源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2734056" y="2414016"/>
            <a:ext cx="2130552" cy="7315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2734056" y="2468880"/>
            <a:ext cx="2130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1.4GWのGPU群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2734056" y="2871216"/>
            <a:ext cx="2130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NVIDIA製GPU 約32.5万基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液冷で高密度に運用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882896" y="1609344"/>
            <a:ext cx="109728" cy="256032"/>
          </a:xfrm>
          <a:prstGeom prst="chevron">
            <a:avLst/>
          </a:prstGeom>
          <a:solidFill>
            <a:srgbClr val="9EBDD8"/>
          </a:solidFill>
          <a:ln/>
        </p:spPr>
      </p:sp>
      <p:sp>
        <p:nvSpPr>
          <p:cNvPr id="21" name="Shape 17"/>
          <p:cNvSpPr/>
          <p:nvPr/>
        </p:nvSpPr>
        <p:spPr>
          <a:xfrm>
            <a:off x="5010912" y="1353312"/>
            <a:ext cx="2130552" cy="768096"/>
          </a:xfrm>
          <a:prstGeom prst="rect">
            <a:avLst/>
          </a:prstGeom>
          <a:solidFill>
            <a:srgbClr val="F3F6F9"/>
          </a:solidFill>
          <a:ln/>
        </p:spPr>
      </p:sp>
      <p:pic>
        <p:nvPicPr>
          <p:cNvPr id="22" name="Image 2" descr="ppt/media/image2.jpe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285232" y="1463040"/>
            <a:ext cx="1581912" cy="54864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010912" y="2194560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03  モデルとデータ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5010912" y="2414016"/>
            <a:ext cx="2130552" cy="7315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5010912" y="2468880"/>
            <a:ext cx="2130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Grokを自社開発</a:t>
            </a:r>
            <a:endParaRPr lang="en-US" sz="1700" dirty="0"/>
          </a:p>
        </p:txBody>
      </p:sp>
      <p:sp>
        <p:nvSpPr>
          <p:cNvPr id="26" name="Text 21"/>
          <p:cNvSpPr txBox="1"/>
          <p:nvPr/>
        </p:nvSpPr>
        <p:spPr>
          <a:xfrm>
            <a:off x="5010912" y="2871216"/>
            <a:ext cx="2130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Xの実時間データで学習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購読・API・広告で収益化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7159752" y="1609344"/>
            <a:ext cx="109728" cy="256032"/>
          </a:xfrm>
          <a:prstGeom prst="chevron">
            <a:avLst/>
          </a:prstGeom>
          <a:solidFill>
            <a:srgbClr val="9EBDD8"/>
          </a:solidFill>
          <a:ln/>
        </p:spPr>
      </p:sp>
      <p:sp>
        <p:nvSpPr>
          <p:cNvPr id="28" name="Shape 23"/>
          <p:cNvSpPr/>
          <p:nvPr/>
        </p:nvSpPr>
        <p:spPr>
          <a:xfrm>
            <a:off x="7287768" y="1353312"/>
            <a:ext cx="2130552" cy="768096"/>
          </a:xfrm>
          <a:prstGeom prst="rect">
            <a:avLst/>
          </a:prstGeom>
          <a:solidFill>
            <a:srgbClr val="F3F6F9"/>
          </a:solidFill>
          <a:ln/>
        </p:spPr>
      </p:sp>
      <p:pic>
        <p:nvPicPr>
          <p:cNvPr id="29" name="Image 3" descr="icons/d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4444" y="1508760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7287768" y="2194560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04  外部への販売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7287768" y="2414016"/>
            <a:ext cx="2130552" cy="7315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7287768" y="2468880"/>
            <a:ext cx="2130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空き能力を外販</a:t>
            </a:r>
            <a:endParaRPr lang="en-US" sz="1700" dirty="0"/>
          </a:p>
        </p:txBody>
      </p:sp>
      <p:sp>
        <p:nvSpPr>
          <p:cNvPr id="33" name="Text 27"/>
          <p:cNvSpPr txBox="1"/>
          <p:nvPr/>
        </p:nvSpPr>
        <p:spPr>
          <a:xfrm>
            <a:off x="7287768" y="2871216"/>
            <a:ext cx="2130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Anthropicへ月12.5億ドル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Googleへ月9.2億ドル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9436608" y="1609344"/>
            <a:ext cx="109728" cy="256032"/>
          </a:xfrm>
          <a:prstGeom prst="chevron">
            <a:avLst/>
          </a:prstGeom>
          <a:solidFill>
            <a:srgbClr val="9EBDD8"/>
          </a:solidFill>
          <a:ln/>
        </p:spPr>
      </p:sp>
      <p:sp>
        <p:nvSpPr>
          <p:cNvPr id="35" name="Shape 29"/>
          <p:cNvSpPr/>
          <p:nvPr/>
        </p:nvSpPr>
        <p:spPr>
          <a:xfrm>
            <a:off x="9564624" y="1353312"/>
            <a:ext cx="2130552" cy="768096"/>
          </a:xfrm>
          <a:prstGeom prst="rect">
            <a:avLst/>
          </a:prstGeom>
          <a:solidFill>
            <a:srgbClr val="F3F6F9"/>
          </a:solidFill>
          <a:ln/>
        </p:spPr>
      </p:sp>
      <p:pic>
        <p:nvPicPr>
          <p:cNvPr id="36" name="Image 4" descr="icons/sa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1300" y="1508760"/>
            <a:ext cx="457200" cy="45720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9564624" y="2194560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05  通信と宇宙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9564624" y="2414016"/>
            <a:ext cx="2130552" cy="7315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39" name="Text 32"/>
          <p:cNvSpPr txBox="1"/>
          <p:nvPr/>
        </p:nvSpPr>
        <p:spPr>
          <a:xfrm>
            <a:off x="9564624" y="2468880"/>
            <a:ext cx="2130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配信網と打上げ</a:t>
            </a:r>
            <a:endParaRPr lang="en-US" sz="1700" dirty="0"/>
          </a:p>
        </p:txBody>
      </p:sp>
      <p:sp>
        <p:nvSpPr>
          <p:cNvPr id="40" name="Text 33"/>
          <p:cNvSpPr txBox="1"/>
          <p:nvPr/>
        </p:nvSpPr>
        <p:spPr>
          <a:xfrm>
            <a:off x="9564624" y="2871216"/>
            <a:ext cx="2130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Starlink 1,200万契約</a:t>
            </a:r>
            <a:endParaRPr lang="en-US" sz="13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2027年に推論衛星を打上げ</a:t>
            </a:r>
            <a:endParaRPr lang="en-US" sz="1300" dirty="0"/>
          </a:p>
        </p:txBody>
      </p:sp>
      <p:sp>
        <p:nvSpPr>
          <p:cNvPr id="41" name="Text 34"/>
          <p:cNvSpPr txBox="1"/>
          <p:nvPr/>
        </p:nvSpPr>
        <p:spPr>
          <a:xfrm>
            <a:off x="457200" y="38587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外部への計算資源販売（契約済み）</a:t>
            </a:r>
            <a:endParaRPr lang="en-US" sz="1400" dirty="0"/>
          </a:p>
        </p:txBody>
      </p:sp>
      <p:sp>
        <p:nvSpPr>
          <p:cNvPr id="42" name="Text 35"/>
          <p:cNvSpPr txBox="1"/>
          <p:nvPr/>
        </p:nvSpPr>
        <p:spPr>
          <a:xfrm>
            <a:off x="4297680" y="385876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金額は米ドル</a:t>
            </a:r>
            <a:endParaRPr lang="en-US" sz="950" dirty="0"/>
          </a:p>
        </p:txBody>
      </p:sp>
      <p:sp>
        <p:nvSpPr>
          <p:cNvPr id="43" name="Shape 36"/>
          <p:cNvSpPr/>
          <p:nvPr/>
        </p:nvSpPr>
        <p:spPr>
          <a:xfrm>
            <a:off x="457200" y="4114800"/>
            <a:ext cx="6400800" cy="9144"/>
          </a:xfrm>
          <a:prstGeom prst="rect">
            <a:avLst/>
          </a:prstGeom>
          <a:solidFill>
            <a:srgbClr val="0E2340"/>
          </a:solidFill>
          <a:ln/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06240"/>
          <a:ext cx="64008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148840"/>
                <a:gridCol w="1188720"/>
                <a:gridCol w="18745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顧客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契約の内容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年換算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解約条件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2340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Anthropic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約32.5万GPU。推論用途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E2340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150億ドル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90日前通知で解約可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2340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Google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約11万GPU。Gemini向け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E2340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110億ドル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90日前通知で解約可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合計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現在のAI年商の約3倍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260億ドル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継続は前提にできない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5" name="Text 37"/>
          <p:cNvSpPr txBox="1"/>
          <p:nvPr/>
        </p:nvSpPr>
        <p:spPr>
          <a:xfrm>
            <a:off x="7086600" y="3858768"/>
            <a:ext cx="27870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AI事業の現在地</a:t>
            </a:r>
            <a:endParaRPr lang="en-US" sz="1400" dirty="0"/>
          </a:p>
        </p:txBody>
      </p:sp>
      <p:sp>
        <p:nvSpPr>
          <p:cNvPr id="46" name="Text 38"/>
          <p:cNvSpPr txBox="1"/>
          <p:nvPr/>
        </p:nvSpPr>
        <p:spPr>
          <a:xfrm>
            <a:off x="9873691" y="3858768"/>
            <a:ext cx="18580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2026年 第2四半期</a:t>
            </a:r>
            <a:endParaRPr lang="en-US" sz="950" dirty="0"/>
          </a:p>
        </p:txBody>
      </p:sp>
      <p:sp>
        <p:nvSpPr>
          <p:cNvPr id="47" name="Shape 39"/>
          <p:cNvSpPr/>
          <p:nvPr/>
        </p:nvSpPr>
        <p:spPr>
          <a:xfrm>
            <a:off x="7086600" y="4114800"/>
            <a:ext cx="4645152" cy="9144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48" name="Text 40"/>
          <p:cNvSpPr txBox="1"/>
          <p:nvPr/>
        </p:nvSpPr>
        <p:spPr>
          <a:xfrm>
            <a:off x="7086600" y="4206240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AI売上</a:t>
            </a:r>
            <a:endParaRPr lang="en-US" sz="1000" dirty="0"/>
          </a:p>
        </p:txBody>
      </p:sp>
      <p:sp>
        <p:nvSpPr>
          <p:cNvPr id="49" name="Text 41"/>
          <p:cNvSpPr txBox="1"/>
          <p:nvPr/>
        </p:nvSpPr>
        <p:spPr>
          <a:xfrm>
            <a:off x="7086600" y="4379976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25.6億ドル</a:t>
            </a:r>
            <a:endParaRPr lang="en-US" sz="2100" dirty="0"/>
          </a:p>
        </p:txBody>
      </p:sp>
      <p:sp>
        <p:nvSpPr>
          <p:cNvPr id="50" name="Text 42"/>
          <p:cNvSpPr txBox="1"/>
          <p:nvPr/>
        </p:nvSpPr>
        <p:spPr>
          <a:xfrm>
            <a:off x="7086600" y="4754880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前年比 +247%</a:t>
            </a:r>
            <a:endParaRPr lang="en-US" sz="950" dirty="0"/>
          </a:p>
        </p:txBody>
      </p:sp>
      <p:sp>
        <p:nvSpPr>
          <p:cNvPr id="51" name="Text 43"/>
          <p:cNvSpPr txBox="1"/>
          <p:nvPr/>
        </p:nvSpPr>
        <p:spPr>
          <a:xfrm>
            <a:off x="9500616" y="4206240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稼働している計算能力</a:t>
            </a:r>
            <a:endParaRPr lang="en-US" sz="1000" dirty="0"/>
          </a:p>
        </p:txBody>
      </p:sp>
      <p:sp>
        <p:nvSpPr>
          <p:cNvPr id="52" name="Text 44"/>
          <p:cNvSpPr txBox="1"/>
          <p:nvPr/>
        </p:nvSpPr>
        <p:spPr>
          <a:xfrm>
            <a:off x="9500616" y="4379976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1.4 GW</a:t>
            </a:r>
            <a:endParaRPr lang="en-US" sz="2100" dirty="0"/>
          </a:p>
        </p:txBody>
      </p:sp>
      <p:sp>
        <p:nvSpPr>
          <p:cNvPr id="53" name="Text 45"/>
          <p:cNvSpPr txBox="1"/>
          <p:nvPr/>
        </p:nvSpPr>
        <p:spPr>
          <a:xfrm>
            <a:off x="9500616" y="4754880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1年前は0.4GW</a:t>
            </a:r>
            <a:endParaRPr lang="en-US" sz="950" dirty="0"/>
          </a:p>
        </p:txBody>
      </p:sp>
      <p:sp>
        <p:nvSpPr>
          <p:cNvPr id="54" name="Shape 46"/>
          <p:cNvSpPr/>
          <p:nvPr/>
        </p:nvSpPr>
        <p:spPr>
          <a:xfrm>
            <a:off x="7086600" y="4956048"/>
            <a:ext cx="4645152" cy="7315"/>
          </a:xfrm>
          <a:prstGeom prst="rect">
            <a:avLst/>
          </a:prstGeom>
          <a:solidFill>
            <a:srgbClr val="D5DBE2"/>
          </a:solidFill>
          <a:ln/>
        </p:spPr>
      </p:sp>
      <p:sp>
        <p:nvSpPr>
          <p:cNvPr id="55" name="Text 47"/>
          <p:cNvSpPr txBox="1"/>
          <p:nvPr/>
        </p:nvSpPr>
        <p:spPr>
          <a:xfrm>
            <a:off x="7086600" y="5047488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AI設備投資</a:t>
            </a:r>
            <a:endParaRPr lang="en-US" sz="1000" dirty="0"/>
          </a:p>
        </p:txBody>
      </p:sp>
      <p:sp>
        <p:nvSpPr>
          <p:cNvPr id="56" name="Text 48"/>
          <p:cNvSpPr txBox="1"/>
          <p:nvPr/>
        </p:nvSpPr>
        <p:spPr>
          <a:xfrm>
            <a:off x="7086600" y="5221224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158億ドル</a:t>
            </a:r>
            <a:endParaRPr lang="en-US" sz="2100" dirty="0"/>
          </a:p>
        </p:txBody>
      </p:sp>
      <p:sp>
        <p:nvSpPr>
          <p:cNvPr id="57" name="Text 49"/>
          <p:cNvSpPr txBox="1"/>
          <p:nvPr/>
        </p:nvSpPr>
        <p:spPr>
          <a:xfrm>
            <a:off x="7086600" y="5596128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全社設備投資の86%</a:t>
            </a:r>
            <a:endParaRPr lang="en-US" sz="950" dirty="0"/>
          </a:p>
        </p:txBody>
      </p:sp>
      <p:sp>
        <p:nvSpPr>
          <p:cNvPr id="58" name="Text 50"/>
          <p:cNvSpPr txBox="1"/>
          <p:nvPr/>
        </p:nvSpPr>
        <p:spPr>
          <a:xfrm>
            <a:off x="9500616" y="5047488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AI調整後EBITDA</a:t>
            </a:r>
            <a:endParaRPr lang="en-US" sz="1000" dirty="0"/>
          </a:p>
        </p:txBody>
      </p:sp>
      <p:sp>
        <p:nvSpPr>
          <p:cNvPr id="59" name="Text 51"/>
          <p:cNvSpPr txBox="1"/>
          <p:nvPr/>
        </p:nvSpPr>
        <p:spPr>
          <a:xfrm>
            <a:off x="9500616" y="5221224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+11.5億ドル</a:t>
            </a:r>
            <a:endParaRPr lang="en-US" sz="2100" dirty="0"/>
          </a:p>
        </p:txBody>
      </p:sp>
      <p:sp>
        <p:nvSpPr>
          <p:cNvPr id="60" name="Text 52"/>
          <p:cNvSpPr txBox="1"/>
          <p:nvPr/>
        </p:nvSpPr>
        <p:spPr>
          <a:xfrm>
            <a:off x="9500616" y="5596128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前年は2.8億ドルの赤字</a:t>
            </a:r>
            <a:endParaRPr lang="en-US" sz="950" dirty="0"/>
          </a:p>
        </p:txBody>
      </p:sp>
      <p:sp>
        <p:nvSpPr>
          <p:cNvPr id="61" name="Shape 53"/>
          <p:cNvSpPr/>
          <p:nvPr/>
        </p:nvSpPr>
        <p:spPr>
          <a:xfrm>
            <a:off x="457200" y="5870448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62" name="Text 54"/>
          <p:cNvSpPr txBox="1"/>
          <p:nvPr/>
        </p:nvSpPr>
        <p:spPr>
          <a:xfrm>
            <a:off x="457200" y="5961888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この頁の要点</a:t>
            </a:r>
            <a:endParaRPr lang="en-US" sz="1000" dirty="0"/>
          </a:p>
        </p:txBody>
      </p:sp>
      <p:sp>
        <p:nvSpPr>
          <p:cNvPr id="63" name="Text 55"/>
          <p:cNvSpPr txBox="1"/>
          <p:nvPr/>
        </p:nvSpPr>
        <p:spPr>
          <a:xfrm>
            <a:off x="1508760" y="5943600"/>
            <a:ext cx="102257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AI投資は独立事業ではない。電力から打上げまでを一社で持つため、AIへの投資が通信と宇宙の価値も押し上げる。</a:t>
            </a:r>
            <a:endParaRPr lang="en-US" sz="1250" dirty="0"/>
          </a:p>
        </p:txBody>
      </p:sp>
      <p:sp>
        <p:nvSpPr>
          <p:cNvPr id="64" name="Shape 56"/>
          <p:cNvSpPr/>
          <p:nvPr/>
        </p:nvSpPr>
        <p:spPr>
          <a:xfrm>
            <a:off x="457200" y="6419088"/>
            <a:ext cx="11277295" cy="7315"/>
          </a:xfrm>
          <a:prstGeom prst="rect">
            <a:avLst/>
          </a:prstGeom>
          <a:solidFill>
            <a:srgbClr val="D5DBE2"/>
          </a:solidFill>
          <a:ln/>
        </p:spPr>
      </p:sp>
      <p:sp>
        <p:nvSpPr>
          <p:cNvPr id="65" name="Text 57"/>
          <p:cNvSpPr txBox="1"/>
          <p:nvPr/>
        </p:nvSpPr>
        <p:spPr>
          <a:xfrm>
            <a:off x="457200" y="6464808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出典：SpaceX 2026年第2四半期決算（8月4日）、SEC提出書類（FWP, 6月5日）。写真：Megapack設置例、Grokロゴ。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定量評価 ｜ 添付モデルの再計算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20095" y="2194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企業価値の約85%が、AI事業への評価で説明される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32688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宇宙事業は直接入力をやめ、既存の打上げ事業とStarshipの期待値に分けて評価し直した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9012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353312"/>
            <a:ext cx="3483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企業価値と3事業への配分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941064" y="1353312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2026年8月31日終値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609344"/>
            <a:ext cx="5806440" cy="9144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1755648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株価143.69ドル × 135.65億株 ＝ 時価総額1兆9,492億ドル。負債394億ドルを加え現金1,000億ドルを引くと、企業価値は1兆8,885億ドル。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32304"/>
            <a:ext cx="737418" cy="438912"/>
          </a:xfrm>
          <a:prstGeom prst="rect">
            <a:avLst/>
          </a:prstGeom>
          <a:solidFill>
            <a:srgbClr val="1B4E7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2432304"/>
            <a:ext cx="7374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Starlink 12.7%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94618" y="2432304"/>
            <a:ext cx="156774" cy="438912"/>
          </a:xfrm>
          <a:prstGeom prst="rect">
            <a:avLst/>
          </a:prstGeom>
          <a:solidFill>
            <a:srgbClr val="9EBDD8"/>
          </a:solidFill>
          <a:ln/>
        </p:spPr>
      </p:sp>
      <p:sp>
        <p:nvSpPr>
          <p:cNvPr id="14" name="Shape 12"/>
          <p:cNvSpPr/>
          <p:nvPr/>
        </p:nvSpPr>
        <p:spPr>
          <a:xfrm>
            <a:off x="1351392" y="2432304"/>
            <a:ext cx="4912248" cy="438912"/>
          </a:xfrm>
          <a:prstGeom prst="rect">
            <a:avLst/>
          </a:prstGeom>
          <a:solidFill>
            <a:srgbClr val="2E6FA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51392" y="2432304"/>
            <a:ext cx="4912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AI（残余） 84.6%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241069" y="288950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宇宙 2.7%</a:t>
            </a:r>
            <a:endParaRPr lang="en-US" sz="9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63824"/>
          <a:ext cx="580644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508760"/>
                <a:gridCol w="26974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事業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評価額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評価の方法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Starlink（通信）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2,396億ドル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今後12か月のEBITDA × 18倍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宇宙（打上げ）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508億ドル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既存打上げ151億 ＋ Starship 357億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AI（残余）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1兆5,980億ドル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上の2つを引いた残り（逆算）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457200" y="4773168"/>
            <a:ext cx="3483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宇宙事業の評価を作り直した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941064" y="4773168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添付モデルは300億ドルを直接入力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7200" y="5029200"/>
            <a:ext cx="5806440" cy="9144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57200" y="5138928"/>
            <a:ext cx="5806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赤字事業に倍率は使えないため、既存の打上げ事業（151億ドル）とStarshipの期待値（357億ドル）に分けて算出した。詳細は付録A6。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492240" y="1353312"/>
            <a:ext cx="31437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AIの1兆5,980億ドルは妥当か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635947" y="1353312"/>
            <a:ext cx="209580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3つの物差し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492240" y="1609344"/>
            <a:ext cx="5239512" cy="9144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492240" y="1737360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① 今の売上と比べる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10314432" y="16916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A03A2B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156倍</a:t>
            </a:r>
            <a:endParaRPr lang="en-US" sz="2300" dirty="0"/>
          </a:p>
        </p:txBody>
      </p:sp>
      <p:sp>
        <p:nvSpPr>
          <p:cNvPr id="27" name="Text 24"/>
          <p:cNvSpPr txBox="1"/>
          <p:nvPr/>
        </p:nvSpPr>
        <p:spPr>
          <a:xfrm>
            <a:off x="6492240" y="2048256"/>
            <a:ext cx="5239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AI売上（年換算）102億ドルに対する倍率。同業CoreWeaveは約10倍。今の売上では説明できない。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492240" y="2670048"/>
            <a:ext cx="5239512" cy="7315"/>
          </a:xfrm>
          <a:prstGeom prst="rect">
            <a:avLst/>
          </a:prstGeom>
          <a:solidFill>
            <a:srgbClr val="D5DBE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492240" y="2779776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② 2027年末の計画能力と比べる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10314432" y="27340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17倍</a:t>
            </a:r>
            <a:endParaRPr lang="en-US" sz="2300" dirty="0"/>
          </a:p>
        </p:txBody>
      </p:sp>
      <p:sp>
        <p:nvSpPr>
          <p:cNvPr id="31" name="Text 28"/>
          <p:cNvSpPr txBox="1"/>
          <p:nvPr/>
        </p:nvSpPr>
        <p:spPr>
          <a:xfrm>
            <a:off x="6492240" y="3090672"/>
            <a:ext cx="5239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会社計画15GW × 1GW当たり年商63億ドル ＝ 年940億ドル。この売上に対してなら説明できる。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492240" y="3712464"/>
            <a:ext cx="5239512" cy="7315"/>
          </a:xfrm>
          <a:prstGeom prst="rect">
            <a:avLst/>
          </a:prstGeom>
          <a:solidFill>
            <a:srgbClr val="D5DBE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492240" y="3822192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③ 株価の動きやすさで確かめる</a:t>
            </a:r>
            <a:endParaRPr 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10314432" y="37764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77.6%</a:t>
            </a:r>
            <a:endParaRPr lang="en-US" sz="2300" dirty="0"/>
          </a:p>
        </p:txBody>
      </p:sp>
      <p:sp>
        <p:nvSpPr>
          <p:cNvPr id="35" name="Text 32"/>
          <p:cNvSpPr txBox="1"/>
          <p:nvPr/>
        </p:nvSpPr>
        <p:spPr>
          <a:xfrm>
            <a:off x="6492240" y="4133088"/>
            <a:ext cx="5239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1株価値を各変数で動かしたとき、AIの2変数が変動額全体に占める割合。株価はAIで動いている。</a:t>
            </a:r>
            <a:endParaRPr lang="en-US" sz="1150" dirty="0"/>
          </a:p>
        </p:txBody>
      </p:sp>
      <p:sp>
        <p:nvSpPr>
          <p:cNvPr id="36" name="Text 33"/>
          <p:cNvSpPr txBox="1"/>
          <p:nvPr/>
        </p:nvSpPr>
        <p:spPr>
          <a:xfrm>
            <a:off x="6492240" y="4882896"/>
            <a:ext cx="31437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結論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6492240" y="5138928"/>
            <a:ext cx="5239512" cy="9144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6492240" y="5248656"/>
            <a:ext cx="5239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市場が評価しているのは「今のAI売上」ではなく、「2027年末に15GWを稼働させる」という会社計画である。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457200" y="5870448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457200" y="5961888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この頁の要点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1508760" y="5943600"/>
            <a:ext cx="102257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株価の中心にあるのはAI事業である。宇宙事業の評価を弱気114億〜強気1,692億ドルまで振っても、1株価値は±6%以内しか動かない。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457200" y="6419088"/>
            <a:ext cx="11277295" cy="7315"/>
          </a:xfrm>
          <a:prstGeom prst="rect">
            <a:avLst/>
          </a:prstGeom>
          <a:solidFill>
            <a:srgbClr val="D5DBE2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457200" y="6464808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出典：添付 SpaceX_valuation.xlsx（宇宙事業の評価方法を変更して再計算）、SpaceX 2026年第2四半期決算、8月31日終値。宇宙事業の評価は本分析による推計。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最大の強み ｜ 稼働までの時間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20095" y="2194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最大の強みは「造る速さ」ではなく「稼働までの速さ」である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32688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用地・電力・冷却・回線・需要を同時並行で立ち上げ、設備が売上を生まない期間を消している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9012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353312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稼働開始までの日数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392424" y="1353312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会社公表値と業界目安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609344"/>
            <a:ext cx="4892040" cy="9144"/>
          </a:xfrm>
          <a:prstGeom prst="rect">
            <a:avLst/>
          </a:prstGeom>
          <a:solidFill>
            <a:srgbClr val="0E2340"/>
          </a:solidFill>
          <a:ln/>
        </p:spPr>
      </p:sp>
      <p:graphicFrame>
        <p:nvGraphicFramePr>
          <p:cNvPr id="10" name="Chart 0" descr=""/>
          <p:cNvGraphicFramePr/>
          <p:nvPr/>
        </p:nvGraphicFramePr>
        <p:xfrm>
          <a:off x="457200" y="1700784"/>
          <a:ext cx="489204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57200" y="404164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220MWを64日で稼働。業界目安との差は666日で、およそ11分の1の時間しかかかっていない。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742432" y="1353312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垂直統合が消している5つの待ち時間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336024" y="135331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工程を直列から並列へ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742432" y="1609344"/>
            <a:ext cx="5989320" cy="9144"/>
          </a:xfrm>
          <a:prstGeom prst="rect">
            <a:avLst/>
          </a:prstGeom>
          <a:solidFill>
            <a:srgbClr val="0E2340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42432" y="1700784"/>
          <a:ext cx="598932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423160"/>
                <a:gridCol w="25146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工程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通常のボトルネック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SpaceXが自社で握る機能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用地・建屋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造成と建設に12〜18か月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既存工場を転用する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電力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送電網の接続待ちに2〜4年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発電設備を併設する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電力品質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瞬時電圧低下でGPUが停止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Megapack蓄電で吸収する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冷却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高密度ラックの発熱で減速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チップ直冷を自社設計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需要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稼働させてから顧客を探す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契約済み需要が先にある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2"/>
          <p:cNvSpPr txBox="1"/>
          <p:nvPr/>
        </p:nvSpPr>
        <p:spPr>
          <a:xfrm>
            <a:off x="5742432" y="4133088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他社は用地・電力・冷却・回線・顧客を別々の会社と契約するため、待ち時間が積み上がる。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4663440"/>
            <a:ext cx="67663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短縮した日数が、そのまま売上に変わる理由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7223577" y="4663440"/>
            <a:ext cx="45109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220MW設備での試算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457200" y="4919472"/>
            <a:ext cx="11277295" cy="9144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457200" y="502920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業界目安との差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520293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666日</a:t>
            </a:r>
            <a:endParaRPr lang="en-US" sz="2200" dirty="0"/>
          </a:p>
        </p:txBody>
      </p:sp>
      <p:sp>
        <p:nvSpPr>
          <p:cNvPr id="22" name="Text 18"/>
          <p:cNvSpPr txBox="1"/>
          <p:nvPr/>
        </p:nvSpPr>
        <p:spPr>
          <a:xfrm>
            <a:off x="457200" y="557784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730日 → 64日</a:t>
            </a:r>
            <a:endParaRPr lang="en-US" sz="950" dirty="0"/>
          </a:p>
        </p:txBody>
      </p:sp>
      <p:sp>
        <p:nvSpPr>
          <p:cNvPr id="23" name="Text 19"/>
          <p:cNvSpPr txBox="1"/>
          <p:nvPr/>
        </p:nvSpPr>
        <p:spPr>
          <a:xfrm>
            <a:off x="4288536" y="502920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前倒しで得られる売上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4288536" y="520293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約25億ドル</a:t>
            </a:r>
            <a:endParaRPr lang="en-US" sz="2200" dirty="0"/>
          </a:p>
        </p:txBody>
      </p:sp>
      <p:sp>
        <p:nvSpPr>
          <p:cNvPr id="25" name="Text 21"/>
          <p:cNvSpPr txBox="1"/>
          <p:nvPr/>
        </p:nvSpPr>
        <p:spPr>
          <a:xfrm>
            <a:off x="4288536" y="557784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220MW × 年商63億ドル/GW × 666日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4133088" y="5029200"/>
            <a:ext cx="12802" cy="749808"/>
          </a:xfrm>
          <a:prstGeom prst="rect">
            <a:avLst/>
          </a:prstGeom>
          <a:solidFill>
            <a:srgbClr val="D5DBE2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119872" y="502920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稼働前から確定した需要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8119872" y="520293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年260億ドル</a:t>
            </a:r>
            <a:endParaRPr lang="en-US" sz="2200" dirty="0"/>
          </a:p>
        </p:txBody>
      </p:sp>
      <p:sp>
        <p:nvSpPr>
          <p:cNvPr id="29" name="Text 25"/>
          <p:cNvSpPr txBox="1"/>
          <p:nvPr/>
        </p:nvSpPr>
        <p:spPr>
          <a:xfrm>
            <a:off x="8119872" y="557784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Anthropic・Googleとの契約済み金額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7964424" y="5029200"/>
            <a:ext cx="12802" cy="749808"/>
          </a:xfrm>
          <a:prstGeom prst="rect">
            <a:avLst/>
          </a:prstGeom>
          <a:solidFill>
            <a:srgbClr val="D5DBE2"/>
          </a:solidFill>
          <a:ln/>
        </p:spPr>
      </p:sp>
      <p:sp>
        <p:nvSpPr>
          <p:cNvPr id="31" name="Shape 27"/>
          <p:cNvSpPr/>
          <p:nvPr/>
        </p:nvSpPr>
        <p:spPr>
          <a:xfrm>
            <a:off x="457200" y="5870448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457200" y="5961888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この頁の要点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1508760" y="5943600"/>
            <a:ext cx="102257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垂直統合の価値は部品の内製率ではない。設備が売上を生まない期間を消すことにある。需要が先に確定しているため、短縮した日数はそのまま売上になる。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457200" y="6419088"/>
            <a:ext cx="11277295" cy="7315"/>
          </a:xfrm>
          <a:prstGeom prst="rect">
            <a:avLst/>
          </a:prstGeom>
          <a:solidFill>
            <a:srgbClr val="D5DBE2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457200" y="6464808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出典：SpaceX SEC提出書類および決算説明会で示された稼働日数。業界目安の約2年は会社が比較対象として提示した数値。前倒し売上は本分析による試算。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成長ドライバー ｜ SpaceX全体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20095" y="2194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成長ドライバーは「有償稼働GWを増やす速度」である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32688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単価は市場が決める。SpaceXが握るのは、電力・建設速度・先行需要の3つ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9012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353312"/>
            <a:ext cx="3483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ドライバーの定義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941064" y="1353312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2026年 第2四半期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609344"/>
            <a:ext cx="5806440" cy="9144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1737360"/>
            <a:ext cx="580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成長速度</a:t>
            </a:r>
            <a:pPr indent="0" marL="0">
              <a:buNone/>
            </a:pPr>
            <a:r>
              <a:rPr lang="en-US" sz="150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  ＝  </a:t>
            </a:r>
            <a:pPr indent="0" marL="0">
              <a:buNone/>
            </a:pPr>
            <a:r>
              <a:rPr lang="en-US" sz="15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有償稼働GW</a:t>
            </a:r>
            <a:pPr indent="0" marL="0">
              <a:buNone/>
            </a:pPr>
            <a:r>
              <a:rPr lang="en-US" sz="15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  を増やす速さ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103120"/>
            <a:ext cx="5806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1ワット当たり年商はSpaceX 6.3ドル、CoreWeave 6.9ドル。単価で勝っているわけではない。動かせるのは「速さ」である。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3483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業界の制約は「電気の通った設備」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41064" y="2651760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CoreWeave 2026年Q2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907792"/>
            <a:ext cx="5806440" cy="9144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29992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契約済みの電力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1729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4.2 GW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2423160" y="29992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実際に稼働している電力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423160" y="31729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1.5 GW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2313432" y="2999232"/>
            <a:ext cx="12802" cy="566928"/>
          </a:xfrm>
          <a:prstGeom prst="rect">
            <a:avLst/>
          </a:prstGeom>
          <a:solidFill>
            <a:srgbClr val="D5DBE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389120" y="29992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受注残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389120" y="31729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1,042億ドル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4279392" y="2999232"/>
            <a:ext cx="12802" cy="566928"/>
          </a:xfrm>
          <a:prstGeom prst="rect">
            <a:avLst/>
          </a:prstGeom>
          <a:solidFill>
            <a:srgbClr val="D5DBE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" y="3657600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顧客も電力も確保済みなのに、2.7GW分は通電が追いつかず売上になっていない。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078224"/>
            <a:ext cx="3483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SpaceXが自社で握る3つの要素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334256"/>
            <a:ext cx="5806440" cy="9144"/>
          </a:xfrm>
          <a:prstGeom prst="rect">
            <a:avLst/>
          </a:prstGeom>
          <a:solidFill>
            <a:srgbClr val="0E2340"/>
          </a:solidFill>
          <a:ln/>
        </p:spPr>
      </p:sp>
      <p:pic>
        <p:nvPicPr>
          <p:cNvPr id="26" name="Image 0" descr="icons/p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453128"/>
            <a:ext cx="237744" cy="237744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804672" y="44256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電力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1600200" y="44439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自家発電とMegapack蓄電で、系統接続の2〜4年待ちを回避する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457200" y="4754880"/>
            <a:ext cx="5806440" cy="7315"/>
          </a:xfrm>
          <a:prstGeom prst="rect">
            <a:avLst/>
          </a:prstGeom>
          <a:solidFill>
            <a:srgbClr val="D5DBE2"/>
          </a:solidFill>
          <a:ln/>
        </p:spPr>
      </p:sp>
      <p:pic>
        <p:nvPicPr>
          <p:cNvPr id="30" name="Image 1" descr="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855464"/>
            <a:ext cx="237744" cy="237744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804672" y="48280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速度</a:t>
            </a:r>
            <a:endParaRPr lang="en-US" sz="1250" dirty="0"/>
          </a:p>
        </p:txBody>
      </p:sp>
      <p:sp>
        <p:nvSpPr>
          <p:cNvPr id="32" name="Text 28"/>
          <p:cNvSpPr txBox="1"/>
          <p:nvPr/>
        </p:nvSpPr>
        <p:spPr>
          <a:xfrm>
            <a:off x="1600200" y="48463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220MWを64日で稼働。業界目安730日との差は666日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457200" y="5157216"/>
            <a:ext cx="5806440" cy="7315"/>
          </a:xfrm>
          <a:prstGeom prst="rect">
            <a:avLst/>
          </a:prstGeom>
          <a:solidFill>
            <a:srgbClr val="D5DBE2"/>
          </a:solidFill>
          <a:ln/>
        </p:spPr>
      </p:sp>
      <p:pic>
        <p:nvPicPr>
          <p:cNvPr id="34" name="Image 2" descr="icons/d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257800"/>
            <a:ext cx="237744" cy="237744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804672" y="52303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需要</a:t>
            </a:r>
            <a:endParaRPr lang="en-US" sz="1250" dirty="0"/>
          </a:p>
        </p:txBody>
      </p:sp>
      <p:sp>
        <p:nvSpPr>
          <p:cNvPr id="36" name="Text 31"/>
          <p:cNvSpPr txBox="1"/>
          <p:nvPr/>
        </p:nvSpPr>
        <p:spPr>
          <a:xfrm>
            <a:off x="1600200" y="524865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Grokの自社需要に加え、契約済みの外販が年260億ドル</a:t>
            </a:r>
            <a:endParaRPr lang="en-US" sz="1150" dirty="0"/>
          </a:p>
        </p:txBody>
      </p:sp>
      <p:sp>
        <p:nvSpPr>
          <p:cNvPr id="37" name="Text 32"/>
          <p:cNvSpPr txBox="1"/>
          <p:nvPr/>
        </p:nvSpPr>
        <p:spPr>
          <a:xfrm>
            <a:off x="6492240" y="1353312"/>
            <a:ext cx="31437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成長の3段階：制約が移っていく</a:t>
            </a:r>
            <a:endParaRPr lang="en-US" sz="1400" dirty="0"/>
          </a:p>
        </p:txBody>
      </p:sp>
      <p:sp>
        <p:nvSpPr>
          <p:cNvPr id="38" name="Shape 33"/>
          <p:cNvSpPr/>
          <p:nvPr/>
        </p:nvSpPr>
        <p:spPr>
          <a:xfrm>
            <a:off x="6492240" y="1609344"/>
            <a:ext cx="5239512" cy="9144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6492240" y="1755648"/>
            <a:ext cx="237744" cy="237744"/>
          </a:xfrm>
          <a:prstGeom prst="rect">
            <a:avLst/>
          </a:prstGeom>
          <a:solidFill>
            <a:srgbClr val="0E23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40" name="Text 35"/>
          <p:cNvSpPr txBox="1"/>
          <p:nvPr/>
        </p:nvSpPr>
        <p:spPr>
          <a:xfrm>
            <a:off x="6858000" y="173736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第1段階（〜18か月）　制約＝契約</a:t>
            </a:r>
            <a:endParaRPr lang="en-US" sz="1250" dirty="0"/>
          </a:p>
        </p:txBody>
      </p:sp>
      <p:sp>
        <p:nvSpPr>
          <p:cNvPr id="41" name="Text 36"/>
          <p:cNvSpPr txBox="1"/>
          <p:nvPr/>
        </p:nvSpPr>
        <p:spPr>
          <a:xfrm>
            <a:off x="6858000" y="201168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現在の1.4GWのうち外部契約は半分弱。既存2契約が満額稼働するだけで、新設備ゼロでも年88億 → 260億ドルへ。</a:t>
            </a:r>
            <a:endParaRPr lang="en-US" sz="1150" dirty="0"/>
          </a:p>
        </p:txBody>
      </p:sp>
      <p:sp>
        <p:nvSpPr>
          <p:cNvPr id="42" name="Shape 37"/>
          <p:cNvSpPr/>
          <p:nvPr/>
        </p:nvSpPr>
        <p:spPr>
          <a:xfrm>
            <a:off x="6492240" y="2505456"/>
            <a:ext cx="5239512" cy="7315"/>
          </a:xfrm>
          <a:prstGeom prst="rect">
            <a:avLst/>
          </a:prstGeom>
          <a:solidFill>
            <a:srgbClr val="D5DBE2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6492240" y="2615184"/>
            <a:ext cx="237744" cy="237744"/>
          </a:xfrm>
          <a:prstGeom prst="rect">
            <a:avLst/>
          </a:prstGeom>
          <a:solidFill>
            <a:srgbClr val="0E23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4" name="Text 39"/>
          <p:cNvSpPr txBox="1"/>
          <p:nvPr/>
        </p:nvSpPr>
        <p:spPr>
          <a:xfrm>
            <a:off x="6858000" y="2596896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第2段階（〜2027年末）　制約＝電力と建設</a:t>
            </a:r>
            <a:endParaRPr lang="en-US" sz="1250" dirty="0"/>
          </a:p>
        </p:txBody>
      </p:sp>
      <p:sp>
        <p:nvSpPr>
          <p:cNvPr id="45" name="Text 40"/>
          <p:cNvSpPr txBox="1"/>
          <p:nvPr/>
        </p:nvSpPr>
        <p:spPr>
          <a:xfrm>
            <a:off x="6858000" y="287121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1.4GW → 15GW。契約を取るより通電させる方が難しい。左の①電力と②速度がそのまま成長率になる。</a:t>
            </a:r>
            <a:endParaRPr lang="en-US" sz="1150" dirty="0"/>
          </a:p>
        </p:txBody>
      </p:sp>
      <p:sp>
        <p:nvSpPr>
          <p:cNvPr id="46" name="Shape 41"/>
          <p:cNvSpPr/>
          <p:nvPr/>
        </p:nvSpPr>
        <p:spPr>
          <a:xfrm>
            <a:off x="6492240" y="3364992"/>
            <a:ext cx="5239512" cy="7315"/>
          </a:xfrm>
          <a:prstGeom prst="rect">
            <a:avLst/>
          </a:prstGeom>
          <a:solidFill>
            <a:srgbClr val="D5DBE2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6492240" y="3474720"/>
            <a:ext cx="237744" cy="237744"/>
          </a:xfrm>
          <a:prstGeom prst="rect">
            <a:avLst/>
          </a:prstGeom>
          <a:solidFill>
            <a:srgbClr val="0E23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8" name="Text 43"/>
          <p:cNvSpPr txBox="1"/>
          <p:nvPr/>
        </p:nvSpPr>
        <p:spPr>
          <a:xfrm>
            <a:off x="6858000" y="3456432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第3段階（2028年〜）　制約＝土地・系統・水</a:t>
            </a:r>
            <a:endParaRPr lang="en-US" sz="1250" dirty="0"/>
          </a:p>
        </p:txBody>
      </p:sp>
      <p:sp>
        <p:nvSpPr>
          <p:cNvPr id="49" name="Text 44"/>
          <p:cNvSpPr txBox="1"/>
          <p:nvPr/>
        </p:nvSpPr>
        <p:spPr>
          <a:xfrm>
            <a:off x="6858000" y="373075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軌道上データセンター。NVIDIAと共同設計した初号機 Starmind AI1 を2027年Q4に打上げ予定、1基175kW。</a:t>
            </a:r>
            <a:endParaRPr lang="en-US" sz="1150" dirty="0"/>
          </a:p>
        </p:txBody>
      </p:sp>
      <p:sp>
        <p:nvSpPr>
          <p:cNvPr id="50" name="Text 45"/>
          <p:cNvSpPr txBox="1"/>
          <p:nvPr/>
        </p:nvSpPr>
        <p:spPr>
          <a:xfrm>
            <a:off x="6492240" y="4443984"/>
            <a:ext cx="31437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軌道は本命ではなく選択肢</a:t>
            </a:r>
            <a:endParaRPr lang="en-US" sz="1400" dirty="0"/>
          </a:p>
        </p:txBody>
      </p:sp>
      <p:sp>
        <p:nvSpPr>
          <p:cNvPr id="51" name="Shape 46"/>
          <p:cNvSpPr/>
          <p:nvPr/>
        </p:nvSpPr>
        <p:spPr>
          <a:xfrm>
            <a:off x="6492240" y="4700016"/>
            <a:ext cx="5239512" cy="9144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52" name="Text 47"/>
          <p:cNvSpPr txBox="1"/>
          <p:nvPr/>
        </p:nvSpPr>
        <p:spPr>
          <a:xfrm>
            <a:off x="6492240" y="4809744"/>
            <a:ext cx="52395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1GW分には約5,700基が必要で、初号機は現在の容量の約0.01%。S-1は「存在しない技術に依存する」と明記し、打上げ目標も目論見書の2028年より1年前倒しである。</a:t>
            </a:r>
            <a:endParaRPr lang="en-US" sz="1150" dirty="0"/>
          </a:p>
        </p:txBody>
      </p:sp>
      <p:sp>
        <p:nvSpPr>
          <p:cNvPr id="53" name="Shape 48"/>
          <p:cNvSpPr/>
          <p:nvPr/>
        </p:nvSpPr>
        <p:spPr>
          <a:xfrm>
            <a:off x="457200" y="5870448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54" name="Text 49"/>
          <p:cNvSpPr txBox="1"/>
          <p:nvPr/>
        </p:nvSpPr>
        <p:spPr>
          <a:xfrm>
            <a:off x="457200" y="5961888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この頁の要点</a:t>
            </a:r>
            <a:endParaRPr lang="en-US" sz="1000" dirty="0"/>
          </a:p>
        </p:txBody>
      </p:sp>
      <p:sp>
        <p:nvSpPr>
          <p:cNvPr id="55" name="Text 50"/>
          <p:cNvSpPr txBox="1"/>
          <p:nvPr/>
        </p:nvSpPr>
        <p:spPr>
          <a:xfrm>
            <a:off x="1508760" y="5943600"/>
            <a:ext cx="102257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成長を決めるのは単価ではなく、有償稼働GWを増やす速度である。垂直統合は単価ではなく、この速度を上げる装置として効く。</a:t>
            </a:r>
            <a:endParaRPr lang="en-US" sz="1250" dirty="0"/>
          </a:p>
        </p:txBody>
      </p:sp>
      <p:sp>
        <p:nvSpPr>
          <p:cNvPr id="56" name="Shape 51"/>
          <p:cNvSpPr/>
          <p:nvPr/>
        </p:nvSpPr>
        <p:spPr>
          <a:xfrm>
            <a:off x="457200" y="6419088"/>
            <a:ext cx="11277295" cy="7315"/>
          </a:xfrm>
          <a:prstGeom prst="rect">
            <a:avLst/>
          </a:prstGeom>
          <a:solidFill>
            <a:srgbClr val="D5DBE2"/>
          </a:solidFill>
          <a:ln/>
        </p:spPr>
      </p:sp>
      <p:sp>
        <p:nvSpPr>
          <p:cNvPr id="57" name="Text 52"/>
          <p:cNvSpPr txBox="1"/>
          <p:nvPr/>
        </p:nvSpPr>
        <p:spPr>
          <a:xfrm>
            <a:off x="457200" y="6464808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出典：SpaceX 2026年第2四半期決算、SEC提出書類（S-1, 2026年5月20日）、Musk氏のX投稿（8月24日）、CoreWeave 2026年第2四半期決算。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株価 ｜ 何が織り込まれているか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20095" y="2194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株価が求めているのは「2027年末15GW × 1GW当たり年商100億ドル」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32688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短期は需給と契約更新で振れる。長期は稼働GWと1GW当たり売上の実績が評価を決める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9012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353312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上場後の株価推移（ドル）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858768" y="1353312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公開価格135ドル（6/12上場）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609344"/>
            <a:ext cx="5669280" cy="9144"/>
          </a:xfrm>
          <a:prstGeom prst="rect">
            <a:avLst/>
          </a:prstGeom>
          <a:solidFill>
            <a:srgbClr val="0E2340"/>
          </a:solidFill>
          <a:ln/>
        </p:spPr>
      </p:sp>
      <p:graphicFrame>
        <p:nvGraphicFramePr>
          <p:cNvPr id="10" name="Chart 0" descr=""/>
          <p:cNvGraphicFramePr/>
          <p:nvPr/>
        </p:nvGraphicFramePr>
        <p:xfrm>
          <a:off x="457200" y="1700784"/>
          <a:ext cx="56692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1097280" y="17739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高値 225.64ドル（6/16）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3108960" y="34015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安値 104.83ドル（8/3）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968496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株価が動いた3つの局面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4224528"/>
            <a:ext cx="5669280" cy="9144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57200" y="4352544"/>
            <a:ext cx="237744" cy="237744"/>
          </a:xfrm>
          <a:prstGeom prst="rect">
            <a:avLst/>
          </a:prstGeom>
          <a:solidFill>
            <a:srgbClr val="0E23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35254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上場直後（6/12〜6/16）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3200400" y="435254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期待が先行し135ドルから225ドルへ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828032"/>
            <a:ext cx="237744" cy="237744"/>
          </a:xfrm>
          <a:prstGeom prst="rect">
            <a:avLst/>
          </a:prstGeom>
          <a:solidFill>
            <a:srgbClr val="0E23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482803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巻き戻し（〜8/3）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3200400" y="48280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実績が伴わず104.83ドルまで下落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5303520"/>
            <a:ext cx="237744" cy="237744"/>
          </a:xfrm>
          <a:prstGeom prst="rect">
            <a:avLst/>
          </a:prstGeom>
          <a:solidFill>
            <a:srgbClr val="0E23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53035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決算後（8/4〜）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3200400" y="53035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AIの収益化を確認し、143.69ドルへ回復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6355080" y="1353312"/>
            <a:ext cx="32260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現在株価が要求している条件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9581083" y="1353312"/>
            <a:ext cx="215066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同業並みの10倍で割り戻す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355080" y="1609344"/>
            <a:ext cx="5376672" cy="9144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355080" y="1719072"/>
            <a:ext cx="5376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AIに配分された1兆5,980億ドルを「売上の10倍」で正当化するには、年1,598億ドルのAI売上が必要になる。現在は年88億ドル。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359152"/>
          <a:ext cx="5376672" cy="914400"/>
        </p:xfrm>
        <a:graphic>
          <a:graphicData uri="http://schemas.openxmlformats.org/drawingml/2006/table">
            <a:tbl>
              <a:tblPr/>
              <a:tblGrid>
                <a:gridCol w="1901952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1GW当たり年商 ＼ 稼働GW</a:t>
                      </a:r>
                      <a:endParaRPr lang="en-US" sz="10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5GW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10GW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15GW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20GW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63億ドル（現在）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320億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630億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940億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1,260億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100億ドル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500億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1,000億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1,500億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F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2,000億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150億ドル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750億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1,500億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2,250億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3,000億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300億ドル（会社目標）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1,500億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3,000億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4,500億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6,000億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" name="Text 25"/>
          <p:cNvSpPr txBox="1"/>
          <p:nvPr/>
        </p:nvSpPr>
        <p:spPr>
          <a:xfrm>
            <a:off x="6355080" y="4041648"/>
            <a:ext cx="5376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数字は年間AI売上（ドル）。青字は必要水準1,598億ドルに届く組み合わせ。</a:t>
            </a:r>
            <a:endParaRPr lang="en-US" sz="1050" dirty="0"/>
          </a:p>
        </p:txBody>
      </p:sp>
      <p:sp>
        <p:nvSpPr>
          <p:cNvPr id="30" name="Text 26"/>
          <p:cNvSpPr txBox="1"/>
          <p:nvPr/>
        </p:nvSpPr>
        <p:spPr>
          <a:xfrm>
            <a:off x="6355080" y="4443984"/>
            <a:ext cx="32260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必要な1,598億ドルの内訳</a:t>
            </a:r>
            <a:endParaRPr lang="en-US" sz="1400" dirty="0"/>
          </a:p>
        </p:txBody>
      </p:sp>
      <p:sp>
        <p:nvSpPr>
          <p:cNvPr id="31" name="Text 27"/>
          <p:cNvSpPr txBox="1"/>
          <p:nvPr/>
        </p:nvSpPr>
        <p:spPr>
          <a:xfrm>
            <a:off x="9581083" y="4443984"/>
            <a:ext cx="215066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契約済みと未契約に分ける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6355080" y="4700016"/>
            <a:ext cx="5376672" cy="9144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33" name="Shape 29"/>
          <p:cNvSpPr/>
          <p:nvPr/>
        </p:nvSpPr>
        <p:spPr>
          <a:xfrm>
            <a:off x="6355080" y="4846320"/>
            <a:ext cx="876398" cy="292608"/>
          </a:xfrm>
          <a:prstGeom prst="rect">
            <a:avLst/>
          </a:prstGeom>
          <a:solidFill>
            <a:srgbClr val="2E6FA7"/>
          </a:solidFill>
          <a:ln/>
        </p:spPr>
      </p:sp>
      <p:sp>
        <p:nvSpPr>
          <p:cNvPr id="34" name="Shape 30"/>
          <p:cNvSpPr/>
          <p:nvPr/>
        </p:nvSpPr>
        <p:spPr>
          <a:xfrm>
            <a:off x="7231478" y="4846320"/>
            <a:ext cx="4500274" cy="292608"/>
          </a:xfrm>
          <a:prstGeom prst="rect">
            <a:avLst/>
          </a:prstGeom>
          <a:solidFill>
            <a:srgbClr val="DCE6F0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6355080" y="517550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契約済み 260億ドル（16%）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9079992" y="517550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未契約 1,338億ドル（84%）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457200" y="5870448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457200" y="5961888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この頁の要点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1508760" y="5943600"/>
            <a:ext cx="102257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必要な年商1,598億ドルのうち、契約で確定しているのは260億ドルだけである。残る1,338億ドルが実現するかが検証対象になる。</a:t>
            </a:r>
            <a:endParaRPr lang="en-US" sz="1250" dirty="0"/>
          </a:p>
        </p:txBody>
      </p:sp>
      <p:sp>
        <p:nvSpPr>
          <p:cNvPr id="40" name="Shape 36"/>
          <p:cNvSpPr/>
          <p:nvPr/>
        </p:nvSpPr>
        <p:spPr>
          <a:xfrm>
            <a:off x="457200" y="6419088"/>
            <a:ext cx="11277295" cy="7315"/>
          </a:xfrm>
          <a:prstGeom prst="rect">
            <a:avLst/>
          </a:prstGeom>
          <a:solidFill>
            <a:srgbClr val="D5DBE2"/>
          </a:solidFill>
          <a:ln/>
        </p:spPr>
      </p:sp>
      <p:sp>
        <p:nvSpPr>
          <p:cNvPr id="41" name="Text 37"/>
          <p:cNvSpPr txBox="1"/>
          <p:nvPr/>
        </p:nvSpPr>
        <p:spPr>
          <a:xfrm>
            <a:off x="457200" y="6464808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出典：StockAnalysis／S&amp;P Global Market Intelligence（株価）、SpaceX 2026年第2四半期決算、添付バリュエーションモデル。逆算は分析の枠組みであり投資助言ではない。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付録 A1 ｜ AI設備投資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20095" y="2194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AI設備投資：何に、どれだけ増やしているのか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32688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公表されている投資額と、提出書類で確認できる投資対象を分けて示す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9012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353312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AI設備投資の推移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392424" y="1353312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単位：億ドル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609344"/>
            <a:ext cx="4892040" cy="9144"/>
          </a:xfrm>
          <a:prstGeom prst="rect">
            <a:avLst/>
          </a:prstGeom>
          <a:solidFill>
            <a:srgbClr val="0E2340"/>
          </a:solidFill>
          <a:ln/>
        </p:spPr>
      </p:sp>
      <p:graphicFrame>
        <p:nvGraphicFramePr>
          <p:cNvPr id="10" name="Chart 0" descr=""/>
          <p:cNvGraphicFramePr/>
          <p:nvPr/>
        </p:nvGraphicFramePr>
        <p:xfrm>
          <a:off x="457200" y="1700784"/>
          <a:ext cx="48920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57200" y="376732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+610%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376732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2026年上半期の前年同期比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4096512"/>
            <a:ext cx="4892040" cy="7315"/>
          </a:xfrm>
          <a:prstGeom prst="rect">
            <a:avLst/>
          </a:prstGeom>
          <a:solidFill>
            <a:srgbClr val="D5DBE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418795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21.1倍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1828800" y="418795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第2四半期の前年同期比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7200" y="4517136"/>
            <a:ext cx="4892040" cy="7315"/>
          </a:xfrm>
          <a:prstGeom prst="rect">
            <a:avLst/>
          </a:prstGeom>
          <a:solidFill>
            <a:srgbClr val="D5DBE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57200" y="460857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86%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1828800" y="460857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全社設備投資に占める割合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57200" y="4937760"/>
            <a:ext cx="4892040" cy="7315"/>
          </a:xfrm>
          <a:prstGeom prst="rect">
            <a:avLst/>
          </a:prstGeom>
          <a:solidFill>
            <a:srgbClr val="D5DBE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57200" y="502920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6.2倍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1828800" y="502920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売上1ドル当たりの設備投資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5742432" y="1353312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投資対象：提出書類で確認できる内容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336024" y="135331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用途別の金額は非開示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742432" y="1609344"/>
            <a:ext cx="5989320" cy="9144"/>
          </a:xfrm>
          <a:prstGeom prst="rect">
            <a:avLst/>
          </a:prstGeom>
          <a:solidFill>
            <a:srgbClr val="0E2340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42432" y="1700784"/>
          <a:ext cx="59893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331720"/>
                <a:gridCol w="265176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区分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設備・技術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公表されている事実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計算機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NVIDIA H100 / GB200 / GB300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Anthropic契約分だけで約32.5万基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電力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自家発電（ガスタービン）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タービン取得20億ドルを開示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蓄電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Megapack蓄電池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ピークと瞬時電圧低下に対応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冷却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チップ直冷（液冷）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ラック密度と電力効率を改善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建屋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既存工場の転用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建設期間の短縮が目的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資金調達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セール・アンド・リースバック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リース支払総額65.9億ドル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Text 22"/>
          <p:cNvSpPr txBox="1"/>
          <p:nvPr/>
        </p:nvSpPr>
        <p:spPr>
          <a:xfrm>
            <a:off x="5742432" y="4480560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読むときの注意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5742432" y="4736592"/>
            <a:ext cx="5989320" cy="9144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5742432" y="4846320"/>
            <a:ext cx="5989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SpaceXはAI設備投資を「GPU」「電力」「建設」といった内訳では開示していない。上表は言及された投資対象の整理であり、構成比の推定ではない。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また、リースバックによる調達分は会計上の設備投資に計上されないため、実際の設備増強は公表額より大きい。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457200" y="5870448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457200" y="5961888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この頁の要点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1508760" y="5943600"/>
            <a:ext cx="102257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投資額の急増は明確に確認できる。ただし価値判断の材料は投資額ではなく、それが稼働開始と有料利用へ変換されているかである。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457200" y="6419088"/>
            <a:ext cx="11277295" cy="7315"/>
          </a:xfrm>
          <a:prstGeom prst="rect">
            <a:avLst/>
          </a:prstGeom>
          <a:solidFill>
            <a:srgbClr val="D5DBE2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457200" y="6464808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出典：SpaceX 2026年第2四半期決算、SEC提出書類（S-1／FWP）。2023〜2025年は上場時開示による。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付録 A2 ｜ 3事業の比較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20095" y="2194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なぜ通信でも宇宙でもなく、AIを分析の中心に置くのか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32688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通信は稼ぐ事業、宇宙は将来の土台、AIは株価を動かす事業。役割が違う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9012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53312"/>
          <a:ext cx="1127729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46120"/>
                <a:gridCol w="2880360"/>
                <a:gridCol w="277063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比較する軸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AI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通信（Starlink）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宇宙（打上げ）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第2四半期の売上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E2340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25.6億ドル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42.9億ドル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9.6億ドル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前年同期比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+247%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+66%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+29%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調整後EBITDA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E2340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+11.5億ドル（44.7%）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+26.0億ドル（60.5%）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03A2B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−2.1億ドル（−21.3%）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第2四半期の設備投資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E2340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158.3億ドル（86%）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13.7億ドル（7%）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11.7億ドル（6%）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企業価値の配分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E2340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1兆5,980億ドル（84.6%）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2,396億ドル（12.7%）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508億ドル（2.7%）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1株価値への感応度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77.6%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16.3%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3.6%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主なリスク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A03A2B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90日解約条項・GPUの陳腐化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ARPU低下・容量制約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Starshipの実行リスク</a:t>
                      </a:r>
                      <a:endParaRPr lang="en-US" sz="12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4535424"/>
            <a:ext cx="67663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3事業の役割の違い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4791456"/>
            <a:ext cx="11277295" cy="9144"/>
          </a:xfrm>
          <a:prstGeom prst="rect">
            <a:avLst/>
          </a:prstGeom>
          <a:solidFill>
            <a:srgbClr val="0E2340"/>
          </a:solidFill>
          <a:ln/>
        </p:spPr>
      </p:sp>
      <p:pic>
        <p:nvPicPr>
          <p:cNvPr id="10" name="Image 0" descr="icons/mon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937760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2960" y="49194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通信＝現金を生む事業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5285232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利益率60.5%で全社の資金を支える。ただし成長率と評価倍率が低く、株価への影響は小さい。</a:t>
            </a:r>
            <a:endParaRPr lang="en-US" sz="1150" dirty="0"/>
          </a:p>
        </p:txBody>
      </p:sp>
      <p:pic>
        <p:nvPicPr>
          <p:cNvPr id="13" name="Image 1" descr="icons/ro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4937760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654296" y="49194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宇宙＝土台となる事業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4288536" y="5285232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現時点は赤字で企業価値の2.7%。Starshipが成立すればAI衛星の前提条件になる。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133088" y="4919472"/>
            <a:ext cx="12802" cy="822960"/>
          </a:xfrm>
          <a:prstGeom prst="rect">
            <a:avLst/>
          </a:prstGeom>
          <a:solidFill>
            <a:srgbClr val="D5DBE2"/>
          </a:solidFill>
          <a:ln/>
        </p:spPr>
      </p:sp>
      <p:pic>
        <p:nvPicPr>
          <p:cNvPr id="17" name="Image 2" descr="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4937760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485632" y="49194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AI＝株価を動かす事業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8119872" y="5285232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最も速く伸び、資本の86%を吸収し、企業価値の84.6%を占める。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7964424" y="4919472"/>
            <a:ext cx="12802" cy="822960"/>
          </a:xfrm>
          <a:prstGeom prst="rect">
            <a:avLst/>
          </a:prstGeom>
          <a:solidFill>
            <a:srgbClr val="D5DBE2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5870448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457200" y="5961888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この頁の要点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1508760" y="5943600"/>
            <a:ext cx="102257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AIが最も安全だからではない。最も速く伸び、最大の資本を吸収し、企業価値と株価変動の8割前後を占めるため、分析の中心に置く。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57200" y="6419088"/>
            <a:ext cx="11277295" cy="7315"/>
          </a:xfrm>
          <a:prstGeom prst="rect">
            <a:avLst/>
          </a:prstGeom>
          <a:solidFill>
            <a:srgbClr val="D5DBE2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457200" y="6464808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出典：SpaceX 2026年第2四半期決算、添付バリュエーションモデル（感応度分析）。企業価値の配分と感応度は本分析による推計。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付録 A3 ｜ ドライバーの選定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20095" y="2194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キードライバーの選び方：株価への影響だけでは決めない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32688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影響の大きさに加えて「会社が動かせるか」「四半期で確認できるか」「3事業へ波及するか」で評価した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9012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353312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1株価値への影響額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502152" y="1353312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基本ケース103.8ドルからの下振れ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609344"/>
            <a:ext cx="5074920" cy="9144"/>
          </a:xfrm>
          <a:prstGeom prst="rect">
            <a:avLst/>
          </a:prstGeom>
          <a:solidFill>
            <a:srgbClr val="0E2340"/>
          </a:solidFill>
          <a:ln/>
        </p:spPr>
      </p:sp>
      <p:graphicFrame>
        <p:nvGraphicFramePr>
          <p:cNvPr id="10" name="Chart 0" descr=""/>
          <p:cNvGraphicFramePr/>
          <p:nvPr/>
        </p:nvGraphicFramePr>
        <p:xfrm>
          <a:off x="457200" y="1700784"/>
          <a:ext cx="50749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57200" y="4096512"/>
            <a:ext cx="5074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上位2つはいずれもAI関連で、影響額の合計に占める割合は77.6%になる。ドライバーは主観ではなく計算で決まる。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754880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4つの評価基準と重み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010912"/>
            <a:ext cx="5074920" cy="9144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512064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株価への影響 40%　／　会社が動かせるか 25%</a:t>
            </a:r>
            <a:endParaRPr lang="en-US" sz="12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四半期ごとに確認できるか 15%　／　3事業への波及 20%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742432" y="1353312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候補の加重スコア（5段階評価）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336024" y="135331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上の4基準で採点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742432" y="1609344"/>
            <a:ext cx="5989320" cy="9144"/>
          </a:xfrm>
          <a:prstGeom prst="rect">
            <a:avLst/>
          </a:prstGeom>
          <a:solidFill>
            <a:srgbClr val="0E2340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42432" y="1700784"/>
          <a:ext cx="59893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57200"/>
                <a:gridCol w="457200"/>
                <a:gridCol w="457200"/>
                <a:gridCol w="457200"/>
                <a:gridCol w="548640"/>
                <a:gridCol w="16916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候補となる指標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影響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制御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観測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波及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加重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採否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AIの評価倍率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5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03A2B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5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03A2B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3.2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市場が決める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Starlink契約者・ARPU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2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5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2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3.0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株価への影響が小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Starshipの打上げ頻度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2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3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3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5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3.0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影響が小さい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稼働GW（設備量）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5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4.2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収益化を伴わない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収益化された計算能力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5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5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4.6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採用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5742432" y="4169664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2つの候補を採用しなかった理由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742432" y="4425696"/>
            <a:ext cx="5989320" cy="9144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5742432" y="4535424"/>
            <a:ext cx="59893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AIの評価倍率：感応度は第2位（−21.0ドル）だが、市場が決める変数で会社の努力では動かせない。これをドライバーに置くと、検証も反証もできない分析になってしまう。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稼働GW：会社が資金で増やせ、四半期ごとに開示もされる。しかし第2四半期は売上1ドルに対し6.2ドルを投じており、設備を増やすだけでは価値が減る局面もある。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57200" y="5870448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57200" y="5961888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この頁の要点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1508760" y="5943600"/>
            <a:ext cx="102257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採用したのは「収益化された計算能力」である。会社が動かせ、四半期ごとに検証でき、3事業すべてに波及する。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457200" y="6419088"/>
            <a:ext cx="11277295" cy="7315"/>
          </a:xfrm>
          <a:prstGeom prst="rect">
            <a:avLst/>
          </a:prstGeom>
          <a:solidFill>
            <a:srgbClr val="D5DBE2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457200" y="6464808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出典：添付バリュエーションモデル（感応度分析）。4基準の重みとスコアは本分析による評価であり、会社の開示ではない。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付録 A4 ｜ 織り込みの経路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20095" y="2194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株価への織り込み：期待から実績への切り替わりが進んでいる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32688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今後は契約・稼働GW・単価・キャッシュフローの順に、検証できる材料へ置き換わっていく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9012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353312"/>
            <a:ext cx="67663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これから株価に織り込まれる材料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223577" y="1353312"/>
            <a:ext cx="45109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2026年9月以降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609344"/>
            <a:ext cx="11277295" cy="9144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938528"/>
            <a:ext cx="11277295" cy="12802"/>
          </a:xfrm>
          <a:prstGeom prst="rect">
            <a:avLst/>
          </a:prstGeom>
          <a:solidFill>
            <a:srgbClr val="D5DBE2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892808"/>
            <a:ext cx="109728" cy="109728"/>
          </a:xfrm>
          <a:prstGeom prst="ellipse">
            <a:avLst/>
          </a:prstGeom>
          <a:solidFill>
            <a:srgbClr val="2E6FA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204825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9/9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26771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ロックアップ解除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487168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最大3.19億株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97480" y="1892808"/>
            <a:ext cx="109728" cy="109728"/>
          </a:xfrm>
          <a:prstGeom prst="ellipse">
            <a:avLst/>
          </a:prstGeom>
          <a:solidFill>
            <a:srgbClr val="2E6FA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697480" y="204825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9/30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697480" y="226771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Google向けGPU納入期限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697480" y="2487168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未達なら解約の可能性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1892808"/>
            <a:ext cx="109728" cy="109728"/>
          </a:xfrm>
          <a:prstGeom prst="ellipse">
            <a:avLst/>
          </a:prstGeom>
          <a:solidFill>
            <a:srgbClr val="2E6FA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937760" y="204825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11/3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226771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第3四半期決算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2487168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AI売上と稼働GWを確認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78040" y="1892808"/>
            <a:ext cx="109728" cy="109728"/>
          </a:xfrm>
          <a:prstGeom prst="ellipse">
            <a:avLst/>
          </a:prstGeom>
          <a:solidFill>
            <a:srgbClr val="2E6FA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78040" y="204825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12/8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226771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ロックアップ解除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487168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最大規模。浮動株が増える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418320" y="1892808"/>
            <a:ext cx="109728" cy="109728"/>
          </a:xfrm>
          <a:prstGeom prst="ellipse">
            <a:avLst/>
          </a:prstGeom>
          <a:solidFill>
            <a:srgbClr val="2E6FA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418320" y="204825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2027年6月〜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418320" y="226771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S&amp;P500採用の可能性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9418320" y="2487168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GAAP黒字が前提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3108960"/>
            <a:ext cx="3319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1年後の1株価値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3776472" y="3108960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宇宙事業の評価を修正して再計算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3364992"/>
            <a:ext cx="5532120" cy="9144"/>
          </a:xfrm>
          <a:prstGeom prst="rect">
            <a:avLst/>
          </a:prstGeom>
          <a:solidFill>
            <a:srgbClr val="0E2340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74720"/>
          <a:ext cx="5532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143000"/>
                <a:gridCol w="1143000"/>
                <a:gridCol w="11430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弱気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基本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強気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AI売上（今後12か月）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72億ドル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144億ドル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206億ドル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AI評価倍率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60倍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80倍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100倍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Starlinkの評価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1,380億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2,396億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4,375億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宇宙事業の評価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114億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508億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1,692億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2340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1株価値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03A2B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42ドル</a:t>
                      </a:r>
                      <a:endParaRPr lang="en-US" sz="15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E2340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105ドル</a:t>
                      </a:r>
                      <a:endParaRPr lang="en-US" sz="15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195ドル</a:t>
                      </a:r>
                      <a:endParaRPr lang="en-US" sz="15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5" name="Text 32"/>
          <p:cNvSpPr txBox="1"/>
          <p:nvPr/>
        </p:nvSpPr>
        <p:spPr>
          <a:xfrm>
            <a:off x="457200" y="5504688"/>
            <a:ext cx="5532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現在の143.69ドルは基本105ドルを上回り、強気195ドルには届いていない。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6199632" y="3108960"/>
            <a:ext cx="3319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織り込みの順序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9518904" y="3108960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確実な材料から先に反映される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6199632" y="3364992"/>
            <a:ext cx="5532120" cy="9144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6199632" y="3493008"/>
            <a:ext cx="237744" cy="237744"/>
          </a:xfrm>
          <a:prstGeom prst="rect">
            <a:avLst/>
          </a:prstGeom>
          <a:solidFill>
            <a:srgbClr val="0E23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6565392" y="347472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契約（確定済み・反映済み）</a:t>
            </a:r>
            <a:endParaRPr lang="en-US" sz="1250" dirty="0"/>
          </a:p>
        </p:txBody>
      </p:sp>
      <p:sp>
        <p:nvSpPr>
          <p:cNvPr id="41" name="Text 38"/>
          <p:cNvSpPr txBox="1"/>
          <p:nvPr/>
        </p:nvSpPr>
        <p:spPr>
          <a:xfrm>
            <a:off x="6565392" y="374904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年260億ドル。今後は更新されるかだけが論点。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6199632" y="4023360"/>
            <a:ext cx="5532120" cy="7315"/>
          </a:xfrm>
          <a:prstGeom prst="rect">
            <a:avLst/>
          </a:prstGeom>
          <a:solidFill>
            <a:srgbClr val="D5DBE2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6199632" y="4078224"/>
            <a:ext cx="237744" cy="237744"/>
          </a:xfrm>
          <a:prstGeom prst="rect">
            <a:avLst/>
          </a:prstGeom>
          <a:solidFill>
            <a:srgbClr val="2E6FA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6565392" y="405993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稼働GW（四半期開示・これから）</a:t>
            </a:r>
            <a:endParaRPr lang="en-US" sz="1250" dirty="0"/>
          </a:p>
        </p:txBody>
      </p:sp>
      <p:sp>
        <p:nvSpPr>
          <p:cNvPr id="45" name="Text 42"/>
          <p:cNvSpPr txBox="1"/>
          <p:nvPr/>
        </p:nvSpPr>
        <p:spPr>
          <a:xfrm>
            <a:off x="6565392" y="433425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1.4GW → 2027年末15GW。遅れれば評価が下がる。</a:t>
            </a:r>
            <a:endParaRPr lang="en-US" sz="1150" dirty="0"/>
          </a:p>
        </p:txBody>
      </p:sp>
      <p:sp>
        <p:nvSpPr>
          <p:cNvPr id="46" name="Shape 43"/>
          <p:cNvSpPr/>
          <p:nvPr/>
        </p:nvSpPr>
        <p:spPr>
          <a:xfrm>
            <a:off x="6199632" y="4608576"/>
            <a:ext cx="5532120" cy="7315"/>
          </a:xfrm>
          <a:prstGeom prst="rect">
            <a:avLst/>
          </a:prstGeom>
          <a:solidFill>
            <a:srgbClr val="D5DBE2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6199632" y="4663440"/>
            <a:ext cx="237744" cy="237744"/>
          </a:xfrm>
          <a:prstGeom prst="rect">
            <a:avLst/>
          </a:prstGeom>
          <a:solidFill>
            <a:srgbClr val="2E6FA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6565392" y="464515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1GW当たり売上（これから）</a:t>
            </a:r>
            <a:endParaRPr lang="en-US" sz="1250" dirty="0"/>
          </a:p>
        </p:txBody>
      </p:sp>
      <p:sp>
        <p:nvSpPr>
          <p:cNvPr id="49" name="Text 46"/>
          <p:cNvSpPr txBox="1"/>
          <p:nvPr/>
        </p:nvSpPr>
        <p:spPr>
          <a:xfrm>
            <a:off x="6565392" y="491947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63億ドルから上昇するか。単価が伸びなければ売上は増えない。</a:t>
            </a:r>
            <a:endParaRPr lang="en-US" sz="1150" dirty="0"/>
          </a:p>
        </p:txBody>
      </p:sp>
      <p:sp>
        <p:nvSpPr>
          <p:cNvPr id="50" name="Shape 47"/>
          <p:cNvSpPr/>
          <p:nvPr/>
        </p:nvSpPr>
        <p:spPr>
          <a:xfrm>
            <a:off x="6199632" y="5193792"/>
            <a:ext cx="5532120" cy="7315"/>
          </a:xfrm>
          <a:prstGeom prst="rect">
            <a:avLst/>
          </a:prstGeom>
          <a:solidFill>
            <a:srgbClr val="D5DBE2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6199632" y="5248656"/>
            <a:ext cx="237744" cy="237744"/>
          </a:xfrm>
          <a:prstGeom prst="rect">
            <a:avLst/>
          </a:prstGeom>
          <a:solidFill>
            <a:srgbClr val="3C495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565392" y="523036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キャッシュフロー（最後に反映）</a:t>
            </a:r>
            <a:endParaRPr lang="en-US" sz="1250" dirty="0"/>
          </a:p>
        </p:txBody>
      </p:sp>
      <p:sp>
        <p:nvSpPr>
          <p:cNvPr id="53" name="Text 50"/>
          <p:cNvSpPr txBox="1"/>
          <p:nvPr/>
        </p:nvSpPr>
        <p:spPr>
          <a:xfrm>
            <a:off x="6565392" y="550468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年換算で−593億ドル。GAAP黒字化まで倍率は上がらない。</a:t>
            </a:r>
            <a:endParaRPr lang="en-US" sz="1150" dirty="0"/>
          </a:p>
        </p:txBody>
      </p:sp>
      <p:sp>
        <p:nvSpPr>
          <p:cNvPr id="54" name="Shape 51"/>
          <p:cNvSpPr/>
          <p:nvPr/>
        </p:nvSpPr>
        <p:spPr>
          <a:xfrm>
            <a:off x="457200" y="5870448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55" name="Text 52"/>
          <p:cNvSpPr txBox="1"/>
          <p:nvPr/>
        </p:nvSpPr>
        <p:spPr>
          <a:xfrm>
            <a:off x="457200" y="5961888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この頁の要点</a:t>
            </a:r>
            <a:endParaRPr lang="en-US" sz="1000" dirty="0"/>
          </a:p>
        </p:txBody>
      </p:sp>
      <p:sp>
        <p:nvSpPr>
          <p:cNvPr id="56" name="Text 53"/>
          <p:cNvSpPr txBox="1"/>
          <p:nvPr/>
        </p:nvSpPr>
        <p:spPr>
          <a:xfrm>
            <a:off x="1508760" y="5943600"/>
            <a:ext cx="102257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第2四半期決算を境に、実績で検証される局面へ移った。今後1年は需給要因で振れながら、評価の中心が期待から実績へ移っていく。</a:t>
            </a:r>
            <a:endParaRPr lang="en-US" sz="1250" dirty="0"/>
          </a:p>
        </p:txBody>
      </p:sp>
      <p:sp>
        <p:nvSpPr>
          <p:cNvPr id="57" name="Shape 54"/>
          <p:cNvSpPr/>
          <p:nvPr/>
        </p:nvSpPr>
        <p:spPr>
          <a:xfrm>
            <a:off x="457200" y="6419088"/>
            <a:ext cx="11277295" cy="7315"/>
          </a:xfrm>
          <a:prstGeom prst="rect">
            <a:avLst/>
          </a:prstGeom>
          <a:solidFill>
            <a:srgbClr val="D5DBE2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457200" y="6464808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出典：添付バリュエーションモデル、SpaceX 2026年第2四半期決算、StockAnalysis／MarketBeat。1年後シナリオは株式数137億株を前提とする。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付録 A5 ｜ 他銘柄との関係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20095" y="2194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上場初期の値動きは、Tesla連動ではなく宇宙株・成長株に近い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32688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日次リターンの相関を見ると、Musk銘柄より宇宙関連株と高成長株の値動きに近い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9012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353312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SPCXとの日次リターン相関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666744" y="1353312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2026年6月15日〜8月31日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609344"/>
            <a:ext cx="5349240" cy="9144"/>
          </a:xfrm>
          <a:prstGeom prst="rect">
            <a:avLst/>
          </a:prstGeom>
          <a:solidFill>
            <a:srgbClr val="0E2340"/>
          </a:solidFill>
          <a:ln/>
        </p:spPr>
      </p:sp>
      <p:graphicFrame>
        <p:nvGraphicFramePr>
          <p:cNvPr id="10" name="Chart 0" descr=""/>
          <p:cNvGraphicFramePr/>
          <p:nvPr/>
        </p:nvGraphicFramePr>
        <p:xfrm>
          <a:off x="457200" y="1700784"/>
          <a:ext cx="53492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57200" y="371246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同期間の累積リターン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968496"/>
            <a:ext cx="5349240" cy="9144"/>
          </a:xfrm>
          <a:prstGeom prst="rect">
            <a:avLst/>
          </a:prstGeom>
          <a:solidFill>
            <a:srgbClr val="0E2340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59936"/>
          <a:ext cx="5349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143000"/>
                <a:gridCol w="21031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銘柄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累積リターン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位置づけ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2340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SPCX（SpaceX）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A03A2B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−25.4%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上場直後の需給を含む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RKLB（ロケットラボ）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A03A2B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−41.5%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最も相関が高い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QQQ（ナスダック）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−3.7%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高成長株の代表指数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TSLA（テスラ）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−10.5%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同一創業者だが連動は弱い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NVDA（エヌビディア）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+3.9%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AI設備投資の供給側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6016752" y="135331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この結果の読み方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016752" y="1609344"/>
            <a:ext cx="5715000" cy="9144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016752" y="1719072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Teslaとの連動は弱い（0.15）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6016752" y="2011680"/>
            <a:ext cx="5715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同一創業者という理由でTeslaの代替として売買されているわけではない。Musk関連のニュースが両銘柄を同時に動かす場面はあるが、値動き全体を説明する要因にはなっていない。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016752" y="2852928"/>
            <a:ext cx="5715000" cy="7315"/>
          </a:xfrm>
          <a:prstGeom prst="rect">
            <a:avLst/>
          </a:prstGeom>
          <a:solidFill>
            <a:srgbClr val="D5DBE2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016752" y="2980944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最も近いのは宇宙関連株（0.45）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6016752" y="3273552"/>
            <a:ext cx="5715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ロケットラボとの相関が最も高い。上場初期の投資家は、SpaceXをまず「宇宙企業」として分類して売買していたことを示している。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016752" y="4114800"/>
            <a:ext cx="5715000" cy="7315"/>
          </a:xfrm>
          <a:prstGeom prst="rect">
            <a:avLst/>
          </a:prstGeom>
          <a:solidFill>
            <a:srgbClr val="D5DBE2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6016752" y="4242816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NVDAとの連動はまだ低い（0.11）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6016752" y="4535424"/>
            <a:ext cx="5715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AI事業の実績が四半期ごとに積み上がれば、この相関は高まる可能性がある。ここが上がるかは、市場がSpaceXを「AI企業」として見直したかの目安になる。</a:t>
            </a:r>
            <a:endParaRPr lang="en-US" sz="1150" dirty="0"/>
          </a:p>
        </p:txBody>
      </p:sp>
      <p:sp>
        <p:nvSpPr>
          <p:cNvPr id="24" name="Text 20"/>
          <p:cNvSpPr txBox="1"/>
          <p:nvPr/>
        </p:nvSpPr>
        <p:spPr>
          <a:xfrm>
            <a:off x="6016752" y="5504688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注：標本は53営業日と短く、上場直後の需給を強く含む。相関は因果を意味しない。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57200" y="5870448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457200" y="5961888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この頁の要点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1508760" y="5943600"/>
            <a:ext cx="102257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上場初期は宇宙テーマ株と上場直後の需給で動いていた。エヌビディアとの連動が高まるかが、市場の見方の変化を測る目安になる。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457200" y="6419088"/>
            <a:ext cx="11277295" cy="7315"/>
          </a:xfrm>
          <a:prstGeom prst="rect">
            <a:avLst/>
          </a:prstGeom>
          <a:solidFill>
            <a:srgbClr val="D5DBE2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457200" y="6464808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出典：StockAnalysis／S&amp;P Global Market Intelligence。日次終値の対数リターンによる相関係数、2026年6月15日〜8月31日、標本数53。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9456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付録 A6 ｜ 宇宙事業の評価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820095" y="2194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A6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宇宙事業：赤字事業に倍率を掛けず、2つに分けて評価する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32688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添付モデルは300億ドルの直接入力だった。既存の打上げ事業とStarshipを分離して算出し直した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9012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353312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宇宙事業の現在地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502152" y="1353312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2026年 第2四半期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609344"/>
            <a:ext cx="5074920" cy="9144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17373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売上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17373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9.62億ドル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029968"/>
            <a:ext cx="5074920" cy="7315"/>
          </a:xfrm>
          <a:prstGeom prst="rect">
            <a:avLst/>
          </a:prstGeom>
          <a:solidFill>
            <a:srgbClr val="D5DBE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20665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研究開発費 控除前の粗利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206654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6.33億ドル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359152"/>
            <a:ext cx="5074920" cy="7315"/>
          </a:xfrm>
          <a:prstGeom prst="rect">
            <a:avLst/>
          </a:prstGeom>
          <a:solidFill>
            <a:srgbClr val="D5DBE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23957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研究開発費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239572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10.76億ドル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688336"/>
            <a:ext cx="5074920" cy="7315"/>
          </a:xfrm>
          <a:prstGeom prst="rect">
            <a:avLst/>
          </a:prstGeom>
          <a:solidFill>
            <a:srgbClr val="D5DBE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27249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調整後EBITDA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383280" y="272491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03A2B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−2.05億ドル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12724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粗利率65.8%が示すとおり、打上げ事業そのものは利益を出している。赤字の原因はStarshipの開発費である。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749040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評価の考え方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005072"/>
            <a:ext cx="5074920" cy="9144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7200" y="411480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① 既存の打上げ事業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研究開発費を平常水準に戻した後の収益力で評価する。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② Starshipの開発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956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到達時の価値に成功確率を掛け、現在価値に割り引く。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5358384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検算：508億ドル ÷ 売上42億ドル ＝ 12.1倍。宇宙新興20〜30倍と大手2〜3倍の中間に収まる。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742432" y="1353312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3つのシナリオと計算の内訳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336024" y="135331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割引率12%・5年（÷1.762）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742432" y="1609344"/>
            <a:ext cx="5989320" cy="9144"/>
          </a:xfrm>
          <a:prstGeom prst="rect">
            <a:avLst/>
          </a:prstGeom>
          <a:solidFill>
            <a:srgbClr val="0E2340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42432" y="1700784"/>
          <a:ext cx="5989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25880"/>
                <a:gridCol w="1325880"/>
                <a:gridCol w="13258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弱気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基本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強気</a:t>
                      </a:r>
                      <a:endParaRPr lang="en-US" sz="11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34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2340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① 既存の打上げ事業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今後12か月の売上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35億ドル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42億ドル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55億ドル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正常化後のEBITDA率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15%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20%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25%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EV / EBITDA 倍率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12倍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18倍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24倍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小計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63億ドル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151億ドル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330億ドル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2340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② Starshipの期待値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2031年の売上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100億ドル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200億ドル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400億ドル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EBITDA率 × 出口倍率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30% × 15倍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35% × 20倍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40% × 25倍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成功確率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20%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45%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60%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小計（現在価値）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51億ドル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357億ドル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C4956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1,362億ドル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2340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宇宙事業 合計</a:t>
                      </a:r>
                      <a:endParaRPr lang="en-US" sz="115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A03A2B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114億ドル</a:t>
                      </a:r>
                      <a:endParaRPr lang="en-US" sz="14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E2340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508億ドル</a:t>
                      </a:r>
                      <a:endParaRPr lang="en-US" sz="14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FA7"/>
                          </a:solidFill>
                          <a:latin typeface="Arial" pitchFamily="34" charset="0"/>
                          <a:ea typeface="ＭＳ ゴシック" pitchFamily="34" charset="-122"/>
                          <a:cs typeface="Arial" pitchFamily="34" charset="-120"/>
                        </a:rPr>
                        <a:t>1,692億ドル</a:t>
                      </a:r>
                      <a:endParaRPr lang="en-US" sz="1400" dirty="0">
                        <a:latin typeface="Arial" charset="0"/>
                        <a:ea typeface="ＭＳ ゴシック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5742432" y="5340096"/>
            <a:ext cx="5989320" cy="7315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5742432" y="5431536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この幅が株価に与える影響は、1株価値で ±6% 以内にとどまる。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57200" y="5870448"/>
            <a:ext cx="11277295" cy="12802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457200" y="5961888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E6FA7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この頁の要点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1508760" y="5943600"/>
            <a:ext cx="102257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E2340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基本ケース508億ドルのうち約70%はStarshipの期待値である。前提を極端に振っても株価への影響は±6%以内にとどまる。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457200" y="6419088"/>
            <a:ext cx="11277295" cy="7315"/>
          </a:xfrm>
          <a:prstGeom prst="rect">
            <a:avLst/>
          </a:prstGeom>
          <a:solidFill>
            <a:srgbClr val="D5DBE2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457200" y="6464808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B8A"/>
                </a:solidFill>
                <a:latin typeface="Arial" pitchFamily="34" charset="0"/>
                <a:ea typeface="ＭＳ ゴシック" pitchFamily="34" charset="-122"/>
                <a:cs typeface="Arial" pitchFamily="34" charset="-120"/>
              </a:rPr>
              <a:t>出典：SpaceX 2026年第2四半期決算、添付バリュエーションモデル。前提はいずれも本分析による設定であり、会社の見通しではない。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anose="020F0302020204030204"/>
        <a:ea typeface="ＭＳ ゴシック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F0502020204030204"/>
        <a:ea typeface="ＭＳ ゴシック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SpaceX — AI投資と株価ドライバー</dc:title>
  <dc:subject>PptxGenJS Presentation</dc:subject>
  <dc:creator>SpaceX AI Analysis</dc:creator>
  <cp:lastModifiedBy>SpaceX AI Analysis</cp:lastModifiedBy>
  <cp:revision>1</cp:revision>
  <dcterms:created xsi:type="dcterms:W3CDTF">2026-09-01T23:27:14Z</dcterms:created>
  <dcterms:modified xsi:type="dcterms:W3CDTF">2026-09-01T23:27:14Z</dcterms:modified>
</cp:coreProperties>
</file>