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端ロジックの5社について、2026年後半以降に予定されているノードをまとめた。2枚目で構造と図の見方を示し、3枚目以降は各社の時間軸の図と要点。数値は各社の公表値、または報道・第三者解析に基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段はチャネルを横切る断面の模式図（橙がゲート、灰がシリコンのチャネル）。下段は配線層の積み方。表面電源では電源と信号の配線が同じ側にあり、裏面電源では電源配線をウェハの裏側に移す。CFETの時期はimecの2026年版ロードマップ（Tom's Hardware、IEEE Spectrum）による。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TSMC 2026 Technology Symposium：https://pr.tsmc.com/system/files/newspdf/attachment/49337b40ff139d51d533076cf7a945b30e107e07/2026%20Tech%20Symposium%20(E)_Final_wmn.pdf
TSMC 技術ページ（A16 vs N2P：速度+8〜10%、電力−15〜20%、密度最大1.10倍）：https://www.tsmc.com/english/dedicatedFoundry/technology/logic/l_5nm
Focus Taiwan（N2P 2H26）：https://focustaiwan.tw/sci-tech/202512300026
Tom's Hardware（A16は2027年に延期）：https://www.tomshardware.com/tech-industry/semiconductors/tsmc-unveils-process-technology-roadmap-through-2029-a12-a13-n2u-announced-a16-slips-to-2027
TrendForce（2029年までHigh-NA不採用）：https://www.trendforce.com/news/2026/04/23/news-tsmc-unveils-latest-roadmap-a12-a13-set-for-2029-without-high-na-euv-a16-volume-production-delayed-to-2027/
New Electronics（A14：N2比 速度+15%または電力−30%、密度+20%超）：https://www.newelectronics.co.uk/content/blogs/tsmc-technology-symposium-2026-a-systems-driven-era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The Elec（SF1.4は2029年、SF1.4+は2030年、DTCO）：https://www.thelec.net/news/articleView.html?idxno=11849
TrendForce（SF2P+・SF2Xは2027〜28年）：https://www.trendforce.com/news/2026/07/02/news-samsung-reportedly-expands-2nm-portfolio-ahead-of-2029-sf1-4-mass-production-sf2p-targets-2027-28/
SamMobile（第2世代2nmは2026年、SF2Z）：https://www.sammobile.com/news/samsung-start-making-second-generation-2nm-chips-2026/
SamMobile（1.4nm延期は2nmの歩留まり改善のため）：https://www.sammobile.com/news/samsung-third-gen-2nm-second-gen-1-4nm-chips-roadmap/
MLQ.ai（SF2の派生展開）：https://mlq.ai/news/samsung-shifts-sf14-foundry-target-to-2029-as-sf2-roadmap-expands/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Intel 10-Q（18A-Pは2026年6月にリスク生産）：https://www.sec.gov/Archives/edgar/data/0000050863/000005086326000157/intc-20260627.htm
TrendForce（18A-Pは性能最大+9%または電力−18%）：https://www.trendforce.com/news/2026/06/17/news-intel-18a-p-enters-risk-production-targets-9-performance-gain-with-potentially-shortened-ramp/
Tom's Hardware（18A-PT・PowerDirect）：https://www.tomshardware.com/pc-components/cpus/intel-foundry-roadmap-update-new-18a-pt-variant-that-enables-3d-die-stacking-14a-process-node-enablement
Digital Trends（14Aは2H27にリスク生産、2028年に量産）：https://www.digitaltrends.com/computing/intel-just-pulled-its-14a-production-schedule-forward-by-a-year/
AnySilicon（14A PDK 0.9は2026年10月、10A・7Aに開発着手）：https://anysilicon.com/news/intel-begins-work-on-10a-and-7a-process-nodes-as-14a-roadmap-moves-toward-key-pdk-release/
Tom's Hardware（顧客の判断は2026年下期〜2027年上期）：https://www.tomshardware.com/tech-industry/semiconductors/intel-chip-roadmap-2026-2028
Intel 年次報告（14Aの条件）：https://www.sec.gov/Archives/edgar/data/50863/000005086326000060/intc014890-arsa.pdf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SMICは先端ノードのロードマップを公表していない。図は第三者解析と報道に基づく（破線はすべて報道）。
出典URL
TechInsights（N+3）：https://www.techinsights.com/blog/smic-n3-confirmed-kirin-9030-analysis-reveals-how-close-smic-5nm
朝鮮Biz（SemiWiki転載、5nmは2026年に稼働）：https://semiwiki.com/forum/threads/huawei-the-leader-in-chinese-semiconductor-development%E2%80%A6-%E2%80%98life-or-death%E2%80%99-for-smic-5nm-mass-production-next-year.22690/
Mobile World Live（Huawei 3nm）：https://www.mobileworldlive.com/huawei/huawei-targets-3nm-chip-in-2026/
TrendForce（日経、生産能力目標）：https://www.trendforce.com/news/2026/02/25/news-china-reportedly-aims-to-boost-7nm-5nm-output-fivefold-in-two-years-driven-by-smic-and-hua-hong/
Asia Times（ロイター、国産EUV）：https://asiatimes.com/2025/12/made-in-china-euv-machine-targets-ai-chip-output-by-2028/
Tom's Hardware（国産DUVの台数）：https://www.tomshardware.com/tech-industry/semiconductors/chinese-chipmaking-tool-roadmap-examined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出典URL
Rapidus 公式サイト：https://www.rapidus.inc/en/
Tom's Hardware（2nm量産計画、前工程と後工程を1拠点に統合）：https://www.tomshardware.com/tech-industry/semiconductors/rapidus-targets-2nm-mass-production-in-2027-with-a-four-times-capacity-ramp
TrendForce（顧客試作、1.4nm、1nm）：https://www.trendforce.com/news/2026/03/30/news-rapidus-accelerates-1nm-push-reportedly-targets-six-month-gap-with-tsmc/
Tom's Hardware（1.4nm計画、総投資）：https://www.tomshardware.com/tech-industry/semiconductors/rapidus-fab-roadmap-examined
DIGITIMES（第2工場の報道と会社側の否定）：https://www.digitimes.com/news/a20251126VL209/rapidus-1.4nm-chips-fab-funding.html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B8D4"/>
                </a:solidFill>
                <a:latin typeface="Arial" pitchFamily="34" charset="0"/>
                <a:ea typeface="Yu Gothic"/>
                <a:cs typeface="Arial" pitchFamily="34" charset="-120"/>
              </a:rPr>
              <a:t>LOGIC ROADMAP 2026–2030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F1EC"/>
                </a:solidFill>
                <a:latin typeface="Arial" pitchFamily="34" charset="0"/>
                <a:ea typeface="Yu Gothic"/>
                <a:cs typeface="Arial" pitchFamily="34" charset="-120"/>
              </a:rPr>
              <a:t>先端ロジック半導体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2F1EC"/>
                </a:solidFill>
                <a:latin typeface="Arial" pitchFamily="34" charset="0"/>
                <a:ea typeface="Yu Gothic"/>
                <a:cs typeface="Arial" pitchFamily="34" charset="-120"/>
              </a:rPr>
              <a:t>各社の今後のノード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TSMC・Samsung・Intel・SMIC・Rapidus｜2026年9月時点の公表・報道に基づく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5875">
            <a:solidFill>
              <a:srgbClr val="4A5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006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GAA：ゲートがチャネルの全周を囲むトランジスタ（ナノシート）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裏面電源：電源の配線をウェハの裏側に移す技術（backside power delivery）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0D8"/>
                </a:solidFill>
                <a:latin typeface="Arial" pitchFamily="34" charset="0"/>
                <a:ea typeface="Yu Gothic"/>
                <a:cs typeface="Arial" pitchFamily="34" charset="-120"/>
              </a:rPr>
              <a:t>High-NA EUV：開口数を0.33から0.55に上げた次世代のEUV露光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構造の見方：トランジスタはGAAへ、電源は裏面へ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2743200"/>
            <a:ext cx="2103120" cy="182880"/>
          </a:xfrm>
          <a:prstGeom prst="rect">
            <a:avLst/>
          </a:prstGeom>
          <a:solidFill>
            <a:srgbClr val="E4E8ED"/>
          </a:solidFill>
          <a:ln w="9525">
            <a:solidFill>
              <a:srgbClr val="B9C0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47488" y="2743200"/>
            <a:ext cx="2103120" cy="182880"/>
          </a:xfrm>
          <a:prstGeom prst="rect">
            <a:avLst/>
          </a:prstGeom>
          <a:solidFill>
            <a:srgbClr val="E4E8ED"/>
          </a:solidFill>
          <a:ln w="9525">
            <a:solidFill>
              <a:srgbClr val="B9C0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88552" y="2743200"/>
            <a:ext cx="2103120" cy="182880"/>
          </a:xfrm>
          <a:prstGeom prst="rect">
            <a:avLst/>
          </a:prstGeom>
          <a:solidFill>
            <a:srgbClr val="E4E8ED"/>
          </a:solidFill>
          <a:ln w="9525">
            <a:solidFill>
              <a:srgbClr val="B9C0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600200"/>
            <a:ext cx="822960" cy="114300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112" y="1783080"/>
            <a:ext cx="219456" cy="960120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0408" y="1600200"/>
            <a:ext cx="1097280" cy="114300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1810512"/>
            <a:ext cx="768096" cy="137160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0" y="2103120"/>
            <a:ext cx="768096" cy="137160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395728"/>
            <a:ext cx="768096" cy="137160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1472" y="1463040"/>
            <a:ext cx="1097280" cy="128016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56064" y="1572768"/>
            <a:ext cx="768096" cy="100584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56064" y="1737360"/>
            <a:ext cx="768096" cy="100584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6064" y="1901952"/>
            <a:ext cx="768096" cy="100584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37192" y="2075688"/>
            <a:ext cx="1005840" cy="54864"/>
          </a:xfrm>
          <a:prstGeom prst="rect">
            <a:avLst/>
          </a:prstGeom>
          <a:solidFill>
            <a:srgbClr val="7D8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6064" y="2231136"/>
            <a:ext cx="768096" cy="100584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6064" y="2395728"/>
            <a:ext cx="768096" cy="100584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56064" y="2560320"/>
            <a:ext cx="768096" cy="100584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61904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nFET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661904" y="23042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pFET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2148840"/>
            <a:ext cx="1572768" cy="0"/>
          </a:xfrm>
          <a:prstGeom prst="line">
            <a:avLst/>
          </a:prstGeom>
          <a:noFill/>
          <a:ln w="19050">
            <a:solidFill>
              <a:srgbClr val="8C96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87768" y="2148840"/>
            <a:ext cx="1563624" cy="0"/>
          </a:xfrm>
          <a:prstGeom prst="line">
            <a:avLst/>
          </a:prstGeom>
          <a:noFill/>
          <a:ln w="19050">
            <a:solidFill>
              <a:srgbClr val="8C96A3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200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FinFET（〜2024年）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3346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ゲートがチャネルを3面から囲む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N3・Intel 3・SMIC N+3 など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70248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GAA ナノシート（2022年〜）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70248" y="3346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ゲートが4面を囲み、漏れ電流を抑える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N2・SF2・18A・Rapidus 2nm など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CFET（2033年頃〜、imec予測）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11312" y="3346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nFETとpFETを縦に積み、面積を縮める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まだ研究段階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2286000" cy="310896"/>
          </a:xfrm>
          <a:prstGeom prst="rect">
            <a:avLst/>
          </a:prstGeom>
          <a:solidFill>
            <a:srgbClr val="D5DAE1"/>
          </a:solidFill>
          <a:ln w="9525">
            <a:solidFill>
              <a:srgbClr val="A9B1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160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信号配線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507992"/>
            <a:ext cx="2286000" cy="310896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507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電源配線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855464"/>
            <a:ext cx="228600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8554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トランジスタ層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166360"/>
            <a:ext cx="2286000" cy="310896"/>
          </a:xfrm>
          <a:prstGeom prst="rect">
            <a:avLst/>
          </a:prstGeom>
          <a:solidFill>
            <a:srgbClr val="E4E8ED"/>
          </a:solidFill>
          <a:ln w="9525">
            <a:solidFill>
              <a:srgbClr val="B9C0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166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シリコン基板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46120" y="4160520"/>
            <a:ext cx="2286000" cy="310896"/>
          </a:xfrm>
          <a:prstGeom prst="rect">
            <a:avLst/>
          </a:prstGeom>
          <a:solidFill>
            <a:srgbClr val="D5DAE1"/>
          </a:solidFill>
          <a:ln w="9525">
            <a:solidFill>
              <a:srgbClr val="A9B1B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46120" y="4160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信号配線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4507992"/>
            <a:ext cx="228600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46120" y="4507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トランジスタ層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46120" y="4818888"/>
            <a:ext cx="2286000" cy="310896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46120" y="48188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電源配線（裏面）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46120" y="5166360"/>
            <a:ext cx="2286000" cy="310896"/>
          </a:xfrm>
          <a:prstGeom prst="rect">
            <a:avLst/>
          </a:prstGeom>
          <a:solidFill>
            <a:srgbClr val="E4E8ED"/>
          </a:solidFill>
          <a:ln w="9525">
            <a:solidFill>
              <a:srgbClr val="B9C0C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46120" y="5166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支持ウェハ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559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表面電源（従来）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電源と信号が配線を取り合う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3154680" y="5559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裏面電源（18A・A16）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3063240" y="58338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電源を裏側に分け、配線を空ける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各社スライドの図の見方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400800" y="44988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3ECF7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60920" y="4498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表面電源のノード（公表済みの計画）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6400800" y="4837176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BEBD3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60920" y="48371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裏面電源のノード（公表済みの計画）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400800" y="5175504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E3ECF7"/>
          </a:solidFill>
          <a:ln w="12700">
            <a:solidFill>
              <a:srgbClr val="2F5D8A"/>
            </a:solidFill>
            <a:prstDash val="dash"/>
          </a:ln>
        </p:spPr>
      </p:sp>
      <p:sp>
        <p:nvSpPr>
          <p:cNvPr id="56" name="Text 54"/>
          <p:cNvSpPr txBox="1"/>
          <p:nvPr/>
        </p:nvSpPr>
        <p:spPr>
          <a:xfrm>
            <a:off x="7360920" y="5175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破線の枠：報道ベース・時期未確定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400800" y="5513832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F1F2F4"/>
          </a:solidFill>
          <a:ln w="12700">
            <a:solidFill>
              <a:srgbClr val="8C96A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60920" y="5513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灰色：装置・生産能力などノード以外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6812280" y="5852160"/>
            <a:ext cx="0" cy="274320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7360920" y="5852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赤の破線：現在（2026年9月）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675120" y="619048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19011" y="624535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63" name="Shape 61"/>
          <p:cNvSpPr/>
          <p:nvPr/>
        </p:nvSpPr>
        <p:spPr>
          <a:xfrm>
            <a:off x="6719011" y="630844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64" name="Shape 62"/>
          <p:cNvSpPr/>
          <p:nvPr/>
        </p:nvSpPr>
        <p:spPr>
          <a:xfrm>
            <a:off x="6719011" y="637153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60920" y="6190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枠の右上の小図：トランジスタ構造（上段と同じ）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TSMC：モバイル向けとAI向けの2系列に分かれる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1091672" cy="9997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572256"/>
            <a:ext cx="11091672" cy="9997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7802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659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2145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002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488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345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831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96882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51746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75009" y="1554480"/>
            <a:ext cx="0" cy="3035808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00689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Yu Gothic"/>
                <a:cs typeface="Arial" pitchFamily="34" charset="-120"/>
              </a:rPr>
              <a:t>現在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572768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モバイル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表面電源｜現行 N2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1451" y="1636776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6475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60366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0366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2" name="Shape 20"/>
          <p:cNvSpPr/>
          <p:nvPr/>
        </p:nvSpPr>
        <p:spPr>
          <a:xfrm>
            <a:off x="4760366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2891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N2P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72891" y="1975104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2026年下期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N2の性能強化版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46597" y="1636776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81621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25512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8" name="Shape 26"/>
          <p:cNvSpPr/>
          <p:nvPr/>
        </p:nvSpPr>
        <p:spPr>
          <a:xfrm>
            <a:off x="7525512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9" name="Shape 27"/>
          <p:cNvSpPr/>
          <p:nvPr/>
        </p:nvSpPr>
        <p:spPr>
          <a:xfrm>
            <a:off x="7525512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38037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A14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238037" y="1975104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2028年｜第2世代GAA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N2比 速度+15%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90027" y="1636776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5051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68942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5" name="Shape 33"/>
          <p:cNvSpPr/>
          <p:nvPr/>
        </p:nvSpPr>
        <p:spPr>
          <a:xfrm>
            <a:off x="9368942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368942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081467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A13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81467" y="1975104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2029年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A14を面積6%縮小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2572512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AI・HPC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裏面電源（SPR）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303166" y="2636520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BEBD3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38190" y="2709672"/>
            <a:ext cx="274320" cy="21397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82082" y="2752466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3" name="Shape 41"/>
          <p:cNvSpPr/>
          <p:nvPr/>
        </p:nvSpPr>
        <p:spPr>
          <a:xfrm>
            <a:off x="5682082" y="2801679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4" name="Shape 42"/>
          <p:cNvSpPr/>
          <p:nvPr/>
        </p:nvSpPr>
        <p:spPr>
          <a:xfrm>
            <a:off x="5682082" y="2850892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5" name="Shape 43"/>
          <p:cNvSpPr/>
          <p:nvPr/>
        </p:nvSpPr>
        <p:spPr>
          <a:xfrm>
            <a:off x="5638190" y="2951074"/>
            <a:ext cx="274320" cy="32918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394606" y="26822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A16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394606" y="2974848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2027年（延期）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N2P比 速度+8〜10%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90027" y="2636520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BEBD3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25051" y="2709672"/>
            <a:ext cx="274320" cy="21397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68942" y="2752466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51" name="Shape 49"/>
          <p:cNvSpPr/>
          <p:nvPr/>
        </p:nvSpPr>
        <p:spPr>
          <a:xfrm>
            <a:off x="9368942" y="2801679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52" name="Shape 50"/>
          <p:cNvSpPr/>
          <p:nvPr/>
        </p:nvSpPr>
        <p:spPr>
          <a:xfrm>
            <a:off x="9368942" y="2850892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53" name="Shape 51"/>
          <p:cNvSpPr/>
          <p:nvPr/>
        </p:nvSpPr>
        <p:spPr>
          <a:xfrm>
            <a:off x="9325051" y="2951074"/>
            <a:ext cx="274320" cy="32918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81467" y="26822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A12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081467" y="2974848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2029年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A14＋裏面電源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21792" y="3572256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コスト重視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N2系の延長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146597" y="3636264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81621" y="3709416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25512" y="3764280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60" name="Shape 58"/>
          <p:cNvSpPr/>
          <p:nvPr/>
        </p:nvSpPr>
        <p:spPr>
          <a:xfrm>
            <a:off x="7525512" y="3827374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61" name="Shape 59"/>
          <p:cNvSpPr/>
          <p:nvPr/>
        </p:nvSpPr>
        <p:spPr>
          <a:xfrm>
            <a:off x="7525512" y="3890467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238037" y="368198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N2U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238037" y="3974592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2028年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N2系延長・低コスト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モバイル向けは表面電源のまま、2028年のA14で第2世代GAAへ進む。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AI・HPC向けは裏面電源のA16（2027年）・A12（2029年）に分かれる。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High-NA EUVは、2029年のA13・A12の世代まで使わない。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出典：TSMC 2026 Technology Symposium、TSMC技術ページ（2nm・A16）、Tom's Hardware、TrendForce、New Electronics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Samsung Foundry：2nm系列を広げ、1.4nmは2029年に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1091672" cy="9235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419856"/>
            <a:ext cx="11091672" cy="9235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1307592"/>
            <a:ext cx="0" cy="30358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7802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6590" y="1307592"/>
            <a:ext cx="0" cy="30358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2145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0021" y="1307592"/>
            <a:ext cx="0" cy="30358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488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3451" y="1307592"/>
            <a:ext cx="0" cy="30358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831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96882" y="1307592"/>
            <a:ext cx="0" cy="30358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51746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75009" y="1554480"/>
            <a:ext cx="0" cy="2807208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00689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Yu Gothic"/>
                <a:cs typeface="Arial" pitchFamily="34" charset="-120"/>
              </a:rPr>
              <a:t>現在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572768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主系列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現行 SF2（2025年Q4）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1451" y="1636776"/>
            <a:ext cx="1700784" cy="795528"/>
          </a:xfrm>
          <a:prstGeom prst="roundRect">
            <a:avLst>
              <a:gd name="adj" fmla="val 8046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6475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60366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0366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2" name="Shape 20"/>
          <p:cNvSpPr/>
          <p:nvPr/>
        </p:nvSpPr>
        <p:spPr>
          <a:xfrm>
            <a:off x="4760366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2891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SF2P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472891" y="1975104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2026年下期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SF2比 電力−26%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90027" y="1636776"/>
            <a:ext cx="1700784" cy="795528"/>
          </a:xfrm>
          <a:prstGeom prst="roundRect">
            <a:avLst>
              <a:gd name="adj" fmla="val 8046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5051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68942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8" name="Shape 26"/>
          <p:cNvSpPr/>
          <p:nvPr/>
        </p:nvSpPr>
        <p:spPr>
          <a:xfrm>
            <a:off x="9368942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9" name="Shape 27"/>
          <p:cNvSpPr/>
          <p:nvPr/>
        </p:nvSpPr>
        <p:spPr>
          <a:xfrm>
            <a:off x="9368942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81467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SF1.4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81467" y="1975104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2029年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当初から2年延期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33458" y="1636776"/>
            <a:ext cx="1700784" cy="795528"/>
          </a:xfrm>
          <a:prstGeom prst="roundRect">
            <a:avLst>
              <a:gd name="adj" fmla="val 8046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68482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12373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12373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12373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924898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SF1.4+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24898" y="1975104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2030年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SF1.4の改良版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2496312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性能強化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2nm派生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303166" y="2560320"/>
            <a:ext cx="3613709" cy="795528"/>
          </a:xfrm>
          <a:prstGeom prst="roundRect">
            <a:avLst>
              <a:gd name="adj" fmla="val 8046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51115" y="2633472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95006" y="268833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3" name="Shape 41"/>
          <p:cNvSpPr/>
          <p:nvPr/>
        </p:nvSpPr>
        <p:spPr>
          <a:xfrm>
            <a:off x="7595006" y="2751430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4" name="Shape 42"/>
          <p:cNvSpPr/>
          <p:nvPr/>
        </p:nvSpPr>
        <p:spPr>
          <a:xfrm>
            <a:off x="7595006" y="2814523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394606" y="2606040"/>
            <a:ext cx="3110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SF2P+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394606" y="2898648"/>
            <a:ext cx="3430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2027〜2028年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SF2Pの性能強化版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21792" y="3419856"/>
            <a:ext cx="1691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AI・HPC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2nm派生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303166" y="3483864"/>
            <a:ext cx="3613709" cy="795528"/>
          </a:xfrm>
          <a:prstGeom prst="roundRect">
            <a:avLst>
              <a:gd name="adj" fmla="val 8046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51115" y="3557016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95006" y="3611880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51" name="Shape 49"/>
          <p:cNvSpPr/>
          <p:nvPr/>
        </p:nvSpPr>
        <p:spPr>
          <a:xfrm>
            <a:off x="7595006" y="3674974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52" name="Shape 50"/>
          <p:cNvSpPr/>
          <p:nvPr/>
        </p:nvSpPr>
        <p:spPr>
          <a:xfrm>
            <a:off x="7595006" y="3738067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394606" y="3529584"/>
            <a:ext cx="3110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SF2X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394606" y="3822192"/>
            <a:ext cx="34308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2027〜2028年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AI・HPC向けの2nm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439826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※ 裏面電源を採用する2nm派生のSF2Zも計画されているが、量産時期は公表されていない。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48006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2022年に業界で最初にGAAを量産したが、2nmの歩留まり改善を優先して1.4nmを2年延期した。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当面はSF2の派生を増やす。SF2からSF2Pへの改善の半分以上は、設計とプロセスの協調最適化（DTCO）による。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出典：The Elec（2026年7月、SAFE Forum）、TrendForce（2026年7月）、SamMobile、MLQ.ai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Intel：裏面電源とHigh-NAを他社より先に量産へ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1091672" cy="9997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572256"/>
            <a:ext cx="11091672" cy="9997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7802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659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2145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002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488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345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831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96882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51746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75009" y="1554480"/>
            <a:ext cx="0" cy="3035808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00689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Yu Gothic"/>
                <a:cs typeface="Arial" pitchFamily="34" charset="-120"/>
              </a:rPr>
              <a:t>現在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572768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18A系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現行 18A（2025年後半）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0594" y="1636776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BEBD3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5618" y="1709928"/>
            <a:ext cx="274320" cy="21397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9509" y="1752722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9509" y="1801935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9509" y="1851148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3" name="Shape 21"/>
          <p:cNvSpPr/>
          <p:nvPr/>
        </p:nvSpPr>
        <p:spPr>
          <a:xfrm>
            <a:off x="4255618" y="1951330"/>
            <a:ext cx="274320" cy="32918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12034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18A-P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012034" y="1975104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2026年6月 リスク生産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性能 最大+9%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" y="2572512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3D積層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Foveros Direct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1451" y="2636520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BEBD3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6475" y="2709672"/>
            <a:ext cx="274320" cy="21397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60366" y="2752466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0" name="Shape 28"/>
          <p:cNvSpPr/>
          <p:nvPr/>
        </p:nvSpPr>
        <p:spPr>
          <a:xfrm>
            <a:off x="4760366" y="2801679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1" name="Shape 29"/>
          <p:cNvSpPr/>
          <p:nvPr/>
        </p:nvSpPr>
        <p:spPr>
          <a:xfrm>
            <a:off x="4760366" y="2850892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2" name="Shape 30"/>
          <p:cNvSpPr/>
          <p:nvPr/>
        </p:nvSpPr>
        <p:spPr>
          <a:xfrm>
            <a:off x="4716475" y="2951074"/>
            <a:ext cx="274320" cy="32918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72891" y="26822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18A-PT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472891" y="2974848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試作中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3D積層の土台用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" y="3572256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次世代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High-NA EUV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24882" y="3636264"/>
            <a:ext cx="2691994" cy="871728"/>
          </a:xfrm>
          <a:prstGeom prst="roundRect">
            <a:avLst>
              <a:gd name="adj" fmla="val 7343"/>
            </a:avLst>
          </a:prstGeom>
          <a:solidFill>
            <a:srgbClr val="FBEBD3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1115" y="3709416"/>
            <a:ext cx="274320" cy="21397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95006" y="3752210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9" name="Shape 37"/>
          <p:cNvSpPr/>
          <p:nvPr/>
        </p:nvSpPr>
        <p:spPr>
          <a:xfrm>
            <a:off x="7595006" y="3801423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0" name="Shape 38"/>
          <p:cNvSpPr/>
          <p:nvPr/>
        </p:nvSpPr>
        <p:spPr>
          <a:xfrm>
            <a:off x="7595006" y="3850636"/>
            <a:ext cx="186538" cy="27816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1" name="Shape 39"/>
          <p:cNvSpPr/>
          <p:nvPr/>
        </p:nvSpPr>
        <p:spPr>
          <a:xfrm>
            <a:off x="7551115" y="3950818"/>
            <a:ext cx="274320" cy="32918"/>
          </a:xfrm>
          <a:prstGeom prst="rect">
            <a:avLst/>
          </a:prstGeom>
          <a:solidFill>
            <a:srgbClr val="F6D39B"/>
          </a:solidFill>
          <a:ln w="9525">
            <a:solidFill>
              <a:srgbClr val="C98A1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16322" y="3681984"/>
            <a:ext cx="21890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14A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16322" y="3974592"/>
            <a:ext cx="25091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2027年下期リスク生産→2028年量産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High-NA EUV・PowerDirect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33458" y="3636264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9924898" y="3681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10A・7A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924898" y="3974592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2030年代とみられる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開発着手を表明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18AでGAAと裏面電源（PowerVia）を同時に量産化した。14Aではソース・ドレインに直結するPowerDirectとHigh-NA EUVを導入する。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14Aは2026年7月に1年前倒しされたが、大口の外部顧客が取れなければ中断しうると開示している。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出典：Intel 10-Q・年次報告、Digital Trends（2026年7月）、Tom's Hardware、TrendForce、AnySilicon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SMIC：EUVなしで5nm級に迫るが、公式計画はない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1091672" cy="74980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072384"/>
            <a:ext cx="11091672" cy="749808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7802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659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2145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002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488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345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831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96882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51746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75009" y="1554480"/>
            <a:ext cx="0" cy="3035808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00689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Yu Gothic"/>
                <a:cs typeface="Arial" pitchFamily="34" charset="-120"/>
              </a:rPr>
              <a:t>現在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57276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5nm級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現行 N+3（解析で確認）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59736" y="1636776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827678" y="1759306"/>
            <a:ext cx="208483" cy="224942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09974" y="1709928"/>
            <a:ext cx="43891" cy="274320"/>
          </a:xfrm>
          <a:prstGeom prst="rect">
            <a:avLst/>
          </a:prstGeom>
          <a:solidFill>
            <a:srgbClr val="AEB6C2"/>
          </a:solidFill>
          <a:ln w="9525">
            <a:solidFill>
              <a:srgbClr val="7D8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51176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5nm級 稼働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197510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2026年（報道）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232257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3nm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Huawei設計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59736" y="2386584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794760" y="2459736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38651" y="2514600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38651" y="2577694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8" name="Shape 26"/>
          <p:cNvSpPr/>
          <p:nvPr/>
        </p:nvSpPr>
        <p:spPr>
          <a:xfrm>
            <a:off x="3838651" y="2640787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551176" y="243230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3nm 設計移管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551176" y="272491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2026年（報道）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3072384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露光装置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国産化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59736" y="3136392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51176" y="31821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国産DUV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551176" y="34747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2026年に約5台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03166" y="3136392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94606" y="31821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国産DUV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394606" y="34747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2027年に約20台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46597" y="3136392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238037" y="31821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国産EUV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238037" y="34747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2028年の生産が目標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33458" y="3136392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9924898" y="31821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国産EUV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924898" y="347472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現実的には2030年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21792" y="3822192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生産能力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7・5nm級（月産）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459736" y="3886200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551176" y="3931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2万枚未満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2551176" y="42245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2026年初め時点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03166" y="3886200"/>
            <a:ext cx="3613709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4394606" y="3931920"/>
            <a:ext cx="34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10万枚へ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4394606" y="4224528"/>
            <a:ext cx="34308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1〜2年で約5倍にする目標（日経）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833458" y="3886200"/>
            <a:ext cx="1700784" cy="621792"/>
          </a:xfrm>
          <a:prstGeom prst="roundRect">
            <a:avLst>
              <a:gd name="adj" fmla="val 10294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9924898" y="3931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+50万枚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924898" y="42245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2030年までに追加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公式ロードマップはなく、先端ノードは製品の解析で後から判明する（2020年から米国の輸出規制の対象）。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EUVなしのDUV多重露光で5nm級に達した。先を占うのは、ノード名より露光装置と生産能力である。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出典：TechInsights、朝鮮Biz、Mobile World Live、日経（TrendForce経由）、ロイター（Asia Times経由）、Tom's Hardware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Rapidus：2027年度に2nm量産、製造期間の短さで勝負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72768"/>
            <a:ext cx="11091672" cy="9997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572256"/>
            <a:ext cx="11091672" cy="99974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5" name="Shape 3"/>
          <p:cNvSpPr/>
          <p:nvPr/>
        </p:nvSpPr>
        <p:spPr>
          <a:xfrm>
            <a:off x="242316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7802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66590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21454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1002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6488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3451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8315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96882" y="1307592"/>
            <a:ext cx="0" cy="3264408"/>
          </a:xfrm>
          <a:prstGeom prst="line">
            <a:avLst/>
          </a:prstGeom>
          <a:noFill/>
          <a:ln w="9525">
            <a:solidFill>
              <a:srgbClr val="E1E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51746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2030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75009" y="1554480"/>
            <a:ext cx="0" cy="3035808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500689" y="1261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Yu Gothic"/>
                <a:cs typeface="Arial" pitchFamily="34" charset="-120"/>
              </a:rPr>
              <a:t>現在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572768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2nm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現行 試作ライン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2309" y="1636776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7333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21224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1" name="Shape 19"/>
          <p:cNvSpPr/>
          <p:nvPr/>
        </p:nvSpPr>
        <p:spPr>
          <a:xfrm>
            <a:off x="5221224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2" name="Shape 20"/>
          <p:cNvSpPr/>
          <p:nvPr/>
        </p:nvSpPr>
        <p:spPr>
          <a:xfrm>
            <a:off x="5221224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33749" y="1682496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顧客試作チップ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933749" y="1975104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2026年後半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顧客の設計で製造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85739" y="1636776"/>
            <a:ext cx="2231136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1115" y="1709928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5006" y="1764792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8" name="Shape 26"/>
          <p:cNvSpPr/>
          <p:nvPr/>
        </p:nvSpPr>
        <p:spPr>
          <a:xfrm>
            <a:off x="7595006" y="182788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29" name="Shape 27"/>
          <p:cNvSpPr/>
          <p:nvPr/>
        </p:nvSpPr>
        <p:spPr>
          <a:xfrm>
            <a:off x="7595006" y="1890979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77179" y="1682496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量産開始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777179" y="1975104"/>
            <a:ext cx="20482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2027年度下期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月6千枚→1年で約2.5万枚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2572512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1.4nm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報道ベース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459736" y="2636520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2551176" y="26822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開発着手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551176" y="2974848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2026年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03166" y="2636520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4394606" y="26822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工場着工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394606" y="2974848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2027年（北海道）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90027" y="2636520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E3ECF7"/>
          </a:solidFill>
          <a:ln w="15875">
            <a:solidFill>
              <a:srgbClr val="2F5D8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9325051" y="2709672"/>
            <a:ext cx="274320" cy="274320"/>
          </a:xfrm>
          <a:prstGeom prst="rect">
            <a:avLst/>
          </a:prstGeom>
          <a:solidFill>
            <a:srgbClr val="F2B38A"/>
          </a:solidFill>
          <a:ln w="9525">
            <a:solidFill>
              <a:srgbClr val="C868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68942" y="2764536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2" name="Shape 40"/>
          <p:cNvSpPr/>
          <p:nvPr/>
        </p:nvSpPr>
        <p:spPr>
          <a:xfrm>
            <a:off x="9368942" y="2827630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3" name="Shape 41"/>
          <p:cNvSpPr/>
          <p:nvPr/>
        </p:nvSpPr>
        <p:spPr>
          <a:xfrm>
            <a:off x="9368942" y="2890723"/>
            <a:ext cx="186538" cy="35662"/>
          </a:xfrm>
          <a:prstGeom prst="rect">
            <a:avLst/>
          </a:prstGeom>
          <a:solidFill>
            <a:srgbClr val="AEB6C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81467" y="26822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1.4nm 量産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081467" y="2974848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2029年頃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21792" y="3572256"/>
            <a:ext cx="169164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1nm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目標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833458" y="3636264"/>
            <a:ext cx="1700784" cy="871728"/>
          </a:xfrm>
          <a:prstGeom prst="roundRect">
            <a:avLst>
              <a:gd name="adj" fmla="val 7343"/>
            </a:avLst>
          </a:prstGeom>
          <a:solidFill>
            <a:srgbClr val="F1F2F4"/>
          </a:solidFill>
          <a:ln w="15875">
            <a:solidFill>
              <a:srgbClr val="8C96A3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9924898" y="3681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430"/>
                </a:solidFill>
                <a:latin typeface="Arial" pitchFamily="34" charset="0"/>
                <a:ea typeface="Yu Gothic"/>
                <a:cs typeface="Arial" pitchFamily="34" charset="-120"/>
              </a:rPr>
              <a:t>1nm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924898" y="3974592"/>
            <a:ext cx="15179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TSMCとの差を半年へ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時期は未定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千歳の1拠点に前工程と後工程をまとめ、製造期間（TAT）の短さで差別化を狙う。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A4452"/>
                </a:solidFill>
                <a:latin typeface="Arial" pitchFamily="34" charset="0"/>
                <a:ea typeface="Yu Gothic"/>
                <a:cs typeface="Arial" pitchFamily="34" charset="-120"/>
              </a:rPr>
              <a:t>2nm量産はTSMC（2025年Q4）の約2年後で、初期の規模は小さい。総投資は7兆円超とされ、1.4nm以降は資金確保が前提となる。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55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出典：Rapidus、Tom's Hardware（2026年2月・7月）、TrendForce（2026年3月）、DIGITIMES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18311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380"/>
                </a:solidFill>
                <a:latin typeface="Arial" pitchFamily="34" charset="0"/>
                <a:ea typeface="Yu Gothic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先端ロジック半導体：各社の今後のノード</dc:title>
  <dc:subject>PptxGenJS Presentation</dc:subject>
  <dc:creator>PptxGenJS</dc:creator>
  <cp:lastModifiedBy>PptxGenJS</cp:lastModifiedBy>
  <cp:revision>1</cp:revision>
  <dcterms:created xsi:type="dcterms:W3CDTF">2026-09-24T07:41:42Z</dcterms:created>
  <dcterms:modified xsi:type="dcterms:W3CDTF">2026-09-24T07:41:42Z</dcterms:modified>
</cp:coreProperties>
</file>