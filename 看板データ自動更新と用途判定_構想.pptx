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建築計画お知らせ看板の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データ自動更新と用途判定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物件番号を起点に、URL生成・データ更新・企業別の抽出・AIによる用途分類までを一連の流れで自動化する構想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対象例：大和ハウス工業（1925）・積水ハウス（1928）　｜　2026年9月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2926080"/>
            <a:ext cx="109728" cy="1600200"/>
          </a:xfrm>
          <a:prstGeom prst="rect">
            <a:avLst/>
          </a:prstGeom>
          <a:solidFill>
            <a:srgbClr val="8A99A6"/>
          </a:solidFill>
          <a:ln w="12700">
            <a:solidFill>
              <a:srgbClr val="8A99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926080"/>
            <a:ext cx="109728" cy="1600200"/>
          </a:xfrm>
          <a:prstGeom prst="rect">
            <a:avLst/>
          </a:prstGeom>
          <a:solidFill>
            <a:srgbClr val="8A99A6"/>
          </a:solidFill>
          <a:ln w="12700">
            <a:solidFill>
              <a:srgbClr val="8A99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8686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0" y="9875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建築計画のお知らせ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813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66560" y="1527048"/>
            <a:ext cx="1600200" cy="109728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8013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施工者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1847088"/>
            <a:ext cx="1280160" cy="109728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1214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完成予定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2167128"/>
            <a:ext cx="960120" cy="109728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4871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10098869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82128" y="2606040"/>
            <a:ext cx="749808" cy="749808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2082" y="2785994"/>
            <a:ext cx="389900" cy="38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現状の課題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3,518件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18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大和ハウスの検索結果（重複除外）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671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521件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竣工予定の候補として抽出した件数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82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B2E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204件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9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用途（分譲・賃貸など）が未判定の件数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件数は大和ハウス版の一次収集ファイルより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69080" y="1097280"/>
            <a:ext cx="566928" cy="566928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5143" y="1233343"/>
            <a:ext cx="294803" cy="29480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46320" y="1078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検索と転記が手作業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4447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エリア・役割ごとに検索し、詳細ページを1件ずつ開いて転記している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69080" y="2212848"/>
            <a:ext cx="566928" cy="566928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143" y="2348911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46320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掲載値が更新される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84632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施工者の決定や工期の変更で値が変わる。検索エンジンの抜粋値は13件中6件が古かった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069080" y="3328416"/>
            <a:ext cx="566928" cy="566928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143" y="3464479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46320" y="3310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用途の区分が粗い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3675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主要用途は「共同住宅」までで、分譲か賃貸かが分からない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822960" cy="822960"/>
          </a:xfrm>
          <a:prstGeom prst="ellipse">
            <a:avLst/>
          </a:prstGeom>
          <a:solidFill>
            <a:srgbClr val="5B6770"/>
          </a:solidFill>
          <a:ln w="6350">
            <a:solidFill>
              <a:srgbClr val="5B677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294790"/>
            <a:ext cx="427939" cy="4279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37360" y="1508760"/>
            <a:ext cx="667512" cy="0"/>
          </a:xfrm>
          <a:prstGeom prst="line">
            <a:avLst/>
          </a:prstGeom>
          <a:noFill/>
          <a:ln w="19050">
            <a:solidFill>
              <a:srgbClr val="B8C4CE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物件番号を用意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4632" y="26974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企業別の検索結果から物件番号を一覧にする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96312" y="1097280"/>
            <a:ext cx="822960" cy="82296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822" y="1294790"/>
            <a:ext cx="427939" cy="42793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1508760"/>
            <a:ext cx="658368" cy="0"/>
          </a:xfrm>
          <a:prstGeom prst="line">
            <a:avLst/>
          </a:prstGeom>
          <a:noFill/>
          <a:ln w="19050">
            <a:solidFill>
              <a:srgbClr val="B8C4CE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130552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130552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URLを生成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157984" y="26974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物件番号と都道府県から詳細ページのURLを作る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60520" y="1097280"/>
            <a:ext cx="822960" cy="82296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030" y="1294790"/>
            <a:ext cx="427939" cy="42793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074920" y="1508760"/>
            <a:ext cx="658368" cy="0"/>
          </a:xfrm>
          <a:prstGeom prst="line">
            <a:avLst/>
          </a:prstGeom>
          <a:noFill/>
          <a:ln w="19050">
            <a:solidFill>
              <a:srgbClr val="B8C4CE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37947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データを更新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822192" y="26974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VBAでページを取得し、変わったセルを更新する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824728" y="1097280"/>
            <a:ext cx="822960" cy="82296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1294790"/>
            <a:ext cx="427939" cy="42793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739128" y="1508760"/>
            <a:ext cx="667512" cy="0"/>
          </a:xfrm>
          <a:prstGeom prst="line">
            <a:avLst/>
          </a:prstGeom>
          <a:noFill/>
          <a:ln w="19050">
            <a:solidFill>
              <a:srgbClr val="B8C4CE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5458968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458968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企業別に抽出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0" y="26974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建築主・施工者に指定企業を含む案件を別タブへ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498080" y="1097280"/>
            <a:ext cx="822960" cy="822960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590" y="1294790"/>
            <a:ext cx="427939" cy="427939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13232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132320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用途を細分類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159752" y="26974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ルールとAIで分譲・賃貸・オフィスなどに分ける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84632" y="376732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57200" y="3767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手作業（サイト検索）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2157984" y="3767328"/>
            <a:ext cx="4828032" cy="365760"/>
          </a:xfrm>
          <a:prstGeom prst="roundRect">
            <a:avLst>
              <a:gd name="adj" fmla="val 50000"/>
            </a:avLst>
          </a:prstGeom>
          <a:solidFill>
            <a:srgbClr val="DCE6EE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2130552" y="37673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Excel関数・VBA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7159752" y="3767328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132320" y="3767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AI（LLM）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出力：企業別のタブ（例：大和ハウス_1925、積水ハウス_1928）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2　URLを生成する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https://www.kensetsu-databank.co.jp/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固定部分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1143000" cy="475488"/>
          </a:xfrm>
          <a:prstGeom prst="roundRect">
            <a:avLst>
              <a:gd name="adj" fmla="val 9615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0515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tokai/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727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都道府県で決まる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0515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osirase/detail.php?id=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5727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固定部分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051560"/>
            <a:ext cx="1737360" cy="475488"/>
          </a:xfrm>
          <a:prstGeom prst="roundRect">
            <a:avLst>
              <a:gd name="adj" fmla="val 9615"/>
            </a:avLst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0515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10098579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A列の物件番号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212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317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検索区分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都道府県（C列）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地域パス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首都圏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東京・神奈川・千葉・埼玉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770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なし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中部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愛知・新潟・静岡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5F0B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tokai/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関西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大阪・京都・兵庫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5F0B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kansai/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北海道九州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北海道・福岡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5F0B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hokkaido-kyushu/</a:t>
                      </a:r>
                      <a:endParaRPr lang="en-US" sz="12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E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521 / 521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既存ファイルのURLと、Excel関数で作ったURLが全件一致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3375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44768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スマホ版は地域パスが不要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https://kdb.tokyo/detail.php?id=物件番号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434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対応表にない都道府県は「要確認」を返す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3　VBAで物件データを更新する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42416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04241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開始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00200" y="10058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55064" y="10058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物件番号を読む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9829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00984" y="9829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URLを作り、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ページを取得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845820"/>
            <a:ext cx="1371600" cy="777240"/>
          </a:xfrm>
          <a:prstGeom prst="diamond">
            <a:avLst/>
          </a:prstGeom>
          <a:solidFill>
            <a:srgbClr val="FBEFD9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8458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取得できた？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90525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9052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項目を抽出（事業主・施工者・完成日など）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83480" y="22631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6E4E1"/>
          </a:solidFill>
          <a:ln w="9525">
            <a:solidFill>
              <a:srgbClr val="F6E4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38344" y="22631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エラーをログに記録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9440" y="2080260"/>
            <a:ext cx="1371600" cy="777240"/>
          </a:xfrm>
          <a:prstGeom prst="diamond">
            <a:avLst/>
          </a:prstGeom>
          <a:solidFill>
            <a:srgbClr val="FBEFD9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0802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既存値と違う？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33832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04304" y="3383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セルを更新し、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変更履歴を記録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3832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55264" y="33832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数秒待機し、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取得日を記録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00200" y="345186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55064" y="345186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次の行へ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346557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終了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88720" y="123444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80360" y="1234440"/>
            <a:ext cx="36576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1234440"/>
            <a:ext cx="36576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55080" y="1234440"/>
            <a:ext cx="59436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419088" y="960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はい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623060"/>
            <a:ext cx="0" cy="64008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742432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473A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いいえ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35240" y="1563624"/>
            <a:ext cx="0" cy="51663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635240" y="2857500"/>
            <a:ext cx="0" cy="52578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708392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はい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flipH="1">
            <a:off x="6675120" y="2468880"/>
            <a:ext cx="27432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2468880"/>
            <a:ext cx="0" cy="118872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766560" y="2926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473A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いいえ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H="1">
            <a:off x="4663440" y="3657600"/>
            <a:ext cx="228600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3931920" y="2468880"/>
            <a:ext cx="105156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31920" y="2468880"/>
            <a:ext cx="0" cy="91440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880360" y="3657600"/>
            <a:ext cx="32004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2240280" y="1463040"/>
            <a:ext cx="0" cy="198882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2313432" y="2377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くり返す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flipH="1">
            <a:off x="1188720" y="365760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1225296" y="33832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完了</a:t>
            </a:r>
            <a:endParaRPr lang="en-US" sz="9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15968"/>
            <a:ext cx="237744" cy="237744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786384" y="4279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取得：MSXML2.ServerXMLHTTPでHTMLを取得</a:t>
            </a:r>
            <a:endParaRPr lang="en-US" sz="105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4315968"/>
            <a:ext cx="237744" cy="237744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3575304" y="4279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解析：詳細表の「項目名→値」を辞書に格納</a:t>
            </a:r>
            <a:endParaRPr lang="en-US" sz="105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315968"/>
            <a:ext cx="237744" cy="237744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6364224" y="4279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間隔：1件ごとに数秒あけ、失敗はログに残す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4　指定企業の案件を別タブへ抽出する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829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8298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更新済みの物件データ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636776"/>
            <a:ext cx="2651760" cy="896112"/>
          </a:xfrm>
          <a:prstGeom prst="diamond">
            <a:avLst/>
          </a:prstGeom>
          <a:solidFill>
            <a:srgbClr val="FBEFD9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3677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建築主・施工者に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指定企業を含む？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52344"/>
            <a:ext cx="2651760" cy="896112"/>
          </a:xfrm>
          <a:prstGeom prst="diamond">
            <a:avLst/>
          </a:prstGeom>
          <a:solidFill>
            <a:srgbClr val="FBEFD9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52344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竣工予定日が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基準日以降？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968496"/>
            <a:ext cx="2194560" cy="512064"/>
          </a:xfrm>
          <a:prstGeom prst="roundRect">
            <a:avLst>
              <a:gd name="adj" fmla="val 10714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96849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企業別タブへ追記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（役割も記録）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89280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189280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11880" y="294436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66744" y="2944368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竣工済み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リストへ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394460"/>
            <a:ext cx="0" cy="24231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28800" y="2532888"/>
            <a:ext cx="0" cy="21945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901952" y="2505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はい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3648456"/>
            <a:ext cx="0" cy="32004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01952" y="3657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はい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084832"/>
            <a:ext cx="45720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172968" y="18288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473A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いいえ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3200400"/>
            <a:ext cx="45720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172968" y="2944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473A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いいえ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キーワード表（例）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1234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企業（コード）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照合キーワード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B5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出力タブ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7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大和ハウス工業（1925）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大和ハウス工業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大和ハウス_1925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積水ハウス（1928）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積水ハウス株式会社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ＭＳ Ｐゴシック" pitchFamily="50" charset="-128"/>
                          <a:cs typeface="Arial" pitchFamily="34" charset="-120"/>
                        </a:rPr>
                        <a:t>積水ハウス_1928</a:t>
                      </a:r>
                      <a:endParaRPr lang="en-US" sz="1050" dirty="0"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8463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照合のポイント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全角・半角や「株式会社」の重複をそろえてから照合する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支店・事業部名を含む表記も一致とみなす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グループ会社だけの案件は、設定で含める・除外を切り替える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STEP 5　用途を細分類する：判定の手がかり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88720"/>
            <a:ext cx="457200" cy="457200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07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ブランド名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7556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プレミスト・グランドメゾンは分譲、ロイジェント・シャーメゾン・D‑ROOMは賃貸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241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188720"/>
            <a:ext cx="457200" cy="45720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98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207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事業者の部署名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7556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「マンション事業部」は分譲、「シャーメゾン支店」など賃貸住宅の部署は賃貸の手がかり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0241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188720"/>
            <a:ext cx="457200" cy="45720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84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07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建築主の属性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7556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非掲載や「＊様邸」は個人オーナーの賃貸住宅、投資法人・合同会社は賃貸の可能性が高い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072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2971800"/>
            <a:ext cx="457200" cy="45720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815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29900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備考の表記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5387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「共同住宅(分譲)」「(賃貸)」の表記や、【販売名】が入る場合がある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91840" y="28072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2971800"/>
            <a:ext cx="457200" cy="45720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8152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29900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規模・構造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5387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3階以下・延床1,000㎡未満の鉄骨造は賃貸アパートの傾向。これだけでは決めない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26480" y="28072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2971800"/>
            <a:ext cx="457200" cy="45720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8152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9900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公開情報との照合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5387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物件名・住所で公式の分譲サイトや入居者募集を検索し、裏付けを取る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AI判定の仕組み：ルール → AI → 人の3段階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24128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25296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345997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097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ルール判定（辞書）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081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ブランド名・部署名・備考の表記で決まる行を先に確定する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920240"/>
            <a:ext cx="0" cy="21945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31520" y="2139696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40864"/>
            <a:ext cx="502920" cy="502920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461565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2128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AI判定（LLM）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52374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件名・備考・事業主・設計者・施工者・規模を渡し、分類・確信度・根拠を返させる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51760" y="3035808"/>
            <a:ext cx="0" cy="21945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1520" y="3255264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456432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57713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328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人の確認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363931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確信度が低い行だけを確認し、結果を辞書に追加する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 flipH="1">
            <a:off x="502920" y="3703320"/>
            <a:ext cx="228600" cy="0"/>
          </a:xfrm>
          <a:prstGeom prst="line">
            <a:avLst/>
          </a:prstGeom>
          <a:noFill/>
          <a:ln w="15875">
            <a:solidFill>
              <a:srgbClr val="E39B2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flipV="1">
            <a:off x="502920" y="1463040"/>
            <a:ext cx="0" cy="2240280"/>
          </a:xfrm>
          <a:prstGeom prst="line">
            <a:avLst/>
          </a:prstGeom>
          <a:noFill/>
          <a:ln w="15875">
            <a:solidFill>
              <a:srgbClr val="E39B2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" y="1463040"/>
            <a:ext cx="228600" cy="0"/>
          </a:xfrm>
          <a:prstGeom prst="line">
            <a:avLst/>
          </a:prstGeom>
          <a:noFill/>
          <a:ln w="15875">
            <a:solidFill>
              <a:srgbClr val="E39B2E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73152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確認結果は辞書に反映し、次回からルールで判定する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983480" y="1024128"/>
            <a:ext cx="3703320" cy="2103120"/>
          </a:xfrm>
          <a:prstGeom prst="roundRect">
            <a:avLst>
              <a:gd name="adj" fmla="val 260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138928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AIの出力例（JSON）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5138928" y="141732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"物件番号": "10098869",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"用途": "賃貸住宅",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"確信度": 0.92,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"根拠": ["件名にロイジェント",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    "事業主が大和ハウス工業"]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}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4983480" y="33101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確信度による振り分け（例）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029200" y="3776472"/>
            <a:ext cx="146304" cy="14630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30352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0.8以上：自動で採用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029200" y="4105656"/>
            <a:ext cx="146304" cy="146304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03520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0.5〜0.8：要確認リストへ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029200" y="4434840"/>
            <a:ext cx="146304" cy="146304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0" y="4361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0.5未満：人が判定する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AI判定の精度を先に確かめる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174件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用途を判定済みの案件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テスト用の正解データに使う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463040"/>
            <a:ext cx="914400" cy="0"/>
          </a:xfrm>
          <a:prstGeom prst="line">
            <a:avLst/>
          </a:prstGeom>
          <a:noFill/>
          <a:ln w="38100">
            <a:solidFill>
              <a:srgbClr val="E39B2E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120640" y="1005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9B2E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204件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83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用途が未判定の案件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正答率を確認してから適用する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880360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6499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判定済みの174件で、AIの正答率を測る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880360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56432" y="336499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誤りの傾向を、辞書と指示文に反映する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2880360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336499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未判定の204件に適用し、確信度が低い行を人が確認する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件数は大和ハウス版（竣工予定日ありの378件）の内訳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運用上の注意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0700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2770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435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アクセス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9222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PC版は自動取得を拒否する場合がある。スマホ版の詳細ページ（地域パス不要）を代わりに使えるが、検索は手作業になる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02412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20700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32770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435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利用規約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79222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運営会社は掲載情報の無断の複製・転載・営利目的の利用を禁止している。業務利用や社外共有の前に確認する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76148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065069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98094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情報の鮮度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2958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施工者の決定や工期の変更で値が変わる。計画変更で旧計画の完成日が残る例もある（グランドメゾン千種ザ・タワー）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09160" y="2761488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2944368"/>
            <a:ext cx="502920" cy="502920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065069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98094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AI判定の扱い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52958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判定は推定であり、根拠と確信度を必ず残す。最終判断は人が行う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6070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物件番号と都道府県からURLを作り、VBAで詳細データを定期的に更新する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92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建築主・施工者に指定企業を含む案件を、企業別のタブへ自動で振り分ける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2374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用途はルール → AI → 人の3段階で細分類し、根拠と確信度を残す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今後の進め方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2697480" cy="658368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VBAの試作（URL生成・取得・更新）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18688" y="3858768"/>
            <a:ext cx="2697480" cy="658368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キーワード辞書の整備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0176" y="3858768"/>
            <a:ext cx="2697480" cy="658368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174件でAI判定を検証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付録　URL生成とデータ取得のコード例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148840"/>
          </a:xfrm>
          <a:prstGeom prst="roundRect">
            <a:avLst>
              <a:gd name="adj" fmla="val 212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332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VBA：物件番号と都道府県からURLを作る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44168"/>
            <a:ext cx="7955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Function KdbUrl(ByVal id As String, ByVal pref As String) As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Dim p As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Select Case pref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Case "東京都", "神奈川県", "千葉県", "埼玉県": p = 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Case "愛知県", "新潟県", "静岡県": p = "tokai/"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Case "大阪府", "京都府", "兵庫県": p = "kansai/"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Case "北海道", "福岡県": p = "hokkaido-kyushu/"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    Case Else: KdbUrl = "要確認": Exit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End 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    KdbUrl = "https://www.kensetsu-databank.co.jp/" &amp; p &amp; "osirase/detail.php?id=" &amp;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End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3192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VBA：ページを取得する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3016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Set http = CreateObject("MSXML2.ServerXMLHTTP.6.0")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http.Open "GET", KdbUrl(id, pref),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http.send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If http.Status = 200 Then html = http.responseText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Application.Wait Now + TimeValue("0:00:03")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66360" y="324612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3319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Excel関数版（ファイルに実装済み）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363016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検索区分：INDEXとMATCHで都道府県を区分に変換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リンク：HYPERLINKで固定部分・地域パス・物件番号を連結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対応表にない都道府県は「要確認」を返す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ＭＳ Ｐゴシック"/>
        <a:cs typeface=""/>
        <a:font script="Jpan" typeface="ＭＳ Ｐ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ＭＳ Ｐゴシック"/>
        <a:cs typeface=""/>
        <a:font script="Jpan" typeface="ＭＳ Ｐ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建築計画お知らせ看板データの自動更新と用途判定</dc:title>
  <dc:subject>PptxGenJS Presentation</dc:subject>
  <dc:creator>PptxGenJS</dc:creator>
  <cp:lastModifiedBy>PptxGenJS</cp:lastModifiedBy>
  <cp:revision>1</cp:revision>
  <dcterms:created xsi:type="dcterms:W3CDTF">2026-09-16T05:20:40Z</dcterms:created>
  <dcterms:modified xsi:type="dcterms:W3CDTF">2026-09-16T05:20:40Z</dcterms:modified>
</cp:coreProperties>
</file>