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6b6b21d9e844dc" /><Relationship Type="http://schemas.openxmlformats.org/officeDocument/2006/relationships/extended-properties" Target="/docProps/app.xml" Id="Rb1166483e5ec4eeb" /><Relationship Type="http://schemas.openxmlformats.org/officeDocument/2006/relationships/officeDocument" Target="/ppt/presentation.xml" Id="R1957638dedfd49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94725a8bba49ec"/>
  </p:sldMasterIdLst>
  <p:notesMasterIdLst>
    <p:notesMasterId xmlns:r="http://schemas.openxmlformats.org/officeDocument/2006/relationships" r:id="R4e4d6111a2be4701"/>
  </p:notesMasterIdLst>
  <p:sldIdLst>
    <p:sldId xmlns:r="http://schemas.openxmlformats.org/officeDocument/2006/relationships" id="256" r:id="R1252f6c1349c45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69e43ffc49453a" /><Relationship Type="http://schemas.openxmlformats.org/officeDocument/2006/relationships/slideMaster" Target="/ppt/slideMasters/slideMaster1.xml" Id="R9994725a8bba49ec" /><Relationship Type="http://schemas.openxmlformats.org/officeDocument/2006/relationships/notesMaster" Target="/ppt/notesMasters/notesMaster1.xml" Id="R4e4d6111a2be4701" /><Relationship Type="http://schemas.openxmlformats.org/officeDocument/2006/relationships/presProps" Target="/ppt/presProps.xml" Id="R95629daf163d42d1" /><Relationship Type="http://schemas.openxmlformats.org/officeDocument/2006/relationships/tableStyles" Target="/ppt/tableStyles.xml" Id="R80d95a9f52a34da5" /><Relationship Type="http://schemas.openxmlformats.org/officeDocument/2006/relationships/slide" Target="/ppt/slides/slide1.xml" Id="R1252f6c1349c45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b379f5ce7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c9751f3fb04082" /><Relationship Type="http://schemas.openxmlformats.org/officeDocument/2006/relationships/notesMaster" Target="/ppt/notesMasters/notesMaster1.xml" Id="Ra7289dfe7d144f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提案の内容：CopilotによるPDFからの情報抽出と、WindowsのBATによる既存Excelへの転記を組み合わせる。JREIT_Run_Save.batの設計を例として説明する。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BATはWindows標準PowerShellを内部で呼び出す。別の.ps1、Python、Power Automateは不要。利用可能なCopilotと、Windowsデスクトップ版Excel、ローカルのOneDrive同期パスが必要。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この例は半自動の処理であり、PDFを置くだけで処理するものではない。対象資料の指定、依頼、回答のコピー、入力後の原資料との確認は利用者が行う。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転記では1行目の見出しを照合し、新規レコードを開示日時順で2行目から挿入する。元の行は下へ移動する。NOI利回りは年間NOIを取得価格で除したセル参照式とし、双方を同じ通貨単位にそろえる。未開示または取得価格ゼロは空欄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文字化け対策はBATのASCII化、日本語のUnicodeエスケープからの復元、コンソールのUTF-8入出力設定。Excelの値やCopilotのクリップボード文字列はUnicodeで扱う。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応用案は別途調整を要する提案であり、決算資料や議事録に対応済みという意味ではない。処理時間やエラー削減率はまだ実測していない。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参考：Microsoft Support「Use data from the web and internal sources with Copilot in Excel」 https://support.microsoft.com/en-us/excel/copilot/import-data-from-the-web-and-internal-sources-with-copilot-in-excel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参考：Microsoft Learn「Range.Insert」 https://learn.microsoft.com/en-us/office/vba/api/excel.range.insert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参考：Microsoft Learn「Range.FormulaR1C1」 https://learn.microsoft.com/en-us/office/vba/api/excel.range.formular1c1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参考：Microsoft Learn「chcp」 https://learn.microsoft.com/en-us/windows-server/administration/windows-commands/chcp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参考：Microsoft Learn「Console.OutputEncoding」 https://learn.microsoft.com/en-us/dotnet/api/system.console.outputencoding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a563d5593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1125b4d5dd4917" /><Relationship Type="http://schemas.openxmlformats.org/officeDocument/2006/relationships/slideLayout" Target="/ppt/slideLayouts/slideLayout1.xml" Id="R26affa96500c40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affa96500c40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107500c294a69" /><Relationship Type="http://schemas.openxmlformats.org/officeDocument/2006/relationships/notesSlide" Target="/ppt/notesSlides/notesSlide1.xml" Id="Re3c70a6e68994d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itle">
            <a:extLst xmlns:a="http://schemas.openxmlformats.org/drawingml/2006/main">
              <a:ext uri="{FF2B5EF4-FFF2-40B4-BE49-F238E27FC236}">
                <a16:creationId xmlns:a16="http://schemas.microsoft.com/office/drawing/2014/main" id="{3DBB92DB-E77D-4E2A-8AE6-AA53C79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9550"/>
            <a:ext cx="11468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2400" b="1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Copilot</a:t>
            </a:r>
            <a:r>
              <a:rPr sz="2400" b="1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とコマンドプロンプトを使った業務改善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5A9EBC-83DA-4F14-945D-9028C63F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048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defRPr>
            </a:pP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J-REIT</a:t>
            </a: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の情報整理を例に、</a:t>
            </a: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AI</a:t>
            </a: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の抽出結果を</a:t>
            </a: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BAT</a:t>
            </a: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（操作をまとめた実行ファイル）で既存</a:t>
            </a: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Excel</a:t>
            </a:r>
            <a:r>
              <a:rPr sz="135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へ反映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AA8E274-D33B-42FC-8BB1-6C8CBE9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35980"/>
            </a:solidFill>
            <a:prstDash val="solid"/>
          </a:ln>
        </p:spPr>
      </p:sp>
      <p:sp>
        <p:nvSpPr>
          <p:cNvPr id="4" name="flow-heading">
            <a:extLst xmlns:a="http://schemas.openxmlformats.org/drawingml/2006/main">
              <a:ext uri="{FF2B5EF4-FFF2-40B4-BE49-F238E27FC236}">
                <a16:creationId xmlns:a16="http://schemas.microsoft.com/office/drawing/2014/main" id="{5CB937FD-96DC-484D-B4C7-DBB56668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9200"/>
            <a:ext cx="4371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575" b="1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処理フロー</a:t>
            </a:r>
          </a:p>
        </p:txBody>
      </p:sp>
      <p:sp>
        <p:nvSpPr>
          <p:cNvPr id="5" name="comparison-heading">
            <a:extLst xmlns:a="http://schemas.openxmlformats.org/drawingml/2006/main">
              <a:ext uri="{FF2B5EF4-FFF2-40B4-BE49-F238E27FC236}">
                <a16:creationId xmlns:a16="http://schemas.microsoft.com/office/drawing/2014/main" id="{4D42EC46-E244-4B82-9752-B939708C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19200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575" b="1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変更する操作と改善効果</a:t>
            </a:r>
          </a:p>
        </p:txBody>
      </p:sp>
      <p:sp>
        <p:nvSpPr>
          <p:cNvPr id="6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774480C5-B1CE-49C3-95C3-FCBE98C6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57300"/>
            <a:ext cx="0" cy="494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BE1"/>
            </a:solidFill>
            <a:prstDash val="solid"/>
          </a:ln>
        </p:spPr>
      </p:sp>
      <p:sp>
        <p:nvSpPr>
          <p:cNvPr id="7" name="human-pdf">
            <a:extLst xmlns:a="http://schemas.openxmlformats.org/drawingml/2006/main">
              <a:ext uri="{FF2B5EF4-FFF2-40B4-BE49-F238E27FC236}">
                <a16:creationId xmlns:a16="http://schemas.microsoft.com/office/drawing/2014/main" id="{0085F652-010C-408C-86A3-7802D90B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2933700" cy="5429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383">
            <a:solidFill>
              <a:srgbClr val="98A7B3"/>
            </a:solidFill>
            <a:prstDash val="solid"/>
          </a:ln>
        </p:spPr>
        <p:txBody>
          <a:bodyPr xmlns:a="http://schemas.openxmlformats.org/drawingml/2006/main" wrap="none" lIns="171450" tIns="19050" rIns="1714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対象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PDF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を指定して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Copilot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へ依頼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OneDrive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内の資料を選択</a:t>
            </a:r>
          </a:p>
        </p:txBody>
      </p:sp>
      <p:sp>
        <p:nvSpPr>
          <p:cNvPr id="8" name="ai-extract">
            <a:extLst xmlns:a="http://schemas.openxmlformats.org/drawingml/2006/main">
              <a:ext uri="{FF2B5EF4-FFF2-40B4-BE49-F238E27FC236}">
                <a16:creationId xmlns:a16="http://schemas.microsoft.com/office/drawing/2014/main" id="{B45A036D-C9D0-4A2F-87D3-B6DAC62D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2933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1"/>
          </a:solidFill>
          <a:ln xmlns:a="http://schemas.openxmlformats.org/drawingml/2006/main" w="12383">
            <a:solidFill>
              <a:srgbClr val="15766C"/>
            </a:solidFill>
            <a:prstDash val="solid"/>
          </a:ln>
        </p:spPr>
        <p:txBody>
          <a:bodyPr xmlns:a="http://schemas.openxmlformats.org/drawingml/2006/main" wrap="non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Copilot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が必要な項目を抽出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見出しをキーに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JSON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で回答</a:t>
            </a:r>
          </a:p>
        </p:txBody>
      </p:sp>
      <p:sp>
        <p:nvSpPr>
          <p:cNvPr id="9" name="human-copy">
            <a:extLst xmlns:a="http://schemas.openxmlformats.org/drawingml/2006/main">
              <a:ext uri="{FF2B5EF4-FFF2-40B4-BE49-F238E27FC236}">
                <a16:creationId xmlns:a16="http://schemas.microsoft.com/office/drawing/2014/main" id="{992D1E41-0897-4CCB-9B60-09275670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933700" cy="6000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383">
            <a:solidFill>
              <a:srgbClr val="98A7B3"/>
            </a:solidFill>
            <a:prstDash val="solid"/>
          </a:ln>
        </p:spPr>
        <p:txBody>
          <a:bodyPr xmlns:a="http://schemas.openxmlformats.org/drawingml/2006/main" wrap="none" lIns="171450" tIns="19050" rIns="1714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回答をコピーし、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BAT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を起動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Excel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のパス・単位・シートを指定</a:t>
            </a:r>
          </a:p>
        </p:txBody>
      </p:sp>
      <p:sp>
        <p:nvSpPr>
          <p:cNvPr id="10" name="validation">
            <a:extLst xmlns:a="http://schemas.openxmlformats.org/drawingml/2006/main">
              <a:ext uri="{FF2B5EF4-FFF2-40B4-BE49-F238E27FC236}">
                <a16:creationId xmlns:a16="http://schemas.microsoft.com/office/drawing/2014/main" id="{32E8ACA5-8ADF-4D65-8613-D12284F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52850"/>
            <a:ext cx="188595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35980"/>
            </a:solidFill>
            <a:prstDash val="solid"/>
          </a:ln>
        </p:spPr>
        <p:txBody>
          <a:bodyPr xmlns:a="http://schemas.openxmlformats.org/drawingml/2006/main" wrap="none" lIns="190500" tIns="19050" rIns="1905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形式・見出し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が一致するか</a:t>
            </a:r>
          </a:p>
        </p:txBody>
      </p:sp>
      <p:sp>
        <p:nvSpPr>
          <p:cNvPr id="11" name="retry">
            <a:extLst xmlns:a="http://schemas.openxmlformats.org/drawingml/2006/main">
              <a:ext uri="{FF2B5EF4-FFF2-40B4-BE49-F238E27FC236}">
                <a16:creationId xmlns:a16="http://schemas.microsoft.com/office/drawing/2014/main" id="{66B938F5-AD8B-4204-A43E-F045490D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95725"/>
            <a:ext cx="10572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4"/>
          </a:solidFill>
          <a:ln xmlns:a="http://schemas.openxmlformats.org/drawingml/2006/main" w="12383">
            <a:solidFill>
              <a:srgbClr val="B86B66"/>
            </a:solidFill>
            <a:prstDash val="solid"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9F3D3D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9F3D3D"/>
                </a:solidFill>
                <a:latin typeface="MS Gothic"/>
                <a:ea typeface="MS Gothic"/>
                <a:cs typeface="MS Gothic"/>
              </a:rPr>
              <a:t>入力を修正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9F3D3D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9F3D3D"/>
                </a:solidFill>
                <a:latin typeface="MS Gothic"/>
                <a:ea typeface="MS Gothic"/>
                <a:cs typeface="MS Gothic"/>
              </a:rPr>
              <a:t>して再実行</a:t>
            </a:r>
          </a:p>
        </p:txBody>
      </p:sp>
      <p:sp>
        <p:nvSpPr>
          <p:cNvPr id="12" name="excel-insert">
            <a:extLst xmlns:a="http://schemas.openxmlformats.org/drawingml/2006/main">
              <a:ext uri="{FF2B5EF4-FFF2-40B4-BE49-F238E27FC236}">
                <a16:creationId xmlns:a16="http://schemas.microsoft.com/office/drawing/2014/main" id="{B2ACCA82-DDC1-4584-9EA8-9DB0732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933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2383">
            <a:solidFill>
              <a:srgbClr val="235980"/>
            </a:solidFill>
            <a:prstDash val="solid"/>
          </a:ln>
        </p:spPr>
        <p:txBody>
          <a:bodyPr xmlns:a="http://schemas.openxmlformats.org/drawingml/2006/main" wrap="non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バックアップ後、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2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行目から挿入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単位換算・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NOI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利回り式を設定</a:t>
            </a:r>
          </a:p>
        </p:txBody>
      </p:sp>
      <p:sp>
        <p:nvSpPr>
          <p:cNvPr id="13" name="excel-save">
            <a:extLst xmlns:a="http://schemas.openxmlformats.org/drawingml/2006/main">
              <a:ext uri="{FF2B5EF4-FFF2-40B4-BE49-F238E27FC236}">
                <a16:creationId xmlns:a16="http://schemas.microsoft.com/office/drawing/2014/main" id="{FADE4107-B73C-4D04-A01D-9AAEC1A7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34025"/>
            <a:ext cx="2933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2383">
            <a:solidFill>
              <a:srgbClr val="235980"/>
            </a:solidFill>
            <a:prstDash val="solid"/>
          </a:ln>
        </p:spPr>
        <p:txBody>
          <a:bodyPr xmlns:a="http://schemas.openxmlformats.org/drawingml/2006/main" wrap="non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計算値を照合して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Excel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を保存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日時付き回答と履歴を保管</a:t>
            </a:r>
          </a:p>
        </p:txBody>
      </p:sp>
      <p:cxnSp>
        <p:nvCxnSpPr>
          <p:cNvPr id="56" name=""/>
          <p:cNvCxnSpPr>
            <a:stCxn xmlns:a="http://schemas.openxmlformats.org/drawingml/2006/main" id="7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438400" y="21812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35980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438400" y="28575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35980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9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438400" y="359092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35980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438400" y="447675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35980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438400" y="53054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35980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81375" y="4114800"/>
            <a:ext cx="352425" cy="1428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F3D3D"/>
            </a:solidFill>
            <a:prstDash val="solid"/>
            <a:tailEnd type="triangle" w="sm" len="sm"/>
          </a:ln>
        </p:spPr>
      </p:cxnSp>
      <p:sp>
        <p:nvSpPr>
          <p:cNvPr id="20" name="valid-label">
            <a:extLst xmlns:a="http://schemas.openxmlformats.org/drawingml/2006/main">
              <a:ext uri="{FF2B5EF4-FFF2-40B4-BE49-F238E27FC236}">
                <a16:creationId xmlns:a16="http://schemas.microsoft.com/office/drawing/2014/main" id="{DCFF396C-9739-44F9-BD4F-1821A99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67225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125" b="0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一致</a:t>
            </a:r>
          </a:p>
        </p:txBody>
      </p:sp>
      <p:sp>
        <p:nvSpPr>
          <p:cNvPr id="21" name="invalid-label">
            <a:extLst xmlns:a="http://schemas.openxmlformats.org/drawingml/2006/main">
              <a:ext uri="{FF2B5EF4-FFF2-40B4-BE49-F238E27FC236}">
                <a16:creationId xmlns:a16="http://schemas.microsoft.com/office/drawing/2014/main" id="{FC0C2B4C-EC2C-49C0-A745-30FF98F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05225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9F3D3D"/>
                </a:solidFill>
                <a:latin typeface="MS Gothic"/>
                <a:ea typeface="MS Gothic"/>
                <a:cs typeface="MS Gothic"/>
              </a:defRPr>
            </a:pPr>
            <a:r>
              <a:rPr sz="1088" b="0">
                <a:solidFill>
                  <a:srgbClr val="9F3D3D"/>
                </a:solidFill>
                <a:latin typeface="MS Gothic"/>
                <a:ea typeface="MS Gothic"/>
                <a:cs typeface="MS Gothic"/>
              </a:rPr>
              <a:t>不一致</a:t>
            </a:r>
          </a:p>
        </p:txBody>
      </p:sp>
      <p:sp>
        <p:nvSpPr>
          <p:cNvPr id="22" name="actor-human1">
            <a:extLst xmlns:a="http://schemas.openxmlformats.org/drawingml/2006/main">
              <a:ext uri="{FF2B5EF4-FFF2-40B4-BE49-F238E27FC236}">
                <a16:creationId xmlns:a16="http://schemas.microsoft.com/office/drawing/2014/main" id="{188D3559-8209-4C68-9E5D-B802490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66471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人</a:t>
            </a:r>
          </a:p>
        </p:txBody>
      </p:sp>
      <p:sp>
        <p:nvSpPr>
          <p:cNvPr id="23" name="actor-ai">
            <a:extLst xmlns:a="http://schemas.openxmlformats.org/drawingml/2006/main">
              <a:ext uri="{FF2B5EF4-FFF2-40B4-BE49-F238E27FC236}">
                <a16:creationId xmlns:a16="http://schemas.microsoft.com/office/drawing/2014/main" id="{2FBC4084-B39A-4273-9793-E49C8E4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574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15766C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15766C"/>
                </a:solidFill>
                <a:latin typeface="MS Gothic"/>
                <a:ea typeface="MS Gothic"/>
                <a:cs typeface="MS Gothic"/>
              </a:rPr>
              <a:t>Copilot</a:t>
            </a:r>
          </a:p>
        </p:txBody>
      </p:sp>
      <p:sp>
        <p:nvSpPr>
          <p:cNvPr id="24" name="actor-human2">
            <a:extLst xmlns:a="http://schemas.openxmlformats.org/drawingml/2006/main">
              <a:ext uri="{FF2B5EF4-FFF2-40B4-BE49-F238E27FC236}">
                <a16:creationId xmlns:a16="http://schemas.microsoft.com/office/drawing/2014/main" id="{05F6499E-1790-40C2-9B0A-782B0B6E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66471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人</a:t>
            </a:r>
          </a:p>
        </p:txBody>
      </p:sp>
      <p:sp>
        <p:nvSpPr>
          <p:cNvPr id="25" name="actor-validator">
            <a:extLst xmlns:a="http://schemas.openxmlformats.org/drawingml/2006/main">
              <a:ext uri="{FF2B5EF4-FFF2-40B4-BE49-F238E27FC236}">
                <a16:creationId xmlns:a16="http://schemas.microsoft.com/office/drawing/2014/main" id="{4259F453-9D6A-437F-8E0E-1AEDFFCF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BAT</a:t>
            </a:r>
          </a:p>
        </p:txBody>
      </p:sp>
      <p:sp>
        <p:nvSpPr>
          <p:cNvPr id="26" name="actor-excel">
            <a:extLst xmlns:a="http://schemas.openxmlformats.org/drawingml/2006/main">
              <a:ext uri="{FF2B5EF4-FFF2-40B4-BE49-F238E27FC236}">
                <a16:creationId xmlns:a16="http://schemas.microsoft.com/office/drawing/2014/main" id="{54F5E63E-1637-4656-93F5-B9ACD915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815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BAT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Excel</a:t>
            </a:r>
          </a:p>
        </p:txBody>
      </p:sp>
      <p:sp>
        <p:nvSpPr>
          <p:cNvPr id="27" name="actor-save">
            <a:extLst xmlns:a="http://schemas.openxmlformats.org/drawingml/2006/main">
              <a:ext uri="{FF2B5EF4-FFF2-40B4-BE49-F238E27FC236}">
                <a16:creationId xmlns:a16="http://schemas.microsoft.com/office/drawing/2014/main" id="{576BAAF1-990A-4EEE-8376-6747E0F1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5911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BAT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Excel</a:t>
            </a:r>
          </a:p>
        </p:txBody>
      </p:sp>
      <p:sp>
        <p:nvSpPr>
          <p:cNvPr id="28" name="yield-definition">
            <a:extLst xmlns:a="http://schemas.openxmlformats.org/drawingml/2006/main">
              <a:ext uri="{FF2B5EF4-FFF2-40B4-BE49-F238E27FC236}">
                <a16:creationId xmlns:a16="http://schemas.microsoft.com/office/drawing/2014/main" id="{EEF5D5F4-208C-4001-BB6C-3930C1F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15050"/>
            <a:ext cx="444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NOI</a:t>
            </a: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利回り</a:t>
            </a: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 = </a:t>
            </a: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年間</a:t>
            </a: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NOI </a:t>
            </a: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÷</a:t>
            </a: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取得価格（％表示）</a:t>
            </a:r>
          </a:p>
        </p:txBody>
      </p:sp>
      <p:graphicFrame>
        <p:nvGraphicFramePr>
          <p:cNvPr id="71" name=""/>
          <p:cNvGraphicFramePr/>
          <p:nvPr/>
        </p:nvGraphicFramePr>
        <p:xfrm>
          <a:off xmlns:a="http://schemas.openxmlformats.org/drawingml/2006/main" x="5238750" y="1609725"/>
          <a:ext xmlns:a="http://schemas.openxmlformats.org/drawingml/2006/main" cx="6572250" cy="29527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047750"/>
                <a:gridCol w="1943100"/>
                <a:gridCol w="3581400"/>
              </a:tblGrid>
              <a:tr h="285750"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S Gothic"/>
                          <a:ea typeface="MS Gothic"/>
                          <a:cs typeface="MS Gothic"/>
                        </a:rPr>
                        <a:t>作業</a:t>
                      </a:r>
                    </a:p>
                  </a:txBody>
                  <a:tcPr marL="91440" marR="91440" marT="45720" marB="45720" anchor="ctr">
                    <a:solidFill>
                      <a:srgbClr val="235980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S Gothic"/>
                          <a:ea typeface="MS Gothic"/>
                          <a:cs typeface="MS Gothic"/>
                        </a:rPr>
                        <a:t>従来の操作</a:t>
                      </a:r>
                    </a:p>
                  </a:txBody>
                  <a:tcPr marL="91440" marR="91440" marT="45720" marB="45720" anchor="ctr">
                    <a:solidFill>
                      <a:srgbClr val="235980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S Gothic"/>
                          <a:ea typeface="MS Gothic"/>
                          <a:cs typeface="MS Gothic"/>
                        </a:rPr>
                        <a:t>今回のショートカット</a:t>
                      </a:r>
                    </a:p>
                  </a:txBody>
                  <a:tcPr marL="91440" marR="91440" marT="45720" marB="45720" anchor="ctr">
                    <a:solidFill>
                      <a:srgbClr val="235980"/>
                    </a:solidFill>
                  </a:tcPr>
                </a:tc>
              </a:tr>
              <a:tr h="533400"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項目抽出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必要な項目を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PDF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から拾う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必要項目と出典を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Copilot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が整理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読み取り・一覧化の作業を補助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転記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セルを探して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1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項目ずつ貼り付ける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ヘッダーに合わせてまとめて入力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セル探し・貼り付け・列ずれを減らす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計算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金額の単位を換算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利回り式を手入力する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単位換算と利回り式を自動設定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計算方法を統一し、再入力を減らす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保存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日時を付けて保存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更新前のファイルを探す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日時付き回答と更新前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Excel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を保管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更新前の状態を追跡しやすくする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文字コード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文字化けした項目を修正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ファイルを保存し直す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8572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BAT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を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ASCII</a:t>
                      </a: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化し、日本語を実行時に復元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00" b="0">
                          <a:solidFill>
                            <a:srgbClr val="152B3C"/>
                          </a:solidFill>
                          <a:latin typeface="MS Gothic"/>
                          <a:ea typeface="MS Gothic"/>
                          <a:cs typeface="MS Gothic"/>
                        </a:rPr>
                        <a:t>保存時の文字コード差による崩れに対処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euse-heading">
            <a:extLst xmlns:a="http://schemas.openxmlformats.org/drawingml/2006/main">
              <a:ext uri="{FF2B5EF4-FFF2-40B4-BE49-F238E27FC236}">
                <a16:creationId xmlns:a16="http://schemas.microsoft.com/office/drawing/2014/main" id="{150237DD-F67B-46C1-BC70-26ABE113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43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500" b="1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他業務への応用案</a:t>
            </a:r>
          </a:p>
        </p:txBody>
      </p:sp>
      <p:sp>
        <p:nvSpPr>
          <p:cNvPr id="31" name="reuse-scope">
            <a:extLst xmlns:a="http://schemas.openxmlformats.org/drawingml/2006/main">
              <a:ext uri="{FF2B5EF4-FFF2-40B4-BE49-F238E27FC236}">
                <a16:creationId xmlns:a16="http://schemas.microsoft.com/office/drawing/2014/main" id="{99F7C706-3EF7-404D-82DB-2AA495BB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72025"/>
            <a:ext cx="3914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業務ごとに抽出項目と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BAT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を調整</a:t>
            </a:r>
          </a:p>
        </p:txBody>
      </p:sp>
      <p:sp>
        <p:nvSpPr>
          <p:cNvPr id="32" name="reuse-label-0">
            <a:extLst xmlns:a="http://schemas.openxmlformats.org/drawingml/2006/main">
              <a:ext uri="{FF2B5EF4-FFF2-40B4-BE49-F238E27FC236}">
                <a16:creationId xmlns:a16="http://schemas.microsoft.com/office/drawing/2014/main" id="{CA6290FD-A819-425F-BB2A-F5831BD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決算資料</a:t>
            </a:r>
          </a:p>
        </p:txBody>
      </p:sp>
      <p:sp>
        <p:nvSpPr>
          <p:cNvPr id="33" name="reuse-desc-0">
            <a:extLst xmlns:a="http://schemas.openxmlformats.org/drawingml/2006/main">
              <a:ext uri="{FF2B5EF4-FFF2-40B4-BE49-F238E27FC236}">
                <a16:creationId xmlns:a16="http://schemas.microsoft.com/office/drawing/2014/main" id="{BD8C1553-BB15-4924-BDD2-9D18B0B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553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売上・利益・会社予想を比較表へ転記</a:t>
            </a:r>
          </a:p>
        </p:txBody>
      </p:sp>
      <p:sp>
        <p:nvSpPr>
          <p:cNvPr id="34" name="reuse-label-1">
            <a:extLst xmlns:a="http://schemas.openxmlformats.org/drawingml/2006/main">
              <a:ext uri="{FF2B5EF4-FFF2-40B4-BE49-F238E27FC236}">
                <a16:creationId xmlns:a16="http://schemas.microsoft.com/office/drawing/2014/main" id="{A43A561B-D9A3-450D-9183-9077BB94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43525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議事録</a:t>
            </a:r>
          </a:p>
        </p:txBody>
      </p:sp>
      <p:sp>
        <p:nvSpPr>
          <p:cNvPr id="35" name="reuse-desc-1">
            <a:extLst xmlns:a="http://schemas.openxmlformats.org/drawingml/2006/main">
              <a:ext uri="{FF2B5EF4-FFF2-40B4-BE49-F238E27FC236}">
                <a16:creationId xmlns:a16="http://schemas.microsoft.com/office/drawing/2014/main" id="{55908FD7-198E-44AB-9285-C4BA5DD6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43525"/>
            <a:ext cx="553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決定事項・担当者・期限を管理表へ整理</a:t>
            </a:r>
          </a:p>
        </p:txBody>
      </p:sp>
      <p:sp>
        <p:nvSpPr>
          <p:cNvPr id="36" name="reuse-label-2">
            <a:extLst xmlns:a="http://schemas.openxmlformats.org/drawingml/2006/main">
              <a:ext uri="{FF2B5EF4-FFF2-40B4-BE49-F238E27FC236}">
                <a16:creationId xmlns:a16="http://schemas.microsoft.com/office/drawing/2014/main" id="{4A6CAF1F-EC83-4017-867B-8F557D59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19750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物件比較</a:t>
            </a:r>
          </a:p>
        </p:txBody>
      </p:sp>
      <p:sp>
        <p:nvSpPr>
          <p:cNvPr id="37" name="reuse-desc-2">
            <a:extLst xmlns:a="http://schemas.openxmlformats.org/drawingml/2006/main">
              <a:ext uri="{FF2B5EF4-FFF2-40B4-BE49-F238E27FC236}">
                <a16:creationId xmlns:a16="http://schemas.microsoft.com/office/drawing/2014/main" id="{7943D48C-3DCA-4513-BD05-C48CB1C7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19750"/>
            <a:ext cx="553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面積・取得価格をそろえ、単価を数式で計算</a:t>
            </a:r>
          </a:p>
        </p:txBody>
      </p:sp>
      <p:sp>
        <p:nvSpPr>
          <p:cNvPr id="38" name="reuse-label-3">
            <a:extLst xmlns:a="http://schemas.openxmlformats.org/drawingml/2006/main">
              <a:ext uri="{FF2B5EF4-FFF2-40B4-BE49-F238E27FC236}">
                <a16:creationId xmlns:a16="http://schemas.microsoft.com/office/drawing/2014/main" id="{CF8BF4A8-27D6-41B5-8DC2-A4CF7760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895975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defRPr>
            </a:pPr>
            <a:r>
              <a:rPr sz="1275" b="1">
                <a:solidFill>
                  <a:srgbClr val="235980"/>
                </a:solidFill>
                <a:latin typeface="MS Gothic"/>
                <a:ea typeface="MS Gothic"/>
                <a:cs typeface="MS Gothic"/>
              </a:rPr>
              <a:t>日次準備</a:t>
            </a:r>
          </a:p>
        </p:txBody>
      </p:sp>
      <p:sp>
        <p:nvSpPr>
          <p:cNvPr id="39" name="reuse-desc-3">
            <a:extLst xmlns:a="http://schemas.openxmlformats.org/drawingml/2006/main">
              <a:ext uri="{FF2B5EF4-FFF2-40B4-BE49-F238E27FC236}">
                <a16:creationId xmlns:a16="http://schemas.microsoft.com/office/drawing/2014/main" id="{9CAE88DB-451B-40D2-A580-69235668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95975"/>
            <a:ext cx="553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defRPr>
            </a:pP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必要な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URL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・フォルダー・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Excel</a:t>
            </a:r>
            <a:r>
              <a:rPr sz="1275" b="0">
                <a:solidFill>
                  <a:srgbClr val="152B3C"/>
                </a:solidFill>
                <a:latin typeface="MS Gothic"/>
                <a:ea typeface="MS Gothic"/>
                <a:cs typeface="MS Gothic"/>
              </a:rPr>
              <a:t>をまとめて起動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A6D13C8-95C1-43A9-8A30-DC12EAD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531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6D0"/>
            </a:solidFill>
            <a:prstDash val="solid"/>
          </a:ln>
        </p:spPr>
      </p:sp>
      <p:sp>
        <p:nvSpPr>
          <p:cNvPr id="41" name="requirements">
            <a:extLst xmlns:a="http://schemas.openxmlformats.org/drawingml/2006/main">
              <a:ext uri="{FF2B5EF4-FFF2-40B4-BE49-F238E27FC236}">
                <a16:creationId xmlns:a16="http://schemas.microsoft.com/office/drawing/2014/main" id="{17FA4BC1-6653-4CE6-BFC5-98CC3360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00800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利用条件：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Windows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版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Excel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・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OneDrive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同期・利用可能な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Copilot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。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BAT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内部で標準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PowerShell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を使用。</a:t>
            </a:r>
          </a:p>
        </p:txBody>
      </p:sp>
      <p:sp>
        <p:nvSpPr>
          <p:cNvPr id="42" name="manual-scope">
            <a:extLst xmlns:a="http://schemas.openxmlformats.org/drawingml/2006/main">
              <a:ext uri="{FF2B5EF4-FFF2-40B4-BE49-F238E27FC236}">
                <a16:creationId xmlns:a16="http://schemas.microsoft.com/office/drawing/2014/main" id="{C886598B-7997-41AE-9660-FDB3C20D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98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defRPr>
            </a:pP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PDF</a:t>
            </a:r>
            <a:r>
              <a:rPr sz="1200" b="0">
                <a:solidFill>
                  <a:srgbClr val="566471"/>
                </a:solidFill>
                <a:latin typeface="MS Gothic"/>
                <a:ea typeface="MS Gothic"/>
                <a:cs typeface="MS Gothic"/>
              </a:rPr>
              <a:t>の指定・依頼・回答のコピー・最終確認は手動。効果は未計測であり、導入時に処理時間と修正件数を確認する。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155372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2026-09-14T10:30:36.2260000Z</dcterms:created>
  <dcterms:modified xsi:type="dcterms:W3CDTF">2026-09-14T10:30:36.2260000Z</dcterms:modified>
</coreProperties>
</file>