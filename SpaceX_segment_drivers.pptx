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V3は独立したドライバーではなく、他3つのボトルネックを外す部品。因果の鎖として見せるのがポイント。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独占しているのに赤字。理由は顧客の4分の3が自分自身だから。だから他部門への波及で評価する必要がある。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調整後EBITDA $11.5億の黒字は減価償却$18.9億と株式報酬$5.2億を足し戻した結果。会社自身が注記で単独判断を戒めている。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SOTPの弱点は残余に誤差が全部集まること。だから3ケースで振って幅を確認する手順が必須。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キードライバーを主観で選ばず、感応度の計算で特定している点が核。通信は事業として最重要だが、株価の説明力としては誤差の範囲。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34747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通信のキードライバー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8229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四半期売上 $42.9億 ／ EBITDA $26.0億 ／ 唯一のキャッシュエンジン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1426464"/>
            <a:ext cx="402336" cy="402336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426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13441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法人・政府向け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3441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+108%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170992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部門売上の42%（$18.1億）。アメリカン航空・サウスウエスト等の機内Wi-Fi、SoftBank・NTTドコモとの提携、宇宙軍Starshield $60億超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2276856"/>
            <a:ext cx="402336" cy="402336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2276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21945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未提供地域の消化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1945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+44%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256032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米国顧客の85%が農村部。新規流入の17%が「初めてブロードバンドを契約する人」。既存事業者と競合せず市場を創出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312724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30449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移動体（航空・海運）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30449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5,000機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98448" y="34107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受注残。低軌道40ms 対 静止軌道600ms超という技術的断絶。ただし設置済み機材では老舗が依然優勢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298448" y="3840480"/>
            <a:ext cx="1024128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395020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この3つは全て、1つの前提条件に依存する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69164" y="4279392"/>
            <a:ext cx="2057400" cy="777240"/>
          </a:xfrm>
          <a:prstGeom prst="roundRect">
            <a:avLst>
              <a:gd name="adj" fmla="val 7059"/>
            </a:avLst>
          </a:prstGeom>
          <a:solidFill>
            <a:srgbClr val="F4F6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78892" y="4279392"/>
            <a:ext cx="1837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Starship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打上げ能力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299716" y="4668012"/>
            <a:ext cx="237744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610612" y="4279392"/>
            <a:ext cx="2057400" cy="777240"/>
          </a:xfrm>
          <a:prstGeom prst="roundRect">
            <a:avLst>
              <a:gd name="adj" fmla="val 7059"/>
            </a:avLst>
          </a:prstGeom>
          <a:solidFill>
            <a:srgbClr val="F4F6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720340" y="4279392"/>
            <a:ext cx="1837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V3衛星の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大量配備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41164" y="4668012"/>
            <a:ext cx="237744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052060" y="4279392"/>
            <a:ext cx="2057400" cy="777240"/>
          </a:xfrm>
          <a:prstGeom prst="roundRect">
            <a:avLst>
              <a:gd name="adj" fmla="val 7059"/>
            </a:avLst>
          </a:prstGeom>
          <a:solidFill>
            <a:srgbClr val="F4F6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161788" y="4279392"/>
            <a:ext cx="1837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スポットビーム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容量の拡大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182612" y="4668012"/>
            <a:ext cx="237744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493508" y="4279392"/>
            <a:ext cx="2057400" cy="777240"/>
          </a:xfrm>
          <a:prstGeom prst="roundRect">
            <a:avLst>
              <a:gd name="adj" fmla="val 7059"/>
            </a:avLst>
          </a:prstGeom>
          <a:solidFill>
            <a:srgbClr val="F4F6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603236" y="4279392"/>
            <a:ext cx="1837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単価維持と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法人契約の獲得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624060" y="4668012"/>
            <a:ext cx="237744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934956" y="4279392"/>
            <a:ext cx="2057400" cy="777240"/>
          </a:xfrm>
          <a:prstGeom prst="roundRect">
            <a:avLst>
              <a:gd name="adj" fmla="val 7059"/>
            </a:avLst>
          </a:prstGeom>
          <a:solidFill>
            <a:srgbClr val="E8A33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044684" y="4279392"/>
            <a:ext cx="1837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売上成長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" y="525780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005840" y="5257800"/>
            <a:ext cx="1014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リスク＝この鎖が切れること。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制約は衛星数ではなくスポットビーム容量で、郊外は農村の約10倍の密度のため密集地に物理的に入れない。IPO前は値下げ、現在は容量不足で値上げに転換。ARPU $66の下げ止まりは、需要の強さではなく容量制約の可能性がある。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63550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出典：SpaceX 2026年第2四半期決算 5ページ、MoffettNathanson、New Street Research、Recon Analytics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34747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宇宙事業のキードライバー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8229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四半期売上 $9.6億 ／ 営業赤字 $5.4億 ／ 世界シェア約85%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1426464"/>
            <a:ext cx="402336" cy="402336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426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13441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政府・防衛の受注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3441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170992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2025年の国家安全保障打上げ12件中11件、NASA有人・貨物5件すべてを担当。代替供給者が実質存在しない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2276856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2276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21945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Starshipの完全再使用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1945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▲99%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256032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会社主張の輸送コスト削減率。7月のFlight 13で全目標達成（V3衛星20機放出、宇宙空間での再点火、無傷の耐熱シールド）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312724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30449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打上げ量の拡大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30449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V3の前提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98448" y="34107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コスト低下 → 打上げ増 → 通信・AI両部門の展開速度が上がる。この部門の価値は自部門の売上ではなく他部門への波及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298448" y="3840480"/>
            <a:ext cx="1024128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395020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この部門の本質は「事業」ではなく「内製インフラ」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297680"/>
            <a:ext cx="3429000" cy="960120"/>
          </a:xfrm>
          <a:prstGeom prst="roundRect">
            <a:avLst>
              <a:gd name="adj" fmla="val 5714"/>
            </a:avLst>
          </a:prstGeom>
          <a:solidFill>
            <a:srgbClr val="F4F6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4297680"/>
            <a:ext cx="1143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74%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2103120" y="429768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Q2の打上げ38回のうち28回が自社向け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25112" y="4297680"/>
            <a:ext cx="3429000" cy="960120"/>
          </a:xfrm>
          <a:prstGeom prst="roundRect">
            <a:avLst>
              <a:gd name="adj" fmla="val 5714"/>
            </a:avLst>
          </a:prstGeom>
          <a:solidFill>
            <a:srgbClr val="F4F6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99432" y="4297680"/>
            <a:ext cx="1143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112%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5788152" y="429768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研究開発費が売上を上回る（R&amp;D $10.8億 vs 売上 $9.6億）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10144" y="4297680"/>
            <a:ext cx="3429000" cy="960120"/>
          </a:xfrm>
          <a:prstGeom prst="roundRect">
            <a:avLst>
              <a:gd name="adj" fmla="val 5714"/>
            </a:avLst>
          </a:prstGeom>
          <a:solidFill>
            <a:srgbClr val="F4F6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84464" y="4297680"/>
            <a:ext cx="1143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▲26%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9473184" y="429768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軌道投入質量が前年割れ（652t → 485t）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005840" y="544068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リスク：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Starshipはまだ着水段階で、キャッチも再使用も未達。政府依存は政権交代で可逆。競合Amazonの衛星打上げも受注しており、競合の物流を担う構造にある。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3550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出典：SpaceX 2026年第2四半期決算 4ページ、各種報道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34747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AI事業のキードライバー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8229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四半期売上 $25.6億 ／ 設備投資 $158.3億 ／ 企業価値の約85%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1426464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426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13441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クラウド契約の獲得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3441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$141億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170992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受注額。うちQ2に$16億を認識。全社増収$31億のうち16億がこの単一契約から出ている。顧客名・契約期間ともに非開示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227685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2276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21945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計算能力の拡張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1945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GW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256032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Q1の1.0GWから拡大。Colossus IIを建設中。CoreWeaveの2026年末目標1.7GWとほぼ同規模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312724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30449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軌道上データセンター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30449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2027年〜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98448" y="34107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Starshipによる打上げと結合した唯一無二の構想。地上の電力・冷却制約を回避。ただし1機も打ち上がっていない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298448" y="3840480"/>
            <a:ext cx="1024128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395020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他2部門と違い、この部門ではSpaceXは支配者ではなく挑戦者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279392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F4F6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4279392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6.2倍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2423160" y="4279392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設備投資 $158.3億 が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部門売上 $25.6億 に対する倍率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63640" y="4279392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F4F6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37960" y="4279392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8.4倍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8046720" y="4279392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設備投資が減価償却に対する倍率。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将来の費用を8倍速で積んでいる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05840" y="544068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ドライバーとリスクが同一：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$141億の契約が積み上がるなら投資は正当化され、一回性なら$158億／四半期の根拠が消える。顧客名が開示されていないため、次期決算の数字でしか判定できない。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63550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出典：SpaceX 2026年第2四半期決算 3・6ページ、各種報道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34747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定量①　どの事業にいくら付いているか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8229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企業価値 $1兆7,570億 を分解する（SOTP法）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80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EVの算出（十億ドル）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60020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時価総額（$134 × 135.65億株）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160520" y="16002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1,818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5740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 有利子負債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160520" y="20574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51460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現金・有価証券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160520" y="25146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971800"/>
            <a:ext cx="502920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297180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＝ 企業価値（EV）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160520" y="29718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1,757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128016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部門別の評価と残余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1600200"/>
            <a:ext cx="5257800" cy="694944"/>
          </a:xfrm>
          <a:prstGeom prst="roundRect">
            <a:avLst>
              <a:gd name="adj" fmla="val 6579"/>
            </a:avLst>
          </a:prstGeom>
          <a:solidFill>
            <a:srgbClr val="F4F6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16367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通信 (Starlink)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595360" y="163677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$2,400億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0332720" y="163677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E8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14%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198424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NTM EBITDA $133億 × 18倍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2386584"/>
            <a:ext cx="5257800" cy="694944"/>
          </a:xfrm>
          <a:prstGeom prst="roundRect">
            <a:avLst>
              <a:gd name="adj" fmla="val 6579"/>
            </a:avLst>
          </a:prstGeom>
          <a:solidFill>
            <a:srgbClr val="F4F6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37960" y="24231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宇宙 (打上げ)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595360" y="24231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$300億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0332720" y="24231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2%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277063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赤字のため戦略価値で直接評価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63640" y="3172968"/>
            <a:ext cx="5257800" cy="694944"/>
          </a:xfrm>
          <a:prstGeom prst="roundRect">
            <a:avLst>
              <a:gd name="adj" fmla="val 6579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37960" y="32095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（残余）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595360" y="320954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$1兆4,870億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10332720" y="320954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537960" y="355701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EVから上2つを引いた残り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41148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残余は「残りかす」ではないか — 前提を振って検算する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" y="4462272"/>
            <a:ext cx="3429000" cy="822960"/>
          </a:xfrm>
          <a:prstGeom prst="roundRect">
            <a:avLst>
              <a:gd name="adj" fmla="val 5556"/>
            </a:avLst>
          </a:prstGeom>
          <a:solidFill>
            <a:srgbClr val="F4F6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96112" y="45171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弱気の引き算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896112" y="479145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通信12倍・宇宙 −$200億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2423160" y="446227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$1兆6,390億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325112" y="4462272"/>
            <a:ext cx="3429000" cy="822960"/>
          </a:xfrm>
          <a:prstGeom prst="roundRect">
            <a:avLst>
              <a:gd name="adj" fmla="val 5556"/>
            </a:avLst>
          </a:prstGeom>
          <a:solidFill>
            <a:srgbClr val="F4F6F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581144" y="45171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基本の引き算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4581144" y="479145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通信18倍・宇宙 $300億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6108192" y="446227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$1兆4,870億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010144" y="4462272"/>
            <a:ext cx="3429000" cy="822960"/>
          </a:xfrm>
          <a:prstGeom prst="roundRect">
            <a:avLst>
              <a:gd name="adj" fmla="val 5556"/>
            </a:avLst>
          </a:prstGeom>
          <a:solidFill>
            <a:srgbClr val="F4F6FA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266176" y="45171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強気の引き算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8266176" y="479145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通信28倍・宇宙 $1,000億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9793224" y="446227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$1兆2,200億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1005840" y="544068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残余の幅は中心値の28%。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引き算の前提をどう変えても$1兆2,200億以上がAI部門に残るため、これは推定誤差の集積ではなく実体のある数字と判断できる。「通信を過小評価しているせいでAIが大きく見える」という反論は、この検算で否定される。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640080" y="63550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自作モデルによる算出。株価$134時点。通信のNTM売上は$220億、EBITDA利益率60.5%を前提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34747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定量②　どの変数が株価を動かすか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8229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各変数を単独で動かした場合の1株価値への影響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25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AI部門の倍率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697480" y="1325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80倍 → 60倍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417320"/>
            <a:ext cx="4357468" cy="23774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295228" y="1325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−$21.0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874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AI部門の売上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1874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$144億 → $100億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965960"/>
            <a:ext cx="5332710" cy="23774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270470" y="18745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−$25.7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423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通信の倍率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2423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18倍 → 12倍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514600"/>
            <a:ext cx="1535489" cy="237744"/>
          </a:xfrm>
          <a:prstGeom prst="rect">
            <a:avLst/>
          </a:prstGeom>
          <a:solidFill>
            <a:srgbClr val="3E8E7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73249" y="24231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−$7.4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971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通信の売上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2971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$220億 → $190億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3063240"/>
            <a:ext cx="497996" cy="237744"/>
          </a:xfrm>
          <a:prstGeom prst="rect">
            <a:avLst/>
          </a:prstGeom>
          <a:solidFill>
            <a:srgbClr val="3E8E7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35756" y="2971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−$2.4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520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宇宙の評価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697480" y="3520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$300億 → $0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611880"/>
            <a:ext cx="456497" cy="23774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394257" y="3520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−$2.2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4069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ネットキャッシュ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697480" y="4069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→ −$200億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4160520"/>
            <a:ext cx="311248" cy="23774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249008" y="4069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−$1.5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4709160"/>
            <a:ext cx="525780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14400" y="47091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77.6%</a:t>
            </a:r>
            <a:endParaRPr lang="en-US" sz="2800" dirty="0"/>
          </a:p>
        </p:txBody>
      </p:sp>
      <p:sp>
        <p:nvSpPr>
          <p:cNvPr id="32" name="Text 30"/>
          <p:cNvSpPr txBox="1"/>
          <p:nvPr/>
        </p:nvSpPr>
        <p:spPr>
          <a:xfrm>
            <a:off x="2514600" y="4709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株価感応度のうち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AI部門の2変数が占める割合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63640" y="4709160"/>
            <a:ext cx="5257800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37960" y="47091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E8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±$6</a:t>
            </a:r>
            <a:endParaRPr lang="en-US" sz="2800" dirty="0"/>
          </a:p>
        </p:txBody>
      </p:sp>
      <p:sp>
        <p:nvSpPr>
          <p:cNvPr id="35" name="Text 33"/>
          <p:cNvSpPr txBox="1"/>
          <p:nvPr/>
        </p:nvSpPr>
        <p:spPr>
          <a:xfrm>
            <a:off x="8138160" y="4709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通信をどう評価しても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株価はこの幅しか動かない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40080" y="5760720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05840" y="57607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キードライバーは「AI売上」と「市場が払う倍率」の2つ。後者は会社が制御できない。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63550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自作モデル。基準ケース：AI売上$144億×80倍、通信18倍、宇宙$300億、株数137億株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2026-08-28T07:17:37Z</dcterms:created>
  <dcterms:modified xsi:type="dcterms:W3CDTF">2026-08-28T07:17:37Z</dcterms:modified>
</cp:coreProperties>
</file>