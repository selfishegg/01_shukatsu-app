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875af6e34384b80" /><Relationship Type="http://schemas.openxmlformats.org/officeDocument/2006/relationships/extended-properties" Target="/docProps/app.xml" Id="R2b72d31f20294be0" /><Relationship Type="http://schemas.openxmlformats.org/officeDocument/2006/relationships/officeDocument" Target="/ppt/presentation.xml" Id="R75d491e4cb484730" /></Relationships>
</file>

<file path=ppt/presentation.xml><?xml version="1.0" encoding="utf-8"?>
<p:presentation xmlns:p="http://schemas.openxmlformats.org/presentationml/2006/main">
  <p:sldMasterIdLst>
    <p:sldMasterId xmlns:r="http://schemas.openxmlformats.org/officeDocument/2006/relationships" id="2147483648" r:id="R14bd7cd304294c7b"/>
  </p:sldMasterIdLst>
  <p:notesMasterIdLst>
    <p:notesMasterId xmlns:r="http://schemas.openxmlformats.org/officeDocument/2006/relationships" r:id="Ra97c5601e91a4c51"/>
  </p:notesMasterIdLst>
  <p:sldIdLst>
    <p:sldId xmlns:r="http://schemas.openxmlformats.org/officeDocument/2006/relationships" id="256" r:id="R2a3d5f66261c40b1"/>
    <p:sldId xmlns:r="http://schemas.openxmlformats.org/officeDocument/2006/relationships" id="257" r:id="Rdcf89e5d5fb643fb"/>
    <p:sldId xmlns:r="http://schemas.openxmlformats.org/officeDocument/2006/relationships" id="258" r:id="R4597902c0d26443e"/>
    <p:sldId xmlns:r="http://schemas.openxmlformats.org/officeDocument/2006/relationships" id="259" r:id="Rf6e8bc9811ac496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f7d0f6d04c14a88" /><Relationship Type="http://schemas.openxmlformats.org/officeDocument/2006/relationships/slideMaster" Target="/ppt/slideMasters/slideMaster1.xml" Id="R14bd7cd304294c7b" /><Relationship Type="http://schemas.openxmlformats.org/officeDocument/2006/relationships/notesMaster" Target="/ppt/notesMasters/notesMaster1.xml" Id="Ra97c5601e91a4c51" /><Relationship Type="http://schemas.openxmlformats.org/officeDocument/2006/relationships/presProps" Target="/ppt/presProps.xml" Id="R8c3234afaa204ebc" /><Relationship Type="http://schemas.openxmlformats.org/officeDocument/2006/relationships/tableStyles" Target="/ppt/tableStyles.xml" Id="Rd3d7b41bfcd043ae" /><Relationship Type="http://schemas.openxmlformats.org/officeDocument/2006/relationships/slide" Target="/ppt/slides/slide1.xml" Id="R2a3d5f66261c40b1" /><Relationship Type="http://schemas.openxmlformats.org/officeDocument/2006/relationships/slide" Target="/ppt/slides/slide2.xml" Id="Rdcf89e5d5fb643fb" /><Relationship Type="http://schemas.openxmlformats.org/officeDocument/2006/relationships/slide" Target="/ppt/slides/slide3.xml" Id="R4597902c0d26443e" /><Relationship Type="http://schemas.openxmlformats.org/officeDocument/2006/relationships/slide" Target="/ppt/slides/slide4.xml" Id="Rf6e8bc9811ac496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1d1a916cf6d421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ced3dc127e74945" /><Relationship Type="http://schemas.openxmlformats.org/officeDocument/2006/relationships/notesMaster" Target="/ppt/notesMasters/notesMaster1.xml" Id="Rf44a236316e24693" /></Relationships>
</file>

<file path=ppt/notesSlides/_rels/notesSlide2.xml.rels>&#65279;<?xml version="1.0" encoding="utf-8"?><Relationships xmlns="http://schemas.openxmlformats.org/package/2006/relationships"><Relationship Type="http://schemas.openxmlformats.org/officeDocument/2006/relationships/slide" Target="/ppt/slides/slide2.xml" Id="Rf4ae9db612304590" /><Relationship Type="http://schemas.openxmlformats.org/officeDocument/2006/relationships/notesMaster" Target="/ppt/notesMasters/notesMaster1.xml" Id="R7961c810d2df4db8" /></Relationships>
</file>

<file path=ppt/notesSlides/_rels/notesSlide3.xml.rels>&#65279;<?xml version="1.0" encoding="utf-8"?><Relationships xmlns="http://schemas.openxmlformats.org/package/2006/relationships"><Relationship Type="http://schemas.openxmlformats.org/officeDocument/2006/relationships/slide" Target="/ppt/slides/slide3.xml" Id="R7700a573db1c44b6" /><Relationship Type="http://schemas.openxmlformats.org/officeDocument/2006/relationships/notesMaster" Target="/ppt/notesMasters/notesMaster1.xml" Id="Rbc3dc84192054ca4" /></Relationships>
</file>

<file path=ppt/notesSlides/_rels/notesSlide4.xml.rels>&#65279;<?xml version="1.0" encoding="utf-8"?><Relationships xmlns="http://schemas.openxmlformats.org/package/2006/relationships"><Relationship Type="http://schemas.openxmlformats.org/officeDocument/2006/relationships/slide" Target="/ppt/slides/slide4.xml" Id="R29636bcc20e74bc3" /><Relationship Type="http://schemas.openxmlformats.org/officeDocument/2006/relationships/notesMaster" Target="/ppt/notesMasters/notesMaster1.xml" Id="Ra4a72e4d0f404ee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本資料は実装方針であり、案件全件の収集結果ではない。実行日は可変とする。</a:t>
            </a:r>
          </a:p>
          <a:p xmlns:a="http://schemas.openxmlformats.org/drawingml/2006/main">
            <a:r>
              <a:t>検索画面を2026-09-15にブラウザーで確認。建築主・設計者・施工者・着工日・完成日の欄がある。https://www.kensetsu-databank.co.jp/kensaku/</a:t>
            </a:r>
          </a:p>
          <a:p xmlns:a="http://schemas.openxmlformats.org/drawingml/2006/main">
            <a:r>
              <a:t>対象地域・掲載項目：https://www.kensetsu-databank.co.jp/plan-info/#03</a:t>
            </a:r>
          </a:p>
          <a:p xmlns:a="http://schemas.openxmlformats.org/drawingml/2006/main">
            <a:r>
              <a:t>個別ページの注意書きには、初期計画と実際の工期の相違の可能性、無許可の複製・転載・営利利用等の禁止が記載される。取得自動化だけでなく、PDF保存やAI入力も利用できる範囲を先に確認する。https://www.kensetsu-databank.co.jp/hokkaido-kyushu/osirase/detail.php?id=10071520</a:t>
            </a:r>
          </a:p>
          <a:p xmlns:a="http://schemas.openxmlformats.org/drawingml/2006/main">
            <a:r>
              <a:t>取得失敗がアクセス権や利用条件に由来する場合は画面保存で迂回しない。利用できる資料を確保できなければ収集部分を保留し、列設計・検証処理を準備する。</a:t>
            </a:r>
          </a:p>
          <a:p xmlns:a="http://schemas.openxmlformats.org/drawingml/2006/main">
            <a:r>
              <a:t>②で対象外は除外履歴へ、企業の関与や竣工状況が不明なら要確認へ。判定ルールは2枚目。③ではURLだけをAIに渡した場合でも本文を実際に読めたことを確認する。④で用途未確認やその他の重要な不一致を含む行は本表へ確定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判定表は本業務の提案ルール。大和ハウス工業株式会社の表記を正規化するが、支店名や共同施工者などの原文は出典履歴に残す。証券コード1925は出力タブを識別する設定値としてユーザー指定を使用。大和ハウス本体の建築主または施工者としての関与を採用条件とする。</a:t>
            </a:r>
          </a:p>
          <a:p xmlns:a="http://schemas.openxmlformats.org/drawingml/2006/main">
            <a:r>
              <a:t>完成日が未来でも竣工が確実とは限らない。最新の公式発表で延期、中止、既竣工を確認する。年月しかない予定日が実行月と重なる場合は未竣工を断定せず要確認とする。竣工日と引渡日・開業日を置換しない。</a:t>
            </a:r>
          </a:p>
          <a:p xmlns:a="http://schemas.openxmlformats.org/drawingml/2006/main">
            <a:r>
              <a:t>所在地は住居表示を優先し、不明なら地名地番と明記。二つは無断で変換しない。重複キーは地域と物件番号を基本とし、同一プロジェクトの異なる番号や棟・工期は人が照合する。</a:t>
            </a:r>
          </a:p>
          <a:p xmlns:a="http://schemas.openxmlformats.org/drawingml/2006/main">
            <a:r>
              <a:t>右表の備考文は書式例であり、実在案件の調査結果ではない。用途別面積で主用途を決める場合は面積値と併設用途を備考・出典履歴に保持する。公式の主用途指定も面積比も不明なら、無理に一つへ丸めず要確認とする。</a:t>
            </a:r>
          </a:p>
          <a:p xmlns:a="http://schemas.openxmlformats.org/drawingml/2006/main">
            <a:r>
              <a:t>掲載データの性質と日程の注意書き：https://www.kensetsu-databank.co.jp/hokkaido-kyushu/osirase/detail.php?id=10071520</a:t>
            </a:r>
          </a:p>
          <a:p xmlns:a="http://schemas.openxmlformats.org/drawingml/2006/main">
            <a:r>
              <a:t>掲載項目と地域：https://www.kensetsu-databank.co.jp/plan-info/#03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ユーザー指定項目はすべて保持。並列に指定された面積・戸数・関与会社・日程を別列とし、データ取得日とサイト側日付を分離した。ユーザーの「施行者」「設計主」は一般的な掲載項目名に合わせ「施工者」「設計者」とした。</a:t>
            </a:r>
          </a:p>
          <a:p xmlns:a="http://schemas.openxmlformats.org/drawingml/2006/main">
            <a:r>
              <a:t>建設データバンクの確認した個別ページには、件名、地名地番、住居表示、主要用途、工事種別、構造、地上・地下階数、延床面積、建築面積、敷地面積、建築主、設計者、施工者、着工、完成、備考、物件番号、日付がある。https://www.kensetsu-databank.co.jp/hokkaido-kyushu/osirase/detail.php?id=10071520</a:t>
            </a:r>
          </a:p>
          <a:p xmlns:a="http://schemas.openxmlformats.org/drawingml/2006/main">
            <a:r>
              <a:t>公式サービス説明では「届出日」と記載。日付の意味が資料間で異なり得るので、サイト側日付は名称を併記して原文を保持し、取得日とは分離する。戸数は標準掲載項目にないため追加調査する。https://www.kensetsu-databank.co.jp/plan-info/#03</a:t>
            </a:r>
          </a:p>
          <a:p xmlns:a="http://schemas.openxmlformats.org/drawingml/2006/main">
            <a:r>
              <a:t>K列は建築主欄を基礎にするが、法人名を事業主と自動で同一視しない。所有者・発注者・開発主体が異なる場合、区別して備考または出典履歴に残す。</a:t>
            </a:r>
          </a:p>
          <a:p xmlns:a="http://schemas.openxmlformats.org/drawingml/2006/main">
            <a:r>
              <a:t>欠損は空欄、原文で未定ならその状態を出典履歴へ記録。F列の未記載の地下階数も0階と推定しない。G-I列は㎡、数値型。Q列は実行日時を記録し表示は年月日。N/Oが年月のみの場合は原文と日付精度を保ち、完全な日付を捏造しない。</a:t>
            </a:r>
          </a:p>
          <a:p xmlns:a="http://schemas.openxmlformats.org/drawingml/2006/main">
            <a:r>
              <a:t>本表のA列に元URLのハイパーリンクを付け、出典履歴に地域と物件番号を記録する。URL未取得行は確定せず要確認タブへ。主要用途の原文と最終分類は別々に保管し、用途判定の再検証を可能にする。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スライドは実装案・擬似コードであり、実行可能なスクリプトの納品ではない。公式CSV/APIの提供は今回確認できていない。利用できる取得方法を選択し、利用条件・社内の実行権限・AI入力範囲を確認してから実データ収集を実装する。</a:t>
            </a:r>
          </a:p>
          <a:p xmlns:a="http://schemas.openxmlformats.org/drawingml/2006/main">
            <a:r>
              <a:t>Windowsでの初期案：候補URL一覧を用意し、許諾されたデータの本文をCopilotに渡す。Copilotから18項目とメタデータを含むJSONを取得する。JSONは入力ファイルとして保存し、run.batからPowerShellスクリプトを起動してパース・検証・バックアップ・Excel更新を実行する。BAT自身が用途判定をするわけではない。PowerShell、Excel操作、Power Query等の可否は社内環境で確認する。実行ポリシーは変更・迂回しない。</a:t>
            </a:r>
          </a:p>
          <a:p xmlns:a="http://schemas.openxmlformats.org/drawingml/2006/main">
            <a:r>
              <a:t>初回は地域別検索の掲載日を制限せず、既存の長期計画を拾う。建築主と施工者は別々に検索し、OR条件として結果を統合。完成日だけで最初から絞ると不明日や遅延案件を落とすため、抽出後に判定する。以後は新規検索に加え、既存候補URLを再確認して延期・用途変更を捕捉する。検索ヒット数・取得成功数・保留数・除外数をログに保存して取得漏れを確認する。</a:t>
            </a:r>
          </a:p>
          <a:p xmlns:a="http://schemas.openxmlformats.org/drawingml/2006/main">
            <a:r>
              <a:t>JSONの英数字キーを日本語列名に対応づける。社内PCのWindows PowerShell 5.1では、日本語を含むスクリプトはUTF-8 BOM等の認識可能な形式を選び、データ読込・書込も文字コードを明示する。JSONはConvertFrom-Json等で解析し、AI出力をコードとして実行しない。文字コードの公式資料：https://learn.microsoft.com/en-us/powershell/module/microsoft.powershell.core/about/about_character_encoding?view=powershell-7.6</a:t>
            </a:r>
          </a:p>
          <a:p xmlns:a="http://schemas.openxmlformats.org/drawingml/2006/main">
            <a:r>
              <a:t>検証項目：18列の対応、件名・所在地・案件ID/元URL、会社の役割、日付精度、面積単位、用途根拠、重複、既存の確認済み値との差分。未記載項目は0や架空日付で埋めず状態を残す。新規データの欠損で既存の確認済み値を上書きしない。</a:t>
            </a:r>
          </a:p>
          <a:p xmlns:a="http://schemas.openxmlformats.org/drawingml/2006/main">
            <a:r>
              <a:t>少量試行では採用・保留・除外の各例を含む10件を元資料と照合する。無作為な範囲拡大や全件数の保証は行わず、確認した対象地域・検索条件・未取得範囲を記録する。サイト確認日：2026-09-15。検索：https://www.kensetsu-databank.co.jp/kensaku/。提供項目と対象エリア：https://www.kensetsu-databank.co.jp/plan-info/#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5427eee237f444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664a84d2386414d" /><Relationship Type="http://schemas.openxmlformats.org/officeDocument/2006/relationships/slideLayout" Target="/ppt/slideLayouts/slideLayout1.xml" Id="Ra459d704516f4d9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459d704516f4d9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e69ad82659c40ce" /><Relationship Type="http://schemas.openxmlformats.org/officeDocument/2006/relationships/notesSlide" Target="/ppt/notesSlides/notesSlide1.xml" Id="R9e93d14e964f435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b1d6723281749fa" /><Relationship Type="http://schemas.openxmlformats.org/officeDocument/2006/relationships/notesSlide" Target="/ppt/notesSlides/notesSlide2.xml" Id="R557abe9acc654be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51343255523432c" /><Relationship Type="http://schemas.openxmlformats.org/officeDocument/2006/relationships/notesSlide" Target="/ppt/notesSlides/notesSlide3.xml" Id="Rafa1fd2400414b8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c1c42cfd8694639" /><Relationship Type="http://schemas.openxmlformats.org/officeDocument/2006/relationships/notesSlide" Target="/ppt/notesSlides/notesSlide4.xml" Id="R5092df1d0a994da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text_1">
            <a:extLst xmlns:a="http://schemas.openxmlformats.org/drawingml/2006/main">
              <a:ext uri="{FF2B5EF4-FFF2-40B4-BE49-F238E27FC236}">
                <a16:creationId xmlns:a16="http://schemas.microsoft.com/office/drawing/2014/main" id="{2220A2D5-25AE-4739-83E1-86431A447E70}"/>
              </a:ext>
            </a:extLst>
          </p:cNvPr>
          <p:cNvSpPr>
            <a:spLocks xmlns:a="http://schemas.openxmlformats.org/drawingml/2006/main" noGrp="1"/>
          </p:cNvSpPr>
          <p:nvPr/>
        </p:nvSpPr>
        <p:spPr>
          <a:xfrm xmlns:a="http://schemas.openxmlformats.org/drawingml/2006/main">
            <a:off x="400050" y="228600"/>
            <a:ext cx="113919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550" b="1">
                <a:solidFill>
                  <a:srgbClr val="183349"/>
                </a:solidFill>
                <a:latin typeface="Noto Sans CJK JP"/>
                <a:ea typeface="Noto Sans CJK JP"/>
                <a:cs typeface="Noto Sans CJK JP"/>
              </a:defRPr>
            </a:pPr>
            <a:r>
              <a:rPr sz="2550" b="1">
                <a:solidFill>
                  <a:srgbClr val="183349"/>
                </a:solidFill>
                <a:latin typeface="Noto Sans CJK JP"/>
                <a:ea typeface="Noto Sans CJK JP"/>
                <a:cs typeface="Noto Sans CJK JP"/>
              </a:rPr>
              <a:t>大和ハウス（1925） 建築計画のExcel化フロー</a:t>
            </a:r>
          </a:p>
        </p:txBody>
      </p:sp>
      <p:sp>
        <p:nvSpPr>
          <p:cNvPr id="2" name="text_2">
            <a:extLst xmlns:a="http://schemas.openxmlformats.org/drawingml/2006/main">
              <a:ext uri="{FF2B5EF4-FFF2-40B4-BE49-F238E27FC236}">
                <a16:creationId xmlns:a16="http://schemas.microsoft.com/office/drawing/2014/main" id="{4A5B29B9-34D7-4E15-B883-DD312FBEFFE9}"/>
              </a:ext>
            </a:extLst>
          </p:cNvPr>
          <p:cNvSpPr>
            <a:spLocks xmlns:a="http://schemas.openxmlformats.org/drawingml/2006/main" noGrp="1"/>
          </p:cNvSpPr>
          <p:nvPr/>
        </p:nvSpPr>
        <p:spPr>
          <a:xfrm xmlns:a="http://schemas.openxmlformats.org/drawingml/2006/main">
            <a:off x="419100" y="819150"/>
            <a:ext cx="11353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526372"/>
                </a:solidFill>
                <a:latin typeface="Noto Sans CJK JP"/>
                <a:ea typeface="Noto Sans CJK JP"/>
                <a:cs typeface="Noto Sans CJK JP"/>
              </a:defRPr>
            </a:pPr>
            <a:r>
              <a:rPr sz="1425" b="0">
                <a:solidFill>
                  <a:srgbClr val="526372"/>
                </a:solidFill>
                <a:latin typeface="Noto Sans CJK JP"/>
                <a:ea typeface="Noto Sans CJK JP"/>
                <a:cs typeface="Noto Sans CJK JP"/>
              </a:rPr>
              <a:t>対象：建築主または施工者が大和ハウス工業の案件。実行日を基準に、未竣工の計画を整理する</a:t>
            </a:r>
          </a:p>
        </p:txBody>
      </p:sp>
      <p:sp>
        <p:nvSpPr>
          <p:cNvPr id="3" name="">
            <a:extLst xmlns:a="http://schemas.openxmlformats.org/drawingml/2006/main">
              <a:ext uri="{FF2B5EF4-FFF2-40B4-BE49-F238E27FC236}">
                <a16:creationId xmlns:a16="http://schemas.microsoft.com/office/drawing/2014/main" id="{FC436682-931B-49FE-875A-48BF3D0768DF}"/>
              </a:ext>
            </a:extLst>
          </p:cNvPr>
          <p:cNvSpPr>
            <a:spLocks xmlns:a="http://schemas.openxmlformats.org/drawingml/2006/main" noGrp="1"/>
          </p:cNvSpPr>
          <p:nvPr/>
        </p:nvSpPr>
        <p:spPr>
          <a:xfrm xmlns:a="http://schemas.openxmlformats.org/drawingml/2006/main">
            <a:off x="419100" y="1190625"/>
            <a:ext cx="11353800" cy="0"/>
          </a:xfrm>
          <a:prstGeom xmlns:a="http://schemas.openxmlformats.org/drawingml/2006/main" prst="line">
            <a:avLst/>
          </a:prstGeom>
          <a:noFill xmlns:a="http://schemas.openxmlformats.org/drawingml/2006/main"/>
          <a:ln xmlns:a="http://schemas.openxmlformats.org/drawingml/2006/main" w="11430">
            <a:solidFill>
              <a:srgbClr val="183349"/>
            </a:solidFill>
          </a:ln>
        </p:spPr>
      </p:sp>
      <p:sp>
        <p:nvSpPr>
          <p:cNvPr id="4" name="text_3">
            <a:extLst xmlns:a="http://schemas.openxmlformats.org/drawingml/2006/main">
              <a:ext uri="{FF2B5EF4-FFF2-40B4-BE49-F238E27FC236}">
                <a16:creationId xmlns:a16="http://schemas.microsoft.com/office/drawing/2014/main" id="{A9B14C1A-5BD3-4737-A240-64CFB7012BE6}"/>
              </a:ext>
            </a:extLst>
          </p:cNvPr>
          <p:cNvSpPr>
            <a:spLocks xmlns:a="http://schemas.openxmlformats.org/drawingml/2006/main" noGrp="1"/>
          </p:cNvSpPr>
          <p:nvPr/>
        </p:nvSpPr>
        <p:spPr>
          <a:xfrm xmlns:a="http://schemas.openxmlformats.org/drawingml/2006/main">
            <a:off x="11353800" y="652462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526372"/>
                </a:solidFill>
                <a:latin typeface="Noto Sans CJK JP"/>
                <a:ea typeface="Noto Sans CJK JP"/>
                <a:cs typeface="Noto Sans CJK JP"/>
              </a:defRPr>
            </a:pPr>
            <a:r>
              <a:rPr sz="1200" b="0">
                <a:solidFill>
                  <a:srgbClr val="526372"/>
                </a:solidFill>
                <a:latin typeface="Noto Sans CJK JP"/>
                <a:ea typeface="Noto Sans CJK JP"/>
                <a:cs typeface="Noto Sans CJK JP"/>
              </a:rPr>
              <a:t>01</a:t>
            </a:r>
          </a:p>
        </p:txBody>
      </p:sp>
      <p:sp>
        <p:nvSpPr>
          <p:cNvPr id="5" name="node_4">
            <a:extLst xmlns:a="http://schemas.openxmlformats.org/drawingml/2006/main">
              <a:ext uri="{FF2B5EF4-FFF2-40B4-BE49-F238E27FC236}">
                <a16:creationId xmlns:a16="http://schemas.microsoft.com/office/drawing/2014/main" id="{8815AAFE-D6D3-47E7-94A0-10D60375B79F}"/>
              </a:ext>
            </a:extLst>
          </p:cNvPr>
          <p:cNvSpPr>
            <a:spLocks xmlns:a="http://schemas.openxmlformats.org/drawingml/2006/main" noGrp="1"/>
          </p:cNvSpPr>
          <p:nvPr/>
        </p:nvSpPr>
        <p:spPr>
          <a:xfrm xmlns:a="http://schemas.openxmlformats.org/drawingml/2006/main">
            <a:off x="647700" y="1381125"/>
            <a:ext cx="3238500" cy="609600"/>
          </a:xfrm>
          <a:prstGeom xmlns:a="http://schemas.openxmlformats.org/drawingml/2006/main" prst="rect">
            <a:avLst/>
          </a:prstGeom>
          <a:solidFill xmlns:a="http://schemas.openxmlformats.org/drawingml/2006/main">
            <a:srgbClr val="EEF5F9"/>
          </a:solidFill>
          <a:ln xmlns:a="http://schemas.openxmlformats.org/drawingml/2006/main" w="11430">
            <a:solidFill>
              <a:srgbClr val="CCD6DF"/>
            </a:solidFill>
          </a:ln>
        </p:spPr>
        <p:txBody>
          <a:bodyPr xmlns:a="http://schemas.openxmlformats.org/drawingml/2006/main" lIns="76200" tIns="47625" rIns="76200" bIns="47625" anchor="ctr">
            <a:noAutofit/>
          </a:bodyPr>
          <a:lstStyle xmlns:a="http://schemas.openxmlformats.org/drawingml/2006/main"/>
          <a:p xmlns:a="http://schemas.openxmlformats.org/drawingml/2006/main">
            <a:pPr algn="ctr">
              <a:defRPr sz="1575">
                <a:solidFill>
                  <a:srgbClr val="183349"/>
                </a:solidFill>
                <a:latin typeface="Noto Sans CJK JP"/>
                <a:ea typeface="Noto Sans CJK JP"/>
                <a:cs typeface="Noto Sans CJK JP"/>
              </a:defRPr>
            </a:pPr>
            <a:r>
              <a:rPr sz="1575">
                <a:solidFill>
                  <a:srgbClr val="183349"/>
                </a:solidFill>
                <a:latin typeface="Noto Sans CJK JP"/>
                <a:ea typeface="Noto Sans CJK JP"/>
                <a:cs typeface="Noto Sans CJK JP"/>
              </a:rPr>
              <a:t>① 地域別に候補を検索</a:t>
            </a:r>
          </a:p>
          <a:p xmlns:a="http://schemas.openxmlformats.org/drawingml/2006/main">
            <a:pPr algn="ctr">
              <a:defRPr sz="1575">
                <a:solidFill>
                  <a:srgbClr val="183349"/>
                </a:solidFill>
                <a:latin typeface="Noto Sans CJK JP"/>
                <a:ea typeface="Noto Sans CJK JP"/>
                <a:cs typeface="Noto Sans CJK JP"/>
              </a:defRPr>
            </a:pPr>
            <a:r>
              <a:rPr sz="1575">
                <a:solidFill>
                  <a:srgbClr val="183349"/>
                </a:solidFill>
                <a:latin typeface="Noto Sans CJK JP"/>
                <a:ea typeface="Noto Sans CJK JP"/>
                <a:cs typeface="Noto Sans CJK JP"/>
              </a:rPr>
              <a:t>建築主検索と施工者検索を統合</a:t>
            </a:r>
          </a:p>
        </p:txBody>
      </p:sp>
      <p:sp>
        <p:nvSpPr>
          <p:cNvPr id="6" name="node_5">
            <a:extLst xmlns:a="http://schemas.openxmlformats.org/drawingml/2006/main">
              <a:ext uri="{FF2B5EF4-FFF2-40B4-BE49-F238E27FC236}">
                <a16:creationId xmlns:a16="http://schemas.microsoft.com/office/drawing/2014/main" id="{BBDA97D2-AD32-4AB6-8E51-50E5B02A4784}"/>
              </a:ext>
            </a:extLst>
          </p:cNvPr>
          <p:cNvSpPr>
            <a:spLocks xmlns:a="http://schemas.openxmlformats.org/drawingml/2006/main" noGrp="1"/>
          </p:cNvSpPr>
          <p:nvPr/>
        </p:nvSpPr>
        <p:spPr>
          <a:xfrm xmlns:a="http://schemas.openxmlformats.org/drawingml/2006/main">
            <a:off x="1152525" y="2228850"/>
            <a:ext cx="2228850" cy="838200"/>
          </a:xfrm>
          <a:prstGeom xmlns:a="http://schemas.openxmlformats.org/drawingml/2006/main" prst="diamond">
            <a:avLst/>
          </a:prstGeom>
          <a:solidFill xmlns:a="http://schemas.openxmlformats.org/drawingml/2006/main">
            <a:srgbClr val="EEF5F9"/>
          </a:solidFill>
          <a:ln xmlns:a="http://schemas.openxmlformats.org/drawingml/2006/main" w="11430">
            <a:solidFill>
              <a:srgbClr val="186A94"/>
            </a:solidFill>
          </a:ln>
        </p:spPr>
        <p:txBody>
          <a:bodyPr xmlns:a="http://schemas.openxmlformats.org/drawingml/2006/main" lIns="76200" tIns="47625" rIns="76200" bIns="47625" anchor="ctr">
            <a:noAutofit/>
          </a:bodyPr>
          <a:lstStyle xmlns:a="http://schemas.openxmlformats.org/drawingml/2006/main"/>
          <a:p xmlns:a="http://schemas.openxmlformats.org/drawingml/2006/main">
            <a:r>
              <a:t/>
            </a:r>
          </a:p>
        </p:txBody>
      </p:sp>
      <p:sp>
        <p:nvSpPr>
          <p:cNvPr id="7" name="text_6">
            <a:extLst xmlns:a="http://schemas.openxmlformats.org/drawingml/2006/main">
              <a:ext uri="{FF2B5EF4-FFF2-40B4-BE49-F238E27FC236}">
                <a16:creationId xmlns:a16="http://schemas.microsoft.com/office/drawing/2014/main" id="{D41DCE60-E373-4392-9F82-44823074577B}"/>
              </a:ext>
            </a:extLst>
          </p:cNvPr>
          <p:cNvSpPr>
            <a:spLocks xmlns:a="http://schemas.openxmlformats.org/drawingml/2006/main" noGrp="1"/>
          </p:cNvSpPr>
          <p:nvPr/>
        </p:nvSpPr>
        <p:spPr>
          <a:xfrm xmlns:a="http://schemas.openxmlformats.org/drawingml/2006/main">
            <a:off x="1476375" y="2419350"/>
            <a:ext cx="15811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0">
                <a:solidFill>
                  <a:srgbClr val="183349"/>
                </a:solidFill>
                <a:latin typeface="Noto Sans CJK JP"/>
                <a:ea typeface="Noto Sans CJK JP"/>
                <a:cs typeface="Noto Sans CJK JP"/>
              </a:defRPr>
            </a:pPr>
            <a:r>
              <a:rPr sz="1425" b="0">
                <a:solidFill>
                  <a:srgbClr val="183349"/>
                </a:solidFill>
                <a:latin typeface="Noto Sans CJK JP"/>
                <a:ea typeface="Noto Sans CJK JP"/>
                <a:cs typeface="Noto Sans CJK JP"/>
              </a:rPr>
              <a:t>本文の取得は</a:t>
            </a:r>
          </a:p>
          <a:p xmlns:a="http://schemas.openxmlformats.org/drawingml/2006/main">
            <a:pPr algn="ctr">
              <a:defRPr sz="1425" b="0">
                <a:solidFill>
                  <a:srgbClr val="183349"/>
                </a:solidFill>
                <a:latin typeface="Noto Sans CJK JP"/>
                <a:ea typeface="Noto Sans CJK JP"/>
                <a:cs typeface="Noto Sans CJK JP"/>
              </a:defRPr>
            </a:pPr>
            <a:r>
              <a:rPr sz="1425" b="0">
                <a:solidFill>
                  <a:srgbClr val="183349"/>
                </a:solidFill>
                <a:latin typeface="Noto Sans CJK JP"/>
                <a:ea typeface="Noto Sans CJK JP"/>
                <a:cs typeface="Noto Sans CJK JP"/>
              </a:rPr>
              <a:t>可能？</a:t>
            </a:r>
          </a:p>
        </p:txBody>
      </p:sp>
      <p:sp>
        <p:nvSpPr>
          <p:cNvPr id="8" name="node_7">
            <a:extLst xmlns:a="http://schemas.openxmlformats.org/drawingml/2006/main">
              <a:ext uri="{FF2B5EF4-FFF2-40B4-BE49-F238E27FC236}">
                <a16:creationId xmlns:a16="http://schemas.microsoft.com/office/drawing/2014/main" id="{9C03B165-27D6-46A7-AA78-529A58B1F144}"/>
              </a:ext>
            </a:extLst>
          </p:cNvPr>
          <p:cNvSpPr>
            <a:spLocks xmlns:a="http://schemas.openxmlformats.org/drawingml/2006/main" noGrp="1"/>
          </p:cNvSpPr>
          <p:nvPr/>
        </p:nvSpPr>
        <p:spPr>
          <a:xfrm xmlns:a="http://schemas.openxmlformats.org/drawingml/2006/main">
            <a:off x="647700" y="3314700"/>
            <a:ext cx="3238500" cy="609600"/>
          </a:xfrm>
          <a:prstGeom xmlns:a="http://schemas.openxmlformats.org/drawingml/2006/main" prst="rect">
            <a:avLst/>
          </a:prstGeom>
          <a:solidFill xmlns:a="http://schemas.openxmlformats.org/drawingml/2006/main">
            <a:srgbClr val="EEF5F9"/>
          </a:solidFill>
          <a:ln xmlns:a="http://schemas.openxmlformats.org/drawingml/2006/main" w="11430">
            <a:solidFill>
              <a:srgbClr val="CCD6DF"/>
            </a:solidFill>
          </a:ln>
        </p:spPr>
        <p:txBody>
          <a:bodyPr xmlns:a="http://schemas.openxmlformats.org/drawingml/2006/main" lIns="76200" tIns="47625" rIns="76200" bIns="47625" anchor="ctr">
            <a:noAutofit/>
          </a:bodyPr>
          <a:lstStyle xmlns:a="http://schemas.openxmlformats.org/drawingml/2006/main"/>
          <a:p xmlns:a="http://schemas.openxmlformats.org/drawingml/2006/main">
            <a:pPr algn="ctr">
              <a:defRPr sz="1575">
                <a:solidFill>
                  <a:srgbClr val="183349"/>
                </a:solidFill>
                <a:latin typeface="Noto Sans CJK JP"/>
                <a:ea typeface="Noto Sans CJK JP"/>
                <a:cs typeface="Noto Sans CJK JP"/>
              </a:defRPr>
            </a:pPr>
            <a:r>
              <a:rPr sz="1575">
                <a:solidFill>
                  <a:srgbClr val="183349"/>
                </a:solidFill>
                <a:latin typeface="Noto Sans CJK JP"/>
                <a:ea typeface="Noto Sans CJK JP"/>
                <a:cs typeface="Noto Sans CJK JP"/>
              </a:rPr>
              <a:t>② AIで項目を抽出</a:t>
            </a:r>
          </a:p>
          <a:p xmlns:a="http://schemas.openxmlformats.org/drawingml/2006/main">
            <a:pPr algn="ctr">
              <a:defRPr sz="1575">
                <a:solidFill>
                  <a:srgbClr val="183349"/>
                </a:solidFill>
                <a:latin typeface="Noto Sans CJK JP"/>
                <a:ea typeface="Noto Sans CJK JP"/>
                <a:cs typeface="Noto Sans CJK JP"/>
              </a:defRPr>
            </a:pPr>
            <a:r>
              <a:rPr sz="1575">
                <a:solidFill>
                  <a:srgbClr val="183349"/>
                </a:solidFill>
                <a:latin typeface="Noto Sans CJK JP"/>
                <a:ea typeface="Noto Sans CJK JP"/>
                <a:cs typeface="Noto Sans CJK JP"/>
              </a:rPr>
              <a:t>対象企業・竣工状況を確認</a:t>
            </a:r>
          </a:p>
        </p:txBody>
      </p:sp>
      <p:sp>
        <p:nvSpPr>
          <p:cNvPr id="9" name="node_8">
            <a:extLst xmlns:a="http://schemas.openxmlformats.org/drawingml/2006/main">
              <a:ext uri="{FF2B5EF4-FFF2-40B4-BE49-F238E27FC236}">
                <a16:creationId xmlns:a16="http://schemas.microsoft.com/office/drawing/2014/main" id="{B3B3EFC7-D71D-40F3-BEDF-C74E58FCA946}"/>
              </a:ext>
            </a:extLst>
          </p:cNvPr>
          <p:cNvSpPr>
            <a:spLocks xmlns:a="http://schemas.openxmlformats.org/drawingml/2006/main" noGrp="1"/>
          </p:cNvSpPr>
          <p:nvPr/>
        </p:nvSpPr>
        <p:spPr>
          <a:xfrm xmlns:a="http://schemas.openxmlformats.org/drawingml/2006/main">
            <a:off x="1152525" y="4191000"/>
            <a:ext cx="2228850" cy="838200"/>
          </a:xfrm>
          <a:prstGeom xmlns:a="http://schemas.openxmlformats.org/drawingml/2006/main" prst="diamond">
            <a:avLst/>
          </a:prstGeom>
          <a:solidFill xmlns:a="http://schemas.openxmlformats.org/drawingml/2006/main">
            <a:srgbClr val="EEF5F9"/>
          </a:solidFill>
          <a:ln xmlns:a="http://schemas.openxmlformats.org/drawingml/2006/main" w="11430">
            <a:solidFill>
              <a:srgbClr val="186A94"/>
            </a:solidFill>
          </a:ln>
        </p:spPr>
        <p:txBody>
          <a:bodyPr xmlns:a="http://schemas.openxmlformats.org/drawingml/2006/main" lIns="76200" tIns="47625" rIns="76200" bIns="47625" anchor="ctr">
            <a:noAutofit/>
          </a:bodyPr>
          <a:lstStyle xmlns:a="http://schemas.openxmlformats.org/drawingml/2006/main"/>
          <a:p xmlns:a="http://schemas.openxmlformats.org/drawingml/2006/main">
            <a:r>
              <a:t/>
            </a:r>
          </a:p>
        </p:txBody>
      </p:sp>
      <p:sp>
        <p:nvSpPr>
          <p:cNvPr id="10" name="text_9">
            <a:extLst xmlns:a="http://schemas.openxmlformats.org/drawingml/2006/main">
              <a:ext uri="{FF2B5EF4-FFF2-40B4-BE49-F238E27FC236}">
                <a16:creationId xmlns:a16="http://schemas.microsoft.com/office/drawing/2014/main" id="{EB047F20-BCF9-4A3A-8378-6A3490AD226D}"/>
              </a:ext>
            </a:extLst>
          </p:cNvPr>
          <p:cNvSpPr>
            <a:spLocks xmlns:a="http://schemas.openxmlformats.org/drawingml/2006/main" noGrp="1"/>
          </p:cNvSpPr>
          <p:nvPr/>
        </p:nvSpPr>
        <p:spPr>
          <a:xfrm xmlns:a="http://schemas.openxmlformats.org/drawingml/2006/main">
            <a:off x="1476375" y="4381500"/>
            <a:ext cx="15811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0">
                <a:solidFill>
                  <a:srgbClr val="183349"/>
                </a:solidFill>
                <a:latin typeface="Noto Sans CJK JP"/>
                <a:ea typeface="Noto Sans CJK JP"/>
                <a:cs typeface="Noto Sans CJK JP"/>
              </a:defRPr>
            </a:pPr>
            <a:r>
              <a:rPr sz="1425" b="0">
                <a:solidFill>
                  <a:srgbClr val="183349"/>
                </a:solidFill>
                <a:latin typeface="Noto Sans CJK JP"/>
                <a:ea typeface="Noto Sans CJK JP"/>
                <a:cs typeface="Noto Sans CJK JP"/>
              </a:rPr>
              <a:t>用途の根拠は</a:t>
            </a:r>
          </a:p>
          <a:p xmlns:a="http://schemas.openxmlformats.org/drawingml/2006/main">
            <a:pPr algn="ctr">
              <a:defRPr sz="1425" b="0">
                <a:solidFill>
                  <a:srgbClr val="183349"/>
                </a:solidFill>
                <a:latin typeface="Noto Sans CJK JP"/>
                <a:ea typeface="Noto Sans CJK JP"/>
                <a:cs typeface="Noto Sans CJK JP"/>
              </a:defRPr>
            </a:pPr>
            <a:r>
              <a:rPr sz="1425" b="0">
                <a:solidFill>
                  <a:srgbClr val="183349"/>
                </a:solidFill>
                <a:latin typeface="Noto Sans CJK JP"/>
                <a:ea typeface="Noto Sans CJK JP"/>
                <a:cs typeface="Noto Sans CJK JP"/>
              </a:rPr>
              <a:t>確認済み？</a:t>
            </a:r>
          </a:p>
        </p:txBody>
      </p:sp>
      <p:sp>
        <p:nvSpPr>
          <p:cNvPr id="11" name="node_10">
            <a:extLst xmlns:a="http://schemas.openxmlformats.org/drawingml/2006/main">
              <a:ext uri="{FF2B5EF4-FFF2-40B4-BE49-F238E27FC236}">
                <a16:creationId xmlns:a16="http://schemas.microsoft.com/office/drawing/2014/main" id="{B0A6E40B-0E68-49B6-A778-650D81177887}"/>
              </a:ext>
            </a:extLst>
          </p:cNvPr>
          <p:cNvSpPr>
            <a:spLocks xmlns:a="http://schemas.openxmlformats.org/drawingml/2006/main" noGrp="1"/>
          </p:cNvSpPr>
          <p:nvPr/>
        </p:nvSpPr>
        <p:spPr>
          <a:xfrm xmlns:a="http://schemas.openxmlformats.org/drawingml/2006/main">
            <a:off x="647700" y="5410200"/>
            <a:ext cx="3238500" cy="628650"/>
          </a:xfrm>
          <a:prstGeom xmlns:a="http://schemas.openxmlformats.org/drawingml/2006/main" prst="rect">
            <a:avLst/>
          </a:prstGeom>
          <a:solidFill xmlns:a="http://schemas.openxmlformats.org/drawingml/2006/main">
            <a:srgbClr val="EDF7F5"/>
          </a:solidFill>
          <a:ln xmlns:a="http://schemas.openxmlformats.org/drawingml/2006/main" w="11430">
            <a:solidFill>
              <a:srgbClr val="CCD6DF"/>
            </a:solidFill>
          </a:ln>
        </p:spPr>
        <p:txBody>
          <a:bodyPr xmlns:a="http://schemas.openxmlformats.org/drawingml/2006/main" lIns="76200" tIns="47625" rIns="76200" bIns="47625" anchor="ctr">
            <a:noAutofit/>
          </a:bodyPr>
          <a:lstStyle xmlns:a="http://schemas.openxmlformats.org/drawingml/2006/main"/>
          <a:p xmlns:a="http://schemas.openxmlformats.org/drawingml/2006/main">
            <a:pPr algn="ctr">
              <a:defRPr sz="1575">
                <a:solidFill>
                  <a:srgbClr val="183349"/>
                </a:solidFill>
                <a:latin typeface="Noto Sans CJK JP"/>
                <a:ea typeface="Noto Sans CJK JP"/>
                <a:cs typeface="Noto Sans CJK JP"/>
              </a:defRPr>
            </a:pPr>
            <a:r>
              <a:rPr sz="1575">
                <a:solidFill>
                  <a:srgbClr val="183349"/>
                </a:solidFill>
                <a:latin typeface="Noto Sans CJK JP"/>
                <a:ea typeface="Noto Sans CJK JP"/>
                <a:cs typeface="Noto Sans CJK JP"/>
              </a:rPr>
              <a:t>④ 検証が合格なら保存</a:t>
            </a:r>
          </a:p>
          <a:p xmlns:a="http://schemas.openxmlformats.org/drawingml/2006/main">
            <a:pPr algn="ctr">
              <a:defRPr sz="1575">
                <a:solidFill>
                  <a:srgbClr val="183349"/>
                </a:solidFill>
                <a:latin typeface="Noto Sans CJK JP"/>
                <a:ea typeface="Noto Sans CJK JP"/>
                <a:cs typeface="Noto Sans CJK JP"/>
              </a:defRPr>
            </a:pPr>
            <a:r>
              <a:rPr sz="1575">
                <a:solidFill>
                  <a:srgbClr val="183349"/>
                </a:solidFill>
                <a:latin typeface="Noto Sans CJK JP"/>
                <a:ea typeface="Noto Sans CJK JP"/>
                <a:cs typeface="Noto Sans CJK JP"/>
              </a:rPr>
              <a:t>大和ハウス_1925</a:t>
            </a:r>
          </a:p>
        </p:txBody>
      </p:sp>
      <p:cxnSp>
        <p:nvCxnSpPr>
          <p:cNvPr id="48" name=""/>
          <p:cNvCxnSpPr>
            <a:stCxn xmlns:a="http://schemas.openxmlformats.org/drawingml/2006/main" id="5" idx="2"/>
            <a:endCxn xmlns:a="http://schemas.openxmlformats.org/drawingml/2006/main" id="6" idx="0"/>
          </p:cNvCxnSpPr>
          <p:nvPr/>
        </p:nvCxnSpPr>
        <p:spPr>
          <a:xfrm xmlns:a="http://schemas.openxmlformats.org/drawingml/2006/main">
            <a:off x="2266950" y="1990725"/>
            <a:ext cx="0" cy="238125"/>
          </a:xfrm>
          <a:prstGeom xmlns:a="http://schemas.openxmlformats.org/drawingml/2006/main" prst="straightConnector1">
            <a:avLst/>
          </a:prstGeom>
          <a:ln xmlns:a="http://schemas.openxmlformats.org/drawingml/2006/main" w="17145">
            <a:solidFill>
              <a:srgbClr val="186A94"/>
            </a:solidFill>
            <a:tailEnd type="triangle" w="sm" len="sm"/>
          </a:ln>
        </p:spPr>
      </p:cxnSp>
      <p:cxnSp>
        <p:nvCxnSpPr>
          <p:cNvPr id="49" name=""/>
          <p:cNvCxnSpPr>
            <a:stCxn xmlns:a="http://schemas.openxmlformats.org/drawingml/2006/main" id="6" idx="2"/>
            <a:endCxn xmlns:a="http://schemas.openxmlformats.org/drawingml/2006/main" id="8" idx="0"/>
          </p:cNvCxnSpPr>
          <p:nvPr/>
        </p:nvCxnSpPr>
        <p:spPr>
          <a:xfrm xmlns:a="http://schemas.openxmlformats.org/drawingml/2006/main">
            <a:off x="2266950" y="3067050"/>
            <a:ext cx="0" cy="247650"/>
          </a:xfrm>
          <a:prstGeom xmlns:a="http://schemas.openxmlformats.org/drawingml/2006/main" prst="straightConnector1">
            <a:avLst/>
          </a:prstGeom>
          <a:ln xmlns:a="http://schemas.openxmlformats.org/drawingml/2006/main" w="17145">
            <a:solidFill>
              <a:srgbClr val="186A94"/>
            </a:solidFill>
            <a:tailEnd type="triangle" w="sm" len="sm"/>
          </a:ln>
        </p:spPr>
      </p:cxnSp>
      <p:cxnSp>
        <p:nvCxnSpPr>
          <p:cNvPr id="50" name=""/>
          <p:cNvCxnSpPr>
            <a:stCxn xmlns:a="http://schemas.openxmlformats.org/drawingml/2006/main" id="8" idx="2"/>
            <a:endCxn xmlns:a="http://schemas.openxmlformats.org/drawingml/2006/main" id="9" idx="0"/>
          </p:cNvCxnSpPr>
          <p:nvPr/>
        </p:nvCxnSpPr>
        <p:spPr>
          <a:xfrm xmlns:a="http://schemas.openxmlformats.org/drawingml/2006/main">
            <a:off x="2266950" y="3924300"/>
            <a:ext cx="0" cy="266700"/>
          </a:xfrm>
          <a:prstGeom xmlns:a="http://schemas.openxmlformats.org/drawingml/2006/main" prst="straightConnector1">
            <a:avLst/>
          </a:prstGeom>
          <a:ln xmlns:a="http://schemas.openxmlformats.org/drawingml/2006/main" w="17145">
            <a:solidFill>
              <a:srgbClr val="186A94"/>
            </a:solidFill>
            <a:tailEnd type="triangle" w="sm" len="sm"/>
          </a:ln>
        </p:spPr>
      </p:cxnSp>
      <p:cxnSp>
        <p:nvCxnSpPr>
          <p:cNvPr id="51" name=""/>
          <p:cNvCxnSpPr>
            <a:stCxn xmlns:a="http://schemas.openxmlformats.org/drawingml/2006/main" id="9" idx="2"/>
            <a:endCxn xmlns:a="http://schemas.openxmlformats.org/drawingml/2006/main" id="11" idx="0"/>
          </p:cNvCxnSpPr>
          <p:nvPr/>
        </p:nvCxnSpPr>
        <p:spPr>
          <a:xfrm xmlns:a="http://schemas.openxmlformats.org/drawingml/2006/main">
            <a:off x="2266950" y="5029200"/>
            <a:ext cx="0" cy="381000"/>
          </a:xfrm>
          <a:prstGeom xmlns:a="http://schemas.openxmlformats.org/drawingml/2006/main" prst="straightConnector1">
            <a:avLst/>
          </a:prstGeom>
          <a:ln xmlns:a="http://schemas.openxmlformats.org/drawingml/2006/main" w="17145">
            <a:solidFill>
              <a:srgbClr val="186A94"/>
            </a:solidFill>
            <a:tailEnd type="triangle" w="sm" len="sm"/>
          </a:ln>
        </p:spPr>
      </p:cxnSp>
      <p:sp>
        <p:nvSpPr>
          <p:cNvPr id="16" name="text_11">
            <a:extLst xmlns:a="http://schemas.openxmlformats.org/drawingml/2006/main">
              <a:ext uri="{FF2B5EF4-FFF2-40B4-BE49-F238E27FC236}">
                <a16:creationId xmlns:a16="http://schemas.microsoft.com/office/drawing/2014/main" id="{2B86BA8C-16AD-4311-AB75-6B260ADFAF62}"/>
              </a:ext>
            </a:extLst>
          </p:cNvPr>
          <p:cNvSpPr>
            <a:spLocks xmlns:a="http://schemas.openxmlformats.org/drawingml/2006/main" noGrp="1"/>
          </p:cNvSpPr>
          <p:nvPr/>
        </p:nvSpPr>
        <p:spPr>
          <a:xfrm xmlns:a="http://schemas.openxmlformats.org/drawingml/2006/main">
            <a:off x="2381250" y="30670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007F7B"/>
                </a:solidFill>
                <a:latin typeface="Noto Sans CJK JP"/>
                <a:ea typeface="Noto Sans CJK JP"/>
                <a:cs typeface="Noto Sans CJK JP"/>
              </a:defRPr>
            </a:pPr>
            <a:r>
              <a:rPr sz="1275" b="1">
                <a:solidFill>
                  <a:srgbClr val="007F7B"/>
                </a:solidFill>
                <a:latin typeface="Noto Sans CJK JP"/>
                <a:ea typeface="Noto Sans CJK JP"/>
                <a:cs typeface="Noto Sans CJK JP"/>
              </a:rPr>
              <a:t>はい</a:t>
            </a:r>
          </a:p>
        </p:txBody>
      </p:sp>
      <p:sp>
        <p:nvSpPr>
          <p:cNvPr id="17" name="text_12">
            <a:extLst xmlns:a="http://schemas.openxmlformats.org/drawingml/2006/main">
              <a:ext uri="{FF2B5EF4-FFF2-40B4-BE49-F238E27FC236}">
                <a16:creationId xmlns:a16="http://schemas.microsoft.com/office/drawing/2014/main" id="{32A42F08-627F-4972-B38F-82717187F27D}"/>
              </a:ext>
            </a:extLst>
          </p:cNvPr>
          <p:cNvSpPr>
            <a:spLocks xmlns:a="http://schemas.openxmlformats.org/drawingml/2006/main" noGrp="1"/>
          </p:cNvSpPr>
          <p:nvPr/>
        </p:nvSpPr>
        <p:spPr>
          <a:xfrm xmlns:a="http://schemas.openxmlformats.org/drawingml/2006/main">
            <a:off x="2381250" y="51054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007F7B"/>
                </a:solidFill>
                <a:latin typeface="Noto Sans CJK JP"/>
                <a:ea typeface="Noto Sans CJK JP"/>
                <a:cs typeface="Noto Sans CJK JP"/>
              </a:defRPr>
            </a:pPr>
            <a:r>
              <a:rPr sz="1275" b="1">
                <a:solidFill>
                  <a:srgbClr val="007F7B"/>
                </a:solidFill>
                <a:latin typeface="Noto Sans CJK JP"/>
                <a:ea typeface="Noto Sans CJK JP"/>
                <a:cs typeface="Noto Sans CJK JP"/>
              </a:rPr>
              <a:t>はい</a:t>
            </a:r>
          </a:p>
        </p:txBody>
      </p:sp>
      <p:sp>
        <p:nvSpPr>
          <p:cNvPr id="18" name="node_13">
            <a:extLst xmlns:a="http://schemas.openxmlformats.org/drawingml/2006/main">
              <a:ext uri="{FF2B5EF4-FFF2-40B4-BE49-F238E27FC236}">
                <a16:creationId xmlns:a16="http://schemas.microsoft.com/office/drawing/2014/main" id="{32DC6F0C-C4E2-4A9C-A6FB-D040AD6ABF58}"/>
              </a:ext>
            </a:extLst>
          </p:cNvPr>
          <p:cNvSpPr>
            <a:spLocks xmlns:a="http://schemas.openxmlformats.org/drawingml/2006/main" noGrp="1"/>
          </p:cNvSpPr>
          <p:nvPr/>
        </p:nvSpPr>
        <p:spPr>
          <a:xfrm xmlns:a="http://schemas.openxmlformats.org/drawingml/2006/main">
            <a:off x="4629150" y="2333625"/>
            <a:ext cx="3390900" cy="628650"/>
          </a:xfrm>
          <a:prstGeom xmlns:a="http://schemas.openxmlformats.org/drawingml/2006/main" prst="rect">
            <a:avLst/>
          </a:prstGeom>
          <a:solidFill xmlns:a="http://schemas.openxmlformats.org/drawingml/2006/main">
            <a:srgbClr val="FFF5E6"/>
          </a:solidFill>
          <a:ln xmlns:a="http://schemas.openxmlformats.org/drawingml/2006/main" w="11430">
            <a:solidFill>
              <a:srgbClr val="CCD6DF"/>
            </a:solidFill>
          </a:ln>
        </p:spPr>
        <p:txBody>
          <a:bodyPr xmlns:a="http://schemas.openxmlformats.org/drawingml/2006/main" lIns="76200" tIns="47625" rIns="76200" bIns="47625" anchor="ctr">
            <a:noAutofit/>
          </a:bodyPr>
          <a:lstStyle xmlns:a="http://schemas.openxmlformats.org/drawingml/2006/main"/>
          <a:p xmlns:a="http://schemas.openxmlformats.org/drawingml/2006/main">
            <a:pPr algn="ctr">
              <a:defRPr sz="1500">
                <a:solidFill>
                  <a:srgbClr val="183349"/>
                </a:solidFill>
                <a:latin typeface="Noto Sans CJK JP"/>
                <a:ea typeface="Noto Sans CJK JP"/>
                <a:cs typeface="Noto Sans CJK JP"/>
              </a:defRPr>
            </a:pPr>
            <a:r>
              <a:rPr sz="1500">
                <a:solidFill>
                  <a:srgbClr val="183349"/>
                </a:solidFill>
                <a:latin typeface="Noto Sans CJK JP"/>
                <a:ea typeface="Noto Sans CJK JP"/>
                <a:cs typeface="Noto Sans CJK JP"/>
              </a:rPr>
              <a:t>許諾範囲で画面・PDFを保存</a:t>
            </a:r>
          </a:p>
          <a:p xmlns:a="http://schemas.openxmlformats.org/drawingml/2006/main">
            <a:pPr algn="ctr">
              <a:defRPr sz="1500">
                <a:solidFill>
                  <a:srgbClr val="183349"/>
                </a:solidFill>
                <a:latin typeface="Noto Sans CJK JP"/>
                <a:ea typeface="Noto Sans CJK JP"/>
                <a:cs typeface="Noto Sans CJK JP"/>
              </a:defRPr>
            </a:pPr>
            <a:r>
              <a:rPr sz="1500">
                <a:solidFill>
                  <a:srgbClr val="183349"/>
                </a:solidFill>
                <a:latin typeface="Noto Sans CJK JP"/>
                <a:ea typeface="Noto Sans CJK JP"/>
                <a:cs typeface="Noto Sans CJK JP"/>
              </a:rPr>
              <a:t>画像ならOCRを使って文字抽出</a:t>
            </a:r>
          </a:p>
        </p:txBody>
      </p:sp>
      <p:cxnSp>
        <p:nvCxnSpPr>
          <p:cNvPr id="55" name=""/>
          <p:cNvCxnSpPr>
            <a:stCxn xmlns:a="http://schemas.openxmlformats.org/drawingml/2006/main" id="6" idx="3"/>
            <a:endCxn xmlns:a="http://schemas.openxmlformats.org/drawingml/2006/main" id="18" idx="1"/>
          </p:cNvCxnSpPr>
          <p:nvPr/>
        </p:nvCxnSpPr>
        <p:spPr>
          <a:xfrm xmlns:a="http://schemas.openxmlformats.org/drawingml/2006/main">
            <a:off x="3381375" y="2647950"/>
            <a:ext cx="1247775" cy="0"/>
          </a:xfrm>
          <a:prstGeom xmlns:a="http://schemas.openxmlformats.org/drawingml/2006/main" prst="straightConnector1">
            <a:avLst/>
          </a:prstGeom>
          <a:ln xmlns:a="http://schemas.openxmlformats.org/drawingml/2006/main" w="17145">
            <a:solidFill>
              <a:srgbClr val="99610E"/>
            </a:solidFill>
            <a:tailEnd type="triangle" w="sm" len="sm"/>
          </a:ln>
        </p:spPr>
      </p:cxnSp>
      <p:sp>
        <p:nvSpPr>
          <p:cNvPr id="20" name="text_14">
            <a:extLst xmlns:a="http://schemas.openxmlformats.org/drawingml/2006/main">
              <a:ext uri="{FF2B5EF4-FFF2-40B4-BE49-F238E27FC236}">
                <a16:creationId xmlns:a16="http://schemas.microsoft.com/office/drawing/2014/main" id="{4AF1B162-0492-4F91-8EA5-2944A195C041}"/>
              </a:ext>
            </a:extLst>
          </p:cNvPr>
          <p:cNvSpPr>
            <a:spLocks xmlns:a="http://schemas.openxmlformats.org/drawingml/2006/main" noGrp="1"/>
          </p:cNvSpPr>
          <p:nvPr/>
        </p:nvSpPr>
        <p:spPr>
          <a:xfrm xmlns:a="http://schemas.openxmlformats.org/drawingml/2006/main">
            <a:off x="3524250" y="2362200"/>
            <a:ext cx="895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99610E"/>
                </a:solidFill>
                <a:latin typeface="Noto Sans CJK JP"/>
                <a:ea typeface="Noto Sans CJK JP"/>
                <a:cs typeface="Noto Sans CJK JP"/>
              </a:defRPr>
            </a:pPr>
            <a:r>
              <a:rPr sz="1275" b="1">
                <a:solidFill>
                  <a:srgbClr val="99610E"/>
                </a:solidFill>
                <a:latin typeface="Noto Sans CJK JP"/>
                <a:ea typeface="Noto Sans CJK JP"/>
                <a:cs typeface="Noto Sans CJK JP"/>
              </a:rPr>
              <a:t>いいえ</a:t>
            </a:r>
          </a:p>
        </p:txBody>
      </p:sp>
      <p:cxnSp>
        <p:nvCxnSpPr>
          <p:cNvPr id="57" name=""/>
          <p:cNvCxnSpPr>
            <a:stCxn xmlns:a="http://schemas.openxmlformats.org/drawingml/2006/main" id="18" idx="2"/>
            <a:endCxn xmlns:a="http://schemas.openxmlformats.org/drawingml/2006/main" id="8" idx="3"/>
          </p:cNvCxnSpPr>
          <p:nvPr/>
        </p:nvCxnSpPr>
        <p:spPr>
          <a:xfrm xmlns:a="http://schemas.openxmlformats.org/drawingml/2006/main" flipH="1">
            <a:off x="3886200" y="2962275"/>
            <a:ext cx="2438400" cy="657225"/>
          </a:xfrm>
          <a:prstGeom xmlns:a="http://schemas.openxmlformats.org/drawingml/2006/main" prst="bentConnector5">
            <a:avLst>
              <a:gd name="adj1" fmla="val 0"/>
              <a:gd name="adj2" fmla="val 34783"/>
              <a:gd name="adj3" fmla="val 90625"/>
            </a:avLst>
          </a:prstGeom>
          <a:ln xmlns:a="http://schemas.openxmlformats.org/drawingml/2006/main" w="17145">
            <a:solidFill>
              <a:srgbClr val="99610E"/>
            </a:solidFill>
            <a:tailEnd type="triangle" w="sm" len="sm"/>
          </a:ln>
        </p:spPr>
      </p:cxnSp>
      <p:sp>
        <p:nvSpPr>
          <p:cNvPr id="22" name="node_15">
            <a:extLst xmlns:a="http://schemas.openxmlformats.org/drawingml/2006/main">
              <a:ext uri="{FF2B5EF4-FFF2-40B4-BE49-F238E27FC236}">
                <a16:creationId xmlns:a16="http://schemas.microsoft.com/office/drawing/2014/main" id="{0A9D7BD4-686F-4020-862D-3D6CA4995851}"/>
              </a:ext>
            </a:extLst>
          </p:cNvPr>
          <p:cNvSpPr>
            <a:spLocks xmlns:a="http://schemas.openxmlformats.org/drawingml/2006/main" noGrp="1"/>
          </p:cNvSpPr>
          <p:nvPr/>
        </p:nvSpPr>
        <p:spPr>
          <a:xfrm xmlns:a="http://schemas.openxmlformats.org/drawingml/2006/main">
            <a:off x="4629150" y="4295775"/>
            <a:ext cx="3390900" cy="619125"/>
          </a:xfrm>
          <a:prstGeom xmlns:a="http://schemas.openxmlformats.org/drawingml/2006/main" prst="rect">
            <a:avLst/>
          </a:prstGeom>
          <a:solidFill xmlns:a="http://schemas.openxmlformats.org/drawingml/2006/main">
            <a:srgbClr val="FFF5E6"/>
          </a:solidFill>
          <a:ln xmlns:a="http://schemas.openxmlformats.org/drawingml/2006/main" w="11430">
            <a:solidFill>
              <a:srgbClr val="CCD6DF"/>
            </a:solidFill>
          </a:ln>
        </p:spPr>
        <p:txBody>
          <a:bodyPr xmlns:a="http://schemas.openxmlformats.org/drawingml/2006/main" lIns="76200" tIns="47625" rIns="76200" bIns="47625" anchor="ctr">
            <a:noAutofit/>
          </a:bodyPr>
          <a:lstStyle xmlns:a="http://schemas.openxmlformats.org/drawingml/2006/main"/>
          <a:p xmlns:a="http://schemas.openxmlformats.org/drawingml/2006/main">
            <a:pPr algn="ctr">
              <a:defRPr sz="1500">
                <a:solidFill>
                  <a:srgbClr val="183349"/>
                </a:solidFill>
                <a:latin typeface="Noto Sans CJK JP"/>
                <a:ea typeface="Noto Sans CJK JP"/>
                <a:cs typeface="Noto Sans CJK JP"/>
              </a:defRPr>
            </a:pPr>
            <a:r>
              <a:rPr sz="1500">
                <a:solidFill>
                  <a:srgbClr val="183349"/>
                </a:solidFill>
                <a:latin typeface="Noto Sans CJK JP"/>
                <a:ea typeface="Noto Sans CJK JP"/>
                <a:cs typeface="Noto Sans CJK JP"/>
              </a:rPr>
              <a:t>要確認へ保留</a:t>
            </a:r>
          </a:p>
          <a:p xmlns:a="http://schemas.openxmlformats.org/drawingml/2006/main">
            <a:pPr algn="ctr">
              <a:defRPr sz="1500">
                <a:solidFill>
                  <a:srgbClr val="183349"/>
                </a:solidFill>
                <a:latin typeface="Noto Sans CJK JP"/>
                <a:ea typeface="Noto Sans CJK JP"/>
                <a:cs typeface="Noto Sans CJK JP"/>
              </a:defRPr>
            </a:pPr>
            <a:r>
              <a:rPr sz="1500">
                <a:solidFill>
                  <a:srgbClr val="183349"/>
                </a:solidFill>
                <a:latin typeface="Noto Sans CJK JP"/>
                <a:ea typeface="Noto Sans CJK JP"/>
                <a:cs typeface="Noto Sans CJK JP"/>
              </a:rPr>
              <a:t>用途を推測で確定しない</a:t>
            </a:r>
          </a:p>
        </p:txBody>
      </p:sp>
      <p:cxnSp>
        <p:nvCxnSpPr>
          <p:cNvPr id="59" name=""/>
          <p:cNvCxnSpPr>
            <a:stCxn xmlns:a="http://schemas.openxmlformats.org/drawingml/2006/main" id="9" idx="3"/>
            <a:endCxn xmlns:a="http://schemas.openxmlformats.org/drawingml/2006/main" id="22" idx="1"/>
          </p:cNvCxnSpPr>
          <p:nvPr/>
        </p:nvCxnSpPr>
        <p:spPr>
          <a:xfrm xmlns:a="http://schemas.openxmlformats.org/drawingml/2006/main" flipV="1">
            <a:off x="3381375" y="4605338"/>
            <a:ext cx="1247775" cy="4763"/>
          </a:xfrm>
          <a:prstGeom xmlns:a="http://schemas.openxmlformats.org/drawingml/2006/main" prst="straightConnector1">
            <a:avLst/>
          </a:prstGeom>
          <a:ln xmlns:a="http://schemas.openxmlformats.org/drawingml/2006/main" w="17145">
            <a:solidFill>
              <a:srgbClr val="99610E"/>
            </a:solidFill>
            <a:tailEnd type="triangle" w="sm" len="sm"/>
          </a:ln>
        </p:spPr>
      </p:cxnSp>
      <p:sp>
        <p:nvSpPr>
          <p:cNvPr id="24" name="text_16">
            <a:extLst xmlns:a="http://schemas.openxmlformats.org/drawingml/2006/main">
              <a:ext uri="{FF2B5EF4-FFF2-40B4-BE49-F238E27FC236}">
                <a16:creationId xmlns:a16="http://schemas.microsoft.com/office/drawing/2014/main" id="{26478877-BE03-4C54-BC5F-CD7193222E55}"/>
              </a:ext>
            </a:extLst>
          </p:cNvPr>
          <p:cNvSpPr>
            <a:spLocks xmlns:a="http://schemas.openxmlformats.org/drawingml/2006/main" noGrp="1"/>
          </p:cNvSpPr>
          <p:nvPr/>
        </p:nvSpPr>
        <p:spPr>
          <a:xfrm xmlns:a="http://schemas.openxmlformats.org/drawingml/2006/main">
            <a:off x="3524250" y="4314825"/>
            <a:ext cx="895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99610E"/>
                </a:solidFill>
                <a:latin typeface="Noto Sans CJK JP"/>
                <a:ea typeface="Noto Sans CJK JP"/>
                <a:cs typeface="Noto Sans CJK JP"/>
              </a:defRPr>
            </a:pPr>
            <a:r>
              <a:rPr sz="1275" b="1">
                <a:solidFill>
                  <a:srgbClr val="99610E"/>
                </a:solidFill>
                <a:latin typeface="Noto Sans CJK JP"/>
                <a:ea typeface="Noto Sans CJK JP"/>
                <a:cs typeface="Noto Sans CJK JP"/>
              </a:rPr>
              <a:t>いいえ</a:t>
            </a:r>
          </a:p>
        </p:txBody>
      </p:sp>
      <p:sp>
        <p:nvSpPr>
          <p:cNvPr id="25" name="text_17">
            <a:extLst xmlns:a="http://schemas.openxmlformats.org/drawingml/2006/main">
              <a:ext uri="{FF2B5EF4-FFF2-40B4-BE49-F238E27FC236}">
                <a16:creationId xmlns:a16="http://schemas.microsoft.com/office/drawing/2014/main" id="{9074458F-1AD8-4A7F-8903-9C31459445AC}"/>
              </a:ext>
            </a:extLst>
          </p:cNvPr>
          <p:cNvSpPr>
            <a:spLocks xmlns:a="http://schemas.openxmlformats.org/drawingml/2006/main" noGrp="1"/>
          </p:cNvSpPr>
          <p:nvPr/>
        </p:nvSpPr>
        <p:spPr>
          <a:xfrm xmlns:a="http://schemas.openxmlformats.org/drawingml/2006/main">
            <a:off x="4667250" y="3762375"/>
            <a:ext cx="335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1">
                <a:solidFill>
                  <a:srgbClr val="186A94"/>
                </a:solidFill>
                <a:latin typeface="Noto Sans CJK JP"/>
                <a:ea typeface="Noto Sans CJK JP"/>
                <a:cs typeface="Noto Sans CJK JP"/>
              </a:defRPr>
            </a:pPr>
            <a:r>
              <a:rPr sz="1425" b="1">
                <a:solidFill>
                  <a:srgbClr val="186A94"/>
                </a:solidFill>
                <a:latin typeface="Noto Sans CJK JP"/>
                <a:ea typeface="Noto Sans CJK JP"/>
                <a:cs typeface="Noto Sans CJK JP"/>
              </a:rPr>
              <a:t>③ 公式発表・物件概要で用途を調査</a:t>
            </a:r>
          </a:p>
        </p:txBody>
      </p:sp>
      <p:sp>
        <p:nvSpPr>
          <p:cNvPr id="26" name="node_18">
            <a:extLst xmlns:a="http://schemas.openxmlformats.org/drawingml/2006/main">
              <a:ext uri="{FF2B5EF4-FFF2-40B4-BE49-F238E27FC236}">
                <a16:creationId xmlns:a16="http://schemas.microsoft.com/office/drawing/2014/main" id="{C4B0384C-DF44-4558-B4BD-1D61986EB0F1}"/>
              </a:ext>
            </a:extLst>
          </p:cNvPr>
          <p:cNvSpPr>
            <a:spLocks xmlns:a="http://schemas.openxmlformats.org/drawingml/2006/main" noGrp="1"/>
          </p:cNvSpPr>
          <p:nvPr/>
        </p:nvSpPr>
        <p:spPr>
          <a:xfrm xmlns:a="http://schemas.openxmlformats.org/drawingml/2006/main">
            <a:off x="4629150" y="5410200"/>
            <a:ext cx="3390900" cy="628650"/>
          </a:xfrm>
          <a:prstGeom xmlns:a="http://schemas.openxmlformats.org/drawingml/2006/main" prst="rect">
            <a:avLst/>
          </a:prstGeom>
          <a:solidFill xmlns:a="http://schemas.openxmlformats.org/drawingml/2006/main">
            <a:srgbClr val="FFF5E6"/>
          </a:solidFill>
          <a:ln xmlns:a="http://schemas.openxmlformats.org/drawingml/2006/main" w="11430">
            <a:solidFill>
              <a:srgbClr val="CCD6DF"/>
            </a:solidFill>
          </a:ln>
        </p:spPr>
        <p:txBody>
          <a:bodyPr xmlns:a="http://schemas.openxmlformats.org/drawingml/2006/main" lIns="76200" tIns="47625" rIns="76200" bIns="47625" anchor="ctr">
            <a:noAutofit/>
          </a:bodyPr>
          <a:lstStyle xmlns:a="http://schemas.openxmlformats.org/drawingml/2006/main"/>
          <a:p xmlns:a="http://schemas.openxmlformats.org/drawingml/2006/main">
            <a:pPr algn="ctr">
              <a:defRPr sz="1500">
                <a:solidFill>
                  <a:srgbClr val="183349"/>
                </a:solidFill>
                <a:latin typeface="Noto Sans CJK JP"/>
                <a:ea typeface="Noto Sans CJK JP"/>
                <a:cs typeface="Noto Sans CJK JP"/>
              </a:defRPr>
            </a:pPr>
            <a:r>
              <a:rPr sz="1500">
                <a:solidFill>
                  <a:srgbClr val="183349"/>
                </a:solidFill>
                <a:latin typeface="Noto Sans CJK JP"/>
                <a:ea typeface="Noto Sans CJK JP"/>
                <a:cs typeface="Noto Sans CJK JP"/>
              </a:rPr>
              <a:t>検証エラーは修正して再実行</a:t>
            </a:r>
          </a:p>
          <a:p xmlns:a="http://schemas.openxmlformats.org/drawingml/2006/main">
            <a:pPr algn="ctr">
              <a:defRPr sz="1500">
                <a:solidFill>
                  <a:srgbClr val="183349"/>
                </a:solidFill>
                <a:latin typeface="Noto Sans CJK JP"/>
                <a:ea typeface="Noto Sans CJK JP"/>
                <a:cs typeface="Noto Sans CJK JP"/>
              </a:defRPr>
            </a:pPr>
            <a:r>
              <a:rPr sz="1500">
                <a:solidFill>
                  <a:srgbClr val="183349"/>
                </a:solidFill>
                <a:latin typeface="Noto Sans CJK JP"/>
                <a:ea typeface="Noto Sans CJK JP"/>
                <a:cs typeface="Noto Sans CJK JP"/>
              </a:rPr>
              <a:t>確認済みの既存値は維持</a:t>
            </a:r>
          </a:p>
        </p:txBody>
      </p:sp>
      <p:cxnSp>
        <p:nvCxnSpPr>
          <p:cNvPr id="63" name=""/>
          <p:cNvCxnSpPr>
            <a:stCxn xmlns:a="http://schemas.openxmlformats.org/drawingml/2006/main" id="11" idx="3"/>
            <a:endCxn xmlns:a="http://schemas.openxmlformats.org/drawingml/2006/main" id="26" idx="1"/>
          </p:cNvCxnSpPr>
          <p:nvPr/>
        </p:nvCxnSpPr>
        <p:spPr>
          <a:xfrm xmlns:a="http://schemas.openxmlformats.org/drawingml/2006/main">
            <a:off x="3886200" y="5724525"/>
            <a:ext cx="742950" cy="0"/>
          </a:xfrm>
          <a:prstGeom xmlns:a="http://schemas.openxmlformats.org/drawingml/2006/main" prst="straightConnector1">
            <a:avLst/>
          </a:prstGeom>
          <a:ln xmlns:a="http://schemas.openxmlformats.org/drawingml/2006/main" w="17145">
            <a:solidFill>
              <a:srgbClr val="99610E"/>
            </a:solidFill>
            <a:tailEnd type="triangle" w="sm" len="sm"/>
          </a:ln>
        </p:spPr>
      </p:cxnSp>
      <p:sp>
        <p:nvSpPr>
          <p:cNvPr id="28" name="text_19">
            <a:extLst xmlns:a="http://schemas.openxmlformats.org/drawingml/2006/main">
              <a:ext uri="{FF2B5EF4-FFF2-40B4-BE49-F238E27FC236}">
                <a16:creationId xmlns:a16="http://schemas.microsoft.com/office/drawing/2014/main" id="{AFCD8FD3-671F-4185-9C6E-69821E6944FA}"/>
              </a:ext>
            </a:extLst>
          </p:cNvPr>
          <p:cNvSpPr>
            <a:spLocks xmlns:a="http://schemas.openxmlformats.org/drawingml/2006/main" noGrp="1"/>
          </p:cNvSpPr>
          <p:nvPr/>
        </p:nvSpPr>
        <p:spPr>
          <a:xfrm xmlns:a="http://schemas.openxmlformats.org/drawingml/2006/main">
            <a:off x="3943350" y="54387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1">
                <a:solidFill>
                  <a:srgbClr val="99610E"/>
                </a:solidFill>
                <a:latin typeface="Noto Sans CJK JP"/>
                <a:ea typeface="Noto Sans CJK JP"/>
                <a:cs typeface="Noto Sans CJK JP"/>
              </a:defRPr>
            </a:pPr>
            <a:r>
              <a:rPr sz="1200" b="1">
                <a:solidFill>
                  <a:srgbClr val="99610E"/>
                </a:solidFill>
                <a:latin typeface="Noto Sans CJK JP"/>
                <a:ea typeface="Noto Sans CJK JP"/>
                <a:cs typeface="Noto Sans CJK JP"/>
              </a:rPr>
              <a:t>不一致</a:t>
            </a:r>
          </a:p>
        </p:txBody>
      </p:sp>
      <p:sp>
        <p:nvSpPr>
          <p:cNvPr id="29" name="text_20">
            <a:extLst xmlns:a="http://schemas.openxmlformats.org/drawingml/2006/main">
              <a:ext uri="{FF2B5EF4-FFF2-40B4-BE49-F238E27FC236}">
                <a16:creationId xmlns:a16="http://schemas.microsoft.com/office/drawing/2014/main" id="{DAC5A17E-D86F-412A-9BBD-AC616DE65236}"/>
              </a:ext>
            </a:extLst>
          </p:cNvPr>
          <p:cNvSpPr>
            <a:spLocks xmlns:a="http://schemas.openxmlformats.org/drawingml/2006/main" noGrp="1"/>
          </p:cNvSpPr>
          <p:nvPr/>
        </p:nvSpPr>
        <p:spPr>
          <a:xfrm xmlns:a="http://schemas.openxmlformats.org/drawingml/2006/main">
            <a:off x="8686800" y="1419225"/>
            <a:ext cx="3067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186A94"/>
                </a:solidFill>
                <a:latin typeface="Noto Sans CJK JP"/>
                <a:ea typeface="Noto Sans CJK JP"/>
                <a:cs typeface="Noto Sans CJK JP"/>
              </a:defRPr>
            </a:pPr>
            <a:r>
              <a:rPr sz="1725" b="1">
                <a:solidFill>
                  <a:srgbClr val="186A94"/>
                </a:solidFill>
                <a:latin typeface="Noto Sans CJK JP"/>
                <a:ea typeface="Noto Sans CJK JP"/>
                <a:cs typeface="Noto Sans CJK JP"/>
              </a:rPr>
              <a:t>実施前の確認</a:t>
            </a:r>
          </a:p>
        </p:txBody>
      </p:sp>
      <p:sp>
        <p:nvSpPr>
          <p:cNvPr id="30" name="text_21">
            <a:extLst xmlns:a="http://schemas.openxmlformats.org/drawingml/2006/main">
              <a:ext uri="{FF2B5EF4-FFF2-40B4-BE49-F238E27FC236}">
                <a16:creationId xmlns:a16="http://schemas.microsoft.com/office/drawing/2014/main" id="{0D0BFB28-65E3-43B2-BB2C-EF6453540AAC}"/>
              </a:ext>
            </a:extLst>
          </p:cNvPr>
          <p:cNvSpPr>
            <a:spLocks xmlns:a="http://schemas.openxmlformats.org/drawingml/2006/main" noGrp="1"/>
          </p:cNvSpPr>
          <p:nvPr/>
        </p:nvSpPr>
        <p:spPr>
          <a:xfrm xmlns:a="http://schemas.openxmlformats.org/drawingml/2006/main">
            <a:off x="8686800" y="1819275"/>
            <a:ext cx="30670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88" b="0">
                <a:solidFill>
                  <a:srgbClr val="183349"/>
                </a:solidFill>
                <a:latin typeface="Noto Sans CJK JP"/>
                <a:ea typeface="Noto Sans CJK JP"/>
                <a:cs typeface="Noto Sans CJK JP"/>
              </a:defRPr>
            </a:pPr>
            <a:r>
              <a:rPr sz="1388" b="0">
                <a:solidFill>
                  <a:srgbClr val="183349"/>
                </a:solidFill>
                <a:latin typeface="Noto Sans CJK JP"/>
                <a:ea typeface="Noto Sans CJK JP"/>
                <a:cs typeface="Noto Sans CJK JP"/>
              </a:rPr>
              <a:t>サイトの利用条件・社内ルールを</a:t>
            </a:r>
          </a:p>
          <a:p xmlns:a="http://schemas.openxmlformats.org/drawingml/2006/main">
            <a:pPr algn="l">
              <a:defRPr sz="1388" b="0">
                <a:solidFill>
                  <a:srgbClr val="183349"/>
                </a:solidFill>
                <a:latin typeface="Noto Sans CJK JP"/>
                <a:ea typeface="Noto Sans CJK JP"/>
                <a:cs typeface="Noto Sans CJK JP"/>
              </a:defRPr>
            </a:pPr>
            <a:r>
              <a:rPr sz="1388" b="0">
                <a:solidFill>
                  <a:srgbClr val="183349"/>
                </a:solidFill>
                <a:latin typeface="Noto Sans CJK JP"/>
                <a:ea typeface="Noto Sans CJK JP"/>
                <a:cs typeface="Noto Sans CJK JP"/>
              </a:rPr>
              <a:t>確認し、使える取得・AI処理を選ぶ。</a:t>
            </a:r>
          </a:p>
          <a:p xmlns:a="http://schemas.openxmlformats.org/drawingml/2006/main">
            <a:pPr algn="l">
              <a:defRPr sz="1388" b="0">
                <a:solidFill>
                  <a:srgbClr val="183349"/>
                </a:solidFill>
                <a:latin typeface="Noto Sans CJK JP"/>
                <a:ea typeface="Noto Sans CJK JP"/>
                <a:cs typeface="Noto Sans CJK JP"/>
              </a:defRPr>
            </a:pPr>
            <a:r>
              <a:rPr sz="1388" b="0">
                <a:solidFill>
                  <a:srgbClr val="183349"/>
                </a:solidFill>
                <a:latin typeface="Noto Sans CJK JP"/>
                <a:ea typeface="Noto Sans CJK JP"/>
                <a:cs typeface="Noto Sans CJK JP"/>
              </a:rPr>
              <a:t>不明な点は運営元・社内へ照会する。</a:t>
            </a:r>
          </a:p>
        </p:txBody>
      </p:sp>
      <p:sp>
        <p:nvSpPr>
          <p:cNvPr id="31" name="">
            <a:extLst xmlns:a="http://schemas.openxmlformats.org/drawingml/2006/main">
              <a:ext uri="{FF2B5EF4-FFF2-40B4-BE49-F238E27FC236}">
                <a16:creationId xmlns:a16="http://schemas.microsoft.com/office/drawing/2014/main" id="{03219F83-E914-4FC0-B939-AC56150153CF}"/>
              </a:ext>
            </a:extLst>
          </p:cNvPr>
          <p:cNvSpPr>
            <a:spLocks xmlns:a="http://schemas.openxmlformats.org/drawingml/2006/main" noGrp="1"/>
          </p:cNvSpPr>
          <p:nvPr/>
        </p:nvSpPr>
        <p:spPr>
          <a:xfrm xmlns:a="http://schemas.openxmlformats.org/drawingml/2006/main">
            <a:off x="8686800" y="2895600"/>
            <a:ext cx="3067050" cy="0"/>
          </a:xfrm>
          <a:prstGeom xmlns:a="http://schemas.openxmlformats.org/drawingml/2006/main" prst="line">
            <a:avLst/>
          </a:prstGeom>
          <a:noFill xmlns:a="http://schemas.openxmlformats.org/drawingml/2006/main"/>
          <a:ln xmlns:a="http://schemas.openxmlformats.org/drawingml/2006/main" w="11430">
            <a:solidFill>
              <a:srgbClr val="CCD6DF"/>
            </a:solidFill>
          </a:ln>
        </p:spPr>
      </p:sp>
      <p:sp>
        <p:nvSpPr>
          <p:cNvPr id="32" name="text_22">
            <a:extLst xmlns:a="http://schemas.openxmlformats.org/drawingml/2006/main">
              <a:ext uri="{FF2B5EF4-FFF2-40B4-BE49-F238E27FC236}">
                <a16:creationId xmlns:a16="http://schemas.microsoft.com/office/drawing/2014/main" id="{FCE93434-C470-4614-AAD3-3BA3FD4F8AF9}"/>
              </a:ext>
            </a:extLst>
          </p:cNvPr>
          <p:cNvSpPr>
            <a:spLocks xmlns:a="http://schemas.openxmlformats.org/drawingml/2006/main" noGrp="1"/>
          </p:cNvSpPr>
          <p:nvPr/>
        </p:nvSpPr>
        <p:spPr>
          <a:xfrm xmlns:a="http://schemas.openxmlformats.org/drawingml/2006/main">
            <a:off x="8686800" y="3057525"/>
            <a:ext cx="30670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186A94"/>
                </a:solidFill>
                <a:latin typeface="Noto Sans CJK JP"/>
                <a:ea typeface="Noto Sans CJK JP"/>
                <a:cs typeface="Noto Sans CJK JP"/>
              </a:defRPr>
            </a:pPr>
            <a:r>
              <a:rPr sz="1725" b="1">
                <a:solidFill>
                  <a:srgbClr val="186A94"/>
                </a:solidFill>
                <a:latin typeface="Noto Sans CJK JP"/>
                <a:ea typeface="Noto Sans CJK JP"/>
                <a:cs typeface="Noto Sans CJK JP"/>
              </a:rPr>
              <a:t>AIが担当する処理</a:t>
            </a:r>
          </a:p>
        </p:txBody>
      </p:sp>
      <p:sp>
        <p:nvSpPr>
          <p:cNvPr id="33" name="text_23">
            <a:extLst xmlns:a="http://schemas.openxmlformats.org/drawingml/2006/main">
              <a:ext uri="{FF2B5EF4-FFF2-40B4-BE49-F238E27FC236}">
                <a16:creationId xmlns:a16="http://schemas.microsoft.com/office/drawing/2014/main" id="{6BA99871-8D96-41F3-8751-D92221B46824}"/>
              </a:ext>
            </a:extLst>
          </p:cNvPr>
          <p:cNvSpPr>
            <a:spLocks xmlns:a="http://schemas.openxmlformats.org/drawingml/2006/main" noGrp="1"/>
          </p:cNvSpPr>
          <p:nvPr/>
        </p:nvSpPr>
        <p:spPr>
          <a:xfrm xmlns:a="http://schemas.openxmlformats.org/drawingml/2006/main">
            <a:off x="8686800" y="3457575"/>
            <a:ext cx="30670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183349"/>
                </a:solidFill>
                <a:latin typeface="Noto Sans CJK JP"/>
                <a:ea typeface="Noto Sans CJK JP"/>
                <a:cs typeface="Noto Sans CJK JP"/>
              </a:defRPr>
            </a:pPr>
            <a:r>
              <a:rPr sz="1425" b="0">
                <a:solidFill>
                  <a:srgbClr val="183349"/>
                </a:solidFill>
                <a:latin typeface="Noto Sans CJK JP"/>
                <a:ea typeface="Noto Sans CJK JP"/>
                <a:cs typeface="Noto Sans CJK JP"/>
              </a:rPr>
              <a:t>表記が異なる文章から項目を抽出。</a:t>
            </a:r>
          </a:p>
          <a:p xmlns:a="http://schemas.openxmlformats.org/drawingml/2006/main">
            <a:pPr algn="l">
              <a:defRPr sz="1425" b="0">
                <a:solidFill>
                  <a:srgbClr val="183349"/>
                </a:solidFill>
                <a:latin typeface="Noto Sans CJK JP"/>
                <a:ea typeface="Noto Sans CJK JP"/>
                <a:cs typeface="Noto Sans CJK JP"/>
              </a:defRPr>
            </a:pPr>
            <a:r>
              <a:rPr sz="1425" b="0">
                <a:solidFill>
                  <a:srgbClr val="183349"/>
                </a:solidFill>
                <a:latin typeface="Noto Sans CJK JP"/>
                <a:ea typeface="Noto Sans CJK JP"/>
                <a:cs typeface="Noto Sans CJK JP"/>
              </a:rPr>
              <a:t>分譲・賃貸などの根拠を読み取り、</a:t>
            </a:r>
          </a:p>
          <a:p xmlns:a="http://schemas.openxmlformats.org/drawingml/2006/main">
            <a:pPr algn="l">
              <a:defRPr sz="1425" b="0">
                <a:solidFill>
                  <a:srgbClr val="183349"/>
                </a:solidFill>
                <a:latin typeface="Noto Sans CJK JP"/>
                <a:ea typeface="Noto Sans CJK JP"/>
                <a:cs typeface="Noto Sans CJK JP"/>
              </a:defRPr>
            </a:pPr>
            <a:r>
              <a:rPr sz="1425" b="0">
                <a:solidFill>
                  <a:srgbClr val="183349"/>
                </a:solidFill>
                <a:latin typeface="Noto Sans CJK JP"/>
                <a:ea typeface="Noto Sans CJK JP"/>
                <a:cs typeface="Noto Sans CJK JP"/>
              </a:rPr>
              <a:t>備考用の短い理由を作る。</a:t>
            </a:r>
          </a:p>
        </p:txBody>
      </p:sp>
      <p:sp>
        <p:nvSpPr>
          <p:cNvPr id="34" name="text_24">
            <a:extLst xmlns:a="http://schemas.openxmlformats.org/drawingml/2006/main">
              <a:ext uri="{FF2B5EF4-FFF2-40B4-BE49-F238E27FC236}">
                <a16:creationId xmlns:a16="http://schemas.microsoft.com/office/drawing/2014/main" id="{CD2A70D8-5BEB-401D-9B41-2EBBAC194033}"/>
              </a:ext>
            </a:extLst>
          </p:cNvPr>
          <p:cNvSpPr>
            <a:spLocks xmlns:a="http://schemas.openxmlformats.org/drawingml/2006/main" noGrp="1"/>
          </p:cNvSpPr>
          <p:nvPr/>
        </p:nvSpPr>
        <p:spPr>
          <a:xfrm xmlns:a="http://schemas.openxmlformats.org/drawingml/2006/main">
            <a:off x="8686800" y="4552950"/>
            <a:ext cx="30670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186A94"/>
                </a:solidFill>
                <a:latin typeface="Noto Sans CJK JP"/>
                <a:ea typeface="Noto Sans CJK JP"/>
                <a:cs typeface="Noto Sans CJK JP"/>
              </a:defRPr>
            </a:pPr>
            <a:r>
              <a:rPr sz="1725" b="1">
                <a:solidFill>
                  <a:srgbClr val="186A94"/>
                </a:solidFill>
                <a:latin typeface="Noto Sans CJK JP"/>
                <a:ea typeface="Noto Sans CJK JP"/>
                <a:cs typeface="Noto Sans CJK JP"/>
              </a:rPr>
              <a:t>プログラムが担当する処理</a:t>
            </a:r>
          </a:p>
        </p:txBody>
      </p:sp>
      <p:sp>
        <p:nvSpPr>
          <p:cNvPr id="35" name="text_25">
            <a:extLst xmlns:a="http://schemas.openxmlformats.org/drawingml/2006/main">
              <a:ext uri="{FF2B5EF4-FFF2-40B4-BE49-F238E27FC236}">
                <a16:creationId xmlns:a16="http://schemas.microsoft.com/office/drawing/2014/main" id="{565FBC5F-5F55-438B-B1DD-55522CD06E4C}"/>
              </a:ext>
            </a:extLst>
          </p:cNvPr>
          <p:cNvSpPr>
            <a:spLocks xmlns:a="http://schemas.openxmlformats.org/drawingml/2006/main" noGrp="1"/>
          </p:cNvSpPr>
          <p:nvPr/>
        </p:nvSpPr>
        <p:spPr>
          <a:xfrm xmlns:a="http://schemas.openxmlformats.org/drawingml/2006/main">
            <a:off x="8686800" y="4962525"/>
            <a:ext cx="30670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183349"/>
                </a:solidFill>
                <a:latin typeface="Noto Sans CJK JP"/>
                <a:ea typeface="Noto Sans CJK JP"/>
                <a:cs typeface="Noto Sans CJK JP"/>
              </a:defRPr>
            </a:pPr>
            <a:r>
              <a:rPr sz="1425" b="0">
                <a:solidFill>
                  <a:srgbClr val="183349"/>
                </a:solidFill>
                <a:latin typeface="Noto Sans CJK JP"/>
                <a:ea typeface="Noto Sans CJK JP"/>
                <a:cs typeface="Noto Sans CJK JP"/>
              </a:rPr>
              <a:t>会社名・日付・単位の照合、</a:t>
            </a:r>
          </a:p>
          <a:p xmlns:a="http://schemas.openxmlformats.org/drawingml/2006/main">
            <a:pPr algn="l">
              <a:defRPr sz="1425" b="0">
                <a:solidFill>
                  <a:srgbClr val="183349"/>
                </a:solidFill>
                <a:latin typeface="Noto Sans CJK JP"/>
                <a:ea typeface="Noto Sans CJK JP"/>
                <a:cs typeface="Noto Sans CJK JP"/>
              </a:defRPr>
            </a:pPr>
            <a:r>
              <a:rPr sz="1425" b="0">
                <a:solidFill>
                  <a:srgbClr val="183349"/>
                </a:solidFill>
                <a:latin typeface="Noto Sans CJK JP"/>
                <a:ea typeface="Noto Sans CJK JP"/>
                <a:cs typeface="Noto Sans CJK JP"/>
              </a:rPr>
              <a:t>重複統合、列順の固定、差分更新。</a:t>
            </a:r>
          </a:p>
          <a:p xmlns:a="http://schemas.openxmlformats.org/drawingml/2006/main">
            <a:pPr algn="l">
              <a:defRPr sz="1425" b="0">
                <a:solidFill>
                  <a:srgbClr val="183349"/>
                </a:solidFill>
                <a:latin typeface="Noto Sans CJK JP"/>
                <a:ea typeface="Noto Sans CJK JP"/>
                <a:cs typeface="Noto Sans CJK JP"/>
              </a:defRPr>
            </a:pPr>
            <a:r>
              <a:rPr sz="1425" b="0">
                <a:solidFill>
                  <a:srgbClr val="183349"/>
                </a:solidFill>
                <a:latin typeface="Noto Sans CJK JP"/>
                <a:ea typeface="Noto Sans CJK JP"/>
                <a:cs typeface="Noto Sans CJK JP"/>
              </a:rPr>
              <a:t>人は用途の根拠と例外を確認する。</a:t>
            </a:r>
          </a:p>
        </p:txBody>
      </p:sp>
      <p:sp>
        <p:nvSpPr>
          <p:cNvPr id="36" name="text_26">
            <a:extLst xmlns:a="http://schemas.openxmlformats.org/drawingml/2006/main">
              <a:ext uri="{FF2B5EF4-FFF2-40B4-BE49-F238E27FC236}">
                <a16:creationId xmlns:a16="http://schemas.microsoft.com/office/drawing/2014/main" id="{7CDCDFFB-A7B4-4166-9F65-7E1364DF1B6C}"/>
              </a:ext>
            </a:extLst>
          </p:cNvPr>
          <p:cNvSpPr>
            <a:spLocks xmlns:a="http://schemas.openxmlformats.org/drawingml/2006/main" noGrp="1"/>
          </p:cNvSpPr>
          <p:nvPr/>
        </p:nvSpPr>
        <p:spPr>
          <a:xfrm xmlns:a="http://schemas.openxmlformats.org/drawingml/2006/main">
            <a:off x="647700" y="6210300"/>
            <a:ext cx="10629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1">
                <a:solidFill>
                  <a:srgbClr val="183349"/>
                </a:solidFill>
                <a:latin typeface="Noto Sans CJK JP"/>
                <a:ea typeface="Noto Sans CJK JP"/>
                <a:cs typeface="Noto Sans CJK JP"/>
              </a:defRPr>
            </a:pPr>
            <a:r>
              <a:rPr sz="1425" b="1">
                <a:solidFill>
                  <a:srgbClr val="183349"/>
                </a:solidFill>
                <a:latin typeface="Noto Sans CJK JP"/>
                <a:ea typeface="Noto Sans CJK JP"/>
                <a:cs typeface="Noto Sans CJK JP"/>
              </a:rPr>
              <a:t>最初は10件で試行し、元ページとの一致と用途の根拠を確認してから対象範囲を広げる</a:t>
            </a:r>
          </a:p>
        </p:txBody>
      </p:sp>
    </p:spTree>
    <p:extLst>
      <p:ext uri="{BB962C8B-B14F-4D97-AF65-F5344CB8AC3E}">
        <p14:creationId xmlns:p14="http://schemas.microsoft.com/office/powerpoint/2010/main" val="123566788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_27">
            <a:extLst xmlns:a="http://schemas.openxmlformats.org/drawingml/2006/main">
              <a:ext uri="{FF2B5EF4-FFF2-40B4-BE49-F238E27FC236}">
                <a16:creationId xmlns:a16="http://schemas.microsoft.com/office/drawing/2014/main" id="{44D14136-F22D-4803-8F13-94B53279972A}"/>
              </a:ext>
            </a:extLst>
          </p:cNvPr>
          <p:cNvSpPr>
            <a:spLocks xmlns:a="http://schemas.openxmlformats.org/drawingml/2006/main" noGrp="1"/>
          </p:cNvSpPr>
          <p:nvPr/>
        </p:nvSpPr>
        <p:spPr>
          <a:xfrm xmlns:a="http://schemas.openxmlformats.org/drawingml/2006/main">
            <a:off x="400050" y="228600"/>
            <a:ext cx="113919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550" b="1">
                <a:solidFill>
                  <a:srgbClr val="183349"/>
                </a:solidFill>
                <a:latin typeface="Noto Sans CJK JP"/>
                <a:ea typeface="Noto Sans CJK JP"/>
                <a:cs typeface="Noto Sans CJK JP"/>
              </a:defRPr>
            </a:pPr>
            <a:r>
              <a:rPr sz="2550" b="1">
                <a:solidFill>
                  <a:srgbClr val="183349"/>
                </a:solidFill>
                <a:latin typeface="Noto Sans CJK JP"/>
                <a:ea typeface="Noto Sans CJK JP"/>
                <a:cs typeface="Noto Sans CJK JP"/>
              </a:rPr>
              <a:t>対象案件と主要用途の判定ルール</a:t>
            </a:r>
          </a:p>
        </p:txBody>
      </p:sp>
      <p:sp>
        <p:nvSpPr>
          <p:cNvPr id="2" name="text_28">
            <a:extLst xmlns:a="http://schemas.openxmlformats.org/drawingml/2006/main">
              <a:ext uri="{FF2B5EF4-FFF2-40B4-BE49-F238E27FC236}">
                <a16:creationId xmlns:a16="http://schemas.microsoft.com/office/drawing/2014/main" id="{B96B0DBF-0407-4545-ABD9-DA6B38AD78DF}"/>
              </a:ext>
            </a:extLst>
          </p:cNvPr>
          <p:cNvSpPr>
            <a:spLocks xmlns:a="http://schemas.openxmlformats.org/drawingml/2006/main" noGrp="1"/>
          </p:cNvSpPr>
          <p:nvPr/>
        </p:nvSpPr>
        <p:spPr>
          <a:xfrm xmlns:a="http://schemas.openxmlformats.org/drawingml/2006/main">
            <a:off x="419100" y="819150"/>
            <a:ext cx="11353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526372"/>
                </a:solidFill>
                <a:latin typeface="Noto Sans CJK JP"/>
                <a:ea typeface="Noto Sans CJK JP"/>
                <a:cs typeface="Noto Sans CJK JP"/>
              </a:defRPr>
            </a:pPr>
            <a:r>
              <a:rPr sz="1425" b="0">
                <a:solidFill>
                  <a:srgbClr val="526372"/>
                </a:solidFill>
                <a:latin typeface="Noto Sans CJK JP"/>
                <a:ea typeface="Noto Sans CJK JP"/>
                <a:cs typeface="Noto Sans CJK JP"/>
              </a:rPr>
              <a:t>原文を保存し、採用・保留・除外を分ける。AIの結論には案件ごとの確認可能な根拠を付ける</a:t>
            </a:r>
          </a:p>
        </p:txBody>
      </p:sp>
      <p:sp>
        <p:nvSpPr>
          <p:cNvPr id="3" name="">
            <a:extLst xmlns:a="http://schemas.openxmlformats.org/drawingml/2006/main">
              <a:ext uri="{FF2B5EF4-FFF2-40B4-BE49-F238E27FC236}">
                <a16:creationId xmlns:a16="http://schemas.microsoft.com/office/drawing/2014/main" id="{25D945A3-99F8-40B2-9BAE-0CA6EE7B0A02}"/>
              </a:ext>
            </a:extLst>
          </p:cNvPr>
          <p:cNvSpPr>
            <a:spLocks xmlns:a="http://schemas.openxmlformats.org/drawingml/2006/main" noGrp="1"/>
          </p:cNvSpPr>
          <p:nvPr/>
        </p:nvSpPr>
        <p:spPr>
          <a:xfrm xmlns:a="http://schemas.openxmlformats.org/drawingml/2006/main">
            <a:off x="419100" y="1190625"/>
            <a:ext cx="11353800" cy="0"/>
          </a:xfrm>
          <a:prstGeom xmlns:a="http://schemas.openxmlformats.org/drawingml/2006/main" prst="line">
            <a:avLst/>
          </a:prstGeom>
          <a:noFill xmlns:a="http://schemas.openxmlformats.org/drawingml/2006/main"/>
          <a:ln xmlns:a="http://schemas.openxmlformats.org/drawingml/2006/main" w="11430">
            <a:solidFill>
              <a:srgbClr val="183349"/>
            </a:solidFill>
          </a:ln>
        </p:spPr>
      </p:sp>
      <p:sp>
        <p:nvSpPr>
          <p:cNvPr id="4" name="text_29">
            <a:extLst xmlns:a="http://schemas.openxmlformats.org/drawingml/2006/main">
              <a:ext uri="{FF2B5EF4-FFF2-40B4-BE49-F238E27FC236}">
                <a16:creationId xmlns:a16="http://schemas.microsoft.com/office/drawing/2014/main" id="{5E1A9E48-72F0-4955-B5FE-874115954529}"/>
              </a:ext>
            </a:extLst>
          </p:cNvPr>
          <p:cNvSpPr>
            <a:spLocks xmlns:a="http://schemas.openxmlformats.org/drawingml/2006/main" noGrp="1"/>
          </p:cNvSpPr>
          <p:nvPr/>
        </p:nvSpPr>
        <p:spPr>
          <a:xfrm xmlns:a="http://schemas.openxmlformats.org/drawingml/2006/main">
            <a:off x="11353800" y="652462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526372"/>
                </a:solidFill>
                <a:latin typeface="Noto Sans CJK JP"/>
                <a:ea typeface="Noto Sans CJK JP"/>
                <a:cs typeface="Noto Sans CJK JP"/>
              </a:defRPr>
            </a:pPr>
            <a:r>
              <a:rPr sz="1200" b="0">
                <a:solidFill>
                  <a:srgbClr val="526372"/>
                </a:solidFill>
                <a:latin typeface="Noto Sans CJK JP"/>
                <a:ea typeface="Noto Sans CJK JP"/>
                <a:cs typeface="Noto Sans CJK JP"/>
              </a:rPr>
              <a:t>02</a:t>
            </a:r>
          </a:p>
        </p:txBody>
      </p:sp>
      <p:sp>
        <p:nvSpPr>
          <p:cNvPr id="5" name="text_30">
            <a:extLst xmlns:a="http://schemas.openxmlformats.org/drawingml/2006/main">
              <a:ext uri="{FF2B5EF4-FFF2-40B4-BE49-F238E27FC236}">
                <a16:creationId xmlns:a16="http://schemas.microsoft.com/office/drawing/2014/main" id="{29716DD4-883D-49EB-9D2D-B6D47071146E}"/>
              </a:ext>
            </a:extLst>
          </p:cNvPr>
          <p:cNvSpPr>
            <a:spLocks xmlns:a="http://schemas.openxmlformats.org/drawingml/2006/main" noGrp="1"/>
          </p:cNvSpPr>
          <p:nvPr/>
        </p:nvSpPr>
        <p:spPr>
          <a:xfrm xmlns:a="http://schemas.openxmlformats.org/drawingml/2006/main">
            <a:off x="419100" y="1381125"/>
            <a:ext cx="53530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186A94"/>
                </a:solidFill>
                <a:latin typeface="Noto Sans CJK JP"/>
                <a:ea typeface="Noto Sans CJK JP"/>
                <a:cs typeface="Noto Sans CJK JP"/>
              </a:defRPr>
            </a:pPr>
            <a:r>
              <a:rPr sz="1800" b="1">
                <a:solidFill>
                  <a:srgbClr val="186A94"/>
                </a:solidFill>
                <a:latin typeface="Noto Sans CJK JP"/>
                <a:ea typeface="Noto Sans CJK JP"/>
                <a:cs typeface="Noto Sans CJK JP"/>
              </a:rPr>
              <a:t>対象企業・竣工状況</a:t>
            </a:r>
          </a:p>
        </p:txBody>
      </p:sp>
      <p:graphicFrame>
        <p:nvGraphicFramePr>
          <p:cNvPr id="17" name=""/>
          <p:cNvGraphicFramePr/>
          <p:nvPr/>
        </p:nvGraphicFramePr>
        <p:xfrm>
          <a:off xmlns:a="http://schemas.openxmlformats.org/drawingml/2006/main" x="419100" y="1819275"/>
          <a:ext xmlns:a="http://schemas.openxmlformats.org/drawingml/2006/main" cx="5353050" cy="2943225"/>
        </p:xfrm>
        <a:graphic xmlns:a="http://schemas.openxmlformats.org/drawingml/2006/main">
          <a:graphicData uri="http://schemas.openxmlformats.org/drawingml/2006/table">
            <a:tbl>
              <a:tblPr/>
              <a:tblGrid>
                <a:gridCol w="1885950"/>
                <a:gridCol w="3467100"/>
              </a:tblGrid>
              <a:tr h="352425">
                <a:tc>
                  <a:txBody>
                    <a:bodyPr lIns="76200" tIns="47625" rIns="76200" bIns="47625">
                      <a:noAutofit/>
                    </a:bodyPr>
                    <a:lstStyle/>
                    <a:p>
                      <a:r>
                        <a:rPr sz="1350" b="1">
                          <a:solidFill>
                            <a:srgbClr val="FFFFFF"/>
                          </a:solidFill>
                          <a:latin typeface="Noto Sans CJK JP"/>
                          <a:ea typeface="Noto Sans CJK JP"/>
                          <a:cs typeface="Noto Sans CJK JP"/>
                        </a:rPr>
                        <a:t>判定</a:t>
                      </a:r>
                    </a:p>
                  </a:txBody>
                  <a:tcPr marL="91440" marR="91440" marT="45720" marB="45720" anchor="ctr">
                    <a:solidFill>
                      <a:srgbClr val="183349"/>
                    </a:solidFill>
                  </a:tcPr>
                </a:tc>
                <a:tc>
                  <a:txBody>
                    <a:bodyPr lIns="76200" tIns="47625" rIns="76200" bIns="47625">
                      <a:noAutofit/>
                    </a:bodyPr>
                    <a:lstStyle/>
                    <a:p>
                      <a:r>
                        <a:rPr sz="1350" b="1">
                          <a:solidFill>
                            <a:srgbClr val="FFFFFF"/>
                          </a:solidFill>
                          <a:latin typeface="Noto Sans CJK JP"/>
                          <a:ea typeface="Noto Sans CJK JP"/>
                          <a:cs typeface="Noto Sans CJK JP"/>
                        </a:rPr>
                        <a:t>処理</a:t>
                      </a:r>
                    </a:p>
                  </a:txBody>
                  <a:tcPr marL="91440" marR="91440" marT="45720" marB="45720" anchor="ctr">
                    <a:solidFill>
                      <a:srgbClr val="183349"/>
                    </a:solidFill>
                  </a:tcPr>
                </a:tc>
              </a:tr>
              <a:tr h="647700">
                <a:tc>
                  <a:txBody>
                    <a:bodyPr lIns="76200" tIns="47625" rIns="76200" bIns="47625">
                      <a:noAutofit/>
                    </a:bodyPr>
                    <a:lstStyle/>
                    <a:p>
                      <a:r>
                        <a:rPr sz="1350" b="0">
                          <a:solidFill>
                            <a:srgbClr val="183349"/>
                          </a:solidFill>
                          <a:latin typeface="Noto Sans CJK JP"/>
                          <a:ea typeface="Noto Sans CJK JP"/>
                          <a:cs typeface="Noto Sans CJK JP"/>
                        </a:rPr>
                        <a:t>建築主 OR 施工者が</a:t>
                      </a:r>
                    </a:p>
                    <a:p>
                      <a:r>
                        <a:rPr sz="1350" b="0">
                          <a:solidFill>
                            <a:srgbClr val="183349"/>
                          </a:solidFill>
                          <a:latin typeface="Noto Sans CJK JP"/>
                          <a:ea typeface="Noto Sans CJK JP"/>
                          <a:cs typeface="Noto Sans CJK JP"/>
                        </a:rPr>
                        <a:t>大和ハウス工業</a:t>
                      </a:r>
                    </a:p>
                  </a:txBody>
                  <a:tcPr marL="91440" marR="91440" marT="45720" marB="45720" anchor="ctr">
                    <a:solidFill>
                      <a:srgbClr val="FFFFFF"/>
                    </a:solidFill>
                  </a:tcPr>
                </a:tc>
                <a:tc>
                  <a:txBody>
                    <a:bodyPr lIns="76200" tIns="47625" rIns="76200" bIns="47625">
                      <a:noAutofit/>
                    </a:bodyPr>
                    <a:lstStyle/>
                    <a:p>
                      <a:r>
                        <a:rPr sz="1350" b="0">
                          <a:solidFill>
                            <a:srgbClr val="183349"/>
                          </a:solidFill>
                          <a:latin typeface="Noto Sans CJK JP"/>
                          <a:ea typeface="Noto Sans CJK JP"/>
                          <a:cs typeface="Noto Sans CJK JP"/>
                        </a:rPr>
                        <a:t>採用候補。支店・支社名の表記、</a:t>
                      </a:r>
                    </a:p>
                    <a:p>
                      <a:r>
                        <a:rPr sz="1350" b="0">
                          <a:solidFill>
                            <a:srgbClr val="183349"/>
                          </a:solidFill>
                          <a:latin typeface="Noto Sans CJK JP"/>
                          <a:ea typeface="Noto Sans CJK JP"/>
                          <a:cs typeface="Noto Sans CJK JP"/>
                        </a:rPr>
                        <a:t>共同事業・JVへの参加も確認する</a:t>
                      </a:r>
                    </a:p>
                  </a:txBody>
                  <a:tcPr marL="91440" marR="91440" marT="45720" marB="45720" anchor="ctr">
                    <a:solidFill>
                      <a:srgbClr val="FFFFFF"/>
                    </a:solidFill>
                  </a:tcPr>
                </a:tc>
              </a:tr>
              <a:tr h="647700">
                <a:tc>
                  <a:txBody>
                    <a:bodyPr lIns="76200" tIns="47625" rIns="76200" bIns="47625">
                      <a:noAutofit/>
                    </a:bodyPr>
                    <a:lstStyle/>
                    <a:p>
                      <a:r>
                        <a:rPr sz="1350" b="0">
                          <a:solidFill>
                            <a:srgbClr val="183349"/>
                          </a:solidFill>
                          <a:latin typeface="Noto Sans CJK JP"/>
                          <a:ea typeface="Noto Sans CJK JP"/>
                          <a:cs typeface="Noto Sans CJK JP"/>
                        </a:rPr>
                        <a:t>設計のみ／別法人</a:t>
                      </a:r>
                    </a:p>
                  </a:txBody>
                  <a:tcPr marL="91440" marR="91440" marT="45720" marB="45720" anchor="ctr">
                    <a:solidFill>
                      <a:srgbClr val="F7F9FB"/>
                    </a:solidFill>
                  </a:tcPr>
                </a:tc>
                <a:tc>
                  <a:txBody>
                    <a:bodyPr lIns="76200" tIns="47625" rIns="76200" bIns="47625">
                      <a:noAutofit/>
                    </a:bodyPr>
                    <a:lstStyle/>
                    <a:p>
                      <a:r>
                        <a:rPr sz="1350" b="0">
                          <a:solidFill>
                            <a:srgbClr val="183349"/>
                          </a:solidFill>
                          <a:latin typeface="Noto Sans CJK JP"/>
                          <a:ea typeface="Noto Sans CJK JP"/>
                          <a:cs typeface="Noto Sans CJK JP"/>
                        </a:rPr>
                        <a:t>設計だけなら対象外。子会社・SPCは</a:t>
                      </a:r>
                    </a:p>
                    <a:p>
                      <a:r>
                        <a:rPr sz="1350" b="0">
                          <a:solidFill>
                            <a:srgbClr val="183349"/>
                          </a:solidFill>
                          <a:latin typeface="Noto Sans CJK JP"/>
                          <a:ea typeface="Noto Sans CJK JP"/>
                          <a:cs typeface="Noto Sans CJK JP"/>
                        </a:rPr>
                        <a:t>本体と混ぜず、関係を要確認へ残す</a:t>
                      </a:r>
                    </a:p>
                  </a:txBody>
                  <a:tcPr marL="91440" marR="91440" marT="45720" marB="45720" anchor="ctr">
                    <a:solidFill>
                      <a:srgbClr val="F7F9FB"/>
                    </a:solidFill>
                  </a:tcPr>
                </a:tc>
              </a:tr>
              <a:tr h="647700">
                <a:tc>
                  <a:txBody>
                    <a:bodyPr lIns="76200" tIns="47625" rIns="76200" bIns="47625">
                      <a:noAutofit/>
                    </a:bodyPr>
                    <a:lstStyle/>
                    <a:p>
                      <a:r>
                        <a:rPr sz="1350" b="0">
                          <a:solidFill>
                            <a:srgbClr val="183349"/>
                          </a:solidFill>
                          <a:latin typeface="Noto Sans CJK JP"/>
                          <a:ea typeface="Noto Sans CJK JP"/>
                          <a:cs typeface="Noto Sans CJK JP"/>
                        </a:rPr>
                        <a:t>完成予定が</a:t>
                      </a:r>
                    </a:p>
                    <a:p>
                      <a:r>
                        <a:rPr sz="1350" b="0">
                          <a:solidFill>
                            <a:srgbClr val="183349"/>
                          </a:solidFill>
                          <a:latin typeface="Noto Sans CJK JP"/>
                          <a:ea typeface="Noto Sans CJK JP"/>
                          <a:cs typeface="Noto Sans CJK JP"/>
                        </a:rPr>
                        <a:t>実行日以降</a:t>
                      </a:r>
                    </a:p>
                  </a:txBody>
                  <a:tcPr marL="91440" marR="91440" marT="45720" marB="45720" anchor="ctr">
                    <a:solidFill>
                      <a:srgbClr val="FFFFFF"/>
                    </a:solidFill>
                  </a:tcPr>
                </a:tc>
                <a:tc>
                  <a:txBody>
                    <a:bodyPr lIns="76200" tIns="47625" rIns="76200" bIns="47625">
                      <a:noAutofit/>
                    </a:bodyPr>
                    <a:lstStyle/>
                    <a:p>
                      <a:r>
                        <a:rPr sz="1350" b="0">
                          <a:solidFill>
                            <a:srgbClr val="183349"/>
                          </a:solidFill>
                          <a:latin typeface="Noto Sans CJK JP"/>
                          <a:ea typeface="Noto Sans CJK JP"/>
                          <a:cs typeface="Noto Sans CJK JP"/>
                        </a:rPr>
                        <a:t>未竣工候補。公式資料で竣工済み・</a:t>
                      </a:r>
                    </a:p>
                    <a:p>
                      <a:r>
                        <a:rPr sz="1350" b="0">
                          <a:solidFill>
                            <a:srgbClr val="183349"/>
                          </a:solidFill>
                          <a:latin typeface="Noto Sans CJK JP"/>
                          <a:ea typeface="Noto Sans CJK JP"/>
                          <a:cs typeface="Noto Sans CJK JP"/>
                        </a:rPr>
                        <a:t>中止が確認できた案件は除外する</a:t>
                      </a:r>
                    </a:p>
                  </a:txBody>
                  <a:tcPr marL="91440" marR="91440" marT="45720" marB="45720" anchor="ctr">
                    <a:solidFill>
                      <a:srgbClr val="FFFFFF"/>
                    </a:solidFill>
                  </a:tcPr>
                </a:tc>
              </a:tr>
              <a:tr h="647700">
                <a:tc>
                  <a:txBody>
                    <a:bodyPr lIns="76200" tIns="47625" rIns="76200" bIns="47625">
                      <a:noAutofit/>
                    </a:bodyPr>
                    <a:lstStyle/>
                    <a:p>
                      <a:r>
                        <a:rPr sz="1350" b="0">
                          <a:solidFill>
                            <a:srgbClr val="183349"/>
                          </a:solidFill>
                          <a:latin typeface="Noto Sans CJK JP"/>
                          <a:ea typeface="Noto Sans CJK JP"/>
                          <a:cs typeface="Noto Sans CJK JP"/>
                        </a:rPr>
                        <a:t>完成予定が</a:t>
                      </a:r>
                    </a:p>
                    <a:p>
                      <a:r>
                        <a:rPr sz="1350" b="0">
                          <a:solidFill>
                            <a:srgbClr val="183349"/>
                          </a:solidFill>
                          <a:latin typeface="Noto Sans CJK JP"/>
                          <a:ea typeface="Noto Sans CJK JP"/>
                          <a:cs typeface="Noto Sans CJK JP"/>
                        </a:rPr>
                        <a:t>過去・不明</a:t>
                      </a:r>
                    </a:p>
                  </a:txBody>
                  <a:tcPr marL="91440" marR="91440" marT="45720" marB="45720" anchor="ctr">
                    <a:solidFill>
                      <a:srgbClr val="F7F9FB"/>
                    </a:solidFill>
                  </a:tcPr>
                </a:tc>
                <a:tc>
                  <a:txBody>
                    <a:bodyPr lIns="76200" tIns="47625" rIns="76200" bIns="47625">
                      <a:noAutofit/>
                    </a:bodyPr>
                    <a:lstStyle/>
                    <a:p>
                      <a:r>
                        <a:rPr sz="1350" b="0">
                          <a:solidFill>
                            <a:srgbClr val="183349"/>
                          </a:solidFill>
                          <a:latin typeface="Noto Sans CJK JP"/>
                          <a:ea typeface="Noto Sans CJK JP"/>
                          <a:cs typeface="Noto Sans CJK JP"/>
                        </a:rPr>
                        <a:t>延期・進捗を再調査。新予定があれば</a:t>
                      </a:r>
                    </a:p>
                    <a:p>
                      <a:r>
                        <a:rPr sz="1350" b="0">
                          <a:solidFill>
                            <a:srgbClr val="183349"/>
                          </a:solidFill>
                          <a:latin typeface="Noto Sans CJK JP"/>
                          <a:ea typeface="Noto Sans CJK JP"/>
                          <a:cs typeface="Noto Sans CJK JP"/>
                        </a:rPr>
                        <a:t>更新し、確認できなければ保留する</a:t>
                      </a:r>
                    </a:p>
                  </a:txBody>
                  <a:tcPr marL="91440" marR="91440" marT="45720" marB="45720" anchor="ctr">
                    <a:solidFill>
                      <a:srgbClr val="F7F9FB"/>
                    </a:solidFill>
                  </a:tcPr>
                </a:tc>
              </a:tr>
            </a:tbl>
          </a:graphicData>
        </a:graphic>
      </p:graphicFrame>
      <p:sp>
        <p:nvSpPr>
          <p:cNvPr id="7" name="text_31">
            <a:extLst xmlns:a="http://schemas.openxmlformats.org/drawingml/2006/main">
              <a:ext uri="{FF2B5EF4-FFF2-40B4-BE49-F238E27FC236}">
                <a16:creationId xmlns:a16="http://schemas.microsoft.com/office/drawing/2014/main" id="{6E65D9D4-527A-4D74-998D-DA42D960C378}"/>
              </a:ext>
            </a:extLst>
          </p:cNvPr>
          <p:cNvSpPr>
            <a:spLocks xmlns:a="http://schemas.openxmlformats.org/drawingml/2006/main" noGrp="1"/>
          </p:cNvSpPr>
          <p:nvPr/>
        </p:nvSpPr>
        <p:spPr>
          <a:xfrm xmlns:a="http://schemas.openxmlformats.org/drawingml/2006/main">
            <a:off x="419100" y="4943475"/>
            <a:ext cx="5353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186A94"/>
                </a:solidFill>
                <a:latin typeface="Noto Sans CJK JP"/>
                <a:ea typeface="Noto Sans CJK JP"/>
                <a:cs typeface="Noto Sans CJK JP"/>
              </a:defRPr>
            </a:pPr>
            <a:r>
              <a:rPr sz="1725" b="1">
                <a:solidFill>
                  <a:srgbClr val="186A94"/>
                </a:solidFill>
                <a:latin typeface="Noto Sans CJK JP"/>
                <a:ea typeface="Noto Sans CJK JP"/>
                <a:cs typeface="Noto Sans CJK JP"/>
              </a:rPr>
              <a:t>月だけの日付・住所・重複</a:t>
            </a:r>
          </a:p>
        </p:txBody>
      </p:sp>
      <p:sp>
        <p:nvSpPr>
          <p:cNvPr id="8" name="text_32">
            <a:extLst xmlns:a="http://schemas.openxmlformats.org/drawingml/2006/main">
              <a:ext uri="{FF2B5EF4-FFF2-40B4-BE49-F238E27FC236}">
                <a16:creationId xmlns:a16="http://schemas.microsoft.com/office/drawing/2014/main" id="{EF820AF9-93B5-4968-82A5-7B02E64AE8A6}"/>
              </a:ext>
            </a:extLst>
          </p:cNvPr>
          <p:cNvSpPr>
            <a:spLocks xmlns:a="http://schemas.openxmlformats.org/drawingml/2006/main" noGrp="1"/>
          </p:cNvSpPr>
          <p:nvPr/>
        </p:nvSpPr>
        <p:spPr>
          <a:xfrm xmlns:a="http://schemas.openxmlformats.org/drawingml/2006/main">
            <a:off x="419100" y="5353050"/>
            <a:ext cx="53530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88" b="0">
                <a:solidFill>
                  <a:srgbClr val="183349"/>
                </a:solidFill>
                <a:latin typeface="Noto Sans CJK JP"/>
                <a:ea typeface="Noto Sans CJK JP"/>
                <a:cs typeface="Noto Sans CJK JP"/>
              </a:defRPr>
            </a:pPr>
            <a:r>
              <a:rPr sz="1388" b="0">
                <a:solidFill>
                  <a:srgbClr val="183349"/>
                </a:solidFill>
                <a:latin typeface="Noto Sans CJK JP"/>
                <a:ea typeface="Noto Sans CJK JP"/>
                <a:cs typeface="Noto Sans CJK JP"/>
              </a:rPr>
              <a:t>「2027年3月」は年月のまま保存し、架空の日を付けない。</a:t>
            </a:r>
          </a:p>
          <a:p xmlns:a="http://schemas.openxmlformats.org/drawingml/2006/main">
            <a:pPr algn="l">
              <a:defRPr sz="1388" b="0">
                <a:solidFill>
                  <a:srgbClr val="183349"/>
                </a:solidFill>
                <a:latin typeface="Noto Sans CJK JP"/>
                <a:ea typeface="Noto Sans CJK JP"/>
                <a:cs typeface="Noto Sans CJK JP"/>
              </a:defRPr>
            </a:pPr>
            <a:r>
              <a:rPr sz="1388" b="0">
                <a:solidFill>
                  <a:srgbClr val="183349"/>
                </a:solidFill>
                <a:latin typeface="Noto Sans CJK JP"/>
                <a:ea typeface="Noto Sans CJK JP"/>
                <a:cs typeface="Noto Sans CJK JP"/>
              </a:rPr>
              <a:t>地番と住居表示を区別し、欠損した数値を0にしない。</a:t>
            </a:r>
          </a:p>
          <a:p xmlns:a="http://schemas.openxmlformats.org/drawingml/2006/main">
            <a:pPr algn="l">
              <a:defRPr sz="1388" b="0">
                <a:solidFill>
                  <a:srgbClr val="183349"/>
                </a:solidFill>
                <a:latin typeface="Noto Sans CJK JP"/>
                <a:ea typeface="Noto Sans CJK JP"/>
                <a:cs typeface="Noto Sans CJK JP"/>
              </a:defRPr>
            </a:pPr>
            <a:r>
              <a:rPr sz="1388" b="0">
                <a:solidFill>
                  <a:srgbClr val="183349"/>
                </a:solidFill>
                <a:latin typeface="Noto Sans CJK JP"/>
                <a:ea typeface="Noto Sans CJK JP"/>
                <a:cs typeface="Noto Sans CJK JP"/>
              </a:rPr>
              <a:t>同じ計画は地域＋物件番号で照合し、名称・住所も確認。</a:t>
            </a:r>
          </a:p>
          <a:p xmlns:a="http://schemas.openxmlformats.org/drawingml/2006/main">
            <a:pPr algn="l">
              <a:defRPr sz="1388" b="0">
                <a:solidFill>
                  <a:srgbClr val="183349"/>
                </a:solidFill>
                <a:latin typeface="Noto Sans CJK JP"/>
                <a:ea typeface="Noto Sans CJK JP"/>
                <a:cs typeface="Noto Sans CJK JP"/>
              </a:defRPr>
            </a:pPr>
            <a:r>
              <a:rPr sz="1388" b="0">
                <a:solidFill>
                  <a:srgbClr val="183349"/>
                </a:solidFill>
                <a:latin typeface="Noto Sans CJK JP"/>
                <a:ea typeface="Noto Sans CJK JP"/>
                <a:cs typeface="Noto Sans CJK JP"/>
              </a:rPr>
              <a:t>別棟・別工期は区別し、同じ面積の二重計上を防ぐ。</a:t>
            </a:r>
          </a:p>
        </p:txBody>
      </p:sp>
      <p:sp>
        <p:nvSpPr>
          <p:cNvPr id="9" name="text_33">
            <a:extLst xmlns:a="http://schemas.openxmlformats.org/drawingml/2006/main">
              <a:ext uri="{FF2B5EF4-FFF2-40B4-BE49-F238E27FC236}">
                <a16:creationId xmlns:a16="http://schemas.microsoft.com/office/drawing/2014/main" id="{E01A4B40-D0E8-4381-A174-B0985314EFAF}"/>
              </a:ext>
            </a:extLst>
          </p:cNvPr>
          <p:cNvSpPr>
            <a:spLocks xmlns:a="http://schemas.openxmlformats.org/drawingml/2006/main" noGrp="1"/>
          </p:cNvSpPr>
          <p:nvPr/>
        </p:nvSpPr>
        <p:spPr>
          <a:xfrm xmlns:a="http://schemas.openxmlformats.org/drawingml/2006/main">
            <a:off x="6153150" y="1381125"/>
            <a:ext cx="5619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186A94"/>
                </a:solidFill>
                <a:latin typeface="Noto Sans CJK JP"/>
                <a:ea typeface="Noto Sans CJK JP"/>
                <a:cs typeface="Noto Sans CJK JP"/>
              </a:defRPr>
            </a:pPr>
            <a:r>
              <a:rPr sz="1800" b="1">
                <a:solidFill>
                  <a:srgbClr val="186A94"/>
                </a:solidFill>
                <a:latin typeface="Noto Sans CJK JP"/>
                <a:ea typeface="Noto Sans CJK JP"/>
                <a:cs typeface="Noto Sans CJK JP"/>
              </a:rPr>
              <a:t>主要用途と備考の書き方</a:t>
            </a:r>
          </a:p>
        </p:txBody>
      </p:sp>
      <p:graphicFrame>
        <p:nvGraphicFramePr>
          <p:cNvPr id="21" name=""/>
          <p:cNvGraphicFramePr/>
          <p:nvPr/>
        </p:nvGraphicFramePr>
        <p:xfrm>
          <a:off xmlns:a="http://schemas.openxmlformats.org/drawingml/2006/main" x="6153150" y="1819275"/>
          <a:ext xmlns:a="http://schemas.openxmlformats.org/drawingml/2006/main" cx="5619750" cy="3590925"/>
        </p:xfrm>
        <a:graphic xmlns:a="http://schemas.openxmlformats.org/drawingml/2006/main">
          <a:graphicData uri="http://schemas.openxmlformats.org/drawingml/2006/table">
            <a:tbl>
              <a:tblPr/>
              <a:tblGrid>
                <a:gridCol w="1476375"/>
                <a:gridCol w="4143375"/>
              </a:tblGrid>
              <a:tr h="352425">
                <a:tc>
                  <a:txBody>
                    <a:bodyPr lIns="76200" tIns="47625" rIns="76200" bIns="47625">
                      <a:noAutofit/>
                    </a:bodyPr>
                    <a:lstStyle/>
                    <a:p>
                      <a:r>
                        <a:rPr sz="1350" b="1">
                          <a:solidFill>
                            <a:srgbClr val="FFFFFF"/>
                          </a:solidFill>
                          <a:latin typeface="Noto Sans CJK JP"/>
                          <a:ea typeface="Noto Sans CJK JP"/>
                          <a:cs typeface="Noto Sans CJK JP"/>
                        </a:rPr>
                        <a:t>主要用途</a:t>
                      </a:r>
                    </a:p>
                  </a:txBody>
                  <a:tcPr marL="91440" marR="91440" marT="45720" marB="45720" anchor="ctr">
                    <a:solidFill>
                      <a:srgbClr val="183349"/>
                    </a:solidFill>
                  </a:tcPr>
                </a:tc>
                <a:tc>
                  <a:txBody>
                    <a:bodyPr lIns="76200" tIns="47625" rIns="76200" bIns="47625">
                      <a:noAutofit/>
                    </a:bodyPr>
                    <a:lstStyle/>
                    <a:p>
                      <a:r>
                        <a:rPr sz="1350" b="1">
                          <a:solidFill>
                            <a:srgbClr val="FFFFFF"/>
                          </a:solidFill>
                          <a:latin typeface="Noto Sans CJK JP"/>
                          <a:ea typeface="Noto Sans CJK JP"/>
                          <a:cs typeface="Noto Sans CJK JP"/>
                        </a:rPr>
                        <a:t>必要な根拠／備考の記入例</a:t>
                      </a:r>
                    </a:p>
                  </a:txBody>
                  <a:tcPr marL="91440" marR="91440" marT="45720" marB="45720" anchor="ctr">
                    <a:solidFill>
                      <a:srgbClr val="183349"/>
                    </a:solidFill>
                  </a:tcPr>
                </a:tc>
              </a:tr>
              <a:tr h="647700">
                <a:tc>
                  <a:txBody>
                    <a:bodyPr lIns="76200" tIns="47625" rIns="76200" bIns="47625">
                      <a:noAutofit/>
                    </a:bodyPr>
                    <a:lstStyle/>
                    <a:p>
                      <a:r>
                        <a:rPr sz="1350" b="0">
                          <a:solidFill>
                            <a:srgbClr val="183349"/>
                          </a:solidFill>
                          <a:latin typeface="Noto Sans CJK JP"/>
                          <a:ea typeface="Noto Sans CJK JP"/>
                          <a:cs typeface="Noto Sans CJK JP"/>
                        </a:rPr>
                        <a:t>分譲住宅</a:t>
                      </a:r>
                    </a:p>
                  </a:txBody>
                  <a:tcPr marL="91440" marR="91440" marT="45720" marB="45720" anchor="ctr">
                    <a:solidFill>
                      <a:srgbClr val="FFFFFF"/>
                    </a:solidFill>
                  </a:tcPr>
                </a:tc>
                <a:tc>
                  <a:txBody>
                    <a:bodyPr lIns="76200" tIns="47625" rIns="76200" bIns="47625">
                      <a:noAutofit/>
                    </a:bodyPr>
                    <a:lstStyle/>
                    <a:p>
                      <a:r>
                        <a:rPr sz="1350" b="0">
                          <a:solidFill>
                            <a:srgbClr val="183349"/>
                          </a:solidFill>
                          <a:latin typeface="Noto Sans CJK JP"/>
                          <a:ea typeface="Noto Sans CJK JP"/>
                          <a:cs typeface="Noto Sans CJK JP"/>
                        </a:rPr>
                        <a:t>公式物件概要の販売形態を確認</a:t>
                      </a:r>
                    </a:p>
                    <a:p>
                      <a:r>
                        <a:rPr sz="1350" b="0">
                          <a:solidFill>
                            <a:srgbClr val="183349"/>
                          </a:solidFill>
                          <a:latin typeface="Noto Sans CJK JP"/>
                          <a:ea typeface="Noto Sans CJK JP"/>
                          <a:cs typeface="Noto Sans CJK JP"/>
                        </a:rPr>
                        <a:t>例：分譲。公式物件概要に販売住戸の記載</a:t>
                      </a:r>
                    </a:p>
                  </a:txBody>
                  <a:tcPr marL="91440" marR="91440" marT="45720" marB="45720" anchor="ctr">
                    <a:solidFill>
                      <a:srgbClr val="FFFFFF"/>
                    </a:solidFill>
                  </a:tcPr>
                </a:tc>
              </a:tr>
              <a:tr h="647700">
                <a:tc>
                  <a:txBody>
                    <a:bodyPr lIns="76200" tIns="47625" rIns="76200" bIns="47625">
                      <a:noAutofit/>
                    </a:bodyPr>
                    <a:lstStyle/>
                    <a:p>
                      <a:r>
                        <a:rPr sz="1350" b="0">
                          <a:solidFill>
                            <a:srgbClr val="183349"/>
                          </a:solidFill>
                          <a:latin typeface="Noto Sans CJK JP"/>
                          <a:ea typeface="Noto Sans CJK JP"/>
                          <a:cs typeface="Noto Sans CJK JP"/>
                        </a:rPr>
                        <a:t>賃貸住宅</a:t>
                      </a:r>
                    </a:p>
                  </a:txBody>
                  <a:tcPr marL="91440" marR="91440" marT="45720" marB="45720" anchor="ctr">
                    <a:solidFill>
                      <a:srgbClr val="F7F9FB"/>
                    </a:solidFill>
                  </a:tcPr>
                </a:tc>
                <a:tc>
                  <a:txBody>
                    <a:bodyPr lIns="76200" tIns="47625" rIns="76200" bIns="47625">
                      <a:noAutofit/>
                    </a:bodyPr>
                    <a:lstStyle/>
                    <a:p>
                      <a:r>
                        <a:rPr sz="1350" b="0">
                          <a:solidFill>
                            <a:srgbClr val="183349"/>
                          </a:solidFill>
                          <a:latin typeface="Noto Sans CJK JP"/>
                          <a:ea typeface="Noto Sans CJK JP"/>
                          <a:cs typeface="Noto Sans CJK JP"/>
                        </a:rPr>
                        <a:t>公式募集要項・開発発表を確認</a:t>
                      </a:r>
                    </a:p>
                    <a:p>
                      <a:r>
                        <a:rPr sz="1350" b="0">
                          <a:solidFill>
                            <a:srgbClr val="183349"/>
                          </a:solidFill>
                          <a:latin typeface="Noto Sans CJK JP"/>
                          <a:ea typeface="Noto Sans CJK JP"/>
                          <a:cs typeface="Noto Sans CJK JP"/>
                        </a:rPr>
                        <a:t>例：賃貸。公式発表に賃貸住宅と明記</a:t>
                      </a:r>
                    </a:p>
                  </a:txBody>
                  <a:tcPr marL="91440" marR="91440" marT="45720" marB="45720" anchor="ctr">
                    <a:solidFill>
                      <a:srgbClr val="F7F9FB"/>
                    </a:solidFill>
                  </a:tcPr>
                </a:tc>
              </a:tr>
              <a:tr h="647700">
                <a:tc>
                  <a:txBody>
                    <a:bodyPr lIns="76200" tIns="47625" rIns="76200" bIns="47625">
                      <a:noAutofit/>
                    </a:bodyPr>
                    <a:lstStyle/>
                    <a:p>
                      <a:r>
                        <a:rPr sz="1350" b="0">
                          <a:solidFill>
                            <a:srgbClr val="183349"/>
                          </a:solidFill>
                          <a:latin typeface="Noto Sans CJK JP"/>
                          <a:ea typeface="Noto Sans CJK JP"/>
                          <a:cs typeface="Noto Sans CJK JP"/>
                        </a:rPr>
                        <a:t>オフィス</a:t>
                      </a:r>
                    </a:p>
                    <a:p>
                      <a:r>
                        <a:rPr sz="1350" b="0">
                          <a:solidFill>
                            <a:srgbClr val="183349"/>
                          </a:solidFill>
                          <a:latin typeface="Noto Sans CJK JP"/>
                          <a:ea typeface="Noto Sans CJK JP"/>
                          <a:cs typeface="Noto Sans CJK JP"/>
                        </a:rPr>
                        <a:t>商業等</a:t>
                      </a:r>
                    </a:p>
                  </a:txBody>
                  <a:tcPr marL="91440" marR="91440" marT="45720" marB="45720" anchor="ctr">
                    <a:solidFill>
                      <a:srgbClr val="FFFFFF"/>
                    </a:solidFill>
                  </a:tcPr>
                </a:tc>
                <a:tc>
                  <a:txBody>
                    <a:bodyPr lIns="76200" tIns="47625" rIns="76200" bIns="47625">
                      <a:noAutofit/>
                    </a:bodyPr>
                    <a:lstStyle/>
                    <a:p>
                      <a:r>
                        <a:rPr sz="1350" b="0">
                          <a:solidFill>
                            <a:srgbClr val="183349"/>
                          </a:solidFill>
                          <a:latin typeface="Noto Sans CJK JP"/>
                          <a:ea typeface="Noto Sans CJK JP"/>
                          <a:cs typeface="Noto Sans CJK JP"/>
                        </a:rPr>
                        <a:t>公式の事業計画・用途説明で確認</a:t>
                      </a:r>
                    </a:p>
                    <a:p>
                      <a:r>
                        <a:rPr sz="1350" b="0">
                          <a:solidFill>
                            <a:srgbClr val="183349"/>
                          </a:solidFill>
                          <a:latin typeface="Noto Sans CJK JP"/>
                          <a:ea typeface="Noto Sans CJK JP"/>
                          <a:cs typeface="Noto Sans CJK JP"/>
                        </a:rPr>
                        <a:t>例：オフィス。公式計画に事務所用途と明記</a:t>
                      </a:r>
                    </a:p>
                  </a:txBody>
                  <a:tcPr marL="91440" marR="91440" marT="45720" marB="45720" anchor="ctr">
                    <a:solidFill>
                      <a:srgbClr val="FFFFFF"/>
                    </a:solidFill>
                  </a:tcPr>
                </a:tc>
              </a:tr>
              <a:tr h="647700">
                <a:tc>
                  <a:txBody>
                    <a:bodyPr lIns="76200" tIns="47625" rIns="76200" bIns="47625">
                      <a:noAutofit/>
                    </a:bodyPr>
                    <a:lstStyle/>
                    <a:p>
                      <a:r>
                        <a:rPr sz="1350" b="0">
                          <a:solidFill>
                            <a:srgbClr val="183349"/>
                          </a:solidFill>
                          <a:latin typeface="Noto Sans CJK JP"/>
                          <a:ea typeface="Noto Sans CJK JP"/>
                          <a:cs typeface="Noto Sans CJK JP"/>
                        </a:rPr>
                        <a:t>用途が混在</a:t>
                      </a:r>
                    </a:p>
                  </a:txBody>
                  <a:tcPr marL="91440" marR="91440" marT="45720" marB="45720" anchor="ctr">
                    <a:solidFill>
                      <a:srgbClr val="F7F9FB"/>
                    </a:solidFill>
                  </a:tcPr>
                </a:tc>
                <a:tc>
                  <a:txBody>
                    <a:bodyPr lIns="76200" tIns="47625" rIns="76200" bIns="47625">
                      <a:noAutofit/>
                    </a:bodyPr>
                    <a:lstStyle/>
                    <a:p>
                      <a:r>
                        <a:rPr sz="1350" b="0">
                          <a:solidFill>
                            <a:srgbClr val="183349"/>
                          </a:solidFill>
                          <a:latin typeface="Noto Sans CJK JP"/>
                          <a:ea typeface="Noto Sans CJK JP"/>
                          <a:cs typeface="Noto Sans CJK JP"/>
                        </a:rPr>
                        <a:t>用途別面積があれば最大の用途を採用</a:t>
                      </a:r>
                    </a:p>
                    <a:p>
                      <a:r>
                        <a:rPr sz="1350" b="0">
                          <a:solidFill>
                            <a:srgbClr val="183349"/>
                          </a:solidFill>
                          <a:latin typeface="Noto Sans CJK JP"/>
                          <a:ea typeface="Noto Sans CJK JP"/>
                          <a:cs typeface="Noto Sans CJK JP"/>
                        </a:rPr>
                        <a:t>面積不明でも公式の主用途が明確なら採用</a:t>
                      </a:r>
                    </a:p>
                  </a:txBody>
                  <a:tcPr marL="91440" marR="91440" marT="45720" marB="45720" anchor="ctr">
                    <a:solidFill>
                      <a:srgbClr val="F7F9FB"/>
                    </a:solidFill>
                  </a:tcPr>
                </a:tc>
              </a:tr>
              <a:tr h="647700">
                <a:tc>
                  <a:txBody>
                    <a:bodyPr lIns="76200" tIns="47625" rIns="76200" bIns="47625">
                      <a:noAutofit/>
                    </a:bodyPr>
                    <a:lstStyle/>
                    <a:p>
                      <a:r>
                        <a:rPr sz="1350" b="0">
                          <a:solidFill>
                            <a:srgbClr val="183349"/>
                          </a:solidFill>
                          <a:latin typeface="Noto Sans CJK JP"/>
                          <a:ea typeface="Noto Sans CJK JP"/>
                          <a:cs typeface="Noto Sans CJK JP"/>
                        </a:rPr>
                        <a:t>根拠が不足</a:t>
                      </a:r>
                    </a:p>
                  </a:txBody>
                  <a:tcPr marL="91440" marR="91440" marT="45720" marB="45720" anchor="ctr">
                    <a:solidFill>
                      <a:srgbClr val="FFFFFF"/>
                    </a:solidFill>
                  </a:tcPr>
                </a:tc>
                <a:tc>
                  <a:txBody>
                    <a:bodyPr lIns="76200" tIns="47625" rIns="76200" bIns="47625">
                      <a:noAutofit/>
                    </a:bodyPr>
                    <a:lstStyle/>
                    <a:p>
                      <a:r>
                        <a:rPr sz="1350" b="0">
                          <a:solidFill>
                            <a:srgbClr val="183349"/>
                          </a:solidFill>
                          <a:latin typeface="Noto Sans CJK JP"/>
                          <a:ea typeface="Noto Sans CJK JP"/>
                          <a:cs typeface="Noto Sans CJK JP"/>
                        </a:rPr>
                        <a:t>「共同住宅」だけでは分譲・賃貸は不明</a:t>
                      </a:r>
                    </a:p>
                    <a:p>
                      <a:r>
                        <a:rPr sz="1350" b="0">
                          <a:solidFill>
                            <a:srgbClr val="183349"/>
                          </a:solidFill>
                          <a:latin typeface="Noto Sans CJK JP"/>
                          <a:ea typeface="Noto Sans CJK JP"/>
                          <a:cs typeface="Noto Sans CJK JP"/>
                        </a:rPr>
                        <a:t>主用途が不明な複合案件も「要確認」へ</a:t>
                      </a:r>
                    </a:p>
                  </a:txBody>
                  <a:tcPr marL="91440" marR="91440" marT="45720" marB="45720" anchor="ctr">
                    <a:solidFill>
                      <a:srgbClr val="FFFFFF"/>
                    </a:solidFill>
                  </a:tcPr>
                </a:tc>
              </a:tr>
            </a:tbl>
          </a:graphicData>
        </a:graphic>
      </p:graphicFrame>
      <p:sp>
        <p:nvSpPr>
          <p:cNvPr id="11" name="text_34">
            <a:extLst xmlns:a="http://schemas.openxmlformats.org/drawingml/2006/main">
              <a:ext uri="{FF2B5EF4-FFF2-40B4-BE49-F238E27FC236}">
                <a16:creationId xmlns:a16="http://schemas.microsoft.com/office/drawing/2014/main" id="{1BBD5E0A-9F0F-4070-BA45-2F15ED019485}"/>
              </a:ext>
            </a:extLst>
          </p:cNvPr>
          <p:cNvSpPr>
            <a:spLocks xmlns:a="http://schemas.openxmlformats.org/drawingml/2006/main" noGrp="1"/>
          </p:cNvSpPr>
          <p:nvPr/>
        </p:nvSpPr>
        <p:spPr>
          <a:xfrm xmlns:a="http://schemas.openxmlformats.org/drawingml/2006/main">
            <a:off x="6153150" y="5619750"/>
            <a:ext cx="5619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88" b="0">
                <a:solidFill>
                  <a:srgbClr val="183349"/>
                </a:solidFill>
                <a:latin typeface="Noto Sans CJK JP"/>
                <a:ea typeface="Noto Sans CJK JP"/>
                <a:cs typeface="Noto Sans CJK JP"/>
              </a:defRPr>
            </a:pPr>
            <a:r>
              <a:rPr sz="1388" b="0">
                <a:solidFill>
                  <a:srgbClr val="183349"/>
                </a:solidFill>
                <a:latin typeface="Noto Sans CJK JP"/>
                <a:ea typeface="Noto Sans CJK JP"/>
                <a:cs typeface="Noto Sans CJK JP"/>
              </a:rPr>
              <a:t>案件名・所在地等を照合して同一案件と確認する。</a:t>
            </a:r>
          </a:p>
          <a:p xmlns:a="http://schemas.openxmlformats.org/drawingml/2006/main">
            <a:pPr algn="l">
              <a:defRPr sz="1388" b="0">
                <a:solidFill>
                  <a:srgbClr val="183349"/>
                </a:solidFill>
                <a:latin typeface="Noto Sans CJK JP"/>
                <a:ea typeface="Noto Sans CJK JP"/>
                <a:cs typeface="Noto Sans CJK JP"/>
              </a:defRPr>
            </a:pPr>
            <a:r>
              <a:rPr sz="1388" b="0">
                <a:solidFill>
                  <a:srgbClr val="183349"/>
                </a:solidFill>
                <a:latin typeface="Noto Sans CJK JP"/>
                <a:ea typeface="Noto Sans CJK JP"/>
                <a:cs typeface="Noto Sans CJK JP"/>
              </a:rPr>
              <a:t>ブランド名だけで確定せず、根拠URL・該当文を保管する。</a:t>
            </a:r>
          </a:p>
          <a:p xmlns:a="http://schemas.openxmlformats.org/drawingml/2006/main">
            <a:pPr algn="l">
              <a:defRPr sz="1388" b="0">
                <a:solidFill>
                  <a:srgbClr val="183349"/>
                </a:solidFill>
                <a:latin typeface="Noto Sans CJK JP"/>
                <a:ea typeface="Noto Sans CJK JP"/>
                <a:cs typeface="Noto Sans CJK JP"/>
              </a:defRPr>
            </a:pPr>
            <a:r>
              <a:rPr sz="1388" b="0">
                <a:solidFill>
                  <a:srgbClr val="183349"/>
                </a:solidFill>
                <a:latin typeface="Noto Sans CJK JP"/>
                <a:ea typeface="Noto Sans CJK JP"/>
                <a:cs typeface="Noto Sans CJK JP"/>
              </a:rPr>
              <a:t>用途候補には物流・ホテル・医療・工場等も用意する。</a:t>
            </a:r>
          </a:p>
        </p:txBody>
      </p:sp>
    </p:spTree>
    <p:extLst>
      <p:ext uri="{BB962C8B-B14F-4D97-AF65-F5344CB8AC3E}">
        <p14:creationId xmlns:p14="http://schemas.microsoft.com/office/powerpoint/2010/main" val="192072425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_35">
            <a:extLst xmlns:a="http://schemas.openxmlformats.org/drawingml/2006/main">
              <a:ext uri="{FF2B5EF4-FFF2-40B4-BE49-F238E27FC236}">
                <a16:creationId xmlns:a16="http://schemas.microsoft.com/office/drawing/2014/main" id="{DBC4B5C8-D9C0-4E5A-9C7B-6945D83F9A7B}"/>
              </a:ext>
            </a:extLst>
          </p:cNvPr>
          <p:cNvSpPr>
            <a:spLocks xmlns:a="http://schemas.openxmlformats.org/drawingml/2006/main" noGrp="1"/>
          </p:cNvSpPr>
          <p:nvPr/>
        </p:nvSpPr>
        <p:spPr>
          <a:xfrm xmlns:a="http://schemas.openxmlformats.org/drawingml/2006/main">
            <a:off x="400050" y="228600"/>
            <a:ext cx="113919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550" b="1">
                <a:solidFill>
                  <a:srgbClr val="183349"/>
                </a:solidFill>
                <a:latin typeface="Noto Sans CJK JP"/>
                <a:ea typeface="Noto Sans CJK JP"/>
                <a:cs typeface="Noto Sans CJK JP"/>
              </a:defRPr>
            </a:pPr>
            <a:r>
              <a:rPr sz="2550" b="1">
                <a:solidFill>
                  <a:srgbClr val="183349"/>
                </a:solidFill>
                <a:latin typeface="Noto Sans CJK JP"/>
                <a:ea typeface="Noto Sans CJK JP"/>
                <a:cs typeface="Noto Sans CJK JP"/>
              </a:rPr>
              <a:t>Excelの1行目と項目の対応</a:t>
            </a:r>
          </a:p>
        </p:txBody>
      </p:sp>
      <p:sp>
        <p:nvSpPr>
          <p:cNvPr id="2" name="text_36">
            <a:extLst xmlns:a="http://schemas.openxmlformats.org/drawingml/2006/main">
              <a:ext uri="{FF2B5EF4-FFF2-40B4-BE49-F238E27FC236}">
                <a16:creationId xmlns:a16="http://schemas.microsoft.com/office/drawing/2014/main" id="{2CC4C237-5B33-46B8-A8FA-33916C32F610}"/>
              </a:ext>
            </a:extLst>
          </p:cNvPr>
          <p:cNvSpPr>
            <a:spLocks xmlns:a="http://schemas.openxmlformats.org/drawingml/2006/main" noGrp="1"/>
          </p:cNvSpPr>
          <p:nvPr/>
        </p:nvSpPr>
        <p:spPr>
          <a:xfrm xmlns:a="http://schemas.openxmlformats.org/drawingml/2006/main">
            <a:off x="419100" y="819150"/>
            <a:ext cx="11353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526372"/>
                </a:solidFill>
                <a:latin typeface="Noto Sans CJK JP"/>
                <a:ea typeface="Noto Sans CJK JP"/>
                <a:cs typeface="Noto Sans CJK JP"/>
              </a:defRPr>
            </a:pPr>
            <a:r>
              <a:rPr sz="1425" b="0">
                <a:solidFill>
                  <a:srgbClr val="526372"/>
                </a:solidFill>
                <a:latin typeface="Noto Sans CJK JP"/>
                <a:ea typeface="Noto Sans CJK JP"/>
                <a:cs typeface="Noto Sans CJK JP"/>
              </a:rPr>
              <a:t>タブ名：大和ハウス_1925　／　基本は1案件1行。複数の項目を分けて18列にする</a:t>
            </a:r>
          </a:p>
        </p:txBody>
      </p:sp>
      <p:sp>
        <p:nvSpPr>
          <p:cNvPr id="3" name="">
            <a:extLst xmlns:a="http://schemas.openxmlformats.org/drawingml/2006/main">
              <a:ext uri="{FF2B5EF4-FFF2-40B4-BE49-F238E27FC236}">
                <a16:creationId xmlns:a16="http://schemas.microsoft.com/office/drawing/2014/main" id="{597053E6-2BDD-4E46-88B2-1AF4869F08F5}"/>
              </a:ext>
            </a:extLst>
          </p:cNvPr>
          <p:cNvSpPr>
            <a:spLocks xmlns:a="http://schemas.openxmlformats.org/drawingml/2006/main" noGrp="1"/>
          </p:cNvSpPr>
          <p:nvPr/>
        </p:nvSpPr>
        <p:spPr>
          <a:xfrm xmlns:a="http://schemas.openxmlformats.org/drawingml/2006/main">
            <a:off x="419100" y="1190625"/>
            <a:ext cx="11353800" cy="0"/>
          </a:xfrm>
          <a:prstGeom xmlns:a="http://schemas.openxmlformats.org/drawingml/2006/main" prst="line">
            <a:avLst/>
          </a:prstGeom>
          <a:noFill xmlns:a="http://schemas.openxmlformats.org/drawingml/2006/main"/>
          <a:ln xmlns:a="http://schemas.openxmlformats.org/drawingml/2006/main" w="11430">
            <a:solidFill>
              <a:srgbClr val="183349"/>
            </a:solidFill>
          </a:ln>
        </p:spPr>
      </p:sp>
      <p:sp>
        <p:nvSpPr>
          <p:cNvPr id="4" name="text_37">
            <a:extLst xmlns:a="http://schemas.openxmlformats.org/drawingml/2006/main">
              <a:ext uri="{FF2B5EF4-FFF2-40B4-BE49-F238E27FC236}">
                <a16:creationId xmlns:a16="http://schemas.microsoft.com/office/drawing/2014/main" id="{2A6D7A36-6764-4464-AD29-53D89109DE01}"/>
              </a:ext>
            </a:extLst>
          </p:cNvPr>
          <p:cNvSpPr>
            <a:spLocks xmlns:a="http://schemas.openxmlformats.org/drawingml/2006/main" noGrp="1"/>
          </p:cNvSpPr>
          <p:nvPr/>
        </p:nvSpPr>
        <p:spPr>
          <a:xfrm xmlns:a="http://schemas.openxmlformats.org/drawingml/2006/main">
            <a:off x="11353800" y="652462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526372"/>
                </a:solidFill>
                <a:latin typeface="Noto Sans CJK JP"/>
                <a:ea typeface="Noto Sans CJK JP"/>
                <a:cs typeface="Noto Sans CJK JP"/>
              </a:defRPr>
            </a:pPr>
            <a:r>
              <a:rPr sz="1200" b="0">
                <a:solidFill>
                  <a:srgbClr val="526372"/>
                </a:solidFill>
                <a:latin typeface="Noto Sans CJK JP"/>
                <a:ea typeface="Noto Sans CJK JP"/>
                <a:cs typeface="Noto Sans CJK JP"/>
              </a:rPr>
              <a:t>03</a:t>
            </a:r>
          </a:p>
        </p:txBody>
      </p:sp>
      <p:graphicFrame>
        <p:nvGraphicFramePr>
          <p:cNvPr id="14" name=""/>
          <p:cNvGraphicFramePr/>
          <p:nvPr/>
        </p:nvGraphicFramePr>
        <p:xfrm>
          <a:off xmlns:a="http://schemas.openxmlformats.org/drawingml/2006/main" x="419100" y="1428750"/>
          <a:ext xmlns:a="http://schemas.openxmlformats.org/drawingml/2006/main" cx="5524500" cy="4095750"/>
        </p:xfrm>
        <a:graphic xmlns:a="http://schemas.openxmlformats.org/drawingml/2006/main">
          <a:graphicData uri="http://schemas.openxmlformats.org/drawingml/2006/table">
            <a:tbl>
              <a:tblPr/>
              <a:tblGrid>
                <a:gridCol w="342900"/>
                <a:gridCol w="1952625"/>
                <a:gridCol w="3228975"/>
              </a:tblGrid>
              <a:tr h="409575">
                <a:tc>
                  <a:txBody>
                    <a:bodyPr lIns="76200" tIns="47625" rIns="76200" bIns="47625">
                      <a:noAutofit/>
                    </a:bodyPr>
                    <a:lstStyle/>
                    <a:p>
                      <a:r>
                        <a:rPr sz="1313" b="1">
                          <a:solidFill>
                            <a:srgbClr val="FFFFFF"/>
                          </a:solidFill>
                          <a:latin typeface="Noto Sans CJK JP"/>
                          <a:ea typeface="Noto Sans CJK JP"/>
                          <a:cs typeface="Noto Sans CJK JP"/>
                        </a:rPr>
                        <a:t>列</a:t>
                      </a:r>
                    </a:p>
                  </a:txBody>
                  <a:tcPr marL="91440" marR="91440" marT="45720" marB="45720" anchor="ctr">
                    <a:solidFill>
                      <a:srgbClr val="183349"/>
                    </a:solidFill>
                  </a:tcPr>
                </a:tc>
                <a:tc>
                  <a:txBody>
                    <a:bodyPr lIns="76200" tIns="47625" rIns="76200" bIns="47625">
                      <a:noAutofit/>
                    </a:bodyPr>
                    <a:lstStyle/>
                    <a:p>
                      <a:r>
                        <a:rPr sz="1313" b="1">
                          <a:solidFill>
                            <a:srgbClr val="FFFFFF"/>
                          </a:solidFill>
                          <a:latin typeface="Noto Sans CJK JP"/>
                          <a:ea typeface="Noto Sans CJK JP"/>
                          <a:cs typeface="Noto Sans CJK JP"/>
                        </a:rPr>
                        <a:t>1行目の項目名</a:t>
                      </a:r>
                    </a:p>
                  </a:txBody>
                  <a:tcPr marL="91440" marR="91440" marT="45720" marB="45720" anchor="ctr">
                    <a:solidFill>
                      <a:srgbClr val="183349"/>
                    </a:solidFill>
                  </a:tcPr>
                </a:tc>
                <a:tc>
                  <a:txBody>
                    <a:bodyPr lIns="76200" tIns="47625" rIns="76200" bIns="47625">
                      <a:noAutofit/>
                    </a:bodyPr>
                    <a:lstStyle/>
                    <a:p>
                      <a:r>
                        <a:rPr sz="1313" b="1">
                          <a:solidFill>
                            <a:srgbClr val="FFFFFF"/>
                          </a:solidFill>
                          <a:latin typeface="Noto Sans CJK JP"/>
                          <a:ea typeface="Noto Sans CJK JP"/>
                          <a:cs typeface="Noto Sans CJK JP"/>
                        </a:rPr>
                        <a:t>取得・整形ルール</a:t>
                      </a:r>
                    </a:p>
                  </a:txBody>
                  <a:tcPr marL="91440" marR="91440" marT="45720" marB="45720" anchor="ctr">
                    <a:solidFill>
                      <a:srgbClr val="183349"/>
                    </a:solidFill>
                  </a:tcPr>
                </a:tc>
              </a:tr>
              <a:tr h="409575">
                <a:tc>
                  <a:txBody>
                    <a:bodyPr lIns="76200" tIns="47625" rIns="76200" bIns="47625">
                      <a:noAutofit/>
                    </a:bodyPr>
                    <a:lstStyle/>
                    <a:p>
                      <a:r>
                        <a:rPr sz="1313" b="0">
                          <a:solidFill>
                            <a:srgbClr val="183349"/>
                          </a:solidFill>
                          <a:latin typeface="Noto Sans CJK JP"/>
                          <a:ea typeface="Noto Sans CJK JP"/>
                          <a:cs typeface="Noto Sans CJK JP"/>
                        </a:rPr>
                        <a:t>A</a:t>
                      </a:r>
                    </a:p>
                  </a:txBody>
                  <a:tcPr marL="91440" marR="91440" marT="45720" marB="45720" anchor="ctr">
                    <a:solidFill>
                      <a:srgbClr val="FFFFFF"/>
                    </a:solidFill>
                  </a:tcPr>
                </a:tc>
                <a:tc>
                  <a:txBody>
                    <a:bodyPr lIns="76200" tIns="47625" rIns="76200" bIns="47625">
                      <a:noAutofit/>
                    </a:bodyPr>
                    <a:lstStyle/>
                    <a:p>
                      <a:r>
                        <a:rPr sz="1313" b="0">
                          <a:solidFill>
                            <a:srgbClr val="183349"/>
                          </a:solidFill>
                          <a:latin typeface="Noto Sans CJK JP"/>
                          <a:ea typeface="Noto Sans CJK JP"/>
                          <a:cs typeface="Noto Sans CJK JP"/>
                        </a:rPr>
                        <a:t>件名</a:t>
                      </a:r>
                    </a:p>
                  </a:txBody>
                  <a:tcPr marL="91440" marR="91440" marT="45720" marB="45720" anchor="ctr">
                    <a:solidFill>
                      <a:srgbClr val="FFFFFF"/>
                    </a:solidFill>
                  </a:tcPr>
                </a:tc>
                <a:tc>
                  <a:txBody>
                    <a:bodyPr lIns="76200" tIns="47625" rIns="76200" bIns="47625">
                      <a:noAutofit/>
                    </a:bodyPr>
                    <a:lstStyle/>
                    <a:p>
                      <a:r>
                        <a:rPr sz="1313" b="0">
                          <a:solidFill>
                            <a:srgbClr val="183349"/>
                          </a:solidFill>
                          <a:latin typeface="Noto Sans CJK JP"/>
                          <a:ea typeface="Noto Sans CJK JP"/>
                          <a:cs typeface="Noto Sans CJK JP"/>
                        </a:rPr>
                        <a:t>計画名を原文から転記</a:t>
                      </a:r>
                    </a:p>
                  </a:txBody>
                  <a:tcPr marL="91440" marR="91440" marT="45720" marB="45720" anchor="ctr">
                    <a:solidFill>
                      <a:srgbClr val="FFFFFF"/>
                    </a:solidFill>
                  </a:tcPr>
                </a:tc>
              </a:tr>
              <a:tr h="409575">
                <a:tc>
                  <a:txBody>
                    <a:bodyPr lIns="76200" tIns="47625" rIns="76200" bIns="47625">
                      <a:noAutofit/>
                    </a:bodyPr>
                    <a:lstStyle/>
                    <a:p>
                      <a:r>
                        <a:rPr sz="1313" b="0">
                          <a:solidFill>
                            <a:srgbClr val="183349"/>
                          </a:solidFill>
                          <a:latin typeface="Noto Sans CJK JP"/>
                          <a:ea typeface="Noto Sans CJK JP"/>
                          <a:cs typeface="Noto Sans CJK JP"/>
                        </a:rPr>
                        <a:t>B</a:t>
                      </a:r>
                    </a:p>
                  </a:txBody>
                  <a:tcPr marL="91440" marR="91440" marT="45720" marB="45720" anchor="ctr">
                    <a:solidFill>
                      <a:srgbClr val="F7F9FB"/>
                    </a:solidFill>
                  </a:tcPr>
                </a:tc>
                <a:tc>
                  <a:txBody>
                    <a:bodyPr lIns="76200" tIns="47625" rIns="76200" bIns="47625">
                      <a:noAutofit/>
                    </a:bodyPr>
                    <a:lstStyle/>
                    <a:p>
                      <a:r>
                        <a:rPr sz="1313" b="0">
                          <a:solidFill>
                            <a:srgbClr val="183349"/>
                          </a:solidFill>
                          <a:latin typeface="Noto Sans CJK JP"/>
                          <a:ea typeface="Noto Sans CJK JP"/>
                          <a:cs typeface="Noto Sans CJK JP"/>
                        </a:rPr>
                        <a:t>都道府県</a:t>
                      </a:r>
                    </a:p>
                  </a:txBody>
                  <a:tcPr marL="91440" marR="91440" marT="45720" marB="45720" anchor="ctr">
                    <a:solidFill>
                      <a:srgbClr val="F7F9FB"/>
                    </a:solidFill>
                  </a:tcPr>
                </a:tc>
                <a:tc>
                  <a:txBody>
                    <a:bodyPr lIns="76200" tIns="47625" rIns="76200" bIns="47625">
                      <a:noAutofit/>
                    </a:bodyPr>
                    <a:lstStyle/>
                    <a:p>
                      <a:r>
                        <a:rPr sz="1313" b="0">
                          <a:solidFill>
                            <a:srgbClr val="183349"/>
                          </a:solidFill>
                          <a:latin typeface="Noto Sans CJK JP"/>
                          <a:ea typeface="Noto Sans CJK JP"/>
                          <a:cs typeface="Noto Sans CJK JP"/>
                        </a:rPr>
                        <a:t>所在地から切り出す</a:t>
                      </a:r>
                    </a:p>
                  </a:txBody>
                  <a:tcPr marL="91440" marR="91440" marT="45720" marB="45720" anchor="ctr">
                    <a:solidFill>
                      <a:srgbClr val="F7F9FB"/>
                    </a:solidFill>
                  </a:tcPr>
                </a:tc>
              </a:tr>
              <a:tr h="409575">
                <a:tc>
                  <a:txBody>
                    <a:bodyPr lIns="76200" tIns="47625" rIns="76200" bIns="47625">
                      <a:noAutofit/>
                    </a:bodyPr>
                    <a:lstStyle/>
                    <a:p>
                      <a:r>
                        <a:rPr sz="1313" b="0">
                          <a:solidFill>
                            <a:srgbClr val="183349"/>
                          </a:solidFill>
                          <a:latin typeface="Noto Sans CJK JP"/>
                          <a:ea typeface="Noto Sans CJK JP"/>
                          <a:cs typeface="Noto Sans CJK JP"/>
                        </a:rPr>
                        <a:t>C</a:t>
                      </a:r>
                    </a:p>
                  </a:txBody>
                  <a:tcPr marL="91440" marR="91440" marT="45720" marB="45720" anchor="ctr">
                    <a:solidFill>
                      <a:srgbClr val="FFFFFF"/>
                    </a:solidFill>
                  </a:tcPr>
                </a:tc>
                <a:tc>
                  <a:txBody>
                    <a:bodyPr lIns="76200" tIns="47625" rIns="76200" bIns="47625">
                      <a:noAutofit/>
                    </a:bodyPr>
                    <a:lstStyle/>
                    <a:p>
                      <a:r>
                        <a:rPr sz="1313" b="0">
                          <a:solidFill>
                            <a:srgbClr val="183349"/>
                          </a:solidFill>
                          <a:latin typeface="Noto Sans CJK JP"/>
                          <a:ea typeface="Noto Sans CJK JP"/>
                          <a:cs typeface="Noto Sans CJK JP"/>
                        </a:rPr>
                        <a:t>所在地（住所番地）</a:t>
                      </a:r>
                    </a:p>
                  </a:txBody>
                  <a:tcPr marL="91440" marR="91440" marT="45720" marB="45720" anchor="ctr">
                    <a:solidFill>
                      <a:srgbClr val="FFFFFF"/>
                    </a:solidFill>
                  </a:tcPr>
                </a:tc>
                <a:tc>
                  <a:txBody>
                    <a:bodyPr lIns="76200" tIns="47625" rIns="76200" bIns="47625">
                      <a:noAutofit/>
                    </a:bodyPr>
                    <a:lstStyle/>
                    <a:p>
                      <a:r>
                        <a:rPr sz="1313" b="0">
                          <a:solidFill>
                            <a:srgbClr val="183349"/>
                          </a:solidFill>
                          <a:latin typeface="Noto Sans CJK JP"/>
                          <a:ea typeface="Noto Sans CJK JP"/>
                          <a:cs typeface="Noto Sans CJK JP"/>
                        </a:rPr>
                        <a:t>住居表示を優先。不明なら地番を明記</a:t>
                      </a:r>
                    </a:p>
                  </a:txBody>
                  <a:tcPr marL="91440" marR="91440" marT="45720" marB="45720" anchor="ctr">
                    <a:solidFill>
                      <a:srgbClr val="FFFFFF"/>
                    </a:solidFill>
                  </a:tcPr>
                </a:tc>
              </a:tr>
              <a:tr h="409575">
                <a:tc>
                  <a:txBody>
                    <a:bodyPr lIns="76200" tIns="47625" rIns="76200" bIns="47625">
                      <a:noAutofit/>
                    </a:bodyPr>
                    <a:lstStyle/>
                    <a:p>
                      <a:r>
                        <a:rPr sz="1313" b="0">
                          <a:solidFill>
                            <a:srgbClr val="183349"/>
                          </a:solidFill>
                          <a:latin typeface="Noto Sans CJK JP"/>
                          <a:ea typeface="Noto Sans CJK JP"/>
                          <a:cs typeface="Noto Sans CJK JP"/>
                        </a:rPr>
                        <a:t>D</a:t>
                      </a:r>
                    </a:p>
                  </a:txBody>
                  <a:tcPr marL="91440" marR="91440" marT="45720" marB="45720" anchor="ctr">
                    <a:solidFill>
                      <a:srgbClr val="F7F9FB"/>
                    </a:solidFill>
                  </a:tcPr>
                </a:tc>
                <a:tc>
                  <a:txBody>
                    <a:bodyPr lIns="76200" tIns="47625" rIns="76200" bIns="47625">
                      <a:noAutofit/>
                    </a:bodyPr>
                    <a:lstStyle/>
                    <a:p>
                      <a:r>
                        <a:rPr sz="1313" b="0">
                          <a:solidFill>
                            <a:srgbClr val="183349"/>
                          </a:solidFill>
                          <a:latin typeface="Noto Sans CJK JP"/>
                          <a:ea typeface="Noto Sans CJK JP"/>
                          <a:cs typeface="Noto Sans CJK JP"/>
                        </a:rPr>
                        <a:t>主要用途</a:t>
                      </a:r>
                    </a:p>
                  </a:txBody>
                  <a:tcPr marL="91440" marR="91440" marT="45720" marB="45720" anchor="ctr">
                    <a:solidFill>
                      <a:srgbClr val="F7F9FB"/>
                    </a:solidFill>
                  </a:tcPr>
                </a:tc>
                <a:tc>
                  <a:txBody>
                    <a:bodyPr lIns="76200" tIns="47625" rIns="76200" bIns="47625">
                      <a:noAutofit/>
                    </a:bodyPr>
                    <a:lstStyle/>
                    <a:p>
                      <a:r>
                        <a:rPr sz="1313" b="0">
                          <a:solidFill>
                            <a:srgbClr val="183349"/>
                          </a:solidFill>
                          <a:latin typeface="Noto Sans CJK JP"/>
                          <a:ea typeface="Noto Sans CJK JP"/>
                          <a:cs typeface="Noto Sans CJK JP"/>
                        </a:rPr>
                        <a:t>分譲／賃貸／オフィス／商業等に判定</a:t>
                      </a:r>
                    </a:p>
                  </a:txBody>
                  <a:tcPr marL="91440" marR="91440" marT="45720" marB="45720" anchor="ctr">
                    <a:solidFill>
                      <a:srgbClr val="F7F9FB"/>
                    </a:solidFill>
                  </a:tcPr>
                </a:tc>
              </a:tr>
              <a:tr h="409575">
                <a:tc>
                  <a:txBody>
                    <a:bodyPr lIns="76200" tIns="47625" rIns="76200" bIns="47625">
                      <a:noAutofit/>
                    </a:bodyPr>
                    <a:lstStyle/>
                    <a:p>
                      <a:r>
                        <a:rPr sz="1313" b="0">
                          <a:solidFill>
                            <a:srgbClr val="183349"/>
                          </a:solidFill>
                          <a:latin typeface="Noto Sans CJK JP"/>
                          <a:ea typeface="Noto Sans CJK JP"/>
                          <a:cs typeface="Noto Sans CJK JP"/>
                        </a:rPr>
                        <a:t>E</a:t>
                      </a:r>
                    </a:p>
                  </a:txBody>
                  <a:tcPr marL="91440" marR="91440" marT="45720" marB="45720" anchor="ctr">
                    <a:solidFill>
                      <a:srgbClr val="FFFFFF"/>
                    </a:solidFill>
                  </a:tcPr>
                </a:tc>
                <a:tc>
                  <a:txBody>
                    <a:bodyPr lIns="76200" tIns="47625" rIns="76200" bIns="47625">
                      <a:noAutofit/>
                    </a:bodyPr>
                    <a:lstStyle/>
                    <a:p>
                      <a:r>
                        <a:rPr sz="1313" b="0">
                          <a:solidFill>
                            <a:srgbClr val="183349"/>
                          </a:solidFill>
                          <a:latin typeface="Noto Sans CJK JP"/>
                          <a:ea typeface="Noto Sans CJK JP"/>
                          <a:cs typeface="Noto Sans CJK JP"/>
                        </a:rPr>
                        <a:t>工事種別</a:t>
                      </a:r>
                    </a:p>
                  </a:txBody>
                  <a:tcPr marL="91440" marR="91440" marT="45720" marB="45720" anchor="ctr">
                    <a:solidFill>
                      <a:srgbClr val="FFFFFF"/>
                    </a:solidFill>
                  </a:tcPr>
                </a:tc>
                <a:tc>
                  <a:txBody>
                    <a:bodyPr lIns="76200" tIns="47625" rIns="76200" bIns="47625">
                      <a:noAutofit/>
                    </a:bodyPr>
                    <a:lstStyle/>
                    <a:p>
                      <a:r>
                        <a:rPr sz="1313" b="0">
                          <a:solidFill>
                            <a:srgbClr val="183349"/>
                          </a:solidFill>
                          <a:latin typeface="Noto Sans CJK JP"/>
                          <a:ea typeface="Noto Sans CJK JP"/>
                          <a:cs typeface="Noto Sans CJK JP"/>
                        </a:rPr>
                        <a:t>新築・増築・改修等を転記</a:t>
                      </a:r>
                    </a:p>
                  </a:txBody>
                  <a:tcPr marL="91440" marR="91440" marT="45720" marB="45720" anchor="ctr">
                    <a:solidFill>
                      <a:srgbClr val="FFFFFF"/>
                    </a:solidFill>
                  </a:tcPr>
                </a:tc>
              </a:tr>
              <a:tr h="409575">
                <a:tc>
                  <a:txBody>
                    <a:bodyPr lIns="76200" tIns="47625" rIns="76200" bIns="47625">
                      <a:noAutofit/>
                    </a:bodyPr>
                    <a:lstStyle/>
                    <a:p>
                      <a:r>
                        <a:rPr sz="1313" b="0">
                          <a:solidFill>
                            <a:srgbClr val="183349"/>
                          </a:solidFill>
                          <a:latin typeface="Noto Sans CJK JP"/>
                          <a:ea typeface="Noto Sans CJK JP"/>
                          <a:cs typeface="Noto Sans CJK JP"/>
                        </a:rPr>
                        <a:t>F</a:t>
                      </a:r>
                    </a:p>
                  </a:txBody>
                  <a:tcPr marL="91440" marR="91440" marT="45720" marB="45720" anchor="ctr">
                    <a:solidFill>
                      <a:srgbClr val="F7F9FB"/>
                    </a:solidFill>
                  </a:tcPr>
                </a:tc>
                <a:tc>
                  <a:txBody>
                    <a:bodyPr lIns="76200" tIns="47625" rIns="76200" bIns="47625">
                      <a:noAutofit/>
                    </a:bodyPr>
                    <a:lstStyle/>
                    <a:p>
                      <a:r>
                        <a:rPr sz="1313" b="0">
                          <a:solidFill>
                            <a:srgbClr val="183349"/>
                          </a:solidFill>
                          <a:latin typeface="Noto Sans CJK JP"/>
                          <a:ea typeface="Noto Sans CJK JP"/>
                          <a:cs typeface="Noto Sans CJK JP"/>
                        </a:rPr>
                        <a:t>構造・階数</a:t>
                      </a:r>
                    </a:p>
                  </a:txBody>
                  <a:tcPr marL="91440" marR="91440" marT="45720" marB="45720" anchor="ctr">
                    <a:solidFill>
                      <a:srgbClr val="F7F9FB"/>
                    </a:solidFill>
                  </a:tcPr>
                </a:tc>
                <a:tc>
                  <a:txBody>
                    <a:bodyPr lIns="76200" tIns="47625" rIns="76200" bIns="47625">
                      <a:noAutofit/>
                    </a:bodyPr>
                    <a:lstStyle/>
                    <a:p>
                      <a:r>
                        <a:rPr sz="1313" b="0">
                          <a:solidFill>
                            <a:srgbClr val="183349"/>
                          </a:solidFill>
                          <a:latin typeface="Noto Sans CJK JP"/>
                          <a:ea typeface="Noto Sans CJK JP"/>
                          <a:cs typeface="Noto Sans CJK JP"/>
                        </a:rPr>
                        <a:t>例：RC造／地上10階・地下1階</a:t>
                      </a:r>
                    </a:p>
                  </a:txBody>
                  <a:tcPr marL="91440" marR="91440" marT="45720" marB="45720" anchor="ctr">
                    <a:solidFill>
                      <a:srgbClr val="F7F9FB"/>
                    </a:solidFill>
                  </a:tcPr>
                </a:tc>
              </a:tr>
              <a:tr h="409575">
                <a:tc>
                  <a:txBody>
                    <a:bodyPr lIns="76200" tIns="47625" rIns="76200" bIns="47625">
                      <a:noAutofit/>
                    </a:bodyPr>
                    <a:lstStyle/>
                    <a:p>
                      <a:r>
                        <a:rPr sz="1313" b="0">
                          <a:solidFill>
                            <a:srgbClr val="183349"/>
                          </a:solidFill>
                          <a:latin typeface="Noto Sans CJK JP"/>
                          <a:ea typeface="Noto Sans CJK JP"/>
                          <a:cs typeface="Noto Sans CJK JP"/>
                        </a:rPr>
                        <a:t>G</a:t>
                      </a:r>
                    </a:p>
                  </a:txBody>
                  <a:tcPr marL="91440" marR="91440" marT="45720" marB="45720" anchor="ctr">
                    <a:solidFill>
                      <a:srgbClr val="FFFFFF"/>
                    </a:solidFill>
                  </a:tcPr>
                </a:tc>
                <a:tc>
                  <a:txBody>
                    <a:bodyPr lIns="76200" tIns="47625" rIns="76200" bIns="47625">
                      <a:noAutofit/>
                    </a:bodyPr>
                    <a:lstStyle/>
                    <a:p>
                      <a:r>
                        <a:rPr sz="1313" b="0">
                          <a:solidFill>
                            <a:srgbClr val="183349"/>
                          </a:solidFill>
                          <a:latin typeface="Noto Sans CJK JP"/>
                          <a:ea typeface="Noto Sans CJK JP"/>
                          <a:cs typeface="Noto Sans CJK JP"/>
                        </a:rPr>
                        <a:t>延床面積（㎡）</a:t>
                      </a:r>
                    </a:p>
                  </a:txBody>
                  <a:tcPr marL="91440" marR="91440" marT="45720" marB="45720" anchor="ctr">
                    <a:solidFill>
                      <a:srgbClr val="FFFFFF"/>
                    </a:solidFill>
                  </a:tcPr>
                </a:tc>
                <a:tc>
                  <a:txBody>
                    <a:bodyPr lIns="76200" tIns="47625" rIns="76200" bIns="47625">
                      <a:noAutofit/>
                    </a:bodyPr>
                    <a:lstStyle/>
                    <a:p>
                      <a:r>
                        <a:rPr sz="1313" b="0">
                          <a:solidFill>
                            <a:srgbClr val="183349"/>
                          </a:solidFill>
                          <a:latin typeface="Noto Sans CJK JP"/>
                          <a:ea typeface="Noto Sans CJK JP"/>
                          <a:cs typeface="Noto Sans CJK JP"/>
                        </a:rPr>
                        <a:t>数値で保存し、単位を㎡に統一</a:t>
                      </a:r>
                    </a:p>
                  </a:txBody>
                  <a:tcPr marL="91440" marR="91440" marT="45720" marB="45720" anchor="ctr">
                    <a:solidFill>
                      <a:srgbClr val="FFFFFF"/>
                    </a:solidFill>
                  </a:tcPr>
                </a:tc>
              </a:tr>
              <a:tr h="409575">
                <a:tc>
                  <a:txBody>
                    <a:bodyPr lIns="76200" tIns="47625" rIns="76200" bIns="47625">
                      <a:noAutofit/>
                    </a:bodyPr>
                    <a:lstStyle/>
                    <a:p>
                      <a:r>
                        <a:rPr sz="1313" b="0">
                          <a:solidFill>
                            <a:srgbClr val="183349"/>
                          </a:solidFill>
                          <a:latin typeface="Noto Sans CJK JP"/>
                          <a:ea typeface="Noto Sans CJK JP"/>
                          <a:cs typeface="Noto Sans CJK JP"/>
                        </a:rPr>
                        <a:t>H</a:t>
                      </a:r>
                    </a:p>
                  </a:txBody>
                  <a:tcPr marL="91440" marR="91440" marT="45720" marB="45720" anchor="ctr">
                    <a:solidFill>
                      <a:srgbClr val="F7F9FB"/>
                    </a:solidFill>
                  </a:tcPr>
                </a:tc>
                <a:tc>
                  <a:txBody>
                    <a:bodyPr lIns="76200" tIns="47625" rIns="76200" bIns="47625">
                      <a:noAutofit/>
                    </a:bodyPr>
                    <a:lstStyle/>
                    <a:p>
                      <a:r>
                        <a:rPr sz="1313" b="0">
                          <a:solidFill>
                            <a:srgbClr val="183349"/>
                          </a:solidFill>
                          <a:latin typeface="Noto Sans CJK JP"/>
                          <a:ea typeface="Noto Sans CJK JP"/>
                          <a:cs typeface="Noto Sans CJK JP"/>
                        </a:rPr>
                        <a:t>建築面積（㎡）</a:t>
                      </a:r>
                    </a:p>
                  </a:txBody>
                  <a:tcPr marL="91440" marR="91440" marT="45720" marB="45720" anchor="ctr">
                    <a:solidFill>
                      <a:srgbClr val="F7F9FB"/>
                    </a:solidFill>
                  </a:tcPr>
                </a:tc>
                <a:tc>
                  <a:txBody>
                    <a:bodyPr lIns="76200" tIns="47625" rIns="76200" bIns="47625">
                      <a:noAutofit/>
                    </a:bodyPr>
                    <a:lstStyle/>
                    <a:p>
                      <a:r>
                        <a:rPr sz="1313" b="0">
                          <a:solidFill>
                            <a:srgbClr val="183349"/>
                          </a:solidFill>
                          <a:latin typeface="Noto Sans CJK JP"/>
                          <a:ea typeface="Noto Sans CJK JP"/>
                          <a:cs typeface="Noto Sans CJK JP"/>
                        </a:rPr>
                        <a:t>取得できる場合に記入</a:t>
                      </a:r>
                    </a:p>
                  </a:txBody>
                  <a:tcPr marL="91440" marR="91440" marT="45720" marB="45720" anchor="ctr">
                    <a:solidFill>
                      <a:srgbClr val="F7F9FB"/>
                    </a:solidFill>
                  </a:tcPr>
                </a:tc>
              </a:tr>
              <a:tr h="409575">
                <a:tc>
                  <a:txBody>
                    <a:bodyPr lIns="76200" tIns="47625" rIns="76200" bIns="47625">
                      <a:noAutofit/>
                    </a:bodyPr>
                    <a:lstStyle/>
                    <a:p>
                      <a:r>
                        <a:rPr sz="1313" b="0">
                          <a:solidFill>
                            <a:srgbClr val="183349"/>
                          </a:solidFill>
                          <a:latin typeface="Noto Sans CJK JP"/>
                          <a:ea typeface="Noto Sans CJK JP"/>
                          <a:cs typeface="Noto Sans CJK JP"/>
                        </a:rPr>
                        <a:t>I</a:t>
                      </a:r>
                    </a:p>
                  </a:txBody>
                  <a:tcPr marL="91440" marR="91440" marT="45720" marB="45720" anchor="ctr">
                    <a:solidFill>
                      <a:srgbClr val="FFFFFF"/>
                    </a:solidFill>
                  </a:tcPr>
                </a:tc>
                <a:tc>
                  <a:txBody>
                    <a:bodyPr lIns="76200" tIns="47625" rIns="76200" bIns="47625">
                      <a:noAutofit/>
                    </a:bodyPr>
                    <a:lstStyle/>
                    <a:p>
                      <a:r>
                        <a:rPr sz="1313" b="0">
                          <a:solidFill>
                            <a:srgbClr val="183349"/>
                          </a:solidFill>
                          <a:latin typeface="Noto Sans CJK JP"/>
                          <a:ea typeface="Noto Sans CJK JP"/>
                          <a:cs typeface="Noto Sans CJK JP"/>
                        </a:rPr>
                        <a:t>敷地面積（㎡）</a:t>
                      </a:r>
                    </a:p>
                  </a:txBody>
                  <a:tcPr marL="91440" marR="91440" marT="45720" marB="45720" anchor="ctr">
                    <a:solidFill>
                      <a:srgbClr val="FFFFFF"/>
                    </a:solidFill>
                  </a:tcPr>
                </a:tc>
                <a:tc>
                  <a:txBody>
                    <a:bodyPr lIns="76200" tIns="47625" rIns="76200" bIns="47625">
                      <a:noAutofit/>
                    </a:bodyPr>
                    <a:lstStyle/>
                    <a:p>
                      <a:r>
                        <a:rPr sz="1313" b="0">
                          <a:solidFill>
                            <a:srgbClr val="183349"/>
                          </a:solidFill>
                          <a:latin typeface="Noto Sans CJK JP"/>
                          <a:ea typeface="Noto Sans CJK JP"/>
                          <a:cs typeface="Noto Sans CJK JP"/>
                        </a:rPr>
                        <a:t>取得できる場合に記入</a:t>
                      </a:r>
                    </a:p>
                  </a:txBody>
                  <a:tcPr marL="91440" marR="91440" marT="45720" marB="45720" anchor="ctr">
                    <a:solidFill>
                      <a:srgbClr val="FFFFFF"/>
                    </a:solidFill>
                  </a:tcPr>
                </a:tc>
              </a:tr>
            </a:tbl>
          </a:graphicData>
        </a:graphic>
      </p:graphicFrame>
      <p:graphicFrame>
        <p:nvGraphicFramePr>
          <p:cNvPr id="15" name=""/>
          <p:cNvGraphicFramePr/>
          <p:nvPr/>
        </p:nvGraphicFramePr>
        <p:xfrm>
          <a:off xmlns:a="http://schemas.openxmlformats.org/drawingml/2006/main" x="6210300" y="1428750"/>
          <a:ext xmlns:a="http://schemas.openxmlformats.org/drawingml/2006/main" cx="5562600" cy="4095750"/>
        </p:xfrm>
        <a:graphic xmlns:a="http://schemas.openxmlformats.org/drawingml/2006/main">
          <a:graphicData uri="http://schemas.openxmlformats.org/drawingml/2006/table">
            <a:tbl>
              <a:tblPr/>
              <a:tblGrid>
                <a:gridCol w="342900"/>
                <a:gridCol w="2085975"/>
                <a:gridCol w="3133725"/>
              </a:tblGrid>
              <a:tr h="409575">
                <a:tc>
                  <a:txBody>
                    <a:bodyPr lIns="76200" tIns="47625" rIns="76200" bIns="47625">
                      <a:noAutofit/>
                    </a:bodyPr>
                    <a:lstStyle/>
                    <a:p>
                      <a:r>
                        <a:rPr sz="1313" b="1">
                          <a:solidFill>
                            <a:srgbClr val="FFFFFF"/>
                          </a:solidFill>
                          <a:latin typeface="Noto Sans CJK JP"/>
                          <a:ea typeface="Noto Sans CJK JP"/>
                          <a:cs typeface="Noto Sans CJK JP"/>
                        </a:rPr>
                        <a:t>列</a:t>
                      </a:r>
                    </a:p>
                  </a:txBody>
                  <a:tcPr marL="91440" marR="91440" marT="45720" marB="45720" anchor="ctr">
                    <a:solidFill>
                      <a:srgbClr val="183349"/>
                    </a:solidFill>
                  </a:tcPr>
                </a:tc>
                <a:tc>
                  <a:txBody>
                    <a:bodyPr lIns="76200" tIns="47625" rIns="76200" bIns="47625">
                      <a:noAutofit/>
                    </a:bodyPr>
                    <a:lstStyle/>
                    <a:p>
                      <a:r>
                        <a:rPr sz="1313" b="1">
                          <a:solidFill>
                            <a:srgbClr val="FFFFFF"/>
                          </a:solidFill>
                          <a:latin typeface="Noto Sans CJK JP"/>
                          <a:ea typeface="Noto Sans CJK JP"/>
                          <a:cs typeface="Noto Sans CJK JP"/>
                        </a:rPr>
                        <a:t>1行目の項目名</a:t>
                      </a:r>
                    </a:p>
                  </a:txBody>
                  <a:tcPr marL="91440" marR="91440" marT="45720" marB="45720" anchor="ctr">
                    <a:solidFill>
                      <a:srgbClr val="183349"/>
                    </a:solidFill>
                  </a:tcPr>
                </a:tc>
                <a:tc>
                  <a:txBody>
                    <a:bodyPr lIns="76200" tIns="47625" rIns="76200" bIns="47625">
                      <a:noAutofit/>
                    </a:bodyPr>
                    <a:lstStyle/>
                    <a:p>
                      <a:r>
                        <a:rPr sz="1313" b="1">
                          <a:solidFill>
                            <a:srgbClr val="FFFFFF"/>
                          </a:solidFill>
                          <a:latin typeface="Noto Sans CJK JP"/>
                          <a:ea typeface="Noto Sans CJK JP"/>
                          <a:cs typeface="Noto Sans CJK JP"/>
                        </a:rPr>
                        <a:t>取得・整形ルール</a:t>
                      </a:r>
                    </a:p>
                  </a:txBody>
                  <a:tcPr marL="91440" marR="91440" marT="45720" marB="45720" anchor="ctr">
                    <a:solidFill>
                      <a:srgbClr val="183349"/>
                    </a:solidFill>
                  </a:tcPr>
                </a:tc>
              </a:tr>
              <a:tr h="409575">
                <a:tc>
                  <a:txBody>
                    <a:bodyPr lIns="76200" tIns="47625" rIns="76200" bIns="47625">
                      <a:noAutofit/>
                    </a:bodyPr>
                    <a:lstStyle/>
                    <a:p>
                      <a:r>
                        <a:rPr sz="1313" b="0">
                          <a:solidFill>
                            <a:srgbClr val="183349"/>
                          </a:solidFill>
                          <a:latin typeface="Noto Sans CJK JP"/>
                          <a:ea typeface="Noto Sans CJK JP"/>
                          <a:cs typeface="Noto Sans CJK JP"/>
                        </a:rPr>
                        <a:t>J</a:t>
                      </a:r>
                    </a:p>
                  </a:txBody>
                  <a:tcPr marL="91440" marR="91440" marT="45720" marB="45720" anchor="ctr">
                    <a:solidFill>
                      <a:srgbClr val="FFFFFF"/>
                    </a:solidFill>
                  </a:tcPr>
                </a:tc>
                <a:tc>
                  <a:txBody>
                    <a:bodyPr lIns="76200" tIns="47625" rIns="76200" bIns="47625">
                      <a:noAutofit/>
                    </a:bodyPr>
                    <a:lstStyle/>
                    <a:p>
                      <a:r>
                        <a:rPr sz="1313" b="0">
                          <a:solidFill>
                            <a:srgbClr val="183349"/>
                          </a:solidFill>
                          <a:latin typeface="Noto Sans CJK JP"/>
                          <a:ea typeface="Noto Sans CJK JP"/>
                          <a:cs typeface="Noto Sans CJK JP"/>
                        </a:rPr>
                        <a:t>戸数</a:t>
                      </a:r>
                    </a:p>
                  </a:txBody>
                  <a:tcPr marL="91440" marR="91440" marT="45720" marB="45720" anchor="ctr">
                    <a:solidFill>
                      <a:srgbClr val="FFFFFF"/>
                    </a:solidFill>
                  </a:tcPr>
                </a:tc>
                <a:tc>
                  <a:txBody>
                    <a:bodyPr lIns="76200" tIns="47625" rIns="76200" bIns="47625">
                      <a:noAutofit/>
                    </a:bodyPr>
                    <a:lstStyle/>
                    <a:p>
                      <a:r>
                        <a:rPr sz="1313" b="0">
                          <a:solidFill>
                            <a:srgbClr val="183349"/>
                          </a:solidFill>
                          <a:latin typeface="Noto Sans CJK JP"/>
                          <a:ea typeface="Noto Sans CJK JP"/>
                          <a:cs typeface="Noto Sans CJK JP"/>
                        </a:rPr>
                        <a:t>総戸数を確認。販売戸数と混同しない</a:t>
                      </a:r>
                    </a:p>
                  </a:txBody>
                  <a:tcPr marL="91440" marR="91440" marT="45720" marB="45720" anchor="ctr">
                    <a:solidFill>
                      <a:srgbClr val="FFFFFF"/>
                    </a:solidFill>
                  </a:tcPr>
                </a:tc>
              </a:tr>
              <a:tr h="409575">
                <a:tc>
                  <a:txBody>
                    <a:bodyPr lIns="76200" tIns="47625" rIns="76200" bIns="47625">
                      <a:noAutofit/>
                    </a:bodyPr>
                    <a:lstStyle/>
                    <a:p>
                      <a:r>
                        <a:rPr sz="1313" b="0">
                          <a:solidFill>
                            <a:srgbClr val="183349"/>
                          </a:solidFill>
                          <a:latin typeface="Noto Sans CJK JP"/>
                          <a:ea typeface="Noto Sans CJK JP"/>
                          <a:cs typeface="Noto Sans CJK JP"/>
                        </a:rPr>
                        <a:t>K</a:t>
                      </a:r>
                    </a:p>
                  </a:txBody>
                  <a:tcPr marL="91440" marR="91440" marT="45720" marB="45720" anchor="ctr">
                    <a:solidFill>
                      <a:srgbClr val="F7F9FB"/>
                    </a:solidFill>
                  </a:tcPr>
                </a:tc>
                <a:tc>
                  <a:txBody>
                    <a:bodyPr lIns="76200" tIns="47625" rIns="76200" bIns="47625">
                      <a:noAutofit/>
                    </a:bodyPr>
                    <a:lstStyle/>
                    <a:p>
                      <a:r>
                        <a:rPr sz="1313" b="0">
                          <a:solidFill>
                            <a:srgbClr val="183349"/>
                          </a:solidFill>
                          <a:latin typeface="Noto Sans CJK JP"/>
                          <a:ea typeface="Noto Sans CJK JP"/>
                          <a:cs typeface="Noto Sans CJK JP"/>
                        </a:rPr>
                        <a:t>事業主（建築主）</a:t>
                      </a:r>
                    </a:p>
                  </a:txBody>
                  <a:tcPr marL="91440" marR="91440" marT="45720" marB="45720" anchor="ctr">
                    <a:solidFill>
                      <a:srgbClr val="F7F9FB"/>
                    </a:solidFill>
                  </a:tcPr>
                </a:tc>
                <a:tc>
                  <a:txBody>
                    <a:bodyPr lIns="76200" tIns="47625" rIns="76200" bIns="47625">
                      <a:noAutofit/>
                    </a:bodyPr>
                    <a:lstStyle/>
                    <a:p>
                      <a:r>
                        <a:rPr sz="1313" b="0">
                          <a:solidFill>
                            <a:srgbClr val="183349"/>
                          </a:solidFill>
                          <a:latin typeface="Noto Sans CJK JP"/>
                          <a:ea typeface="Noto Sans CJK JP"/>
                          <a:cs typeface="Noto Sans CJK JP"/>
                        </a:rPr>
                        <a:t>建築主を転記。事業主と異なる場合は注記</a:t>
                      </a:r>
                    </a:p>
                  </a:txBody>
                  <a:tcPr marL="91440" marR="91440" marT="45720" marB="45720" anchor="ctr">
                    <a:solidFill>
                      <a:srgbClr val="F7F9FB"/>
                    </a:solidFill>
                  </a:tcPr>
                </a:tc>
              </a:tr>
              <a:tr h="409575">
                <a:tc>
                  <a:txBody>
                    <a:bodyPr lIns="76200" tIns="47625" rIns="76200" bIns="47625">
                      <a:noAutofit/>
                    </a:bodyPr>
                    <a:lstStyle/>
                    <a:p>
                      <a:r>
                        <a:rPr sz="1313" b="0">
                          <a:solidFill>
                            <a:srgbClr val="183349"/>
                          </a:solidFill>
                          <a:latin typeface="Noto Sans CJK JP"/>
                          <a:ea typeface="Noto Sans CJK JP"/>
                          <a:cs typeface="Noto Sans CJK JP"/>
                        </a:rPr>
                        <a:t>L</a:t>
                      </a:r>
                    </a:p>
                  </a:txBody>
                  <a:tcPr marL="91440" marR="91440" marT="45720" marB="45720" anchor="ctr">
                    <a:solidFill>
                      <a:srgbClr val="FFFFFF"/>
                    </a:solidFill>
                  </a:tcPr>
                </a:tc>
                <a:tc>
                  <a:txBody>
                    <a:bodyPr lIns="76200" tIns="47625" rIns="76200" bIns="47625">
                      <a:noAutofit/>
                    </a:bodyPr>
                    <a:lstStyle/>
                    <a:p>
                      <a:r>
                        <a:rPr sz="1313" b="0">
                          <a:solidFill>
                            <a:srgbClr val="183349"/>
                          </a:solidFill>
                          <a:latin typeface="Noto Sans CJK JP"/>
                          <a:ea typeface="Noto Sans CJK JP"/>
                          <a:cs typeface="Noto Sans CJK JP"/>
                        </a:rPr>
                        <a:t>設計者</a:t>
                      </a:r>
                    </a:p>
                  </a:txBody>
                  <a:tcPr marL="91440" marR="91440" marT="45720" marB="45720" anchor="ctr">
                    <a:solidFill>
                      <a:srgbClr val="FFFFFF"/>
                    </a:solidFill>
                  </a:tcPr>
                </a:tc>
                <a:tc>
                  <a:txBody>
                    <a:bodyPr lIns="76200" tIns="47625" rIns="76200" bIns="47625">
                      <a:noAutofit/>
                    </a:bodyPr>
                    <a:lstStyle/>
                    <a:p>
                      <a:r>
                        <a:rPr sz="1313" b="0">
                          <a:solidFill>
                            <a:srgbClr val="183349"/>
                          </a:solidFill>
                          <a:latin typeface="Noto Sans CJK JP"/>
                          <a:ea typeface="Noto Sans CJK JP"/>
                          <a:cs typeface="Noto Sans CJK JP"/>
                        </a:rPr>
                        <a:t>掲載される設計者名を転記</a:t>
                      </a:r>
                    </a:p>
                  </a:txBody>
                  <a:tcPr marL="91440" marR="91440" marT="45720" marB="45720" anchor="ctr">
                    <a:solidFill>
                      <a:srgbClr val="FFFFFF"/>
                    </a:solidFill>
                  </a:tcPr>
                </a:tc>
              </a:tr>
              <a:tr h="409575">
                <a:tc>
                  <a:txBody>
                    <a:bodyPr lIns="76200" tIns="47625" rIns="76200" bIns="47625">
                      <a:noAutofit/>
                    </a:bodyPr>
                    <a:lstStyle/>
                    <a:p>
                      <a:r>
                        <a:rPr sz="1313" b="0">
                          <a:solidFill>
                            <a:srgbClr val="183349"/>
                          </a:solidFill>
                          <a:latin typeface="Noto Sans CJK JP"/>
                          <a:ea typeface="Noto Sans CJK JP"/>
                          <a:cs typeface="Noto Sans CJK JP"/>
                        </a:rPr>
                        <a:t>M</a:t>
                      </a:r>
                    </a:p>
                  </a:txBody>
                  <a:tcPr marL="91440" marR="91440" marT="45720" marB="45720" anchor="ctr">
                    <a:solidFill>
                      <a:srgbClr val="F7F9FB"/>
                    </a:solidFill>
                  </a:tcPr>
                </a:tc>
                <a:tc>
                  <a:txBody>
                    <a:bodyPr lIns="76200" tIns="47625" rIns="76200" bIns="47625">
                      <a:noAutofit/>
                    </a:bodyPr>
                    <a:lstStyle/>
                    <a:p>
                      <a:r>
                        <a:rPr sz="1313" b="0">
                          <a:solidFill>
                            <a:srgbClr val="183349"/>
                          </a:solidFill>
                          <a:latin typeface="Noto Sans CJK JP"/>
                          <a:ea typeface="Noto Sans CJK JP"/>
                          <a:cs typeface="Noto Sans CJK JP"/>
                        </a:rPr>
                        <a:t>施工者</a:t>
                      </a:r>
                    </a:p>
                  </a:txBody>
                  <a:tcPr marL="91440" marR="91440" marT="45720" marB="45720" anchor="ctr">
                    <a:solidFill>
                      <a:srgbClr val="F7F9FB"/>
                    </a:solidFill>
                  </a:tcPr>
                </a:tc>
                <a:tc>
                  <a:txBody>
                    <a:bodyPr lIns="76200" tIns="47625" rIns="76200" bIns="47625">
                      <a:noAutofit/>
                    </a:bodyPr>
                    <a:lstStyle/>
                    <a:p>
                      <a:r>
                        <a:rPr sz="1313" b="0">
                          <a:solidFill>
                            <a:srgbClr val="183349"/>
                          </a:solidFill>
                          <a:latin typeface="Noto Sans CJK JP"/>
                          <a:ea typeface="Noto Sans CJK JP"/>
                          <a:cs typeface="Noto Sans CJK JP"/>
                        </a:rPr>
                        <a:t>共同施工者・JVの記載も保存</a:t>
                      </a:r>
                    </a:p>
                  </a:txBody>
                  <a:tcPr marL="91440" marR="91440" marT="45720" marB="45720" anchor="ctr">
                    <a:solidFill>
                      <a:srgbClr val="F7F9FB"/>
                    </a:solidFill>
                  </a:tcPr>
                </a:tc>
              </a:tr>
              <a:tr h="409575">
                <a:tc>
                  <a:txBody>
                    <a:bodyPr lIns="76200" tIns="47625" rIns="76200" bIns="47625">
                      <a:noAutofit/>
                    </a:bodyPr>
                    <a:lstStyle/>
                    <a:p>
                      <a:r>
                        <a:rPr sz="1313" b="0">
                          <a:solidFill>
                            <a:srgbClr val="183349"/>
                          </a:solidFill>
                          <a:latin typeface="Noto Sans CJK JP"/>
                          <a:ea typeface="Noto Sans CJK JP"/>
                          <a:cs typeface="Noto Sans CJK JP"/>
                        </a:rPr>
                        <a:t>N</a:t>
                      </a:r>
                    </a:p>
                  </a:txBody>
                  <a:tcPr marL="91440" marR="91440" marT="45720" marB="45720" anchor="ctr">
                    <a:solidFill>
                      <a:srgbClr val="FFFFFF"/>
                    </a:solidFill>
                  </a:tcPr>
                </a:tc>
                <a:tc>
                  <a:txBody>
                    <a:bodyPr lIns="76200" tIns="47625" rIns="76200" bIns="47625">
                      <a:noAutofit/>
                    </a:bodyPr>
                    <a:lstStyle/>
                    <a:p>
                      <a:r>
                        <a:rPr sz="1313" b="0">
                          <a:solidFill>
                            <a:srgbClr val="183349"/>
                          </a:solidFill>
                          <a:latin typeface="Noto Sans CJK JP"/>
                          <a:ea typeface="Noto Sans CJK JP"/>
                          <a:cs typeface="Noto Sans CJK JP"/>
                        </a:rPr>
                        <a:t>着工予定日</a:t>
                      </a:r>
                    </a:p>
                  </a:txBody>
                  <a:tcPr marL="91440" marR="91440" marT="45720" marB="45720" anchor="ctr">
                    <a:solidFill>
                      <a:srgbClr val="FFFFFF"/>
                    </a:solidFill>
                  </a:tcPr>
                </a:tc>
                <a:tc>
                  <a:txBody>
                    <a:bodyPr lIns="76200" tIns="47625" rIns="76200" bIns="47625">
                      <a:noAutofit/>
                    </a:bodyPr>
                    <a:lstStyle/>
                    <a:p>
                      <a:r>
                        <a:rPr sz="1313" b="0">
                          <a:solidFill>
                            <a:srgbClr val="183349"/>
                          </a:solidFill>
                          <a:latin typeface="Noto Sans CJK JP"/>
                          <a:ea typeface="Noto Sans CJK JP"/>
                          <a:cs typeface="Noto Sans CJK JP"/>
                        </a:rPr>
                        <a:t>着工欄。実績と分かる場合は注記</a:t>
                      </a:r>
                    </a:p>
                  </a:txBody>
                  <a:tcPr marL="91440" marR="91440" marT="45720" marB="45720" anchor="ctr">
                    <a:solidFill>
                      <a:srgbClr val="FFFFFF"/>
                    </a:solidFill>
                  </a:tcPr>
                </a:tc>
              </a:tr>
              <a:tr h="409575">
                <a:tc>
                  <a:txBody>
                    <a:bodyPr lIns="76200" tIns="47625" rIns="76200" bIns="47625">
                      <a:noAutofit/>
                    </a:bodyPr>
                    <a:lstStyle/>
                    <a:p>
                      <a:r>
                        <a:rPr sz="1313" b="0">
                          <a:solidFill>
                            <a:srgbClr val="183349"/>
                          </a:solidFill>
                          <a:latin typeface="Noto Sans CJK JP"/>
                          <a:ea typeface="Noto Sans CJK JP"/>
                          <a:cs typeface="Noto Sans CJK JP"/>
                        </a:rPr>
                        <a:t>O</a:t>
                      </a:r>
                    </a:p>
                  </a:txBody>
                  <a:tcPr marL="91440" marR="91440" marT="45720" marB="45720" anchor="ctr">
                    <a:solidFill>
                      <a:srgbClr val="F7F9FB"/>
                    </a:solidFill>
                  </a:tcPr>
                </a:tc>
                <a:tc>
                  <a:txBody>
                    <a:bodyPr lIns="76200" tIns="47625" rIns="76200" bIns="47625">
                      <a:noAutofit/>
                    </a:bodyPr>
                    <a:lstStyle/>
                    <a:p>
                      <a:r>
                        <a:rPr sz="1313" b="0">
                          <a:solidFill>
                            <a:srgbClr val="183349"/>
                          </a:solidFill>
                          <a:latin typeface="Noto Sans CJK JP"/>
                          <a:ea typeface="Noto Sans CJK JP"/>
                          <a:cs typeface="Noto Sans CJK JP"/>
                        </a:rPr>
                        <a:t>竣工予定日</a:t>
                      </a:r>
                    </a:p>
                  </a:txBody>
                  <a:tcPr marL="91440" marR="91440" marT="45720" marB="45720" anchor="ctr">
                    <a:solidFill>
                      <a:srgbClr val="F7F9FB"/>
                    </a:solidFill>
                  </a:tcPr>
                </a:tc>
                <a:tc>
                  <a:txBody>
                    <a:bodyPr lIns="76200" tIns="47625" rIns="76200" bIns="47625">
                      <a:noAutofit/>
                    </a:bodyPr>
                    <a:lstStyle/>
                    <a:p>
                      <a:r>
                        <a:rPr sz="1313" b="0">
                          <a:solidFill>
                            <a:srgbClr val="183349"/>
                          </a:solidFill>
                          <a:latin typeface="Noto Sans CJK JP"/>
                          <a:ea typeface="Noto Sans CJK JP"/>
                          <a:cs typeface="Noto Sans CJK JP"/>
                        </a:rPr>
                        <a:t>完成欄。開業・引渡日とは区別</a:t>
                      </a:r>
                    </a:p>
                  </a:txBody>
                  <a:tcPr marL="91440" marR="91440" marT="45720" marB="45720" anchor="ctr">
                    <a:solidFill>
                      <a:srgbClr val="F7F9FB"/>
                    </a:solidFill>
                  </a:tcPr>
                </a:tc>
              </a:tr>
              <a:tr h="409575">
                <a:tc>
                  <a:txBody>
                    <a:bodyPr lIns="76200" tIns="47625" rIns="76200" bIns="47625">
                      <a:noAutofit/>
                    </a:bodyPr>
                    <a:lstStyle/>
                    <a:p>
                      <a:r>
                        <a:rPr sz="1313" b="0">
                          <a:solidFill>
                            <a:srgbClr val="183349"/>
                          </a:solidFill>
                          <a:latin typeface="Noto Sans CJK JP"/>
                          <a:ea typeface="Noto Sans CJK JP"/>
                          <a:cs typeface="Noto Sans CJK JP"/>
                        </a:rPr>
                        <a:t>P</a:t>
                      </a:r>
                    </a:p>
                  </a:txBody>
                  <a:tcPr marL="91440" marR="91440" marT="45720" marB="45720" anchor="ctr">
                    <a:solidFill>
                      <a:srgbClr val="FFFFFF"/>
                    </a:solidFill>
                  </a:tcPr>
                </a:tc>
                <a:tc>
                  <a:txBody>
                    <a:bodyPr lIns="76200" tIns="47625" rIns="76200" bIns="47625">
                      <a:noAutofit/>
                    </a:bodyPr>
                    <a:lstStyle/>
                    <a:p>
                      <a:r>
                        <a:rPr sz="1313" b="0">
                          <a:solidFill>
                            <a:srgbClr val="183349"/>
                          </a:solidFill>
                          <a:latin typeface="Noto Sans CJK JP"/>
                          <a:ea typeface="Noto Sans CJK JP"/>
                          <a:cs typeface="Noto Sans CJK JP"/>
                        </a:rPr>
                        <a:t>備考（用途の判定理由）</a:t>
                      </a:r>
                    </a:p>
                  </a:txBody>
                  <a:tcPr marL="91440" marR="91440" marT="45720" marB="45720" anchor="ctr">
                    <a:solidFill>
                      <a:srgbClr val="FFFFFF"/>
                    </a:solidFill>
                  </a:tcPr>
                </a:tc>
                <a:tc>
                  <a:txBody>
                    <a:bodyPr lIns="76200" tIns="47625" rIns="76200" bIns="47625">
                      <a:noAutofit/>
                    </a:bodyPr>
                    <a:lstStyle/>
                    <a:p>
                      <a:r>
                        <a:rPr sz="1313" b="0">
                          <a:solidFill>
                            <a:srgbClr val="183349"/>
                          </a:solidFill>
                          <a:latin typeface="Noto Sans CJK JP"/>
                          <a:ea typeface="Noto Sans CJK JP"/>
                          <a:cs typeface="Noto Sans CJK JP"/>
                        </a:rPr>
                        <a:t>用途＋資料の明記内容を短く記入</a:t>
                      </a:r>
                    </a:p>
                  </a:txBody>
                  <a:tcPr marL="91440" marR="91440" marT="45720" marB="45720" anchor="ctr">
                    <a:solidFill>
                      <a:srgbClr val="FFFFFF"/>
                    </a:solidFill>
                  </a:tcPr>
                </a:tc>
              </a:tr>
              <a:tr h="409575">
                <a:tc>
                  <a:txBody>
                    <a:bodyPr lIns="76200" tIns="47625" rIns="76200" bIns="47625">
                      <a:noAutofit/>
                    </a:bodyPr>
                    <a:lstStyle/>
                    <a:p>
                      <a:r>
                        <a:rPr sz="1313" b="0">
                          <a:solidFill>
                            <a:srgbClr val="183349"/>
                          </a:solidFill>
                          <a:latin typeface="Noto Sans CJK JP"/>
                          <a:ea typeface="Noto Sans CJK JP"/>
                          <a:cs typeface="Noto Sans CJK JP"/>
                        </a:rPr>
                        <a:t>Q</a:t>
                      </a:r>
                    </a:p>
                  </a:txBody>
                  <a:tcPr marL="91440" marR="91440" marT="45720" marB="45720" anchor="ctr">
                    <a:solidFill>
                      <a:srgbClr val="F7F9FB"/>
                    </a:solidFill>
                  </a:tcPr>
                </a:tc>
                <a:tc>
                  <a:txBody>
                    <a:bodyPr lIns="76200" tIns="47625" rIns="76200" bIns="47625">
                      <a:noAutofit/>
                    </a:bodyPr>
                    <a:lstStyle/>
                    <a:p>
                      <a:r>
                        <a:rPr sz="1313" b="0">
                          <a:solidFill>
                            <a:srgbClr val="183349"/>
                          </a:solidFill>
                          <a:latin typeface="Noto Sans CJK JP"/>
                          <a:ea typeface="Noto Sans CJK JP"/>
                          <a:cs typeface="Noto Sans CJK JP"/>
                        </a:rPr>
                        <a:t>データ取得日</a:t>
                      </a:r>
                    </a:p>
                  </a:txBody>
                  <a:tcPr marL="91440" marR="91440" marT="45720" marB="45720" anchor="ctr">
                    <a:solidFill>
                      <a:srgbClr val="F7F9FB"/>
                    </a:solidFill>
                  </a:tcPr>
                </a:tc>
                <a:tc>
                  <a:txBody>
                    <a:bodyPr lIns="76200" tIns="47625" rIns="76200" bIns="47625">
                      <a:noAutofit/>
                    </a:bodyPr>
                    <a:lstStyle/>
                    <a:p>
                      <a:r>
                        <a:rPr sz="1313" b="0">
                          <a:solidFill>
                            <a:srgbClr val="183349"/>
                          </a:solidFill>
                          <a:latin typeface="Noto Sans CJK JP"/>
                          <a:ea typeface="Noto Sans CJK JP"/>
                          <a:cs typeface="Noto Sans CJK JP"/>
                        </a:rPr>
                        <a:t>今回確認・取得した日を自動記録</a:t>
                      </a:r>
                    </a:p>
                  </a:txBody>
                  <a:tcPr marL="91440" marR="91440" marT="45720" marB="45720" anchor="ctr">
                    <a:solidFill>
                      <a:srgbClr val="F7F9FB"/>
                    </a:solidFill>
                  </a:tcPr>
                </a:tc>
              </a:tr>
              <a:tr h="409575">
                <a:tc>
                  <a:txBody>
                    <a:bodyPr lIns="76200" tIns="47625" rIns="76200" bIns="47625">
                      <a:noAutofit/>
                    </a:bodyPr>
                    <a:lstStyle/>
                    <a:p>
                      <a:r>
                        <a:rPr sz="1313" b="0">
                          <a:solidFill>
                            <a:srgbClr val="183349"/>
                          </a:solidFill>
                          <a:latin typeface="Noto Sans CJK JP"/>
                          <a:ea typeface="Noto Sans CJK JP"/>
                          <a:cs typeface="Noto Sans CJK JP"/>
                        </a:rPr>
                        <a:t>R</a:t>
                      </a:r>
                    </a:p>
                  </a:txBody>
                  <a:tcPr marL="91440" marR="91440" marT="45720" marB="45720" anchor="ctr">
                    <a:solidFill>
                      <a:srgbClr val="FFFFFF"/>
                    </a:solidFill>
                  </a:tcPr>
                </a:tc>
                <a:tc>
                  <a:txBody>
                    <a:bodyPr lIns="76200" tIns="47625" rIns="76200" bIns="47625">
                      <a:noAutofit/>
                    </a:bodyPr>
                    <a:lstStyle/>
                    <a:p>
                      <a:r>
                        <a:rPr sz="1313" b="0">
                          <a:solidFill>
                            <a:srgbClr val="183349"/>
                          </a:solidFill>
                          <a:latin typeface="Noto Sans CJK JP"/>
                          <a:ea typeface="Noto Sans CJK JP"/>
                          <a:cs typeface="Noto Sans CJK JP"/>
                        </a:rPr>
                        <a:t>サイト掲載日／更新日</a:t>
                      </a:r>
                    </a:p>
                  </a:txBody>
                  <a:tcPr marL="91440" marR="91440" marT="45720" marB="45720" anchor="ctr">
                    <a:solidFill>
                      <a:srgbClr val="FFFFFF"/>
                    </a:solidFill>
                  </a:tcPr>
                </a:tc>
                <a:tc>
                  <a:txBody>
                    <a:bodyPr lIns="76200" tIns="47625" rIns="76200" bIns="47625">
                      <a:noAutofit/>
                    </a:bodyPr>
                    <a:lstStyle/>
                    <a:p>
                      <a:r>
                        <a:rPr sz="1313" b="0">
                          <a:solidFill>
                            <a:srgbClr val="183349"/>
                          </a:solidFill>
                          <a:latin typeface="Noto Sans CJK JP"/>
                          <a:ea typeface="Noto Sans CJK JP"/>
                          <a:cs typeface="Noto Sans CJK JP"/>
                        </a:rPr>
                        <a:t>日付の種別を明記。未記載なら空欄</a:t>
                      </a:r>
                    </a:p>
                  </a:txBody>
                  <a:tcPr marL="91440" marR="91440" marT="45720" marB="45720" anchor="ctr">
                    <a:solidFill>
                      <a:srgbClr val="FFFFFF"/>
                    </a:solidFill>
                  </a:tcPr>
                </a:tc>
              </a:tr>
            </a:tbl>
          </a:graphicData>
        </a:graphic>
      </p:graphicFrame>
      <p:sp>
        <p:nvSpPr>
          <p:cNvPr id="7" name="text_38">
            <a:extLst xmlns:a="http://schemas.openxmlformats.org/drawingml/2006/main">
              <a:ext uri="{FF2B5EF4-FFF2-40B4-BE49-F238E27FC236}">
                <a16:creationId xmlns:a16="http://schemas.microsoft.com/office/drawing/2014/main" id="{C4350FC9-A540-4A91-ADB9-669E61418100}"/>
              </a:ext>
            </a:extLst>
          </p:cNvPr>
          <p:cNvSpPr>
            <a:spLocks xmlns:a="http://schemas.openxmlformats.org/drawingml/2006/main" noGrp="1"/>
          </p:cNvSpPr>
          <p:nvPr/>
        </p:nvSpPr>
        <p:spPr>
          <a:xfrm xmlns:a="http://schemas.openxmlformats.org/drawingml/2006/main">
            <a:off x="419100" y="5705475"/>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1">
                <a:solidFill>
                  <a:srgbClr val="186A94"/>
                </a:solidFill>
                <a:latin typeface="Noto Sans CJK JP"/>
                <a:ea typeface="Noto Sans CJK JP"/>
                <a:cs typeface="Noto Sans CJK JP"/>
              </a:defRPr>
            </a:pPr>
            <a:r>
              <a:rPr sz="1575" b="1">
                <a:solidFill>
                  <a:srgbClr val="186A94"/>
                </a:solidFill>
                <a:latin typeface="Noto Sans CJK JP"/>
                <a:ea typeface="Noto Sans CJK JP"/>
                <a:cs typeface="Noto Sans CJK JP"/>
              </a:rPr>
              <a:t>出典履歴タブ</a:t>
            </a:r>
          </a:p>
        </p:txBody>
      </p:sp>
      <p:sp>
        <p:nvSpPr>
          <p:cNvPr id="8" name="text_39">
            <a:extLst xmlns:a="http://schemas.openxmlformats.org/drawingml/2006/main">
              <a:ext uri="{FF2B5EF4-FFF2-40B4-BE49-F238E27FC236}">
                <a16:creationId xmlns:a16="http://schemas.microsoft.com/office/drawing/2014/main" id="{9138B51C-A718-4ECE-9D6E-F72230CC153F}"/>
              </a:ext>
            </a:extLst>
          </p:cNvPr>
          <p:cNvSpPr>
            <a:spLocks xmlns:a="http://schemas.openxmlformats.org/drawingml/2006/main" noGrp="1"/>
          </p:cNvSpPr>
          <p:nvPr/>
        </p:nvSpPr>
        <p:spPr>
          <a:xfrm xmlns:a="http://schemas.openxmlformats.org/drawingml/2006/main">
            <a:off x="2171700" y="5715000"/>
            <a:ext cx="9601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88" b="0">
                <a:solidFill>
                  <a:srgbClr val="183349"/>
                </a:solidFill>
                <a:latin typeface="Noto Sans CJK JP"/>
                <a:ea typeface="Noto Sans CJK JP"/>
                <a:cs typeface="Noto Sans CJK JP"/>
              </a:defRPr>
            </a:pPr>
            <a:r>
              <a:rPr sz="1388" b="0">
                <a:solidFill>
                  <a:srgbClr val="183349"/>
                </a:solidFill>
                <a:latin typeface="Noto Sans CJK JP"/>
                <a:ea typeface="Noto Sans CJK JP"/>
                <a:cs typeface="Noto Sans CJK JP"/>
              </a:rPr>
              <a:t>地域＋物件番号、件名、所在地、元URL、用途の根拠URL・該当文、原文、判定状態、変更前後を保管</a:t>
            </a:r>
          </a:p>
        </p:txBody>
      </p:sp>
      <p:sp>
        <p:nvSpPr>
          <p:cNvPr id="9" name="text_40">
            <a:extLst xmlns:a="http://schemas.openxmlformats.org/drawingml/2006/main">
              <a:ext uri="{FF2B5EF4-FFF2-40B4-BE49-F238E27FC236}">
                <a16:creationId xmlns:a16="http://schemas.microsoft.com/office/drawing/2014/main" id="{E4A805E9-2993-4995-A8F9-72DEE2F005AE}"/>
              </a:ext>
            </a:extLst>
          </p:cNvPr>
          <p:cNvSpPr>
            <a:spLocks xmlns:a="http://schemas.openxmlformats.org/drawingml/2006/main" noGrp="1"/>
          </p:cNvSpPr>
          <p:nvPr/>
        </p:nvSpPr>
        <p:spPr>
          <a:xfrm xmlns:a="http://schemas.openxmlformats.org/drawingml/2006/main">
            <a:off x="419100" y="6229350"/>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88" b="1">
                <a:solidFill>
                  <a:srgbClr val="99610E"/>
                </a:solidFill>
                <a:latin typeface="Noto Sans CJK JP"/>
                <a:ea typeface="Noto Sans CJK JP"/>
                <a:cs typeface="Noto Sans CJK JP"/>
              </a:defRPr>
            </a:pPr>
            <a:r>
              <a:rPr sz="1388" b="1">
                <a:solidFill>
                  <a:srgbClr val="99610E"/>
                </a:solidFill>
                <a:latin typeface="Noto Sans CJK JP"/>
                <a:ea typeface="Noto Sans CJK JP"/>
                <a:cs typeface="Noto Sans CJK JP"/>
              </a:rPr>
              <a:t>「日付」とだけある欄は原文の名称を残す。掲載日・届出日・更新日を勝手に同一視しない</a:t>
            </a:r>
          </a:p>
        </p:txBody>
      </p:sp>
    </p:spTree>
    <p:extLst>
      <p:ext uri="{BB962C8B-B14F-4D97-AF65-F5344CB8AC3E}">
        <p14:creationId xmlns:p14="http://schemas.microsoft.com/office/powerpoint/2010/main" val="8498418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_41">
            <a:extLst xmlns:a="http://schemas.openxmlformats.org/drawingml/2006/main">
              <a:ext uri="{FF2B5EF4-FFF2-40B4-BE49-F238E27FC236}">
                <a16:creationId xmlns:a16="http://schemas.microsoft.com/office/drawing/2014/main" id="{F482BC41-4210-4F11-953A-DF44079C2413}"/>
              </a:ext>
            </a:extLst>
          </p:cNvPr>
          <p:cNvSpPr>
            <a:spLocks xmlns:a="http://schemas.openxmlformats.org/drawingml/2006/main" noGrp="1"/>
          </p:cNvSpPr>
          <p:nvPr/>
        </p:nvSpPr>
        <p:spPr>
          <a:xfrm xmlns:a="http://schemas.openxmlformats.org/drawingml/2006/main">
            <a:off x="400050" y="228600"/>
            <a:ext cx="113919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550" b="1">
                <a:solidFill>
                  <a:srgbClr val="183349"/>
                </a:solidFill>
                <a:latin typeface="Noto Sans CJK JP"/>
                <a:ea typeface="Noto Sans CJK JP"/>
                <a:cs typeface="Noto Sans CJK JP"/>
              </a:defRPr>
            </a:pPr>
            <a:r>
              <a:rPr sz="2550" b="1">
                <a:solidFill>
                  <a:srgbClr val="183349"/>
                </a:solidFill>
                <a:latin typeface="Noto Sans CJK JP"/>
                <a:ea typeface="Noto Sans CJK JP"/>
                <a:cs typeface="Noto Sans CJK JP"/>
              </a:rPr>
              <a:t>Copilotとコマンドプロンプトで進める実装案</a:t>
            </a:r>
          </a:p>
        </p:txBody>
      </p:sp>
      <p:sp>
        <p:nvSpPr>
          <p:cNvPr id="2" name="text_42">
            <a:extLst xmlns:a="http://schemas.openxmlformats.org/drawingml/2006/main">
              <a:ext uri="{FF2B5EF4-FFF2-40B4-BE49-F238E27FC236}">
                <a16:creationId xmlns:a16="http://schemas.microsoft.com/office/drawing/2014/main" id="{6199444E-F075-4A65-BE3A-E84CFCA4DF91}"/>
              </a:ext>
            </a:extLst>
          </p:cNvPr>
          <p:cNvSpPr>
            <a:spLocks xmlns:a="http://schemas.openxmlformats.org/drawingml/2006/main" noGrp="1"/>
          </p:cNvSpPr>
          <p:nvPr/>
        </p:nvSpPr>
        <p:spPr>
          <a:xfrm xmlns:a="http://schemas.openxmlformats.org/drawingml/2006/main">
            <a:off x="419100" y="819150"/>
            <a:ext cx="11353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526372"/>
                </a:solidFill>
                <a:latin typeface="Noto Sans CJK JP"/>
                <a:ea typeface="Noto Sans CJK JP"/>
                <a:cs typeface="Noto Sans CJK JP"/>
              </a:defRPr>
            </a:pPr>
            <a:r>
              <a:rPr sz="1425" b="0">
                <a:solidFill>
                  <a:srgbClr val="526372"/>
                </a:solidFill>
                <a:latin typeface="Noto Sans CJK JP"/>
                <a:ea typeface="Noto Sans CJK JP"/>
                <a:cs typeface="Noto Sans CJK JP"/>
              </a:rPr>
              <a:t>人が資料を用意し、AIが抽出・用途判定を補助。BATは検証とExcel更新の処理を起動する</a:t>
            </a:r>
          </a:p>
        </p:txBody>
      </p:sp>
      <p:sp>
        <p:nvSpPr>
          <p:cNvPr id="3" name="">
            <a:extLst xmlns:a="http://schemas.openxmlformats.org/drawingml/2006/main">
              <a:ext uri="{FF2B5EF4-FFF2-40B4-BE49-F238E27FC236}">
                <a16:creationId xmlns:a16="http://schemas.microsoft.com/office/drawing/2014/main" id="{72CF2909-5382-49EF-BDB4-1610BC9D9209}"/>
              </a:ext>
            </a:extLst>
          </p:cNvPr>
          <p:cNvSpPr>
            <a:spLocks xmlns:a="http://schemas.openxmlformats.org/drawingml/2006/main" noGrp="1"/>
          </p:cNvSpPr>
          <p:nvPr/>
        </p:nvSpPr>
        <p:spPr>
          <a:xfrm xmlns:a="http://schemas.openxmlformats.org/drawingml/2006/main">
            <a:off x="419100" y="1190625"/>
            <a:ext cx="11353800" cy="0"/>
          </a:xfrm>
          <a:prstGeom xmlns:a="http://schemas.openxmlformats.org/drawingml/2006/main" prst="line">
            <a:avLst/>
          </a:prstGeom>
          <a:noFill xmlns:a="http://schemas.openxmlformats.org/drawingml/2006/main"/>
          <a:ln xmlns:a="http://schemas.openxmlformats.org/drawingml/2006/main" w="11430">
            <a:solidFill>
              <a:srgbClr val="183349"/>
            </a:solidFill>
          </a:ln>
        </p:spPr>
      </p:sp>
      <p:sp>
        <p:nvSpPr>
          <p:cNvPr id="4" name="text_43">
            <a:extLst xmlns:a="http://schemas.openxmlformats.org/drawingml/2006/main">
              <a:ext uri="{FF2B5EF4-FFF2-40B4-BE49-F238E27FC236}">
                <a16:creationId xmlns:a16="http://schemas.microsoft.com/office/drawing/2014/main" id="{D23180B2-8105-4053-A72B-57F5AF5D3ABA}"/>
              </a:ext>
            </a:extLst>
          </p:cNvPr>
          <p:cNvSpPr>
            <a:spLocks xmlns:a="http://schemas.openxmlformats.org/drawingml/2006/main" noGrp="1"/>
          </p:cNvSpPr>
          <p:nvPr/>
        </p:nvSpPr>
        <p:spPr>
          <a:xfrm xmlns:a="http://schemas.openxmlformats.org/drawingml/2006/main">
            <a:off x="11353800" y="652462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526372"/>
                </a:solidFill>
                <a:latin typeface="Noto Sans CJK JP"/>
                <a:ea typeface="Noto Sans CJK JP"/>
                <a:cs typeface="Noto Sans CJK JP"/>
              </a:defRPr>
            </a:pPr>
            <a:r>
              <a:rPr sz="1200" b="0">
                <a:solidFill>
                  <a:srgbClr val="526372"/>
                </a:solidFill>
                <a:latin typeface="Noto Sans CJK JP"/>
                <a:ea typeface="Noto Sans CJK JP"/>
                <a:cs typeface="Noto Sans CJK JP"/>
              </a:rPr>
              <a:t>04</a:t>
            </a:r>
          </a:p>
        </p:txBody>
      </p:sp>
      <p:graphicFrame>
        <p:nvGraphicFramePr>
          <p:cNvPr id="15" name=""/>
          <p:cNvGraphicFramePr/>
          <p:nvPr/>
        </p:nvGraphicFramePr>
        <p:xfrm>
          <a:off xmlns:a="http://schemas.openxmlformats.org/drawingml/2006/main" x="419100" y="1419225"/>
          <a:ext xmlns:a="http://schemas.openxmlformats.org/drawingml/2006/main" cx="11353800" cy="2266950"/>
        </p:xfrm>
        <a:graphic xmlns:a="http://schemas.openxmlformats.org/drawingml/2006/main">
          <a:graphicData uri="http://schemas.openxmlformats.org/drawingml/2006/table">
            <a:tbl>
              <a:tblPr/>
              <a:tblGrid>
                <a:gridCol w="1771650"/>
                <a:gridCol w="4648200"/>
                <a:gridCol w="4933950"/>
              </a:tblGrid>
              <a:tr h="352425">
                <a:tc>
                  <a:txBody>
                    <a:bodyPr lIns="76200" tIns="47625" rIns="76200" bIns="47625">
                      <a:noAutofit/>
                    </a:bodyPr>
                    <a:lstStyle/>
                    <a:p>
                      <a:r>
                        <a:rPr sz="1425" b="1">
                          <a:solidFill>
                            <a:srgbClr val="FFFFFF"/>
                          </a:solidFill>
                          <a:latin typeface="Noto Sans CJK JP"/>
                          <a:ea typeface="Noto Sans CJK JP"/>
                          <a:cs typeface="Noto Sans CJK JP"/>
                        </a:rPr>
                        <a:t>確認すること</a:t>
                      </a:r>
                    </a:p>
                  </a:txBody>
                  <a:tcPr marL="91440" marR="91440" marT="45720" marB="45720" anchor="ctr">
                    <a:solidFill>
                      <a:srgbClr val="183349"/>
                    </a:solidFill>
                  </a:tcPr>
                </a:tc>
                <a:tc>
                  <a:txBody>
                    <a:bodyPr lIns="76200" tIns="47625" rIns="76200" bIns="47625">
                      <a:noAutofit/>
                    </a:bodyPr>
                    <a:lstStyle/>
                    <a:p>
                      <a:r>
                        <a:rPr sz="1425" b="1">
                          <a:solidFill>
                            <a:srgbClr val="FFFFFF"/>
                          </a:solidFill>
                          <a:latin typeface="Noto Sans CJK JP"/>
                          <a:ea typeface="Noto Sans CJK JP"/>
                          <a:cs typeface="Noto Sans CJK JP"/>
                        </a:rPr>
                        <a:t>できる場合</a:t>
                      </a:r>
                    </a:p>
                  </a:txBody>
                  <a:tcPr marL="91440" marR="91440" marT="45720" marB="45720" anchor="ctr">
                    <a:solidFill>
                      <a:srgbClr val="183349"/>
                    </a:solidFill>
                  </a:tcPr>
                </a:tc>
                <a:tc>
                  <a:txBody>
                    <a:bodyPr lIns="76200" tIns="47625" rIns="76200" bIns="47625">
                      <a:noAutofit/>
                    </a:bodyPr>
                    <a:lstStyle/>
                    <a:p>
                      <a:r>
                        <a:rPr sz="1425" b="1">
                          <a:solidFill>
                            <a:srgbClr val="FFFFFF"/>
                          </a:solidFill>
                          <a:latin typeface="Noto Sans CJK JP"/>
                          <a:ea typeface="Noto Sans CJK JP"/>
                          <a:cs typeface="Noto Sans CJK JP"/>
                        </a:rPr>
                        <a:t>できない場合</a:t>
                      </a:r>
                    </a:p>
                  </a:txBody>
                  <a:tcPr marL="91440" marR="91440" marT="45720" marB="45720" anchor="ctr">
                    <a:solidFill>
                      <a:srgbClr val="183349"/>
                    </a:solidFill>
                  </a:tcPr>
                </a:tc>
              </a:tr>
              <a:tr h="638175">
                <a:tc>
                  <a:txBody>
                    <a:bodyPr lIns="76200" tIns="47625" rIns="76200" bIns="47625">
                      <a:noAutofit/>
                    </a:bodyPr>
                    <a:lstStyle/>
                    <a:p>
                      <a:r>
                        <a:rPr sz="1425" b="0">
                          <a:solidFill>
                            <a:srgbClr val="183349"/>
                          </a:solidFill>
                          <a:latin typeface="Noto Sans CJK JP"/>
                          <a:ea typeface="Noto Sans CJK JP"/>
                          <a:cs typeface="Noto Sans CJK JP"/>
                        </a:rPr>
                        <a:t>データの取得</a:t>
                      </a:r>
                    </a:p>
                  </a:txBody>
                  <a:tcPr marL="91440" marR="91440" marT="45720" marB="45720" anchor="ctr">
                    <a:solidFill>
                      <a:srgbClr val="FFFFFF"/>
                    </a:solidFill>
                  </a:tcPr>
                </a:tc>
                <a:tc>
                  <a:txBody>
                    <a:bodyPr lIns="76200" tIns="47625" rIns="76200" bIns="47625">
                      <a:noAutofit/>
                    </a:bodyPr>
                    <a:lstStyle/>
                    <a:p>
                      <a:r>
                        <a:rPr sz="1425" b="0">
                          <a:solidFill>
                            <a:srgbClr val="183349"/>
                          </a:solidFill>
                          <a:latin typeface="Noto Sans CJK JP"/>
                          <a:ea typeface="Noto Sans CJK JP"/>
                          <a:cs typeface="Noto Sans CJK JP"/>
                        </a:rPr>
                        <a:t>公式データ提供があれば取り込む。</a:t>
                      </a:r>
                    </a:p>
                    <a:p>
                      <a:r>
                        <a:rPr sz="1425" b="0">
                          <a:solidFill>
                            <a:srgbClr val="183349"/>
                          </a:solidFill>
                          <a:latin typeface="Noto Sans CJK JP"/>
                          <a:ea typeface="Noto Sans CJK JP"/>
                          <a:cs typeface="Noto Sans CJK JP"/>
                        </a:rPr>
                        <a:t>許諾されたHTML取得も選択肢</a:t>
                      </a:r>
                    </a:p>
                  </a:txBody>
                  <a:tcPr marL="91440" marR="91440" marT="45720" marB="45720" anchor="ctr">
                    <a:solidFill>
                      <a:srgbClr val="FFFFFF"/>
                    </a:solidFill>
                  </a:tcPr>
                </a:tc>
                <a:tc>
                  <a:txBody>
                    <a:bodyPr lIns="76200" tIns="47625" rIns="76200" bIns="47625">
                      <a:noAutofit/>
                    </a:bodyPr>
                    <a:lstStyle/>
                    <a:p>
                      <a:r>
                        <a:rPr sz="1425" b="0">
                          <a:solidFill>
                            <a:srgbClr val="183349"/>
                          </a:solidFill>
                          <a:latin typeface="Noto Sans CJK JP"/>
                          <a:ea typeface="Noto Sans CJK JP"/>
                          <a:cs typeface="Noto Sans CJK JP"/>
                        </a:rPr>
                        <a:t>許諾範囲で画面・PDFを保存。</a:t>
                      </a:r>
                    </a:p>
                    <a:p>
                      <a:r>
                        <a:rPr sz="1425" b="0">
                          <a:solidFill>
                            <a:srgbClr val="183349"/>
                          </a:solidFill>
                          <a:latin typeface="Noto Sans CJK JP"/>
                          <a:ea typeface="Noto Sans CJK JP"/>
                          <a:cs typeface="Noto Sans CJK JP"/>
                        </a:rPr>
                        <a:t>利用できる資料がなければ取得は保留</a:t>
                      </a:r>
                    </a:p>
                  </a:txBody>
                  <a:tcPr marL="91440" marR="91440" marT="45720" marB="45720" anchor="ctr">
                    <a:solidFill>
                      <a:srgbClr val="FFFFFF"/>
                    </a:solidFill>
                  </a:tcPr>
                </a:tc>
              </a:tr>
              <a:tr h="638175">
                <a:tc>
                  <a:txBody>
                    <a:bodyPr lIns="76200" tIns="47625" rIns="76200" bIns="47625">
                      <a:noAutofit/>
                    </a:bodyPr>
                    <a:lstStyle/>
                    <a:p>
                      <a:r>
                        <a:rPr sz="1425" b="0">
                          <a:solidFill>
                            <a:srgbClr val="183349"/>
                          </a:solidFill>
                          <a:latin typeface="Noto Sans CJK JP"/>
                          <a:ea typeface="Noto Sans CJK JP"/>
                          <a:cs typeface="Noto Sans CJK JP"/>
                        </a:rPr>
                        <a:t>AIから本文を参照</a:t>
                      </a:r>
                    </a:p>
                  </a:txBody>
                  <a:tcPr marL="91440" marR="91440" marT="45720" marB="45720" anchor="ctr">
                    <a:solidFill>
                      <a:srgbClr val="F7F9FB"/>
                    </a:solidFill>
                  </a:tcPr>
                </a:tc>
                <a:tc>
                  <a:txBody>
                    <a:bodyPr lIns="76200" tIns="47625" rIns="76200" bIns="47625">
                      <a:noAutofit/>
                    </a:bodyPr>
                    <a:lstStyle/>
                    <a:p>
                      <a:r>
                        <a:rPr sz="1425" b="0">
                          <a:solidFill>
                            <a:srgbClr val="183349"/>
                          </a:solidFill>
                          <a:latin typeface="Noto Sans CJK JP"/>
                          <a:ea typeface="Noto Sans CJK JP"/>
                          <a:cs typeface="Noto Sans CJK JP"/>
                        </a:rPr>
                        <a:t>URLまたは保存した本文を読み、</a:t>
                      </a:r>
                    </a:p>
                    <a:p>
                      <a:r>
                        <a:rPr sz="1425" b="0">
                          <a:solidFill>
                            <a:srgbClr val="183349"/>
                          </a:solidFill>
                          <a:latin typeface="Noto Sans CJK JP"/>
                          <a:ea typeface="Noto Sans CJK JP"/>
                          <a:cs typeface="Noto Sans CJK JP"/>
                        </a:rPr>
                        <a:t>指定項目のJSONを出力する</a:t>
                      </a:r>
                    </a:p>
                  </a:txBody>
                  <a:tcPr marL="91440" marR="91440" marT="45720" marB="45720" anchor="ctr">
                    <a:solidFill>
                      <a:srgbClr val="F7F9FB"/>
                    </a:solidFill>
                  </a:tcPr>
                </a:tc>
                <a:tc>
                  <a:txBody>
                    <a:bodyPr lIns="76200" tIns="47625" rIns="76200" bIns="47625">
                      <a:noAutofit/>
                    </a:bodyPr>
                    <a:lstStyle/>
                    <a:p>
                      <a:r>
                        <a:rPr sz="1425" b="0">
                          <a:solidFill>
                            <a:srgbClr val="183349"/>
                          </a:solidFill>
                          <a:latin typeface="Noto Sans CJK JP"/>
                          <a:ea typeface="Noto Sans CJK JP"/>
                          <a:cs typeface="Noto Sans CJK JP"/>
                        </a:rPr>
                        <a:t>人が本文・PDFを渡す。画像はOCR。</a:t>
                      </a:r>
                    </a:p>
                    <a:p>
                      <a:r>
                        <a:rPr sz="1425" b="0">
                          <a:solidFill>
                            <a:srgbClr val="183349"/>
                          </a:solidFill>
                          <a:latin typeface="Noto Sans CJK JP"/>
                          <a:ea typeface="Noto Sans CJK JP"/>
                          <a:cs typeface="Noto Sans CJK JP"/>
                        </a:rPr>
                        <a:t>承認済みAPIがなければCopilot画面で実行</a:t>
                      </a:r>
                    </a:p>
                  </a:txBody>
                  <a:tcPr marL="91440" marR="91440" marT="45720" marB="45720" anchor="ctr">
                    <a:solidFill>
                      <a:srgbClr val="F7F9FB"/>
                    </a:solidFill>
                  </a:tcPr>
                </a:tc>
              </a:tr>
              <a:tr h="638175">
                <a:tc>
                  <a:txBody>
                    <a:bodyPr lIns="76200" tIns="47625" rIns="76200" bIns="47625">
                      <a:noAutofit/>
                    </a:bodyPr>
                    <a:lstStyle/>
                    <a:p>
                      <a:r>
                        <a:rPr sz="1425" b="0">
                          <a:solidFill>
                            <a:srgbClr val="183349"/>
                          </a:solidFill>
                          <a:latin typeface="Noto Sans CJK JP"/>
                          <a:ea typeface="Noto Sans CJK JP"/>
                          <a:cs typeface="Noto Sans CJK JP"/>
                        </a:rPr>
                        <a:t>スクリプトを実行</a:t>
                      </a:r>
                    </a:p>
                  </a:txBody>
                  <a:tcPr marL="91440" marR="91440" marT="45720" marB="45720" anchor="ctr">
                    <a:solidFill>
                      <a:srgbClr val="FFFFFF"/>
                    </a:solidFill>
                  </a:tcPr>
                </a:tc>
                <a:tc>
                  <a:txBody>
                    <a:bodyPr lIns="76200" tIns="47625" rIns="76200" bIns="47625">
                      <a:noAutofit/>
                    </a:bodyPr>
                    <a:lstStyle/>
                    <a:p>
                      <a:r>
                        <a:rPr sz="1425" b="0">
                          <a:solidFill>
                            <a:srgbClr val="183349"/>
                          </a:solidFill>
                          <a:latin typeface="Noto Sans CJK JP"/>
                          <a:ea typeface="Noto Sans CJK JP"/>
                          <a:cs typeface="Noto Sans CJK JP"/>
                        </a:rPr>
                        <a:t>run.batからPowerShell等を起動。</a:t>
                      </a:r>
                    </a:p>
                    <a:p>
                      <a:r>
                        <a:rPr sz="1425" b="0">
                          <a:solidFill>
                            <a:srgbClr val="183349"/>
                          </a:solidFill>
                          <a:latin typeface="Noto Sans CJK JP"/>
                          <a:ea typeface="Noto Sans CJK JP"/>
                          <a:cs typeface="Noto Sans CJK JP"/>
                        </a:rPr>
                        <a:t>JSONを検証して既存Excelへ反映</a:t>
                      </a:r>
                    </a:p>
                  </a:txBody>
                  <a:tcPr marL="91440" marR="91440" marT="45720" marB="45720" anchor="ctr">
                    <a:solidFill>
                      <a:srgbClr val="FFFFFF"/>
                    </a:solidFill>
                  </a:tcPr>
                </a:tc>
                <a:tc>
                  <a:txBody>
                    <a:bodyPr lIns="76200" tIns="47625" rIns="76200" bIns="47625">
                      <a:noAutofit/>
                    </a:bodyPr>
                    <a:lstStyle/>
                    <a:p>
                      <a:r>
                        <a:rPr sz="1425" b="0">
                          <a:solidFill>
                            <a:srgbClr val="183349"/>
                          </a:solidFill>
                          <a:latin typeface="Noto Sans CJK JP"/>
                          <a:ea typeface="Noto Sans CJK JP"/>
                          <a:cs typeface="Noto Sans CJK JP"/>
                        </a:rPr>
                        <a:t>社内で使えるExcel取込機能を利用。</a:t>
                      </a:r>
                    </a:p>
                    <a:p>
                      <a:r>
                        <a:rPr sz="1425" b="0">
                          <a:solidFill>
                            <a:srgbClr val="183349"/>
                          </a:solidFill>
                          <a:latin typeface="Noto Sans CJK JP"/>
                          <a:ea typeface="Noto Sans CJK JP"/>
                          <a:cs typeface="Noto Sans CJK JP"/>
                        </a:rPr>
                        <a:t>それも難しければ確認済み表を貼り付け</a:t>
                      </a:r>
                    </a:p>
                  </a:txBody>
                  <a:tcPr marL="91440" marR="91440" marT="45720" marB="45720" anchor="ctr">
                    <a:solidFill>
                      <a:srgbClr val="FFFFFF"/>
                    </a:solidFill>
                  </a:tcPr>
                </a:tc>
              </a:tr>
            </a:tbl>
          </a:graphicData>
        </a:graphic>
      </p:graphicFrame>
      <p:sp>
        <p:nvSpPr>
          <p:cNvPr id="6" name="text_44">
            <a:extLst xmlns:a="http://schemas.openxmlformats.org/drawingml/2006/main">
              <a:ext uri="{FF2B5EF4-FFF2-40B4-BE49-F238E27FC236}">
                <a16:creationId xmlns:a16="http://schemas.microsoft.com/office/drawing/2014/main" id="{0298A204-88DD-4EA1-87F4-F87D5D959055}"/>
              </a:ext>
            </a:extLst>
          </p:cNvPr>
          <p:cNvSpPr>
            <a:spLocks xmlns:a="http://schemas.openxmlformats.org/drawingml/2006/main" noGrp="1"/>
          </p:cNvSpPr>
          <p:nvPr/>
        </p:nvSpPr>
        <p:spPr>
          <a:xfrm xmlns:a="http://schemas.openxmlformats.org/drawingml/2006/main">
            <a:off x="419100" y="391477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186A94"/>
                </a:solidFill>
                <a:latin typeface="Noto Sans CJK JP"/>
                <a:ea typeface="Noto Sans CJK JP"/>
                <a:cs typeface="Noto Sans CJK JP"/>
              </a:defRPr>
            </a:pPr>
            <a:r>
              <a:rPr sz="1800" b="1">
                <a:solidFill>
                  <a:srgbClr val="186A94"/>
                </a:solidFill>
                <a:latin typeface="Noto Sans CJK JP"/>
                <a:ea typeface="Noto Sans CJK JP"/>
                <a:cs typeface="Noto Sans CJK JP"/>
              </a:rPr>
              <a:t>実装する処理の骨格</a:t>
            </a:r>
          </a:p>
        </p:txBody>
      </p:sp>
      <p:sp>
        <p:nvSpPr>
          <p:cNvPr id="7" name="text_45">
            <a:extLst xmlns:a="http://schemas.openxmlformats.org/drawingml/2006/main">
              <a:ext uri="{FF2B5EF4-FFF2-40B4-BE49-F238E27FC236}">
                <a16:creationId xmlns:a16="http://schemas.microsoft.com/office/drawing/2014/main" id="{4874066A-D718-48BE-8910-2248BF6D0BCF}"/>
              </a:ext>
            </a:extLst>
          </p:cNvPr>
          <p:cNvSpPr>
            <a:spLocks xmlns:a="http://schemas.openxmlformats.org/drawingml/2006/main" noGrp="1"/>
          </p:cNvSpPr>
          <p:nvPr/>
        </p:nvSpPr>
        <p:spPr>
          <a:xfrm xmlns:a="http://schemas.openxmlformats.org/drawingml/2006/main">
            <a:off x="419100" y="4352925"/>
            <a:ext cx="5715000" cy="1933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88" b="0">
                <a:solidFill>
                  <a:srgbClr val="183349"/>
                </a:solidFill>
                <a:latin typeface="Noto Sans CJK JP"/>
                <a:ea typeface="Noto Sans CJK JP"/>
                <a:cs typeface="Noto Sans CJK JP"/>
              </a:defRPr>
            </a:pPr>
            <a:r>
              <a:rPr sz="1388" b="0">
                <a:solidFill>
                  <a:srgbClr val="183349"/>
                </a:solidFill>
                <a:latin typeface="Noto Sans CJK JP"/>
                <a:ea typeface="Noto Sans CJK JP"/>
                <a:cs typeface="Noto Sans CJK JP"/>
              </a:rPr>
              <a:t>FOR 各地域・建築主検索・施工者検索</a:t>
            </a:r>
          </a:p>
          <a:p xmlns:a="http://schemas.openxmlformats.org/drawingml/2006/main">
            <a:pPr algn="l">
              <a:defRPr sz="1388" b="0">
                <a:solidFill>
                  <a:srgbClr val="183349"/>
                </a:solidFill>
                <a:latin typeface="Noto Sans CJK JP"/>
                <a:ea typeface="Noto Sans CJK JP"/>
                <a:cs typeface="Noto Sans CJK JP"/>
              </a:defRPr>
            </a:pPr>
            <a:r>
              <a:rPr sz="1388" b="0">
                <a:solidFill>
                  <a:srgbClr val="183349"/>
                </a:solidFill>
                <a:latin typeface="Noto Sans CJK JP"/>
                <a:ea typeface="Noto Sans CJK JP"/>
                <a:cs typeface="Noto Sans CJK JP"/>
              </a:rPr>
              <a:t>  初回は掲載日を絞らず候補URLを収集・統合</a:t>
            </a:r>
          </a:p>
          <a:p xmlns:a="http://schemas.openxmlformats.org/drawingml/2006/main">
            <a:pPr algn="l">
              <a:defRPr sz="1388" b="0">
                <a:solidFill>
                  <a:srgbClr val="183349"/>
                </a:solidFill>
                <a:latin typeface="Noto Sans CJK JP"/>
                <a:ea typeface="Noto Sans CJK JP"/>
                <a:cs typeface="Noto Sans CJK JP"/>
              </a:defRPr>
            </a:pPr>
            <a:r>
              <a:rPr sz="1388" b="0">
                <a:solidFill>
                  <a:srgbClr val="183349"/>
                </a:solidFill>
                <a:latin typeface="Noto Sans CJK JP"/>
                <a:ea typeface="Noto Sans CJK JP"/>
                <a:cs typeface="Noto Sans CJK JP"/>
              </a:rPr>
              <a:t>FOR 各案件</a:t>
            </a:r>
          </a:p>
          <a:p xmlns:a="http://schemas.openxmlformats.org/drawingml/2006/main">
            <a:pPr algn="l">
              <a:defRPr sz="1388" b="0">
                <a:solidFill>
                  <a:srgbClr val="183349"/>
                </a:solidFill>
                <a:latin typeface="Noto Sans CJK JP"/>
                <a:ea typeface="Noto Sans CJK JP"/>
                <a:cs typeface="Noto Sans CJK JP"/>
              </a:defRPr>
            </a:pPr>
            <a:r>
              <a:rPr sz="1388" b="0">
                <a:solidFill>
                  <a:srgbClr val="183349"/>
                </a:solidFill>
                <a:latin typeface="Noto Sans CJK JP"/>
                <a:ea typeface="Noto Sans CJK JP"/>
                <a:cs typeface="Noto Sans CJK JP"/>
              </a:rPr>
              <a:t>  IF 対象外 OR 竣工済み・中止 → 除外履歴</a:t>
            </a:r>
          </a:p>
          <a:p xmlns:a="http://schemas.openxmlformats.org/drawingml/2006/main">
            <a:pPr algn="l">
              <a:defRPr sz="1388" b="0">
                <a:solidFill>
                  <a:srgbClr val="183349"/>
                </a:solidFill>
                <a:latin typeface="Noto Sans CJK JP"/>
                <a:ea typeface="Noto Sans CJK JP"/>
                <a:cs typeface="Noto Sans CJK JP"/>
              </a:defRPr>
            </a:pPr>
            <a:r>
              <a:rPr sz="1388" b="0">
                <a:solidFill>
                  <a:srgbClr val="183349"/>
                </a:solidFill>
                <a:latin typeface="Noto Sans CJK JP"/>
                <a:ea typeface="Noto Sans CJK JP"/>
                <a:cs typeface="Noto Sans CJK JP"/>
              </a:rPr>
              <a:t>  ELSE IF 関与・日程・用途が未確認 → 要確認</a:t>
            </a:r>
          </a:p>
          <a:p xmlns:a="http://schemas.openxmlformats.org/drawingml/2006/main">
            <a:pPr algn="l">
              <a:defRPr sz="1388" b="0">
                <a:solidFill>
                  <a:srgbClr val="183349"/>
                </a:solidFill>
                <a:latin typeface="Noto Sans CJK JP"/>
                <a:ea typeface="Noto Sans CJK JP"/>
                <a:cs typeface="Noto Sans CJK JP"/>
              </a:defRPr>
            </a:pPr>
            <a:r>
              <a:rPr sz="1388" b="0">
                <a:solidFill>
                  <a:srgbClr val="183349"/>
                </a:solidFill>
                <a:latin typeface="Noto Sans CJK JP"/>
                <a:ea typeface="Noto Sans CJK JP"/>
                <a:cs typeface="Noto Sans CJK JP"/>
              </a:rPr>
              <a:t>  ELSE 項目・単位・根拠を検証して採用</a:t>
            </a:r>
          </a:p>
          <a:p xmlns:a="http://schemas.openxmlformats.org/drawingml/2006/main">
            <a:pPr algn="l">
              <a:defRPr sz="1388" b="0">
                <a:solidFill>
                  <a:srgbClr val="183349"/>
                </a:solidFill>
                <a:latin typeface="Noto Sans CJK JP"/>
                <a:ea typeface="Noto Sans CJK JP"/>
                <a:cs typeface="Noto Sans CJK JP"/>
              </a:defRPr>
            </a:pPr>
            <a:r>
              <a:rPr sz="1388" b="0">
                <a:solidFill>
                  <a:srgbClr val="183349"/>
                </a:solidFill>
                <a:latin typeface="Noto Sans CJK JP"/>
                <a:ea typeface="Noto Sans CJK JP"/>
                <a:cs typeface="Noto Sans CJK JP"/>
              </a:rPr>
              <a:t>IF 列名・必須項目・重複チェックに合格</a:t>
            </a:r>
          </a:p>
          <a:p xmlns:a="http://schemas.openxmlformats.org/drawingml/2006/main">
            <a:pPr algn="l">
              <a:defRPr sz="1388" b="0">
                <a:solidFill>
                  <a:srgbClr val="183349"/>
                </a:solidFill>
                <a:latin typeface="Noto Sans CJK JP"/>
                <a:ea typeface="Noto Sans CJK JP"/>
                <a:cs typeface="Noto Sans CJK JP"/>
              </a:defRPr>
            </a:pPr>
            <a:r>
              <a:rPr sz="1388" b="0">
                <a:solidFill>
                  <a:srgbClr val="183349"/>
                </a:solidFill>
                <a:latin typeface="Noto Sans CJK JP"/>
                <a:ea typeface="Noto Sans CJK JP"/>
                <a:cs typeface="Noto Sans CJK JP"/>
              </a:rPr>
              <a:t>  更新前を保管し、変更分をExcelへ反映</a:t>
            </a:r>
          </a:p>
          <a:p xmlns:a="http://schemas.openxmlformats.org/drawingml/2006/main">
            <a:pPr algn="l">
              <a:defRPr sz="1388" b="0">
                <a:solidFill>
                  <a:srgbClr val="183349"/>
                </a:solidFill>
                <a:latin typeface="Noto Sans CJK JP"/>
                <a:ea typeface="Noto Sans CJK JP"/>
                <a:cs typeface="Noto Sans CJK JP"/>
              </a:defRPr>
            </a:pPr>
            <a:r>
              <a:rPr sz="1388" b="0">
                <a:solidFill>
                  <a:srgbClr val="183349"/>
                </a:solidFill>
                <a:latin typeface="Noto Sans CJK JP"/>
                <a:ea typeface="Noto Sans CJK JP"/>
                <a:cs typeface="Noto Sans CJK JP"/>
              </a:rPr>
              <a:t>ELSE エラー一覧を出し、修正後に再実行</a:t>
            </a:r>
          </a:p>
        </p:txBody>
      </p:sp>
      <p:sp>
        <p:nvSpPr>
          <p:cNvPr id="8" name="text_46">
            <a:extLst xmlns:a="http://schemas.openxmlformats.org/drawingml/2006/main">
              <a:ext uri="{FF2B5EF4-FFF2-40B4-BE49-F238E27FC236}">
                <a16:creationId xmlns:a16="http://schemas.microsoft.com/office/drawing/2014/main" id="{7EB478F7-4B5F-4E4F-8291-5F21547465B9}"/>
              </a:ext>
            </a:extLst>
          </p:cNvPr>
          <p:cNvSpPr>
            <a:spLocks xmlns:a="http://schemas.openxmlformats.org/drawingml/2006/main" noGrp="1"/>
          </p:cNvSpPr>
          <p:nvPr/>
        </p:nvSpPr>
        <p:spPr>
          <a:xfrm xmlns:a="http://schemas.openxmlformats.org/drawingml/2006/main">
            <a:off x="6581775" y="3914775"/>
            <a:ext cx="5191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186A94"/>
                </a:solidFill>
                <a:latin typeface="Noto Sans CJK JP"/>
                <a:ea typeface="Noto Sans CJK JP"/>
                <a:cs typeface="Noto Sans CJK JP"/>
              </a:defRPr>
            </a:pPr>
            <a:r>
              <a:rPr sz="1800" b="1">
                <a:solidFill>
                  <a:srgbClr val="186A94"/>
                </a:solidFill>
                <a:latin typeface="Noto Sans CJK JP"/>
                <a:ea typeface="Noto Sans CJK JP"/>
                <a:cs typeface="Noto Sans CJK JP"/>
              </a:rPr>
              <a:t>AIへの指示に必ず含める内容</a:t>
            </a:r>
          </a:p>
        </p:txBody>
      </p:sp>
      <p:sp>
        <p:nvSpPr>
          <p:cNvPr id="9" name="text_47">
            <a:extLst xmlns:a="http://schemas.openxmlformats.org/drawingml/2006/main">
              <a:ext uri="{FF2B5EF4-FFF2-40B4-BE49-F238E27FC236}">
                <a16:creationId xmlns:a16="http://schemas.microsoft.com/office/drawing/2014/main" id="{0D198980-CE8F-40AB-920C-EBE3CA46CB0B}"/>
              </a:ext>
            </a:extLst>
          </p:cNvPr>
          <p:cNvSpPr>
            <a:spLocks xmlns:a="http://schemas.openxmlformats.org/drawingml/2006/main" noGrp="1"/>
          </p:cNvSpPr>
          <p:nvPr/>
        </p:nvSpPr>
        <p:spPr>
          <a:xfrm xmlns:a="http://schemas.openxmlformats.org/drawingml/2006/main">
            <a:off x="6581775" y="4362450"/>
            <a:ext cx="5191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183349"/>
                </a:solidFill>
                <a:latin typeface="Noto Sans CJK JP"/>
                <a:ea typeface="Noto Sans CJK JP"/>
                <a:cs typeface="Noto Sans CJK JP"/>
              </a:defRPr>
            </a:pPr>
            <a:r>
              <a:rPr sz="1425" b="0">
                <a:solidFill>
                  <a:srgbClr val="183349"/>
                </a:solidFill>
                <a:latin typeface="Noto Sans CJK JP"/>
                <a:ea typeface="Noto Sans CJK JP"/>
                <a:cs typeface="Noto Sans CJK JP"/>
              </a:rPr>
              <a:t>指定した18項目を、1案件1レコードで抽出する。</a:t>
            </a:r>
          </a:p>
          <a:p xmlns:a="http://schemas.openxmlformats.org/drawingml/2006/main">
            <a:pPr algn="l">
              <a:defRPr sz="1425" b="0">
                <a:solidFill>
                  <a:srgbClr val="183349"/>
                </a:solidFill>
                <a:latin typeface="Noto Sans CJK JP"/>
                <a:ea typeface="Noto Sans CJK JP"/>
                <a:cs typeface="Noto Sans CJK JP"/>
              </a:defRPr>
            </a:pPr>
            <a:r>
              <a:rPr sz="1425" b="0">
                <a:solidFill>
                  <a:srgbClr val="183349"/>
                </a:solidFill>
                <a:latin typeface="Noto Sans CJK JP"/>
                <a:ea typeface="Noto Sans CJK JP"/>
                <a:cs typeface="Noto Sans CJK JP"/>
              </a:rPr>
              <a:t>不明な数値・日付・用途は推測で補完しない。</a:t>
            </a:r>
          </a:p>
          <a:p xmlns:a="http://schemas.openxmlformats.org/drawingml/2006/main">
            <a:pPr algn="l">
              <a:defRPr sz="1425" b="0">
                <a:solidFill>
                  <a:srgbClr val="183349"/>
                </a:solidFill>
                <a:latin typeface="Noto Sans CJK JP"/>
                <a:ea typeface="Noto Sans CJK JP"/>
                <a:cs typeface="Noto Sans CJK JP"/>
              </a:defRPr>
            </a:pPr>
            <a:r>
              <a:rPr sz="1425" b="0">
                <a:solidFill>
                  <a:srgbClr val="183349"/>
                </a:solidFill>
                <a:latin typeface="Noto Sans CJK JP"/>
                <a:ea typeface="Noto Sans CJK JP"/>
                <a:cs typeface="Noto Sans CJK JP"/>
              </a:rPr>
              <a:t>用途は公式資料で確認し、案件の同一性も照合する。</a:t>
            </a:r>
          </a:p>
          <a:p xmlns:a="http://schemas.openxmlformats.org/drawingml/2006/main">
            <a:pPr algn="l">
              <a:defRPr sz="1425" b="0">
                <a:solidFill>
                  <a:srgbClr val="183349"/>
                </a:solidFill>
                <a:latin typeface="Noto Sans CJK JP"/>
                <a:ea typeface="Noto Sans CJK JP"/>
                <a:cs typeface="Noto Sans CJK JP"/>
              </a:defRPr>
            </a:pPr>
            <a:r>
              <a:rPr sz="1425" b="0">
                <a:solidFill>
                  <a:srgbClr val="183349"/>
                </a:solidFill>
                <a:latin typeface="Noto Sans CJK JP"/>
                <a:ea typeface="Noto Sans CJK JP"/>
                <a:cs typeface="Noto Sans CJK JP"/>
              </a:rPr>
              <a:t>用途分類・短い理由・根拠URL・該当文を返す。</a:t>
            </a:r>
          </a:p>
          <a:p xmlns:a="http://schemas.openxmlformats.org/drawingml/2006/main">
            <a:pPr algn="l">
              <a:defRPr sz="1425" b="0">
                <a:solidFill>
                  <a:srgbClr val="183349"/>
                </a:solidFill>
                <a:latin typeface="Noto Sans CJK JP"/>
                <a:ea typeface="Noto Sans CJK JP"/>
                <a:cs typeface="Noto Sans CJK JP"/>
              </a:defRPr>
            </a:pPr>
            <a:r>
              <a:rPr sz="1425" b="0">
                <a:solidFill>
                  <a:srgbClr val="183349"/>
                </a:solidFill>
                <a:latin typeface="Noto Sans CJK JP"/>
                <a:ea typeface="Noto Sans CJK JP"/>
                <a:cs typeface="Noto Sans CJK JP"/>
              </a:rPr>
              <a:t>建築主／設計者／施工者を混同しない。</a:t>
            </a:r>
          </a:p>
          <a:p xmlns:a="http://schemas.openxmlformats.org/drawingml/2006/main">
            <a:pPr algn="l">
              <a:defRPr sz="1425" b="0">
                <a:solidFill>
                  <a:srgbClr val="183349"/>
                </a:solidFill>
                <a:latin typeface="Noto Sans CJK JP"/>
                <a:ea typeface="Noto Sans CJK JP"/>
                <a:cs typeface="Noto Sans CJK JP"/>
              </a:defRPr>
            </a:pPr>
            <a:r>
              <a:rPr sz="1425" b="0">
                <a:solidFill>
                  <a:srgbClr val="183349"/>
                </a:solidFill>
                <a:latin typeface="Noto Sans CJK JP"/>
                <a:ea typeface="Noto Sans CJK JP"/>
                <a:cs typeface="Noto Sans CJK JP"/>
              </a:rPr>
              <a:t>読めなかったページと根拠不足は明示する。</a:t>
            </a:r>
          </a:p>
        </p:txBody>
      </p:sp>
      <p:sp>
        <p:nvSpPr>
          <p:cNvPr id="10" name="text_48">
            <a:extLst xmlns:a="http://schemas.openxmlformats.org/drawingml/2006/main">
              <a:ext uri="{FF2B5EF4-FFF2-40B4-BE49-F238E27FC236}">
                <a16:creationId xmlns:a16="http://schemas.microsoft.com/office/drawing/2014/main" id="{C3C5E3F6-847E-4558-85D2-547488114189}"/>
              </a:ext>
            </a:extLst>
          </p:cNvPr>
          <p:cNvSpPr>
            <a:spLocks xmlns:a="http://schemas.openxmlformats.org/drawingml/2006/main" noGrp="1"/>
          </p:cNvSpPr>
          <p:nvPr/>
        </p:nvSpPr>
        <p:spPr>
          <a:xfrm xmlns:a="http://schemas.openxmlformats.org/drawingml/2006/main">
            <a:off x="6581775" y="5943600"/>
            <a:ext cx="5191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99610E"/>
                </a:solidFill>
                <a:latin typeface="Noto Sans CJK JP"/>
                <a:ea typeface="Noto Sans CJK JP"/>
                <a:cs typeface="Noto Sans CJK JP"/>
              </a:defRPr>
            </a:pPr>
            <a:r>
              <a:rPr sz="1350" b="1">
                <a:solidFill>
                  <a:srgbClr val="99610E"/>
                </a:solidFill>
                <a:latin typeface="Noto Sans CJK JP"/>
                <a:ea typeface="Noto Sans CJK JP"/>
                <a:cs typeface="Noto Sans CJK JP"/>
              </a:rPr>
              <a:t>文字化け対策：BAT名・命令は英数字で統一。</a:t>
            </a:r>
          </a:p>
          <a:p xmlns:a="http://schemas.openxmlformats.org/drawingml/2006/main">
            <a:pPr algn="l">
              <a:defRPr sz="1350" b="1">
                <a:solidFill>
                  <a:srgbClr val="99610E"/>
                </a:solidFill>
                <a:latin typeface="Noto Sans CJK JP"/>
                <a:ea typeface="Noto Sans CJK JP"/>
                <a:cs typeface="Noto Sans CJK JP"/>
              </a:defRPr>
            </a:pPr>
            <a:r>
              <a:rPr sz="1350" b="1">
                <a:solidFill>
                  <a:srgbClr val="99610E"/>
                </a:solidFill>
                <a:latin typeface="Noto Sans CJK JP"/>
                <a:ea typeface="Noto Sans CJK JP"/>
                <a:cs typeface="Noto Sans CJK JP"/>
              </a:rPr>
              <a:t>JSON／CSVはUTF-8を明示して読み書きする。</a:t>
            </a:r>
          </a:p>
        </p:txBody>
      </p:sp>
    </p:spTree>
    <p:extLst>
      <p:ext uri="{BB962C8B-B14F-4D97-AF65-F5344CB8AC3E}">
        <p14:creationId xmlns:p14="http://schemas.microsoft.com/office/powerpoint/2010/main" val="103681166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2026-09-15T07:41:30.4300000Z</dcterms:created>
  <dcterms:modified xsi:type="dcterms:W3CDTF">2026-09-15T07:41:30.4300000Z</dcterms:modified>
</coreProperties>
</file>