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業務報告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CE8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決算データの更新と、建築計画データの自動収集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CE8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2026年9月17日　｜　作成者：〇〇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77840" y="11430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42432" y="1344168"/>
            <a:ext cx="384048" cy="384048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42432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143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決算短信の財務データ更新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77840" y="214884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2432" y="2350008"/>
            <a:ext cx="384048" cy="384048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取得・売買データの更新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77840" y="315468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2432" y="3355848"/>
            <a:ext cx="384048" cy="384048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1546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建築計画データの集計（8社）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報告の概要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252728"/>
            <a:ext cx="530352" cy="530352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385316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決算短信の財務データ更新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286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日本取引所の適時開示で7月31日の開示分を確認し、「R-」で始まる検索でヒットした企業の財務データを更新した。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〇社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755648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更新した企業数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93008" y="1252728"/>
            <a:ext cx="530352" cy="530352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1385316"/>
            <a:ext cx="265176" cy="2651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930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取得・売買データの更新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93008" y="2286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物件の取得と売買に関するデータを、最新の開示内容に合わせて更新した。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3493008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〇件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590288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更新した件数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05156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27648" y="1252728"/>
            <a:ext cx="530352" cy="530352"/>
          </a:xfrm>
          <a:prstGeom prst="ellipse">
            <a:avLst/>
          </a:prstGeom>
          <a:solidFill>
            <a:srgbClr val="E39B2E"/>
          </a:solidFill>
          <a:ln w="6350">
            <a:solidFill>
              <a:srgbClr val="E39B2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1385316"/>
            <a:ext cx="265176" cy="265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276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建築計画データの集計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327648" y="2286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建築計画のお知らせ看板情報から、8社が関わる案件を地域ごとに集計した。取得はマクロで自動化した。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327648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8社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7424928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対象企業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3の集計は、地域ごとのシートでボタンを押すだけで、新しい案件の追加と詳細の取得が終わる仕組みにした。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　決算短信の財務データ更新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日本取引所（JPX）の適時開示情報を開く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7月31日の開示分に絞り込む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384048" cy="384048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68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「R-」で始まる検索でヒットした企業を抽出する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決算短信の数値を財務データへ反映する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83480" y="1051560"/>
            <a:ext cx="370332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92624" y="1060704"/>
            <a:ext cx="3685032" cy="237744"/>
          </a:xfrm>
          <a:prstGeom prst="rect">
            <a:avLst/>
          </a:prstGeom>
          <a:solidFill>
            <a:srgbClr val="E4EAEE"/>
          </a:solidFill>
          <a:ln w="12700">
            <a:solidFill>
              <a:srgbClr val="E4EA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74920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3792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2664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40680" y="106984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適時開示情報の一覧（模式図）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1371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検索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137160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BEFD9"/>
          </a:solidFill>
          <a:ln w="9525">
            <a:solidFill>
              <a:srgbClr val="E39B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1371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R-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〇〇株式会社　決算短信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2075688"/>
            <a:ext cx="34290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2064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〇〇ホールディングス　決算短信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395728"/>
            <a:ext cx="34290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2064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〇〇リート投資法人　決算短信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2715768"/>
            <a:ext cx="34290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315468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16636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結果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更新した企業数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〇社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166360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更新した項目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166360" y="4151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気づいた点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151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　取得・売買データの更新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物件の取得と売買に関するデータを、最新の開示内容に合わせて更新した。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01368"/>
            <a:ext cx="502920" cy="50292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927098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01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対象データ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48716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〇〇のデータ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3008" y="1801368"/>
            <a:ext cx="502920" cy="50292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8738" y="1927098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801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更新した内容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248716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〇〇を追加・修正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7648" y="1801368"/>
            <a:ext cx="502920" cy="502920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78" y="1927098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1801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結果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327648" y="2487168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〇件を更新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次回以降は、更新した日付と件数を記録に残し、前回との差分が分かるようにする。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　建築計画データの集計（8社）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対象企業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7160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1925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371600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大和ハウス工業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0048" y="137160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1928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36976" y="1371600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積水ハウス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199339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3231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1993392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野村不動産HD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993392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70048" y="199339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3289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36976" y="1993392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東急不動産HD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615184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8801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2615184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三井不動産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2615184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0048" y="2615184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8802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36976" y="2615184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三菱地所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36976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323697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8804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3236976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東京建物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3236976"/>
            <a:ext cx="196596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70048" y="3236976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8830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236976" y="3236976"/>
            <a:ext cx="1216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住友不動産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1024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収集条件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133502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建築主または施工者に対象企業を含む案件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19385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対象地域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224942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首都圏・中部・関西・北海道九州。サイトの区分ごとにシートを分ける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28529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取得項目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316382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件名／所在地／主要用途／工事種別／構造・階数／延床面積／事業主／設計者／施工者／着工・完成予定日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収集件数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07822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〇件（8社の合計）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　処理の流れ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088136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73B53"/>
          </a:solidFill>
          <a:ln w="9525">
            <a:solidFill>
              <a:srgbClr val="173B5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881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開始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17320" y="996696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9966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地域トップページに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アクセス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96696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46120" y="99669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ページ内のURLから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物件番号を抽出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74920" y="996696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99669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A列の物件番号と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上から順に照合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95160" y="868680"/>
            <a:ext cx="1371600" cy="822960"/>
          </a:xfrm>
          <a:prstGeom prst="diamond">
            <a:avLst/>
          </a:prstGeom>
          <a:solidFill>
            <a:srgbClr val="FBEFD9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96328" y="868680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一致した？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23317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新規番号として控える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602736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173B53"/>
          </a:solidFill>
          <a:ln w="9525">
            <a:solidFill>
              <a:srgbClr val="173B5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36027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新規番号を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2行目から挿入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83480" y="3602736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物件番号から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URLを生成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3602736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54680" y="36027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詳細ページから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物件情報を取得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17320" y="3602736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2F5F7"/>
          </a:solidFill>
          <a:ln w="9525">
            <a:solidFill>
              <a:srgbClr val="F2F5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63040" y="36027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Excelの各行へ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書き込み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694176"/>
            <a:ext cx="731520" cy="384048"/>
          </a:xfrm>
          <a:prstGeom prst="roundRect">
            <a:avLst>
              <a:gd name="adj" fmla="val 50000"/>
            </a:avLst>
          </a:prstGeom>
          <a:solidFill>
            <a:srgbClr val="173B53"/>
          </a:solidFill>
          <a:ln w="9525">
            <a:solidFill>
              <a:srgbClr val="173B5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6941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終了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43000" y="1280160"/>
            <a:ext cx="27432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788920" y="1280160"/>
            <a:ext cx="41148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663440" y="1280160"/>
            <a:ext cx="41148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1280160"/>
            <a:ext cx="54864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7498080" y="1691640"/>
            <a:ext cx="182880" cy="64008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26680" y="17373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いいえ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 flipH="1">
            <a:off x="5760720" y="2560320"/>
            <a:ext cx="105156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760720" y="1563624"/>
            <a:ext cx="0" cy="996696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806440" y="2267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次の番号へ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66760" y="1280160"/>
            <a:ext cx="18288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49640" y="1280160"/>
            <a:ext cx="0" cy="260604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8229600" y="3886200"/>
            <a:ext cx="32004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8229600" y="9875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はい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 flipH="1">
            <a:off x="6355080" y="3886200"/>
            <a:ext cx="41148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H="1">
            <a:off x="4572000" y="3886200"/>
            <a:ext cx="41148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H="1">
            <a:off x="2788920" y="3886200"/>
            <a:ext cx="32004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1143000" y="3886200"/>
            <a:ext cx="274320" cy="0"/>
          </a:xfrm>
          <a:prstGeom prst="line">
            <a:avLst/>
          </a:prstGeom>
          <a:noFill/>
          <a:ln w="15875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一致した時点で照合を打ち切る。それより前に見つかった番号だけを、新規として取り込む。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　画面とデータの対応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" y="1060704"/>
            <a:ext cx="2587752" cy="237744"/>
          </a:xfrm>
          <a:prstGeom prst="rect">
            <a:avLst/>
          </a:prstGeom>
          <a:solidFill>
            <a:srgbClr val="E4EAEE"/>
          </a:solidFill>
          <a:ln w="12700">
            <a:solidFill>
              <a:srgbClr val="E4EA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0698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地域トップページ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新着の物件一覧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6916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(仮称)〇〇計画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9293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…/detail.php?id=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901952" y="19293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10101234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22402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(仮称)〇〇新築工事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47802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…/detail.php?id=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901952" y="2478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10101234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7889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(仮称)〇〇プロジェクト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026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…/detail.php?id=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901952" y="30266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105156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00984" y="1060704"/>
            <a:ext cx="2587752" cy="237744"/>
          </a:xfrm>
          <a:prstGeom prst="rect">
            <a:avLst/>
          </a:prstGeom>
          <a:solidFill>
            <a:srgbClr val="E4EAEE"/>
          </a:solidFill>
          <a:ln w="12700">
            <a:solidFill>
              <a:srgbClr val="E4EA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02152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21024" y="1133856"/>
            <a:ext cx="73152" cy="73152"/>
          </a:xfrm>
          <a:prstGeom prst="ellipse">
            <a:avLst/>
          </a:prstGeom>
          <a:solidFill>
            <a:srgbClr val="C7D1D8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49040" y="106984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詳細ページ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日付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2026/09/10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29000" y="1682496"/>
            <a:ext cx="233172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17099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主要用途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1709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共同住宅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29000" y="1975104"/>
            <a:ext cx="233172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29000" y="2002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構造・階数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2002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RC造・地上9階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29000" y="2267712"/>
            <a:ext cx="233172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29000" y="22951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延床面積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389120" y="2295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3,240.15㎡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29000" y="2560320"/>
            <a:ext cx="233172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29000" y="2587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事業主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389120" y="2587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〇〇株式会社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29000" y="2852928"/>
            <a:ext cx="233172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429000" y="2880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施工者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389120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〇〇建設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29000" y="3145536"/>
            <a:ext cx="233172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429000" y="3172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着工・完成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389120" y="3172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2026/12・2028/03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29000" y="3438144"/>
            <a:ext cx="233172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1051560"/>
            <a:ext cx="256032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1051560"/>
            <a:ext cx="256032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263640" y="11704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地域シート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1463040"/>
            <a:ext cx="2286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25640" y="1463040"/>
            <a:ext cx="0" cy="146304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87640" y="1463040"/>
            <a:ext cx="0" cy="146304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1755648"/>
            <a:ext cx="22860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63640" y="2048256"/>
            <a:ext cx="22860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63640" y="2340864"/>
            <a:ext cx="22860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63640" y="2633472"/>
            <a:ext cx="228600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68212" y="1467612"/>
            <a:ext cx="2276856" cy="283464"/>
          </a:xfrm>
          <a:prstGeom prst="rect">
            <a:avLst/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281928" y="1463040"/>
            <a:ext cx="76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物件番号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7043928" y="1463040"/>
            <a:ext cx="76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件名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7805928" y="1463040"/>
            <a:ext cx="76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用途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268212" y="1760220"/>
            <a:ext cx="2276856" cy="283464"/>
          </a:xfrm>
          <a:prstGeom prst="rect">
            <a:avLst/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81928" y="1755648"/>
            <a:ext cx="76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10101234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6281928" y="2048256"/>
            <a:ext cx="76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10101230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6281928" y="2340864"/>
            <a:ext cx="76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10101228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626364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新規行は2行目に挿入する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90672" y="2286000"/>
            <a:ext cx="173736" cy="0"/>
          </a:xfrm>
          <a:prstGeom prst="line">
            <a:avLst/>
          </a:prstGeom>
          <a:noFill/>
          <a:ln w="25400">
            <a:solidFill>
              <a:srgbClr val="E39B2E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5925312" y="2286000"/>
            <a:ext cx="173736" cy="0"/>
          </a:xfrm>
          <a:prstGeom prst="line">
            <a:avLst/>
          </a:prstGeom>
          <a:noFill/>
          <a:ln w="25400">
            <a:solidFill>
              <a:srgbClr val="E39B2E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左から順に、URLから番号を抽出し、番号からURLを作って詳細ページを開き、Excelの各行へ書き込む。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画面は実際のものではなく、項目の並びを示した模式図である。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　通常の操作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88136"/>
            <a:ext cx="365760" cy="365760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8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051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更新したい地域のシートを開く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550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AD列付近の「最新情報を取得」ボタンを押す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295144"/>
            <a:ext cx="365760" cy="365760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58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確認画面が表示されたら、実行を選ぶ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898648"/>
            <a:ext cx="365760" cy="365760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862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最新番号の確認、新規行の挿入、詳細情報の取得が自動で進む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365760" cy="365760"/>
          </a:xfrm>
          <a:prstGeom prst="ellipse">
            <a:avLst/>
          </a:prstGeom>
          <a:solidFill>
            <a:srgbClr val="173B53"/>
          </a:solidFill>
          <a:ln w="12700">
            <a:solidFill>
              <a:srgbClr val="173B5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465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完了後に、新規・成功・失敗の件数が表示される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4343400" cy="548640"/>
          </a:xfrm>
          <a:prstGeom prst="roundRect">
            <a:avLst>
              <a:gd name="adj" fmla="val 13333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Alt＋F8 を押し、実行するマクロを選ぶ方法でも同じ処理ができる。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10515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05156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1417320"/>
            <a:ext cx="2011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28360" y="1417320"/>
            <a:ext cx="0" cy="109728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98920" y="1417320"/>
            <a:ext cx="0" cy="109728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7800" y="1691640"/>
            <a:ext cx="2011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1965960"/>
            <a:ext cx="2011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57800" y="2240280"/>
            <a:ext cx="2011680" cy="0"/>
          </a:xfrm>
          <a:prstGeom prst="line">
            <a:avLst/>
          </a:prstGeom>
          <a:noFill/>
          <a:ln w="9525">
            <a:solidFill>
              <a:srgbClr val="DCE3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2372" y="1421892"/>
            <a:ext cx="2002536" cy="265176"/>
          </a:xfrm>
          <a:prstGeom prst="rect">
            <a:avLst/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276088" y="1417320"/>
            <a:ext cx="67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5946648" y="1417320"/>
            <a:ext cx="67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B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617208" y="1417320"/>
            <a:ext cx="67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C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118872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AD列付近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60920" y="146304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60920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最新情報を取得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83880" y="1828800"/>
            <a:ext cx="310896" cy="310896"/>
          </a:xfrm>
          <a:prstGeom prst="ellipse">
            <a:avLst/>
          </a:prstGeom>
          <a:solidFill>
            <a:srgbClr val="173B53"/>
          </a:solidFill>
          <a:ln w="6350">
            <a:solidFill>
              <a:srgbClr val="173B53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4" y="1906524"/>
            <a:ext cx="155448" cy="1554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120640" y="29718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120640" y="297180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7D1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129784" y="2980944"/>
            <a:ext cx="3547872" cy="274320"/>
          </a:xfrm>
          <a:prstGeom prst="rect">
            <a:avLst/>
          </a:prstGeom>
          <a:solidFill>
            <a:srgbClr val="E4EAEE"/>
          </a:solidFill>
          <a:ln w="12700">
            <a:solidFill>
              <a:srgbClr val="E4EAE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257800" y="29809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処理の結果（模式図）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530352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処理が完了しました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303520" y="3657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5303520" y="38953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12件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0" y="3657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成功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6400800" y="38953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12件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7498080" y="36576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失敗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7498080" y="38953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0件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　新規分だけを取り込む仕組み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トップページの番号（新しい順）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10101240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176272" y="137160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83664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8366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10101238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176272" y="188366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FBEFD9"/>
          </a:solidFill>
          <a:ln w="12700">
            <a:solidFill>
              <a:srgbClr val="FBE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957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10101235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39572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077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10101228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005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B5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ExcelのA列（既存）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94960" y="2907792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29077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10101230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94960" y="3419856"/>
            <a:ext cx="1645920" cy="420624"/>
          </a:xfrm>
          <a:prstGeom prst="roundRect">
            <a:avLst>
              <a:gd name="adj" fmla="val 1739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10101228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3968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以下は取得済み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80360" y="1371600"/>
            <a:ext cx="3931920" cy="1188720"/>
          </a:xfrm>
          <a:prstGeom prst="roundRect">
            <a:avLst>
              <a:gd name="adj" fmla="val 615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63240" y="1463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上から順にA列と照合し、既にある番号に当たった時点で打ち切る。それより上で見つかった3件が新規になる。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48840" y="3118104"/>
            <a:ext cx="3200400" cy="0"/>
          </a:xfrm>
          <a:prstGeom prst="line">
            <a:avLst/>
          </a:prstGeom>
          <a:noFill/>
          <a:ln w="25400">
            <a:solidFill>
              <a:srgbClr val="E39B2E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566160" y="28163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5F0B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一致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256032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41605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新規分だけを取りに行く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91840" y="4160520"/>
            <a:ext cx="256032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29000" y="41605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二重登録が起きない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26480" y="4160520"/>
            <a:ext cx="2560320" cy="512064"/>
          </a:xfrm>
          <a:prstGeom prst="roundRect">
            <a:avLst>
              <a:gd name="adj" fmla="val 14286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41605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実行にかかる時間が短い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まとめ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38912" cy="438912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6070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決算短信と、取得・売買のデータを最新の内容へ更新した。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38912" cy="438912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9222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建築計画データは、8社分を地域シートのボタン1つで更新できる形にした。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38912" cy="438912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52374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新規分だけを取り込むため、重複がなく、実行時間も短い。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CE8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次の作業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2697480" cy="621792"/>
          </a:xfrm>
          <a:prstGeom prst="chevron">
            <a:avLst/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7947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8社の比較集計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3794760"/>
            <a:ext cx="2697480" cy="621792"/>
          </a:xfrm>
          <a:prstGeom prst="chevron">
            <a:avLst/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37947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月次での更新と差分の記録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0176" y="3794760"/>
            <a:ext cx="2697480" cy="621792"/>
          </a:xfrm>
          <a:prstGeom prst="chevron">
            <a:avLst/>
          </a:prstGeom>
          <a:solidFill>
            <a:srgbClr val="2A5673"/>
          </a:solidFill>
          <a:ln w="12700">
            <a:solidFill>
              <a:srgbClr val="2A56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7648" y="379476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用途判定の精度を上げる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CE8"/>
                </a:solidFill>
                <a:latin typeface="Arial" pitchFamily="34" charset="0"/>
                <a:ea typeface="ＭＳ Ｐゴシック" pitchFamily="50" charset="-128"/>
                <a:cs typeface="Arial" pitchFamily="34" charset="-120"/>
              </a:rPr>
              <a:t>サイトの掲載情報は、無断での複製・転載・営利目的の利用が禁止されている。取得の間隔にも配慮する。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ＭＳ Ｐゴシック"/>
        <a:cs typeface=""/>
        <a:font script="Jpan" typeface="ＭＳ Ｐゴシック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ＭＳ Ｐゴシック"/>
        <a:cs typeface=""/>
        <a:font script="Jpan" typeface="ＭＳ Ｐ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業務報告</dc:title>
  <dc:subject>PptxGenJS Presentation</dc:subject>
  <dc:creator>PptxGenJS</dc:creator>
  <cp:lastModifiedBy>PptxGenJS</cp:lastModifiedBy>
  <cp:revision>1</cp:revision>
  <dcterms:created xsi:type="dcterms:W3CDTF">2026-09-18T00:09:16Z</dcterms:created>
  <dcterms:modified xsi:type="dcterms:W3CDTF">2026-09-18T00:09:16Z</dcterms:modified>
</cp:coreProperties>
</file>