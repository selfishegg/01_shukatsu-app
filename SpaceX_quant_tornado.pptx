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箱ひげで見せる利点は「重ならない」ことが一目で分かる点。数字の羅列より説得力がある。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トルネードは振れ幅の広い順に上から並べる。上2本がAI部門であることが、キードライバーの定量的な証明になる。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3474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定量①　各事業の評価レンジ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8229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前提を弱気〜強気で振ったときの部門価値の分布（十億ドル）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10560" y="1325880"/>
            <a:ext cx="0" cy="32004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99080" y="45537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97120" y="1325880"/>
            <a:ext cx="0" cy="32004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5640" y="45537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0" y="1325880"/>
            <a:ext cx="0" cy="32004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45537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70240" y="1325880"/>
            <a:ext cx="0" cy="32004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58760" y="45537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956800" y="1325880"/>
            <a:ext cx="0" cy="32004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45320" y="45537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1600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464040" y="4791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十億ドル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149047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 (Starlink)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1801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12〜28倍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85184" y="1783080"/>
            <a:ext cx="885444" cy="0"/>
          </a:xfrm>
          <a:prstGeom prst="line">
            <a:avLst/>
          </a:prstGeom>
          <a:noFill/>
          <a:ln w="19050">
            <a:solidFill>
              <a:srgbClr val="3E8E7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85184" y="1636776"/>
            <a:ext cx="0" cy="292608"/>
          </a:xfrm>
          <a:prstGeom prst="line">
            <a:avLst/>
          </a:prstGeom>
          <a:noFill/>
          <a:ln w="25400">
            <a:solidFill>
              <a:srgbClr val="3E8E7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70628" y="1636776"/>
            <a:ext cx="0" cy="292608"/>
          </a:xfrm>
          <a:prstGeom prst="line">
            <a:avLst/>
          </a:prstGeom>
          <a:noFill/>
          <a:ln w="25400">
            <a:solidFill>
              <a:srgbClr val="3E8E7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85184" y="1581912"/>
            <a:ext cx="885444" cy="402336"/>
          </a:xfrm>
          <a:prstGeom prst="rect">
            <a:avLst/>
          </a:prstGeom>
          <a:solidFill>
            <a:srgbClr val="3E8E7E">
              <a:alpha val="28000"/>
            </a:srgbClr>
          </a:solidFill>
          <a:ln w="15875">
            <a:solidFill>
              <a:srgbClr val="3E8E7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22496" y="1527048"/>
            <a:ext cx="0" cy="512064"/>
          </a:xfrm>
          <a:prstGeom prst="line">
            <a:avLst/>
          </a:prstGeom>
          <a:noFill/>
          <a:ln w="44450">
            <a:solidFill>
              <a:srgbClr val="3E8E7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107944" y="162763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862068" y="162763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370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719576" y="11978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254203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宇宙 (打上げ)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28529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赤字のため直接評価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26232" y="2834640"/>
            <a:ext cx="50596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26232" y="2688336"/>
            <a:ext cx="0" cy="29260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32200" y="2688336"/>
            <a:ext cx="0" cy="29260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26232" y="2633472"/>
            <a:ext cx="505968" cy="402336"/>
          </a:xfrm>
          <a:prstGeom prst="rect">
            <a:avLst/>
          </a:prstGeom>
          <a:solidFill>
            <a:srgbClr val="6B7280">
              <a:alpha val="28000"/>
            </a:srgbClr>
          </a:solidFill>
          <a:ln w="15875">
            <a:solidFill>
              <a:srgbClr val="6B72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37052" y="2578608"/>
            <a:ext cx="0" cy="512064"/>
          </a:xfrm>
          <a:prstGeom prst="line">
            <a:avLst/>
          </a:prstGeom>
          <a:noFill/>
          <a:ln w="44450">
            <a:solidFill>
              <a:srgbClr val="6B728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348992" y="267919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3723640" y="267919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2834132" y="224942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359359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（残余）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39044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EVから2部門を控除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354568" y="3886200"/>
            <a:ext cx="1766672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54568" y="3739896"/>
            <a:ext cx="0" cy="292608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21240" y="3739896"/>
            <a:ext cx="0" cy="292608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54568" y="3685032"/>
            <a:ext cx="1766672" cy="402336"/>
          </a:xfrm>
          <a:prstGeom prst="rect">
            <a:avLst/>
          </a:prstGeom>
          <a:solidFill>
            <a:srgbClr val="E8A33D">
              <a:alpha val="28000"/>
            </a:srgbClr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80347" y="3630168"/>
            <a:ext cx="0" cy="512064"/>
          </a:xfrm>
          <a:prstGeom prst="line">
            <a:avLst/>
          </a:prstGeom>
          <a:noFill/>
          <a:ln w="44450">
            <a:solidFill>
              <a:srgbClr val="E8A33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77328" y="373075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0212680" y="373075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1639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8977427" y="33009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1487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788920" y="5029200"/>
            <a:ext cx="292608" cy="164592"/>
          </a:xfrm>
          <a:prstGeom prst="rect">
            <a:avLst/>
          </a:prstGeom>
          <a:solidFill>
            <a:srgbClr val="1E2761">
              <a:alpha val="28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182112" y="4974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弱気〜強気の幅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74920" y="4956048"/>
            <a:ext cx="0" cy="310896"/>
          </a:xfrm>
          <a:prstGeom prst="line">
            <a:avLst/>
          </a:prstGeom>
          <a:noFill/>
          <a:ln w="4445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212080" y="4974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基本ケース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1005840" y="544068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3つの箱は重ならない。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通信を最も強気に評価しても$3,700億で、AIを最も弱気に評価した$1兆2,200億に遠く及ばない。前提をどう振っても順位が入れ替わらないため、「AIに85%が乗っている」という結論は前提に依存しない。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640080" y="63550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自作モデル。株価$134・EV $1兆7,570億時点。AIは残余として算出しているため、他2部門の前提を振ると逆方向に動く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3474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定量②　感応度（トルネード分析）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8229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各変数を弱気〜強気に振ったときの1株価値の振れ幅（基準ケース $103）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70120" y="1481328"/>
            <a:ext cx="0" cy="343814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04360" y="49560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897880" y="1481328"/>
            <a:ext cx="0" cy="343814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32120" y="49560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025640" y="1481328"/>
            <a:ext cx="0" cy="3438144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59880" y="49560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53400" y="1481328"/>
            <a:ext cx="0" cy="343814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87640" y="49560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281160" y="1481328"/>
            <a:ext cx="0" cy="343814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15400" y="49560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408920" y="1481328"/>
            <a:ext cx="0" cy="343814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43160" y="49560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13960" y="51937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基準ケースからの1株価値の変化（ドル）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12984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AI部門の倍率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1572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60倍 ← → 142倍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41492" y="1417320"/>
            <a:ext cx="1184148" cy="310896"/>
          </a:xfrm>
          <a:prstGeom prst="rect">
            <a:avLst/>
          </a:prstGeom>
          <a:solidFill>
            <a:srgbClr val="E8A33D">
              <a:alpha val="5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025640" y="1417320"/>
            <a:ext cx="3676498" cy="3108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128260" y="1417320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-21.0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793578" y="141732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+65.2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18653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AI部門の売上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21396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$72億 ← → $206億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57344" y="1984248"/>
            <a:ext cx="2368296" cy="310896"/>
          </a:xfrm>
          <a:prstGeom prst="rect">
            <a:avLst/>
          </a:prstGeom>
          <a:solidFill>
            <a:srgbClr val="E8A33D">
              <a:alpha val="5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025640" y="1984248"/>
            <a:ext cx="2041246" cy="3108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944112" y="198424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-42.0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158326" y="19842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+36.2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2432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通信の倍率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2706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12倍 ← → 28倍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98590" y="2551176"/>
            <a:ext cx="327050" cy="310896"/>
          </a:xfrm>
          <a:prstGeom prst="rect">
            <a:avLst/>
          </a:prstGeom>
          <a:solidFill>
            <a:srgbClr val="3E8E7E">
              <a:alpha val="5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025640" y="2551176"/>
            <a:ext cx="535686" cy="310896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985358" y="2551176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-5.8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652766" y="255117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+9.5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2999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宇宙の評価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3273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−$200億 ← → $1,000億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17004" y="3118104"/>
            <a:ext cx="208636" cy="310896"/>
          </a:xfrm>
          <a:prstGeom prst="rect">
            <a:avLst/>
          </a:prstGeom>
          <a:solidFill>
            <a:srgbClr val="6B7280">
              <a:alpha val="5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025640" y="3118104"/>
            <a:ext cx="287579" cy="31089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103772" y="3118104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-3.7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404659" y="311810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+5.1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3566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通信の売上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3840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$190億 ← → $250億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890309" y="3685032"/>
            <a:ext cx="135331" cy="310896"/>
          </a:xfrm>
          <a:prstGeom prst="rect">
            <a:avLst/>
          </a:prstGeom>
          <a:solidFill>
            <a:srgbClr val="3E8E7E">
              <a:alpha val="5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025640" y="3685032"/>
            <a:ext cx="129692" cy="310896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177077" y="3685032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246772" y="368503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+2.3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40080" y="41330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ネットキャッシュ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640080" y="4407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−$200億 ← → $230億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941058" y="4251960"/>
            <a:ext cx="84582" cy="310896"/>
          </a:xfrm>
          <a:prstGeom prst="rect">
            <a:avLst/>
          </a:prstGeom>
          <a:solidFill>
            <a:srgbClr val="6B7280">
              <a:alpha val="5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025640" y="4251960"/>
            <a:ext cx="95860" cy="31089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227826" y="4251960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-1.5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7212940" y="42519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+1.7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5654040" y="12070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弱気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7208520" y="12070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強気 →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40080" y="5532120"/>
            <a:ext cx="5257800" cy="73152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914400" y="55321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$164</a:t>
            </a:r>
            <a:endParaRPr lang="en-US" sz="2300" dirty="0"/>
          </a:p>
        </p:txBody>
      </p:sp>
      <p:sp>
        <p:nvSpPr>
          <p:cNvPr id="59" name="Text 57"/>
          <p:cNvSpPr txBox="1"/>
          <p:nvPr/>
        </p:nvSpPr>
        <p:spPr>
          <a:xfrm>
            <a:off x="2240280" y="55321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AI部門2変数の振れ幅の合計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全体の84%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263640" y="5532120"/>
            <a:ext cx="5257800" cy="73152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6537960" y="55321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$32</a:t>
            </a:r>
            <a:endParaRPr lang="en-US" sz="2300" dirty="0"/>
          </a:p>
        </p:txBody>
      </p:sp>
      <p:sp>
        <p:nvSpPr>
          <p:cNvPr id="62" name="Text 60"/>
          <p:cNvSpPr txBox="1"/>
          <p:nvPr/>
        </p:nvSpPr>
        <p:spPr>
          <a:xfrm>
            <a:off x="7863840" y="55321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残り4変数の合計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通信・宇宙・財務を全部足してもこの幅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640080" y="63550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自作モデル。基準ケース＝AI売上$144億×80倍、通信18倍、宇宙$300億、株数137億株、1株$103。振れ幅は定量①の弱気・強気と同一の前提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2026-08-28T07:21:42Z</dcterms:created>
  <dcterms:modified xsi:type="dcterms:W3CDTF">2026-08-28T07:21:42Z</dcterms:modified>
</cp:coreProperties>
</file>