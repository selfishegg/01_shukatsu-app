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端ロジックの5社について、2026年後半以降に予定されているノードだけをまとめた。各スライドの表は「ノード・時期・構造・特徴」、下の3行が要点。数値は各社の公表値、または報道・第三者解析に基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出典URL
TSMC 2026 Technology Symposium：https://pr.tsmc.com/system/files/newspdf/attachment/49337b40ff139d51d533076cf7a945b30e107e07/2026%20Tech%20Symposium%20(E)_Final_wmn.pdf
TSMC 技術ページ（A16 vs N2P）：https://www.tsmc.com/english/dedicatedFoundry/technology/logic/l_5nm
Focus Taiwan（N2P 2H26）：https://focustaiwan.tw/sci-tech/202512300026
Tom's Hardware（A16は2027年に延期）：https://www.tomshardware.com/tech-industry/semiconductors/tsmc-unveils-process-technology-roadmap-through-2029-a12-a13-n2u-announced-a16-slips-to-2027
TrendForce（2029年までHigh-NA不採用）：https://www.trendforce.com/news/2026/04/23/news-tsmc-unveils-latest-roadmap-a12-a13-set-for-2029-without-high-na-euv-a16-volume-production-delayed-to-2027/
New Electronics（A14のPPA）：https://www.newelectronics.co.uk/content/blogs/tsmc-technology-symposium-2026-a-systems-driven-era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出典URL
The Elec（SF1.4は2029年、SF1.4+は2030年、DTCO）：https://www.thelec.net/news/articleView.html?idxno=11849
TrendForce（SF2P+・SF2Xは2027〜28年）：https://www.trendforce.com/news/2026/07/02/news-samsung-reportedly-expands-2nm-portfolio-ahead-of-2029-sf1-4-mass-production-sf2p-targets-2027-28/
SamMobile（第2世代2nmは2026年、SF2Z）：https://www.sammobile.com/news/samsung-start-making-second-generation-2nm-chips-2026/
SamMobile（1.4nm延期は2nmの歩留まり改善のため）：https://www.sammobile.com/news/samsung-third-gen-2nm-second-gen-1-4nm-chips-roadmap/
MLQ.ai（SF2の派生展開）：https://mlq.ai/news/samsung-shifts-sf14-foundry-target-to-2029-as-sf2-roadmap-expands/
SF2Zの量産時期は今回の調査では確認できなかった。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出典URL
Intel 10-Q（18A-Pは2026年6月にリスク生産）：https://www.sec.gov/Archives/edgar/data/0000050863/000005086326000157/intc-20260627.htm
TrendForce（18A-Pは性能最大+9%または電力−18%）：https://www.trendforce.com/news/2026/06/17/news-intel-18a-p-enters-risk-production-targets-9-performance-gain-with-potentially-shortened-ramp/
Tom's Hardware（18A-PT・PowerDirect）：https://www.tomshardware.com/pc-components/cpus/intel-foundry-roadmap-update-new-18a-pt-variant-that-enables-3d-die-stacking-14a-process-node-enablement
Digital Trends（14Aは2H27にリスク生産、2028年に量産）：https://www.digitaltrends.com/computing/intel-just-pulled-its-14a-production-schedule-forward-by-a-year/
AnySilicon（14A PDK 0.9は2026年10月、10A・7A）：https://anysilicon.com/news/intel-begins-work-on-10a-and-7a-process-nodes-as-14a-roadmap-moves-toward-key-pdk-release/
Tom's Hardware（顧客判断は2026年下期〜2027年上期）：https://www.tomshardware.com/tech-industry/semiconductors/intel-chip-roadmap-2026-2028
Intel 年次報告（14Aの条件）：https://www.sec.gov/Archives/edgar/data/50863/000005086326000060/intc014890-arsa.pdf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SMICは先端ノードのロードマップを公表していない。表は第三者解析と報道に基づく。
出典URL
TechInsights（N+3）：https://www.techinsights.com/blog/smic-n3-confirmed-kirin-9030-analysis-reveals-how-close-smic-5nm
朝鮮Biz（SemiWiki転載）：https://semiwiki.com/forum/threads/huawei-the-leader-in-chinese-semiconductor-development%E2%80%A6-%E2%80%98life-or-death%E2%80%99-for-smic-5nm-mass-production-next-year.22690/
Mobile World Live（Huawei 3nm）：https://www.mobileworldlive.com/huawei/huawei-targets-3nm-chip-in-2026/
TrendForce（日経、生産能力目標）：https://www.trendforce.com/news/2026/02/25/news-china-reportedly-aims-to-boost-7nm-5nm-output-fivefold-in-two-years-driven-by-smic-and-hua-hong/
Asia Times（ロイター、国産EUV）：https://asiatimes.com/2025/12/made-in-china-euv-machine-targets-ai-chip-output-by-2028/
Tom's Hardware（国産露光装置）：https://www.tomshardware.com/tech-industry/semiconductors/chinese-chipmaking-tool-roadmap-examined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出典URL
Rapidus 公式サイト：https://www.rapidus.inc/en/
Tom's Hardware（2nm量産計画）：https://www.tomshardware.com/tech-industry/semiconductors/rapidus-targets-2nm-mass-production-in-2027-with-a-four-times-capacity-ramp
TrendForce（顧客試作、1.4nm、1nm）：https://www.trendforce.com/news/2026/03/30/news-rapidus-accelerates-1nm-push-reportedly-targets-six-month-gap-with-tsmc/
Tom's Hardware（fab roadmap、総投資）：https://www.tomshardware.com/tech-industry/semiconductors/rapidus-fab-roadmap-examined
DIGITIMES（第2工場の報道と会社側の否定）：https://www.digitimes.com/news/a20251126VL209/rapidus-1.4nm-chips-fab-funding.html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B8D4"/>
                </a:solidFill>
                <a:latin typeface="Arial" pitchFamily="34" charset="0"/>
                <a:ea typeface="Yu Gothic"/>
                <a:cs typeface="Arial" pitchFamily="34" charset="-120"/>
              </a:rPr>
              <a:t>LOGIC ROADMAP 2026–2030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1EC"/>
                </a:solidFill>
                <a:latin typeface="Arial" pitchFamily="34" charset="0"/>
                <a:ea typeface="Yu Gothic"/>
                <a:cs typeface="Arial" pitchFamily="34" charset="-120"/>
              </a:rPr>
              <a:t>先端ロジック半導体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2F1EC"/>
                </a:solidFill>
                <a:latin typeface="Arial" pitchFamily="34" charset="0"/>
                <a:ea typeface="Yu Gothic"/>
                <a:cs typeface="Arial" pitchFamily="34" charset="-120"/>
              </a:rPr>
              <a:t>各社の今後のノード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0D8"/>
                </a:solidFill>
                <a:latin typeface="Arial" pitchFamily="34" charset="0"/>
                <a:ea typeface="Yu Gothic"/>
                <a:cs typeface="Arial" pitchFamily="34" charset="-120"/>
              </a:rPr>
              <a:t>TSMC・Samsung・Intel・SMIC・Rapidus｜2026年9月時点の公表・報道に基づく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006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0D8"/>
                </a:solidFill>
                <a:latin typeface="Arial" pitchFamily="34" charset="0"/>
                <a:ea typeface="Yu Gothic"/>
                <a:cs typeface="Arial" pitchFamily="34" charset="-120"/>
              </a:rPr>
              <a:t>GAA：ゲートがチャネルの全周を囲むトランジスタ（ナノシート）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0D8"/>
                </a:solidFill>
                <a:latin typeface="Arial" pitchFamily="34" charset="0"/>
                <a:ea typeface="Yu Gothic"/>
                <a:cs typeface="Arial" pitchFamily="34" charset="-120"/>
              </a:rPr>
              <a:t>裏面電源：電源の配線をウェハの裏側に移す技術（backside power delivery）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0D8"/>
                </a:solidFill>
                <a:latin typeface="Arial" pitchFamily="34" charset="0"/>
                <a:ea typeface="Yu Gothic"/>
                <a:cs typeface="Arial" pitchFamily="34" charset="-120"/>
              </a:rPr>
              <a:t>High-NA EUV：開口数を0.33から0.55に上げた次世代のEUV露光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TSMC：モバイル向けとAI向けの2系列に分かれる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20240"/>
                <a:gridCol w="2514600"/>
                <a:gridCol w="52395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ノード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時期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構造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特徴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N2P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2026年下期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GAA・表面電源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N2の性能強化版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A16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2027年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GAA・裏面電源（SPR）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AI/HPC向け。N2P比で速度+8〜10%、電力−15〜20%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N2U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2028年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GAA・表面電源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N2系を延長し、コスト効率を重視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A14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2028年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GAA第2世代・表面電源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N2比で速度+15%または電力−30%、密度+20%超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A13／A12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2029年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GAA第2世代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A13はA14を面積6%縮小、A12はA14に裏面電源を追加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709160"/>
            <a:ext cx="11091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主系列（N2P→A14→A13）はモバイル向けで、表面電源のまま電力効率とコストを重視する。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AI/HPC向けは裏面電源のA16・A12に分かれる。A16は2026年下期から2027年に延期された。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High-NA EUVは、2029年のA13・A12の世代まで使わない。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出典：TSMC 2026 Technology Symposium、TSMC技術ページ（2nm・A16）、Tom's Hardware、TrendForce、New Electronics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Samsung Foundry：2nm系列を広げ、1.4nmは2029年に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20240"/>
                <a:gridCol w="2514600"/>
                <a:gridCol w="52395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ノード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時期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構造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特徴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SF2P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2026年下期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GAA・表面電源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第2世代2nm。SF2比で電力−26%、周波数+15%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SF2P+／SF2X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2027〜28年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GAA・表面電源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SF2P+は性能強化版、SF2XはAI/HPC向け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SF2Z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未公表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GAA・裏面電源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裏面電源を採用する2nm派生（計画）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SF1.4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2029年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当初の2027年から2年延期。主要顧客向けに量産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SF1.4+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2030年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SF1.4の歩留まり・性能の改良版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110916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2022年に業界で最初にGAAを量産したが、2nmの歩留まり改善を優先して1.4nmを2年延期した。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SF2からSF2Pへの改善の半分以上は、設計とプロセスの協調最適化（DTCO）による。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当面はSF2をモバイル・HPC・車載・裏面電源向けの派生に広げ、顧客の獲得を優先する。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出典：The Elec（2026年7月、SAFE Forum）、TrendForce（2026年7月）、SamMobile、MLQ.ai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Intel：裏面電源とHigh-NAを他社より先に量産へ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20240"/>
                <a:gridCol w="2514600"/>
                <a:gridCol w="52395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ノード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時期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構造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特徴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18A-P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2026年6月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GAA・裏面電源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リスク生産を開始。18Aと設計互換で性能最大+9%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18A-PT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試作中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GAA・裏面電源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貫通ビアを加え、3D積層（Foveros Direct）の土台に使う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14A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リスク 2027下期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量産 2028年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GAA第2世代・裏面電源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High-NA EUVを初めて量産に使う。設計キット0.9版は2026年10月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10A・7A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未定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未公表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開発着手を表明（2030年代とみられる）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51960"/>
            <a:ext cx="110916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18AでGAA（RibbonFET）と裏面電源（PowerVia）を同時に量産化した。14Aでは電源をソース・ドレインに直接つなぐPowerDirectに進む。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14Aは2026年7月に1年前倒しされた。一方で、大口の外部顧客が取れなければ中断しうると開示している。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顧客の採用判断は2026年下期〜2027年上期に集中し、ファウンドリ事業の分岐点となる。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出典：Intel 10-Q・年次報告、Digital Trends（2026年7月）、Tom's Hardware、TrendForce、AnySilicon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SMIC：EUVなしで5nm級に迫るが、公式計画はない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920240"/>
                <a:gridCol w="1691640"/>
                <a:gridCol w="505663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項目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時期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構造・露光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内容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N+3（5nm級）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2025年末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FinFET・DUV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Kirin 9030の解析で判明。密度は他社5nmより大幅に低い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5nm級の本格稼働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2026年（報道）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FinFET・DUV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Huaweiが量産の立ち上げを支援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3nm（Huawei設計）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2026年（報道）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設計をSMICに渡す計画。詳細は不明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7・5nm級の生産能力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1〜2年後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―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月2万枚未満から月10万枚へ（日経）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国産EUV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2028年目標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―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深圳で試作機。2030年が現実的との見方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26280"/>
            <a:ext cx="110916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2020年から米国の輸出規制の対象で、先端ノードは製品の解析で後から判明する。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EUVを使えないため、DUVの多重露光で微細化しており、コストと歩留まりが課題である。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今後を占う指標は、ノード名より生産能力の拡大と国産露光装置の進み具合である。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出典：TechInsights、朝鮮Biz、Mobile World Live、日経（TrendForce経由）、ロイター（Asia Times経由）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Rapidus：2027年度に2nm量産、製造期間の短さで勝負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20240"/>
                <a:gridCol w="2514600"/>
                <a:gridCol w="523951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ノード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時期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構造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特徴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8E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2nm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2026年後半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GAA（IBM技術）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顧客が設計した試作チップの製造を開始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2nm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2027年度下期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量産開始。月6千枚から1年で約2.5万枚に拡大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1.4nm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2029年頃（報道）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GAA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2026年に開発着手、2027年に工場着工と報道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1nm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未定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未公表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Arial" pitchFamily="34" charset="0"/>
                          <a:ea typeface="Yu Gothic"/>
                          <a:cs typeface="Arial" pitchFamily="34" charset="-120"/>
                        </a:rPr>
                        <a:t>TSMCとの差を約半年に縮めるとCTOが発言</a:t>
                      </a:r>
                      <a:endParaRPr lang="en-US" sz="1600" dirty="0">
                        <a:latin typeface="Arial" charset="0"/>
                        <a:ea typeface="Yu Gothic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北海道千歳の1拠点に前工程と後工程をまとめ、製造期間（TAT）の短さで差別化を狙う。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2nmの量産開始はTSMC（2025年第4四半期）の約2年後で、初期の生産規模は小さい。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総投資は7兆円超とされ、1.4nm以降の計画は資金の確保が前提となる。1.4nmの時期は会社が肯定していない。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出典：Rapidus、Tom's Hardware（2026年2月・7月）、TrendForce（2026年3月）、DIGITIMES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先端ロジック半導体：各社の今後のノード</dc:title>
  <dc:subject>PptxGenJS Presentation</dc:subject>
  <dc:creator>PptxGenJS</dc:creator>
  <cp:lastModifiedBy>PptxGenJS</cp:lastModifiedBy>
  <cp:revision>1</cp:revision>
  <dcterms:created xsi:type="dcterms:W3CDTF">2026-09-24T07:35:11Z</dcterms:created>
  <dcterms:modified xsi:type="dcterms:W3CDTF">2026-09-24T07:35:11Z</dcterms:modified>
</cp:coreProperties>
</file>